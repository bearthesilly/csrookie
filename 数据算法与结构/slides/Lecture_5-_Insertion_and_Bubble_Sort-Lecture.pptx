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gif" ContentType="image/gi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08" r:id="rId3"/>
    <p:sldId id="441" r:id="rId5"/>
    <p:sldId id="375" r:id="rId6"/>
    <p:sldId id="376" r:id="rId7"/>
    <p:sldId id="377" r:id="rId8"/>
    <p:sldId id="378" r:id="rId9"/>
    <p:sldId id="379" r:id="rId10"/>
    <p:sldId id="380" r:id="rId11"/>
    <p:sldId id="381" r:id="rId12"/>
    <p:sldId id="382" r:id="rId13"/>
    <p:sldId id="383" r:id="rId14"/>
    <p:sldId id="409" r:id="rId15"/>
    <p:sldId id="384" r:id="rId16"/>
    <p:sldId id="385" r:id="rId17"/>
    <p:sldId id="386" r:id="rId18"/>
    <p:sldId id="407" r:id="rId19"/>
    <p:sldId id="489" r:id="rId20"/>
    <p:sldId id="442" r:id="rId21"/>
    <p:sldId id="443" r:id="rId22"/>
    <p:sldId id="444" r:id="rId23"/>
    <p:sldId id="445" r:id="rId24"/>
    <p:sldId id="446" r:id="rId25"/>
    <p:sldId id="447" r:id="rId26"/>
    <p:sldId id="448" r:id="rId27"/>
    <p:sldId id="449" r:id="rId28"/>
    <p:sldId id="450" r:id="rId29"/>
    <p:sldId id="451" r:id="rId30"/>
    <p:sldId id="452" r:id="rId31"/>
    <p:sldId id="453" r:id="rId32"/>
    <p:sldId id="454" r:id="rId33"/>
    <p:sldId id="455" r:id="rId34"/>
    <p:sldId id="456" r:id="rId35"/>
    <p:sldId id="457" r:id="rId36"/>
    <p:sldId id="490" r:id="rId37"/>
    <p:sldId id="411" r:id="rId38"/>
    <p:sldId id="412" r:id="rId39"/>
    <p:sldId id="413" r:id="rId40"/>
    <p:sldId id="414" r:id="rId41"/>
    <p:sldId id="415" r:id="rId42"/>
    <p:sldId id="416" r:id="rId43"/>
    <p:sldId id="417" r:id="rId44"/>
    <p:sldId id="418" r:id="rId45"/>
    <p:sldId id="419" r:id="rId46"/>
    <p:sldId id="492" r:id="rId47"/>
    <p:sldId id="493" r:id="rId48"/>
    <p:sldId id="495" r:id="rId49"/>
    <p:sldId id="429" r:id="rId50"/>
    <p:sldId id="430" r:id="rId51"/>
    <p:sldId id="431" r:id="rId52"/>
    <p:sldId id="432" r:id="rId53"/>
    <p:sldId id="496" r:id="rId54"/>
    <p:sldId id="497" r:id="rId55"/>
    <p:sldId id="438" r:id="rId56"/>
    <p:sldId id="491" r:id="rId57"/>
    <p:sldId id="458" r:id="rId58"/>
    <p:sldId id="459" r:id="rId59"/>
    <p:sldId id="460" r:id="rId60"/>
    <p:sldId id="463" r:id="rId61"/>
    <p:sldId id="464" r:id="rId62"/>
    <p:sldId id="467" r:id="rId63"/>
    <p:sldId id="468" r:id="rId64"/>
    <p:sldId id="469" r:id="rId65"/>
    <p:sldId id="470" r:id="rId66"/>
    <p:sldId id="471" r:id="rId67"/>
    <p:sldId id="465" r:id="rId68"/>
    <p:sldId id="466" r:id="rId69"/>
    <p:sldId id="472" r:id="rId70"/>
    <p:sldId id="473" r:id="rId71"/>
    <p:sldId id="474" r:id="rId72"/>
    <p:sldId id="475" r:id="rId73"/>
    <p:sldId id="476" r:id="rId74"/>
    <p:sldId id="477" r:id="rId75"/>
    <p:sldId id="479" r:id="rId76"/>
    <p:sldId id="480" r:id="rId77"/>
    <p:sldId id="481" r:id="rId78"/>
    <p:sldId id="482" r:id="rId79"/>
    <p:sldId id="483" r:id="rId80"/>
    <p:sldId id="484" r:id="rId81"/>
    <p:sldId id="485" r:id="rId82"/>
    <p:sldId id="486" r:id="rId83"/>
    <p:sldId id="487" r:id="rId8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A63F1CF7-A096-4FC4-8BF3-8CF05756BCB8}">
          <p14:sldIdLst>
            <p14:sldId id="408"/>
            <p14:sldId id="441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409"/>
            <p14:sldId id="384"/>
            <p14:sldId id="385"/>
            <p14:sldId id="386"/>
            <p14:sldId id="407"/>
          </p14:sldIdLst>
        </p14:section>
        <p14:section name="Untitled Section" id="{3EF464FC-0DD9-48F9-946F-3545BF9BFE2D}">
          <p14:sldIdLst>
            <p14:sldId id="489"/>
            <p14:sldId id="442"/>
            <p14:sldId id="443"/>
            <p14:sldId id="444"/>
            <p14:sldId id="445"/>
            <p14:sldId id="446"/>
            <p14:sldId id="447"/>
            <p14:sldId id="448"/>
            <p14:sldId id="449"/>
            <p14:sldId id="450"/>
            <p14:sldId id="451"/>
            <p14:sldId id="452"/>
            <p14:sldId id="453"/>
            <p14:sldId id="454"/>
            <p14:sldId id="455"/>
            <p14:sldId id="456"/>
            <p14:sldId id="457"/>
          </p14:sldIdLst>
        </p14:section>
        <p14:section name="Untitled Section" id="{31E6F102-7107-48AF-85BA-4B06FB07E0EC}">
          <p14:sldIdLst>
            <p14:sldId id="490"/>
            <p14:sldId id="411"/>
            <p14:sldId id="412"/>
            <p14:sldId id="413"/>
            <p14:sldId id="414"/>
            <p14:sldId id="415"/>
            <p14:sldId id="416"/>
            <p14:sldId id="417"/>
            <p14:sldId id="418"/>
            <p14:sldId id="419"/>
            <p14:sldId id="492"/>
            <p14:sldId id="493"/>
            <p14:sldId id="495"/>
            <p14:sldId id="429"/>
            <p14:sldId id="430"/>
            <p14:sldId id="431"/>
            <p14:sldId id="432"/>
            <p14:sldId id="496"/>
            <p14:sldId id="497"/>
            <p14:sldId id="438"/>
          </p14:sldIdLst>
        </p14:section>
        <p14:section name="Untitled Section" id="{C3D84388-75FC-466E-978D-0558AFEEDB78}">
          <p14:sldIdLst>
            <p14:sldId id="491"/>
            <p14:sldId id="458"/>
            <p14:sldId id="459"/>
            <p14:sldId id="460"/>
            <p14:sldId id="463"/>
            <p14:sldId id="464"/>
            <p14:sldId id="467"/>
            <p14:sldId id="468"/>
            <p14:sldId id="469"/>
            <p14:sldId id="470"/>
            <p14:sldId id="471"/>
            <p14:sldId id="465"/>
            <p14:sldId id="466"/>
            <p14:sldId id="472"/>
            <p14:sldId id="473"/>
            <p14:sldId id="474"/>
            <p14:sldId id="475"/>
            <p14:sldId id="476"/>
            <p14:sldId id="477"/>
            <p14:sldId id="479"/>
            <p14:sldId id="480"/>
            <p14:sldId id="481"/>
            <p14:sldId id="482"/>
            <p14:sldId id="483"/>
            <p14:sldId id="484"/>
            <p14:sldId id="485"/>
            <p14:sldId id="486"/>
            <p14:sldId id="48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91" autoAdjust="0"/>
    <p:restoredTop sz="85674" autoAdjust="0"/>
  </p:normalViewPr>
  <p:slideViewPr>
    <p:cSldViewPr>
      <p:cViewPr varScale="1">
        <p:scale>
          <a:sx n="79" d="100"/>
          <a:sy n="79" d="100"/>
        </p:scale>
        <p:origin x="909" y="39"/>
      </p:cViewPr>
      <p:guideLst>
        <p:guide orient="horz" pos="217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0" d="100"/>
        <a:sy n="140" d="100"/>
      </p:scale>
      <p:origin x="0" y="-144152"/>
    </p:cViewPr>
  </p:sorterViewPr>
  <p:notesViewPr>
    <p:cSldViewPr>
      <p:cViewPr varScale="1">
        <p:scale>
          <a:sx n="92" d="100"/>
          <a:sy n="92" d="100"/>
        </p:scale>
        <p:origin x="-3768" y="-102"/>
      </p:cViewPr>
      <p:guideLst>
        <p:guide orient="horz" pos="2894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7" Type="http://schemas.openxmlformats.org/officeDocument/2006/relationships/tableStyles" Target="tableStyles.xml"/><Relationship Id="rId86" Type="http://schemas.openxmlformats.org/officeDocument/2006/relationships/viewProps" Target="viewProps.xml"/><Relationship Id="rId85" Type="http://schemas.openxmlformats.org/officeDocument/2006/relationships/presProps" Target="presProps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A6F3147-B3C0-4B2A-B964-AB106F786BE1}" type="datetimeFigureOut">
              <a:rPr lang="en-US"/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CA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CA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BF7B1FF-DFE5-4B27-8E0E-F1DDF2FB76BC}" type="slidenum">
              <a:rPr lang="en-CA"/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CA" altLang="zh-CN" sz="1200" dirty="0">
                <a:solidFill>
                  <a:srgbClr val="000000"/>
                </a:solidFill>
                <a:latin typeface="Arial" panose="020B0604020202020204"/>
                <a:cs typeface="+mn-cs"/>
              </a:rPr>
              <a:t>Adapted from the slides by Douglas Wilhelm Harder of U Waterloo (https://ece.uwaterloo.ca/~dwharder/aads/Lecture_materials/)</a:t>
            </a:r>
            <a:endParaRPr lang="en-CA" altLang="zh-CN" sz="1200" dirty="0">
              <a:solidFill>
                <a:srgbClr val="000000"/>
              </a:solidFill>
              <a:latin typeface="Arial" panose="020B0604020202020204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CA" altLang="zh-CN" sz="1200" dirty="0">
                <a:solidFill>
                  <a:srgbClr val="000000"/>
                </a:solidFill>
                <a:latin typeface="Arial" panose="020B0604020202020204"/>
                <a:cs typeface="+mn-cs"/>
              </a:rPr>
              <a:t>May also contain</a:t>
            </a:r>
            <a:r>
              <a:rPr lang="en-CA" altLang="zh-CN" sz="1200" baseline="0" dirty="0">
                <a:solidFill>
                  <a:srgbClr val="000000"/>
                </a:solidFill>
                <a:latin typeface="Arial" panose="020B0604020202020204"/>
                <a:cs typeface="+mn-cs"/>
              </a:rPr>
              <a:t> material from the s</a:t>
            </a:r>
            <a:r>
              <a:rPr lang="en-US" altLang="zh-CN" dirty="0" err="1"/>
              <a:t>lides</a:t>
            </a:r>
            <a:r>
              <a:rPr lang="en-US" altLang="zh-CN" dirty="0"/>
              <a:t> at https://courses.cs.washington.edu/courses/cse326/03wi/326lecturesb.shtml (by Dan </a:t>
            </a:r>
            <a:r>
              <a:rPr lang="en-US" altLang="zh-CN" dirty="0" err="1"/>
              <a:t>Suciu</a:t>
            </a:r>
            <a:r>
              <a:rPr lang="en-US" altLang="zh-CN" dirty="0"/>
              <a:t> of U Washington)</a:t>
            </a:r>
            <a:endParaRPr lang="en-US" altLang="zh-CN" dirty="0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E6226FB-55D5-4CAA-90EF-D8DC53E1A20F}" type="slidenum">
              <a:rPr lang="en-CA" smtClean="0">
                <a:solidFill>
                  <a:prstClr val="black"/>
                </a:solidFill>
              </a:rPr>
            </a:fld>
            <a:endParaRPr lang="en-CA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F7B1FF-DFE5-4B27-8E0E-F1DDF2FB76BC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9A98627-1443-41F9-93F0-C8F6A6FE9DF8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4F6F9A-1D46-4AB4-BB87-6C84DBC0ED98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B4C6BB7-CF9E-4BFE-9BBD-A33872D8A65E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3D3B759-5350-4222-8B93-50A5734C6595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F458AA3-BD80-4E31-B92B-EEC1A5828F3C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8B83B1C-748F-4301-8801-61008CA546DE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9B3C5-012C-42FB-ACF2-E958B20FE123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9CFA901-9B9F-4FF7-BB42-739462939307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401811-8A27-47BF-AE2C-F0A53C6CAEF9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Reference: Donald E. Knuth, </a:t>
            </a:r>
            <a:r>
              <a:rPr lang="en-US" alt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The Art of Computer Programming, Volume 3:  Sorting and Searching</a:t>
            </a: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2</a:t>
            </a:r>
            <a:r>
              <a:rPr lang="en-US" altLang="en-US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Ed., Addison Wesley, 1998, §5.3.1, p.180.</a:t>
            </a:r>
            <a:endParaRPr lang="en-US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401811-8A27-47BF-AE2C-F0A53C6CAEF9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41516B-12FD-47AF-8BE2-CE5AAFF761E0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B6280D-D48E-491C-9412-C6A9548AA73D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7607356-B7AE-48F1-886F-C5A2225F798D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F4B13DF-EDB8-4540-9F37-38B2DF35649A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FDF1156-595E-4A07-8583-1B1B02FA9F66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BFE957-419B-4FBE-A438-8F0A39A3C7BB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023775-7879-448B-A219-B399493DA6AA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855D4FA-1350-40C4-831E-B0734D50C6A5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104EB03-4FA1-429C-940E-DBECFC7243E8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79D441C-F94B-4F9D-AC2A-F47FB40066C3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908724F-41A5-4A21-A568-8A2B7079AD9B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	  Ref:  Bruno Preiss, </a:t>
            </a:r>
            <a:r>
              <a:rPr lang="en-US" altLang="zh-CN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Structures and Algorithms</a:t>
            </a:r>
            <a:endParaRPr lang="en-US" altLang="zh-CN" sz="1200" i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9ABE99-8617-4038-B1D0-0945F23B12D5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59F0BAC-D275-4538-AD79-03E89732EE5C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C1802A1-0888-419E-B3AA-8ACB7E41CA68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E8E0C9F-3BE1-4CEE-91A4-2EBFC4AFCA64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D490D9C-81CF-482A-B9FC-1F1F08B1C1EA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174B1D-E8E3-4200-95EB-F9994C673E07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1F7B09B-5996-4384-8C05-601FAFC78543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9D5EDCE-640A-401A-BA8C-8422105E1C45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A33892F-557D-4990-A27D-F1B6B8911BC5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E8E18E-319A-41A0-8C51-BC545041941A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zh-CN" sz="1800" dirty="0">
                <a:solidFill>
                  <a:srgbClr val="4D4D4D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插入排序算法是一个对少量元素进行排序的有效算法。按照算法导论的</a:t>
            </a:r>
            <a:r>
              <a:rPr lang="zh-CN" altLang="en-US" sz="1800" dirty="0">
                <a:solidFill>
                  <a:srgbClr val="4D4D4D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图</a:t>
            </a:r>
            <a:r>
              <a:rPr lang="zh-CN" altLang="zh-CN" sz="1800" dirty="0">
                <a:solidFill>
                  <a:srgbClr val="4D4D4D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例来说，工作原理和很多人打牌时</a:t>
            </a:r>
            <a:r>
              <a:rPr lang="en-US" altLang="zh-CN" sz="1800" dirty="0">
                <a:solidFill>
                  <a:srgbClr val="4D4D4D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zh-CN" altLang="zh-CN" sz="1800" dirty="0">
                <a:solidFill>
                  <a:srgbClr val="4D4D4D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整理手中牌时的做法类似。在开始摸牌时</a:t>
            </a:r>
            <a:r>
              <a:rPr lang="en-US" altLang="zh-CN" sz="1800" dirty="0">
                <a:solidFill>
                  <a:srgbClr val="4D4D4D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zh-CN" altLang="zh-CN" sz="1800" dirty="0">
                <a:solidFill>
                  <a:srgbClr val="4D4D4D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放置牌比如左手是空的</a:t>
            </a:r>
            <a:r>
              <a:rPr lang="en-US" altLang="zh-CN" sz="1800" dirty="0">
                <a:solidFill>
                  <a:srgbClr val="4D4D4D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zh-CN" altLang="zh-CN" sz="1800" dirty="0">
                <a:solidFill>
                  <a:srgbClr val="4D4D4D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牌面朝下放在桌上。接着</a:t>
            </a:r>
            <a:r>
              <a:rPr lang="en-US" altLang="zh-CN" sz="1800" dirty="0">
                <a:solidFill>
                  <a:srgbClr val="4D4D4D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zh-CN" altLang="zh-CN" sz="1800" dirty="0">
                <a:solidFill>
                  <a:srgbClr val="4D4D4D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一次从桌上摸一张牌</a:t>
            </a:r>
            <a:r>
              <a:rPr lang="en-US" altLang="zh-CN" sz="1800" dirty="0">
                <a:solidFill>
                  <a:srgbClr val="4D4D4D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zh-CN" altLang="zh-CN" sz="1800" dirty="0">
                <a:solidFill>
                  <a:srgbClr val="4D4D4D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并将它插入到左手那把牌中的正确位置上。为了找到这张牌的正确位置</a:t>
            </a:r>
            <a:r>
              <a:rPr lang="en-US" altLang="zh-CN" sz="1800" dirty="0">
                <a:solidFill>
                  <a:srgbClr val="4D4D4D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zh-CN" altLang="zh-CN" sz="1800" dirty="0">
                <a:solidFill>
                  <a:srgbClr val="4D4D4D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要将它与手中已有的每一张牌从左到右地进行比较，无论在什么时候，左手中的牌都是排好序的</a:t>
            </a:r>
            <a:endParaRPr lang="zh-CN" altLang="zh-CN" sz="18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3FAEE0-60C2-42A0-AB7D-7B4227A2234D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D0565B-C379-4326-88A3-66165CFF82D7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34A20CA-6221-4BEC-B1F5-690A0CC481BF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147BC44-91B3-4DBA-8E3E-FE21B7DDCFCD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283800A-797B-4A1B-9918-79C7014C2651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91E042D-9CC4-45A7-B515-2C3AA0C0AEC8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43ED6D0-D5D0-41A7-9423-7561E76756D7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1D068DE-7CAD-4B17-ADF2-B1C38B828675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3A67A20-7F52-4F72-8B4F-2A961B56A0F9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5AFE83B-C41F-4C1F-AF3C-2DCFC5FF5CDA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AA42E1-F8C9-4DAD-903C-CF1FA4E392E4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26A3D7E-F38A-4887-90BD-E2D3AE03A2B5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88C6192-A260-4DC9-BA7E-21488AB2B06E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387DC-2F20-45DB-B11A-FE7055B56720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B106F4-8839-43E2-A4C9-BE0226A329A5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D0EE414-1559-4758-9525-1E15706CED80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C427E6F-DA1F-4C85-AF7B-B08C1C8BE3DC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A5C0B3-140C-408B-82E9-334B79C88C63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36C3FAE-E06A-4BD7-B8CB-513F04D7E3AA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E657820-1E43-41F6-A2B0-83C1BB37711D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380869-33C4-4BFD-A62D-933B44A09E21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B39D417-3977-426C-8E86-9313326BAC3A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9B7B7A4-9E3D-43EC-BD56-AE77A986B628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846246-1F46-4FEC-8055-BAB7E6F050BF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38CEAB6-80BD-4CDC-AD79-19B496EE75E8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16ECD52-4489-4445-8BEC-7ED2BDCB2B8E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41EB2AD-F07C-45BC-84D5-191ACBE33169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6DEB6C8-6A9F-4E80-960C-67BD10AF1899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0830163-8CAA-4AF4-A23C-7027D59F2654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A58D4D6-F9DD-40F2-9125-4C0B00E94A4B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A3F8C5-D73B-40A6-8967-310732027CD8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C183C3-7C42-4AB6-83B8-87A418B1E26E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A72CDBC-5CC8-4FBB-A6F8-9078C93E30AC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4E8F88-621B-4245-A579-81E67FE4EB13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93BC15C-F465-4581-A787-EFC51CD1567C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F9A70BB-FFBC-4C84-9CB2-400B8485D6C2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259263-E32F-467E-B98C-336DC284759A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48A386-CCBB-422A-A309-3CFA2BBA76DF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B0E9026-9DCB-4374-8E35-6D1B996DEA1F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7BB0DDA-B84D-48C0-AAFB-D162EE9A6138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48CA3F-4CF2-4AA2-90DB-D481F6BBCBD2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DD0E58D-0470-403A-9718-890C56111378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A7494E6-B0F6-4186-8A3F-A7F66B571CC5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6E419CC-874A-4322-B3C5-91D25BD955C3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pic>
        <p:nvPicPr>
          <p:cNvPr id="5" name="Picture 2" descr="C:\Users\dwharder\Desktop\cc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97863" y="6373813"/>
            <a:ext cx="679450" cy="33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17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1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2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7.xml"/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7.wmf"/><Relationship Id="rId1" Type="http://schemas.openxmlformats.org/officeDocument/2006/relationships/oleObject" Target="../embeddings/oleObject3.bin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wmf"/><Relationship Id="rId1" Type="http://schemas.openxmlformats.org/officeDocument/2006/relationships/oleObject" Target="../embeddings/oleObject5.bin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9.xml"/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6.bin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GIF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GIF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2.xml"/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wmf"/><Relationship Id="rId1" Type="http://schemas.openxmlformats.org/officeDocument/2006/relationships/oleObject" Target="../embeddings/oleObject7.bin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 anchor="ctr">
            <a:normAutofit fontScale="9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dirty="0"/>
              <a:t>CS101 Algorithms and Data Structures</a:t>
            </a:r>
            <a:endParaRPr lang="en-US" altLang="zh-CN" sz="4400" dirty="0"/>
          </a:p>
        </p:txBody>
      </p:sp>
      <p:sp>
        <p:nvSpPr>
          <p:cNvPr id="7" name="Subtitle 1"/>
          <p:cNvSpPr txBox="1"/>
          <p:nvPr/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hangingPunct="1">
              <a:buFont typeface="Arial" panose="020B0604020202020204" pitchFamily="34" charset="0"/>
              <a:buNone/>
            </a:pP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4" name="Subtitle 1"/>
          <p:cNvSpPr txBox="1"/>
          <p:nvPr/>
        </p:nvSpPr>
        <p:spPr>
          <a:xfrm>
            <a:off x="1295400" y="3754438"/>
            <a:ext cx="6858000" cy="165576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hangingPunct="1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prstClr val="black"/>
                </a:solidFill>
              </a:rPr>
              <a:t>Insertion and Bubble Sort</a:t>
            </a:r>
            <a:endParaRPr lang="en-US" altLang="zh-CN" dirty="0">
              <a:solidFill>
                <a:prstClr val="black"/>
              </a:solidFill>
            </a:endParaRPr>
          </a:p>
          <a:p>
            <a:pPr marL="0" indent="0" algn="ctr" eaLnBrk="1" hangingPunct="1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prstClr val="black"/>
                </a:solidFill>
              </a:rPr>
              <a:t>Textbook </a:t>
            </a:r>
            <a:r>
              <a:rPr lang="en-US" altLang="zh-CN" dirty="0" err="1">
                <a:solidFill>
                  <a:prstClr val="black"/>
                </a:solidFill>
              </a:rPr>
              <a:t>Ch</a:t>
            </a:r>
            <a:r>
              <a:rPr lang="en-US" altLang="zh-CN" dirty="0">
                <a:solidFill>
                  <a:prstClr val="black"/>
                </a:solidFill>
              </a:rPr>
              <a:t> 2</a:t>
            </a:r>
            <a:endParaRPr lang="en-US" altLang="zh-CN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Introduction</a:t>
            </a:r>
            <a:endParaRPr lang="en-US" altLang="zh-CN" dirty="0"/>
          </a:p>
          <a:p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Inversions</a:t>
            </a:r>
            <a:endParaRPr lang="en-US" altLang="zh-CN" dirty="0"/>
          </a:p>
          <a:p>
            <a:r>
              <a:rPr lang="en-US" altLang="zh-CN" dirty="0"/>
              <a:t>Insertion sort</a:t>
            </a:r>
            <a:endParaRPr lang="en-US" altLang="zh-CN" dirty="0"/>
          </a:p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Bubble sort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Heap sort</a:t>
            </a:r>
            <a:endParaRPr lang="en-US" altLang="en-US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Merge sort</a:t>
            </a:r>
            <a:endParaRPr lang="en-US" altLang="en-US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Quicksort</a:t>
            </a:r>
            <a:endParaRPr lang="en-US" altLang="en-US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Bucket sort</a:t>
            </a:r>
            <a:endParaRPr lang="en-US" altLang="en-US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Radix sort</a:t>
            </a:r>
            <a:endParaRPr lang="en-US" altLang="en-US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Definition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Sorting is the process of: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Taking a list of objects which could be stored in a linear order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ctr">
              <a:buFont typeface="Arial" panose="020B0604020202020204" pitchFamily="34" charset="0"/>
              <a:buNone/>
            </a:pP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alt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a</a:t>
            </a:r>
            <a:r>
              <a:rPr lang="en-US" altLang="en-US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0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alt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a</a:t>
            </a:r>
            <a:r>
              <a:rPr lang="en-US" altLang="en-US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, ..., </a:t>
            </a:r>
            <a:r>
              <a:rPr lang="en-US" alt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a</a:t>
            </a:r>
            <a:r>
              <a:rPr lang="en-US" altLang="en-US" i="1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 – 1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en-US" alt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	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., numbers, and returning a reordering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ctr">
              <a:buFont typeface="Arial" panose="020B0604020202020204" pitchFamily="34" charset="0"/>
              <a:buNone/>
            </a:pP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alt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a'</a:t>
            </a:r>
            <a:r>
              <a:rPr lang="en-US" altLang="en-US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0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alt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a'</a:t>
            </a:r>
            <a:r>
              <a:rPr lang="en-US" altLang="en-US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, ..., </a:t>
            </a:r>
            <a:r>
              <a:rPr lang="en-US" altLang="en-US" i="1" dirty="0" err="1">
                <a:latin typeface="Times New Roman" panose="02020603050405020304" pitchFamily="18" charset="0"/>
                <a:cs typeface="Arial" panose="020B0604020202020204" pitchFamily="34" charset="0"/>
              </a:rPr>
              <a:t>a'</a:t>
            </a:r>
            <a:r>
              <a:rPr lang="en-US" altLang="en-US" i="1" baseline="-25000" dirty="0" err="1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 – 1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such that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ctr">
              <a:buFontTx/>
              <a:buNone/>
            </a:pPr>
            <a:r>
              <a:rPr lang="en-US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a'</a:t>
            </a:r>
            <a:r>
              <a:rPr lang="en-US" altLang="en-US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0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≤ </a:t>
            </a:r>
            <a:r>
              <a:rPr lang="en-US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a'</a:t>
            </a:r>
            <a:r>
              <a:rPr lang="en-US" altLang="en-US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≤ · · · ≤ </a:t>
            </a:r>
            <a:r>
              <a:rPr lang="en-US" altLang="en-US" i="1" dirty="0" err="1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a'</a:t>
            </a:r>
            <a:r>
              <a:rPr lang="en-US" altLang="en-US" i="1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– 1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The conversion of an Abstract List into an Abstract Sorted List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Definition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Seldom will we sort isolated values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Usually we will sort a number of records containing a number of fields based on a 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</a:rPr>
              <a:t>key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41316" name="Group 4"/>
          <p:cNvGraphicFramePr>
            <a:graphicFrameLocks noGrp="1"/>
          </p:cNvGraphicFramePr>
          <p:nvPr/>
        </p:nvGraphicFramePr>
        <p:xfrm>
          <a:off x="2339975" y="2781300"/>
          <a:ext cx="4032250" cy="164623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63600"/>
                <a:gridCol w="936625"/>
                <a:gridCol w="720725"/>
                <a:gridCol w="1511300"/>
              </a:tblGrid>
              <a:tr h="2743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19991532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Stevenson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Monica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 Glendridge Ave.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</a:tr>
              <a:tr h="2743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19990253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Redpath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Ruth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53 Belton Blvd.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</a:tr>
              <a:tr h="2743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19985832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Kilji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Islam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37 Masterson Ave.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</a:tr>
              <a:tr h="2743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20003541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Groskurth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Ken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12 </a:t>
                      </a:r>
                      <a:r>
                        <a:rPr kumimoji="0" 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Marsdale</a:t>
                      </a: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Ave.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</a:tr>
              <a:tr h="2743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19981932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Carol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Ann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81 Oakridge Ave.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</a:tr>
              <a:tr h="2743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20003287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Redpath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David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5 Glendale Ave.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</a:tr>
            </a:tbl>
          </a:graphicData>
        </a:graphic>
      </p:graphicFrame>
      <p:graphicFrame>
        <p:nvGraphicFramePr>
          <p:cNvPr id="141353" name="Group 41"/>
          <p:cNvGraphicFramePr>
            <a:graphicFrameLocks noGrp="1"/>
          </p:cNvGraphicFramePr>
          <p:nvPr/>
        </p:nvGraphicFramePr>
        <p:xfrm>
          <a:off x="250825" y="4879975"/>
          <a:ext cx="4032250" cy="16455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63600"/>
                <a:gridCol w="936625"/>
                <a:gridCol w="720725"/>
                <a:gridCol w="1511300"/>
              </a:tblGrid>
              <a:tr h="2741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19981932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85" marB="45685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Carol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85" marB="45685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Ann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85" marB="45685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81 Oakridge Ave.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85" marB="45685" horzOverflow="overflow"/>
                </a:tc>
              </a:tr>
              <a:tr h="2741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19985832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85" marB="45685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Khilji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85" marB="45685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Islam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85" marB="45685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37 Masterson Ave.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85" marB="45685" horzOverflow="overflow"/>
                </a:tc>
              </a:tr>
              <a:tr h="2741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19990253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85" marB="45685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Redpath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85" marB="45685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Ruth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85" marB="45685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53 Belton Blvd.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85" marB="45685" horzOverflow="overflow"/>
                </a:tc>
              </a:tr>
              <a:tr h="2741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19991532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85" marB="45685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Stevenson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85" marB="45685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Monica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85" marB="45685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 </a:t>
                      </a:r>
                      <a:r>
                        <a:rPr kumimoji="0" 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Glendridge</a:t>
                      </a: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Ave.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85" marB="45685" horzOverflow="overflow"/>
                </a:tc>
              </a:tr>
              <a:tr h="2741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20003287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85" marB="45685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Redpath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85" marB="45685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David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85" marB="45685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5 Glendale Ave.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85" marB="45685" horzOverflow="overflow"/>
                </a:tc>
              </a:tr>
              <a:tr h="2741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20003541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85" marB="45685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Groskurth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85" marB="45685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Ken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85" marB="45685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12 </a:t>
                      </a:r>
                      <a:r>
                        <a:rPr kumimoji="0" 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Marsdale</a:t>
                      </a: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Ave.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85" marB="45685" horzOverflow="overflow"/>
                </a:tc>
              </a:tr>
            </a:tbl>
          </a:graphicData>
        </a:graphic>
      </p:graphicFrame>
      <p:graphicFrame>
        <p:nvGraphicFramePr>
          <p:cNvPr id="141390" name="Group 78"/>
          <p:cNvGraphicFramePr>
            <a:graphicFrameLocks noGrp="1"/>
          </p:cNvGraphicFramePr>
          <p:nvPr/>
        </p:nvGraphicFramePr>
        <p:xfrm>
          <a:off x="4787900" y="4951413"/>
          <a:ext cx="4032250" cy="164623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63600"/>
                <a:gridCol w="936625"/>
                <a:gridCol w="720725"/>
                <a:gridCol w="1511300"/>
              </a:tblGrid>
              <a:tr h="2743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19981932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Carol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Ann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81 Oakridge Ave.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</a:tr>
              <a:tr h="2743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20003541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Groskurth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Ken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12 Marsdale Ave.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</a:tr>
              <a:tr h="2743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19985832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Kilji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Islam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37 Masterson Ave.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</a:tr>
              <a:tr h="2743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20003287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Redpath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David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5 Glendale Ave.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</a:tr>
              <a:tr h="2743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19990253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Redpath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Ruth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53 Belton Blvd.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</a:tr>
              <a:tr h="2743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19991532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Stevenson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Monica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 </a:t>
                      </a:r>
                      <a:r>
                        <a:rPr kumimoji="0" 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Glendridge</a:t>
                      </a: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Ave.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9" marB="45729" horzOverflow="overflow"/>
                </a:tc>
              </a:tr>
            </a:tbl>
          </a:graphicData>
        </a:graphic>
      </p:graphicFrame>
      <p:sp>
        <p:nvSpPr>
          <p:cNvPr id="14415" name="Line 115"/>
          <p:cNvSpPr>
            <a:spLocks noChangeShapeType="1"/>
          </p:cNvSpPr>
          <p:nvPr/>
        </p:nvSpPr>
        <p:spPr bwMode="auto">
          <a:xfrm flipH="1">
            <a:off x="3348038" y="4533900"/>
            <a:ext cx="287337" cy="1444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14416" name="Line 116"/>
          <p:cNvSpPr>
            <a:spLocks noChangeShapeType="1"/>
          </p:cNvSpPr>
          <p:nvPr/>
        </p:nvSpPr>
        <p:spPr bwMode="auto">
          <a:xfrm>
            <a:off x="4643438" y="4535488"/>
            <a:ext cx="720725" cy="3603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14417" name="Text Box 117"/>
          <p:cNvSpPr txBox="1">
            <a:spLocks noChangeArrowheads="1"/>
          </p:cNvSpPr>
          <p:nvPr/>
        </p:nvSpPr>
        <p:spPr bwMode="auto">
          <a:xfrm>
            <a:off x="34925" y="4416425"/>
            <a:ext cx="22748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/>
              <a:t>Numerically by ID Number</a:t>
            </a:r>
            <a:endParaRPr lang="en-US" altLang="en-US" sz="1400"/>
          </a:p>
        </p:txBody>
      </p:sp>
      <p:sp>
        <p:nvSpPr>
          <p:cNvPr id="14418" name="Text Box 118"/>
          <p:cNvSpPr txBox="1">
            <a:spLocks noChangeArrowheads="1"/>
          </p:cNvSpPr>
          <p:nvPr/>
        </p:nvSpPr>
        <p:spPr bwMode="auto">
          <a:xfrm>
            <a:off x="5076825" y="4489450"/>
            <a:ext cx="39639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/>
              <a:t>Lexicographically by surname, then given name</a:t>
            </a:r>
            <a:endParaRPr lang="en-US" altLang="en-US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Definition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In these topics, we will assume that: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are sorting integers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 algorithms can also be applied to other types of objects as long as we can compare any two objects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Arrays are to be used for both input and output</a:t>
            </a:r>
            <a:endParaRPr lang="en-US" alt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In-place Sorting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Sorting algorithms may be performed </a:t>
            </a:r>
            <a:r>
              <a:rPr lang="en-US" altLang="en-US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in-place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that is, with the allocation of at most </a:t>
            </a:r>
            <a:r>
              <a:rPr lang="en-US" altLang="en-US" b="1" dirty="0">
                <a:latin typeface="Symbol" panose="05050102010706020507" pitchFamily="18" charset="2"/>
                <a:cs typeface="Arial" panose="020B0604020202020204" pitchFamily="34" charset="0"/>
              </a:rPr>
              <a:t>Q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(1)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additional memory (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., fixed number of local variables)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Some definitions of 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</a:rPr>
              <a:t>in place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as using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memory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Other sorting algorithms require the allocation of second array of equal size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Requires </a:t>
            </a:r>
            <a:r>
              <a:rPr lang="en-US" altLang="en-US" b="1" dirty="0">
                <a:latin typeface="Symbol" panose="05050102010706020507" pitchFamily="18" charset="2"/>
                <a:cs typeface="Arial" panose="020B0604020202020204" pitchFamily="34" charset="0"/>
              </a:rPr>
              <a:t>Q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alt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additional memory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We will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prefer in-place sorting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algorithms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4" descr="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0" y="2328863"/>
            <a:ext cx="2330450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Classifications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The operations of a sorting algorithm are based on the actions performed: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Insertion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Exchanging 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Selection  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Merging 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Distribution 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Run-time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The run time of the sorting algorithms we will look at fall into one of three categories: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FontTx/>
              <a:buNone/>
            </a:pPr>
            <a:r>
              <a:rPr lang="en-US" altLang="en-US" b="1" dirty="0">
                <a:latin typeface="Symbol" panose="05050102010706020507" pitchFamily="18" charset="2"/>
                <a:cs typeface="Arial" panose="020B0604020202020204" pitchFamily="34" charset="0"/>
              </a:rPr>
              <a:t>Q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alt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	</a:t>
            </a:r>
            <a:r>
              <a:rPr lang="en-US" altLang="en-US" b="1" dirty="0">
                <a:latin typeface="Symbol" panose="05050102010706020507" pitchFamily="18" charset="2"/>
                <a:cs typeface="Arial" panose="020B0604020202020204" pitchFamily="34" charset="0"/>
              </a:rPr>
              <a:t>Q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alt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ln(</a:t>
            </a:r>
            <a:r>
              <a:rPr lang="en-US" alt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)) 	</a:t>
            </a:r>
            <a:r>
              <a:rPr lang="en-US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alt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We will examine average- and worst-case scenarios for each algorithm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The run-time may change significantly based on the scenario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Run-time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We will review the more traditional </a:t>
            </a:r>
            <a:r>
              <a:rPr lang="en-US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alt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sorting algorithms: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Insertion sort, Bubble sort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of the faster </a:t>
            </a:r>
            <a:r>
              <a:rPr lang="en-US" altLang="en-US" b="1" dirty="0">
                <a:solidFill>
                  <a:schemeClr val="bg1">
                    <a:lumMod val="75000"/>
                  </a:schemeClr>
                </a:solidFill>
                <a:latin typeface="Symbol" panose="05050102010706020507" pitchFamily="18" charset="2"/>
                <a:cs typeface="Arial" panose="020B0604020202020204" pitchFamily="34" charset="0"/>
              </a:rPr>
              <a:t>Q</a:t>
            </a: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altLang="en-US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ln</a:t>
            </a: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altLang="en-US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))</a:t>
            </a: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sorting algorithms:</a:t>
            </a:r>
            <a:endParaRPr lang="en-US" altLang="en-US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Heap sort, Quicksort, and Merge sort</a:t>
            </a:r>
            <a:endParaRPr lang="en-US" altLang="en-US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And linear-time sorting algorithms</a:t>
            </a:r>
            <a:endParaRPr lang="en-US" altLang="en-US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Bucket sort and Radix sort</a:t>
            </a:r>
            <a:endParaRPr lang="en-US" altLang="en-US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must make assumptions about the data</a:t>
            </a:r>
            <a:endParaRPr lang="en-US" altLang="en-US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Lower-bound Run-time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Any sorting algorithm must examine each entry in the array at least once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Consequently, all sorting algorithms must be </a:t>
            </a:r>
            <a:r>
              <a:rPr lang="en-US" altLang="en-US" b="1" dirty="0">
                <a:latin typeface="Symbol" panose="05050102010706020507" pitchFamily="18" charset="2"/>
                <a:cs typeface="Arial" panose="020B0604020202020204" pitchFamily="34" charset="0"/>
              </a:rPr>
              <a:t>W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alt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will not be able to achieve </a:t>
            </a:r>
            <a:r>
              <a:rPr lang="en-US" altLang="en-US" dirty="0">
                <a:solidFill>
                  <a:srgbClr val="FF0000"/>
                </a:solidFill>
                <a:latin typeface="Symbol" panose="05050102010706020507" pitchFamily="18" charset="2"/>
                <a:cs typeface="Arial" panose="020B0604020202020204" pitchFamily="34" charset="0"/>
              </a:rPr>
              <a:t>Q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behaviour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without additional assumptions</a:t>
            </a:r>
            <a:endParaRPr lang="en-US" alt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Lower-bound Run-time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The general worst-case run time is </a:t>
            </a:r>
            <a:r>
              <a:rPr lang="en-US" altLang="en-US" b="1" dirty="0">
                <a:solidFill>
                  <a:srgbClr val="000000"/>
                </a:solidFill>
                <a:latin typeface="Symbol" panose="05050102010706020507" pitchFamily="18" charset="2"/>
                <a:cs typeface="Arial" panose="020B0604020202020204" pitchFamily="34" charset="0"/>
              </a:rPr>
              <a:t>W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alt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lg(</a:t>
            </a:r>
            <a:r>
              <a:rPr lang="en-US" alt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))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The proof is based on the idea of a 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</a:rPr>
              <a:t>comparison tree</a:t>
            </a:r>
            <a:endParaRPr lang="en-US" alt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1403648" y="234888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301" name="VISIO" r:id="rId1" imgW="6101715" imgH="4063365" progId="Visio.Drawing.5">
                  <p:embed/>
                </p:oleObj>
              </mc:Choice>
              <mc:Fallback>
                <p:oleObj name="VISIO" r:id="rId1" imgW="6101715" imgH="4063365" progId="Visio.Drawing.5">
                  <p:embed/>
                  <p:pic>
                    <p:nvPicPr>
                      <p:cNvPr id="0" name="图片 1313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2348880"/>
                        <a:ext cx="6096000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Lower-bound Run-time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The general worst-case run time is </a:t>
            </a:r>
            <a:r>
              <a:rPr lang="en-US" altLang="en-US" b="1" dirty="0">
                <a:solidFill>
                  <a:srgbClr val="000000"/>
                </a:solidFill>
                <a:latin typeface="Symbol" panose="05050102010706020507" pitchFamily="18" charset="2"/>
                <a:cs typeface="Arial" panose="020B0604020202020204" pitchFamily="34" charset="0"/>
              </a:rPr>
              <a:t>W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alt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lg(</a:t>
            </a:r>
            <a:r>
              <a:rPr lang="en-US" alt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))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The proof: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Any comparison-based sorting algorithm can be represented by a comparison tree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Worst-case running time cannot be less than the height of the tree</a:t>
            </a:r>
            <a:endParaRPr lang="en-US" alt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How many leaves does the tree have?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 number of permutations of </a:t>
            </a:r>
            <a:r>
              <a:rPr lang="en-US" altLang="en-US" i="1" dirty="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objects, which is </a:t>
            </a:r>
            <a:r>
              <a:rPr lang="en-US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!</a:t>
            </a:r>
            <a:endParaRPr lang="en-US" alt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What’s the shallowest tree with </a:t>
            </a:r>
            <a:r>
              <a:rPr lang="en-US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! </a:t>
            </a:r>
            <a:r>
              <a:rPr lang="en-US" altLang="zh-CN" dirty="0">
                <a:solidFill>
                  <a:srgbClr val="FF0000"/>
                </a:solidFill>
              </a:rPr>
              <a:t>leaves</a:t>
            </a:r>
            <a:r>
              <a:rPr lang="en-US" altLang="zh-CN" dirty="0"/>
              <a:t>?</a:t>
            </a:r>
            <a:endParaRPr lang="en-US" altLang="zh-CN" dirty="0"/>
          </a:p>
          <a:p>
            <a:pPr lvl="2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 complete tree, whose height is </a:t>
            </a:r>
            <a:r>
              <a:rPr lang="en-US" alt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lg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altLang="en-US" i="1" dirty="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!)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It can be shown that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lg(</a:t>
            </a:r>
            <a:r>
              <a:rPr lang="en-US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!) = </a:t>
            </a:r>
            <a:r>
              <a:rPr lang="en-US" altLang="en-US" b="1" dirty="0">
                <a:solidFill>
                  <a:srgbClr val="FF0000"/>
                </a:solidFill>
                <a:latin typeface="Symbol" panose="05050102010706020507" pitchFamily="18" charset="2"/>
                <a:cs typeface="Arial" panose="020B0604020202020204" pitchFamily="34" charset="0"/>
              </a:rPr>
              <a:t>Q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lg(</a:t>
            </a:r>
            <a:r>
              <a:rPr lang="en-US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))</a:t>
            </a:r>
            <a:endParaRPr lang="en-US" altLang="en-US" dirty="0">
              <a:solidFill>
                <a:srgbClr val="FF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176" y="4249398"/>
            <a:ext cx="2088232" cy="18767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Optimal Sorting Algorithms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We will cover some common sorting algorithms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is no </a:t>
            </a:r>
            <a:r>
              <a:rPr lang="en-US" altLang="en-US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optimal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sorting algorithm which can be used in all places</a:t>
            </a:r>
            <a:endParaRPr lang="en-US" alt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Under various circumstances, different sorting algorithms will deliver optimal run-time and memory-allocation requirements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Sub-optimal Sorting Algorithms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Before we look at other algorithms, we will consider the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Bogosort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algorithm: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Tx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 1.	  Randomly order the objects, and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Tx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 2.	  Check if they’re sorted, if not, go back to Step 1.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Run time analysis: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best case:		</a:t>
            </a:r>
            <a:r>
              <a:rPr lang="en-CA" altLang="en-US" dirty="0">
                <a:latin typeface="Symbol" panose="05050102010706020507" pitchFamily="18" charset="2"/>
                <a:ea typeface="Calibri" panose="020F0502020204030204" pitchFamily="34" charset="0"/>
                <a:cs typeface="Times New Roman" panose="02020603050405020304" pitchFamily="18" charset="0"/>
              </a:rPr>
              <a:t>Q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alt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en-US" alt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worst:		unbounded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average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:		</a:t>
            </a:r>
            <a:r>
              <a:rPr lang="en-CA" altLang="en-US" dirty="0">
                <a:latin typeface="Symbol" panose="05050102010706020507" pitchFamily="18" charset="2"/>
                <a:cs typeface="Arial" panose="020B0604020202020204" pitchFamily="34" charset="0"/>
              </a:rPr>
              <a:t>Q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((</a:t>
            </a:r>
            <a:r>
              <a:rPr lang="en-US" alt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n+1)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!)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4" descr="文本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2981217"/>
            <a:ext cx="4032448" cy="36166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Sub-optimal Sorting Algorithms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There is also the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Bozosort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algorithm: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Tx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 1.	  Check if the entries are sorted,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Tx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 2.	  If they are not, randomly swap two entries and go to Step 1.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Run time analysis: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More difficult than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bogosort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dirty="0"/>
              <a:t>O(</a:t>
            </a:r>
            <a:r>
              <a:rPr lang="en-US" altLang="zh-CN" i="1" dirty="0"/>
              <a:t>n</a:t>
            </a:r>
            <a:r>
              <a:rPr lang="en-US" altLang="zh-CN" dirty="0"/>
              <a:t>!) is the expected average case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Introduction to sorting, including: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Assumptions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In-place sorting (</a:t>
            </a:r>
            <a:r>
              <a:rPr lang="en-US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(1)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additional memory)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Sorting techniques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insertion, exchanging, selection, merging, distribution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Run-time classification: </a:t>
            </a:r>
            <a:r>
              <a:rPr lang="en-US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alt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en-US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alt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ln(</a:t>
            </a:r>
            <a:r>
              <a:rPr lang="en-US" alt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)) </a:t>
            </a:r>
            <a:r>
              <a:rPr lang="en-US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alt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Overview of proof that a general sorting algorithm must be </a:t>
            </a:r>
            <a:r>
              <a:rPr lang="en-US" altLang="en-US" b="1" dirty="0">
                <a:solidFill>
                  <a:srgbClr val="000000"/>
                </a:solidFill>
                <a:latin typeface="Symbol" panose="05050102010706020507" pitchFamily="18" charset="2"/>
                <a:cs typeface="Arial" panose="020B0604020202020204" pitchFamily="34" charset="0"/>
              </a:rPr>
              <a:t>W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alt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ln(</a:t>
            </a:r>
            <a:r>
              <a:rPr lang="en-US" alt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))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in the worst-case.</a:t>
            </a:r>
            <a:endParaRPr lang="en-US" alt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Introduction</a:t>
            </a:r>
            <a:endParaRPr lang="en-US" altLang="zh-CN" dirty="0"/>
          </a:p>
          <a:p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Inversions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Insertion sort</a:t>
            </a:r>
            <a:endParaRPr lang="en-US" altLang="zh-CN" dirty="0"/>
          </a:p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Bubble sort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Inversions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Consider the following three lists: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 1 16 12 26 25 35 33 58 45 42 56 67 83 75 74 86 81 88 99 95</a:t>
            </a:r>
            <a:endParaRPr lang="en-US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Tx/>
              <a:buNone/>
            </a:pPr>
            <a:endParaRPr lang="en-US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 1 17 21 42 24 27 32 35 45 47 57 23 66 69 70 76 87 85 95 99</a:t>
            </a:r>
            <a:endParaRPr lang="en-US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Tx/>
              <a:buNone/>
            </a:pPr>
            <a:endParaRPr lang="en-US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22 20 81 38 95 84 99 12 79 44 26 87 96 10 48 80  1 31 16 92</a:t>
            </a:r>
            <a:endParaRPr lang="en-US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To what degree are these three lists unsorted?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Inversions</a:t>
            </a:r>
            <a:endParaRPr lang="en-US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The first list requires only a few exchanges to make it sorted 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  1 16 12 26 25 35 33 58 45 42 56 67 83 75 74 86 81 88 99 95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      1 12 16 25 26 33 35 42 45 56 58 67 74 75 81 83 86 88 95 99</a:t>
            </a:r>
            <a:endParaRPr lang="en-US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628" name="Line 5"/>
          <p:cNvSpPr>
            <a:spLocks noChangeShapeType="1"/>
          </p:cNvSpPr>
          <p:nvPr/>
        </p:nvSpPr>
        <p:spPr bwMode="auto">
          <a:xfrm flipH="1">
            <a:off x="1476375" y="2684463"/>
            <a:ext cx="287338" cy="431800"/>
          </a:xfrm>
          <a:prstGeom prst="line">
            <a:avLst/>
          </a:prstGeom>
          <a:noFill/>
          <a:ln w="12700">
            <a:solidFill>
              <a:srgbClr val="00B0F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6629" name="Line 6"/>
          <p:cNvSpPr>
            <a:spLocks noChangeShapeType="1"/>
          </p:cNvSpPr>
          <p:nvPr/>
        </p:nvSpPr>
        <p:spPr bwMode="auto">
          <a:xfrm>
            <a:off x="1476375" y="2684463"/>
            <a:ext cx="358775" cy="431800"/>
          </a:xfrm>
          <a:prstGeom prst="line">
            <a:avLst/>
          </a:prstGeom>
          <a:noFill/>
          <a:ln w="12700">
            <a:solidFill>
              <a:srgbClr val="00B0F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6630" name="Line 7"/>
          <p:cNvSpPr>
            <a:spLocks noChangeShapeType="1"/>
          </p:cNvSpPr>
          <p:nvPr/>
        </p:nvSpPr>
        <p:spPr bwMode="auto">
          <a:xfrm flipH="1">
            <a:off x="2125663" y="2684463"/>
            <a:ext cx="287337" cy="431800"/>
          </a:xfrm>
          <a:prstGeom prst="line">
            <a:avLst/>
          </a:prstGeom>
          <a:noFill/>
          <a:ln w="12700">
            <a:solidFill>
              <a:srgbClr val="00B0F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6631" name="Line 8"/>
          <p:cNvSpPr>
            <a:spLocks noChangeShapeType="1"/>
          </p:cNvSpPr>
          <p:nvPr/>
        </p:nvSpPr>
        <p:spPr bwMode="auto">
          <a:xfrm>
            <a:off x="2125663" y="2684463"/>
            <a:ext cx="358775" cy="431800"/>
          </a:xfrm>
          <a:prstGeom prst="line">
            <a:avLst/>
          </a:prstGeom>
          <a:noFill/>
          <a:ln w="12700">
            <a:solidFill>
              <a:srgbClr val="00B0F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6632" name="Line 9"/>
          <p:cNvSpPr>
            <a:spLocks noChangeShapeType="1"/>
          </p:cNvSpPr>
          <p:nvPr/>
        </p:nvSpPr>
        <p:spPr bwMode="auto">
          <a:xfrm flipH="1">
            <a:off x="2844800" y="2684463"/>
            <a:ext cx="287338" cy="431800"/>
          </a:xfrm>
          <a:prstGeom prst="line">
            <a:avLst/>
          </a:prstGeom>
          <a:noFill/>
          <a:ln w="12700">
            <a:solidFill>
              <a:srgbClr val="00B0F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6633" name="Line 10"/>
          <p:cNvSpPr>
            <a:spLocks noChangeShapeType="1"/>
          </p:cNvSpPr>
          <p:nvPr/>
        </p:nvSpPr>
        <p:spPr bwMode="auto">
          <a:xfrm>
            <a:off x="2844800" y="2684463"/>
            <a:ext cx="358775" cy="431800"/>
          </a:xfrm>
          <a:prstGeom prst="line">
            <a:avLst/>
          </a:prstGeom>
          <a:noFill/>
          <a:ln w="12700">
            <a:solidFill>
              <a:srgbClr val="00B0F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6634" name="Line 11"/>
          <p:cNvSpPr>
            <a:spLocks noChangeShapeType="1"/>
          </p:cNvSpPr>
          <p:nvPr/>
        </p:nvSpPr>
        <p:spPr bwMode="auto">
          <a:xfrm flipH="1">
            <a:off x="3563938" y="2684463"/>
            <a:ext cx="503237" cy="431800"/>
          </a:xfrm>
          <a:prstGeom prst="line">
            <a:avLst/>
          </a:prstGeom>
          <a:noFill/>
          <a:ln w="12700">
            <a:solidFill>
              <a:srgbClr val="00B0F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6635" name="Line 12"/>
          <p:cNvSpPr>
            <a:spLocks noChangeShapeType="1"/>
          </p:cNvSpPr>
          <p:nvPr/>
        </p:nvSpPr>
        <p:spPr bwMode="auto">
          <a:xfrm>
            <a:off x="3563938" y="2684463"/>
            <a:ext cx="863600" cy="431800"/>
          </a:xfrm>
          <a:prstGeom prst="line">
            <a:avLst/>
          </a:prstGeom>
          <a:noFill/>
          <a:ln w="12700">
            <a:solidFill>
              <a:srgbClr val="00B0F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6636" name="Line 13"/>
          <p:cNvSpPr>
            <a:spLocks noChangeShapeType="1"/>
          </p:cNvSpPr>
          <p:nvPr/>
        </p:nvSpPr>
        <p:spPr bwMode="auto">
          <a:xfrm flipH="1">
            <a:off x="4213225" y="2684463"/>
            <a:ext cx="287338" cy="431800"/>
          </a:xfrm>
          <a:prstGeom prst="line">
            <a:avLst/>
          </a:prstGeom>
          <a:noFill/>
          <a:ln w="12700">
            <a:solidFill>
              <a:srgbClr val="00B0F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6637" name="Line 14"/>
          <p:cNvSpPr>
            <a:spLocks noChangeShapeType="1"/>
          </p:cNvSpPr>
          <p:nvPr/>
        </p:nvSpPr>
        <p:spPr bwMode="auto">
          <a:xfrm flipH="1">
            <a:off x="5364163" y="2684463"/>
            <a:ext cx="504825" cy="431800"/>
          </a:xfrm>
          <a:prstGeom prst="line">
            <a:avLst/>
          </a:prstGeom>
          <a:noFill/>
          <a:ln w="12700">
            <a:solidFill>
              <a:srgbClr val="00B0F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6638" name="Line 15"/>
          <p:cNvSpPr>
            <a:spLocks noChangeShapeType="1"/>
          </p:cNvSpPr>
          <p:nvPr/>
        </p:nvSpPr>
        <p:spPr bwMode="auto">
          <a:xfrm>
            <a:off x="5364163" y="2684463"/>
            <a:ext cx="863600" cy="431800"/>
          </a:xfrm>
          <a:prstGeom prst="line">
            <a:avLst/>
          </a:prstGeom>
          <a:noFill/>
          <a:ln w="12700">
            <a:solidFill>
              <a:srgbClr val="00B0F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6639" name="Line 16"/>
          <p:cNvSpPr>
            <a:spLocks noChangeShapeType="1"/>
          </p:cNvSpPr>
          <p:nvPr/>
        </p:nvSpPr>
        <p:spPr bwMode="auto">
          <a:xfrm flipH="1">
            <a:off x="6011863" y="2684463"/>
            <a:ext cx="504825" cy="431800"/>
          </a:xfrm>
          <a:prstGeom prst="line">
            <a:avLst/>
          </a:prstGeom>
          <a:noFill/>
          <a:ln w="12700">
            <a:solidFill>
              <a:srgbClr val="00B0F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6640" name="Line 17"/>
          <p:cNvSpPr>
            <a:spLocks noChangeShapeType="1"/>
          </p:cNvSpPr>
          <p:nvPr/>
        </p:nvSpPr>
        <p:spPr bwMode="auto">
          <a:xfrm flipH="1">
            <a:off x="7381875" y="2684463"/>
            <a:ext cx="287338" cy="431800"/>
          </a:xfrm>
          <a:prstGeom prst="line">
            <a:avLst/>
          </a:prstGeom>
          <a:noFill/>
          <a:ln w="12700">
            <a:solidFill>
              <a:srgbClr val="00B0F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6641" name="Line 18"/>
          <p:cNvSpPr>
            <a:spLocks noChangeShapeType="1"/>
          </p:cNvSpPr>
          <p:nvPr/>
        </p:nvSpPr>
        <p:spPr bwMode="auto">
          <a:xfrm>
            <a:off x="7381875" y="2684463"/>
            <a:ext cx="358775" cy="431800"/>
          </a:xfrm>
          <a:prstGeom prst="line">
            <a:avLst/>
          </a:prstGeom>
          <a:noFill/>
          <a:ln w="12700">
            <a:solidFill>
              <a:srgbClr val="00B0F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6642" name="Line 19"/>
          <p:cNvSpPr>
            <a:spLocks noChangeShapeType="1"/>
          </p:cNvSpPr>
          <p:nvPr/>
        </p:nvSpPr>
        <p:spPr bwMode="auto">
          <a:xfrm>
            <a:off x="6300788" y="2684463"/>
            <a:ext cx="358775" cy="431800"/>
          </a:xfrm>
          <a:prstGeom prst="line">
            <a:avLst/>
          </a:prstGeom>
          <a:noFill/>
          <a:ln w="12700">
            <a:solidFill>
              <a:srgbClr val="00B0F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Inversions</a:t>
            </a:r>
            <a:endParaRPr lang="en-US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The second list has two entries significantly out of order 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  1 17 21 42 24 27 32 35 45 47 57 23 66 69 70 76 87 85 95 99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      1 17 21 23 24 27 32 35 42 45 47 57 66 69 70 76 85 87 95 99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however, most entries (13) are in place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52" name="Line 8"/>
          <p:cNvSpPr>
            <a:spLocks noChangeShapeType="1"/>
          </p:cNvSpPr>
          <p:nvPr/>
        </p:nvSpPr>
        <p:spPr bwMode="auto">
          <a:xfrm>
            <a:off x="4284663" y="2692400"/>
            <a:ext cx="215900" cy="431800"/>
          </a:xfrm>
          <a:prstGeom prst="line">
            <a:avLst/>
          </a:prstGeom>
          <a:noFill/>
          <a:ln w="12700">
            <a:solidFill>
              <a:srgbClr val="00B0F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53" name="Line 9"/>
          <p:cNvSpPr>
            <a:spLocks noChangeShapeType="1"/>
          </p:cNvSpPr>
          <p:nvPr/>
        </p:nvSpPr>
        <p:spPr bwMode="auto">
          <a:xfrm>
            <a:off x="2195513" y="2692400"/>
            <a:ext cx="1584325" cy="431800"/>
          </a:xfrm>
          <a:prstGeom prst="line">
            <a:avLst/>
          </a:prstGeom>
          <a:noFill/>
          <a:ln w="12700">
            <a:solidFill>
              <a:srgbClr val="00B0F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54" name="Line 10"/>
          <p:cNvSpPr>
            <a:spLocks noChangeShapeType="1"/>
          </p:cNvSpPr>
          <p:nvPr/>
        </p:nvSpPr>
        <p:spPr bwMode="auto">
          <a:xfrm flipH="1">
            <a:off x="2268538" y="2692400"/>
            <a:ext cx="2519362" cy="431800"/>
          </a:xfrm>
          <a:prstGeom prst="line">
            <a:avLst/>
          </a:prstGeom>
          <a:noFill/>
          <a:ln w="12700">
            <a:solidFill>
              <a:srgbClr val="00B0F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55" name="Line 16"/>
          <p:cNvSpPr>
            <a:spLocks noChangeShapeType="1"/>
          </p:cNvSpPr>
          <p:nvPr/>
        </p:nvSpPr>
        <p:spPr bwMode="auto">
          <a:xfrm flipH="1">
            <a:off x="6661150" y="2692400"/>
            <a:ext cx="287338" cy="431800"/>
          </a:xfrm>
          <a:prstGeom prst="line">
            <a:avLst/>
          </a:prstGeom>
          <a:noFill/>
          <a:ln w="12700">
            <a:solidFill>
              <a:srgbClr val="00B0F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56" name="Line 17"/>
          <p:cNvSpPr>
            <a:spLocks noChangeShapeType="1"/>
          </p:cNvSpPr>
          <p:nvPr/>
        </p:nvSpPr>
        <p:spPr bwMode="auto">
          <a:xfrm>
            <a:off x="6661150" y="2692400"/>
            <a:ext cx="358775" cy="431800"/>
          </a:xfrm>
          <a:prstGeom prst="line">
            <a:avLst/>
          </a:prstGeom>
          <a:noFill/>
          <a:ln w="12700">
            <a:solidFill>
              <a:srgbClr val="00B0F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57" name="Line 19"/>
          <p:cNvSpPr>
            <a:spLocks noChangeShapeType="1"/>
          </p:cNvSpPr>
          <p:nvPr/>
        </p:nvSpPr>
        <p:spPr bwMode="auto">
          <a:xfrm>
            <a:off x="4643438" y="2692400"/>
            <a:ext cx="215900" cy="431800"/>
          </a:xfrm>
          <a:prstGeom prst="line">
            <a:avLst/>
          </a:prstGeom>
          <a:noFill/>
          <a:ln w="12700">
            <a:solidFill>
              <a:srgbClr val="00B0F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58" name="Line 20"/>
          <p:cNvSpPr>
            <a:spLocks noChangeShapeType="1"/>
          </p:cNvSpPr>
          <p:nvPr/>
        </p:nvSpPr>
        <p:spPr bwMode="auto">
          <a:xfrm>
            <a:off x="3924300" y="2692400"/>
            <a:ext cx="215900" cy="431800"/>
          </a:xfrm>
          <a:prstGeom prst="line">
            <a:avLst/>
          </a:prstGeom>
          <a:noFill/>
          <a:ln w="12700">
            <a:solidFill>
              <a:srgbClr val="00B0F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90384"/>
            <a:ext cx="8229600" cy="1143000"/>
          </a:xfrm>
        </p:spPr>
        <p:txBody>
          <a:bodyPr/>
          <a:lstStyle/>
          <a:p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Inversions</a:t>
            </a:r>
            <a:endParaRPr lang="en-US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The third list would, by any reasonable definition, be significantly unsorted 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  22 20 81 38 95 84 99 12 79 </a:t>
            </a:r>
            <a:r>
              <a:rPr lang="en-US" altLang="en-US" dirty="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44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26 87 96 10 48 80   1 31 16 92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        1 10 12 16 20 22 26 31 38 </a:t>
            </a:r>
            <a:r>
              <a:rPr lang="en-US" altLang="en-US" dirty="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44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48 79 80 81 84 87 92 95 96 99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76" name="Line 5"/>
          <p:cNvSpPr>
            <a:spLocks noChangeShapeType="1"/>
          </p:cNvSpPr>
          <p:nvPr/>
        </p:nvSpPr>
        <p:spPr bwMode="auto">
          <a:xfrm>
            <a:off x="1331913" y="2997200"/>
            <a:ext cx="1511300" cy="431800"/>
          </a:xfrm>
          <a:prstGeom prst="line">
            <a:avLst/>
          </a:prstGeom>
          <a:noFill/>
          <a:ln w="12700">
            <a:solidFill>
              <a:srgbClr val="00B0F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8677" name="Line 11"/>
          <p:cNvSpPr>
            <a:spLocks noChangeShapeType="1"/>
          </p:cNvSpPr>
          <p:nvPr/>
        </p:nvSpPr>
        <p:spPr bwMode="auto">
          <a:xfrm>
            <a:off x="1620838" y="2997200"/>
            <a:ext cx="863600" cy="4318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8678" name="Line 12"/>
          <p:cNvSpPr>
            <a:spLocks noChangeShapeType="1"/>
          </p:cNvSpPr>
          <p:nvPr/>
        </p:nvSpPr>
        <p:spPr bwMode="auto">
          <a:xfrm>
            <a:off x="2051050" y="2997200"/>
            <a:ext cx="3600450" cy="431800"/>
          </a:xfrm>
          <a:prstGeom prst="line">
            <a:avLst/>
          </a:prstGeom>
          <a:noFill/>
          <a:ln w="12700">
            <a:solidFill>
              <a:srgbClr val="00B0F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8679" name="Line 13"/>
          <p:cNvSpPr>
            <a:spLocks noChangeShapeType="1"/>
          </p:cNvSpPr>
          <p:nvPr/>
        </p:nvSpPr>
        <p:spPr bwMode="auto">
          <a:xfrm>
            <a:off x="2627313" y="2997200"/>
            <a:ext cx="4392612" cy="431800"/>
          </a:xfrm>
          <a:prstGeom prst="line">
            <a:avLst/>
          </a:prstGeom>
          <a:noFill/>
          <a:ln w="12700">
            <a:solidFill>
              <a:srgbClr val="00B0F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8680" name="Line 14"/>
          <p:cNvSpPr>
            <a:spLocks noChangeShapeType="1"/>
          </p:cNvSpPr>
          <p:nvPr/>
        </p:nvSpPr>
        <p:spPr bwMode="auto">
          <a:xfrm>
            <a:off x="2987675" y="2997200"/>
            <a:ext cx="3024188" cy="4318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8681" name="Line 15"/>
          <p:cNvSpPr>
            <a:spLocks noChangeShapeType="1"/>
          </p:cNvSpPr>
          <p:nvPr/>
        </p:nvSpPr>
        <p:spPr bwMode="auto">
          <a:xfrm>
            <a:off x="3348038" y="2997200"/>
            <a:ext cx="4392612" cy="431800"/>
          </a:xfrm>
          <a:prstGeom prst="line">
            <a:avLst/>
          </a:prstGeom>
          <a:noFill/>
          <a:ln w="12700">
            <a:solidFill>
              <a:srgbClr val="00B0F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8682" name="Line 16"/>
          <p:cNvSpPr>
            <a:spLocks noChangeShapeType="1"/>
          </p:cNvSpPr>
          <p:nvPr/>
        </p:nvSpPr>
        <p:spPr bwMode="auto">
          <a:xfrm>
            <a:off x="4137025" y="2997200"/>
            <a:ext cx="866775" cy="431800"/>
          </a:xfrm>
          <a:prstGeom prst="line">
            <a:avLst/>
          </a:prstGeom>
          <a:noFill/>
          <a:ln w="12700">
            <a:solidFill>
              <a:srgbClr val="00B0F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8683" name="Line 17"/>
          <p:cNvSpPr>
            <a:spLocks noChangeShapeType="1"/>
          </p:cNvSpPr>
          <p:nvPr/>
        </p:nvSpPr>
        <p:spPr bwMode="auto">
          <a:xfrm>
            <a:off x="5145088" y="2997200"/>
            <a:ext cx="1155700" cy="431800"/>
          </a:xfrm>
          <a:prstGeom prst="line">
            <a:avLst/>
          </a:prstGeom>
          <a:noFill/>
          <a:ln w="12700">
            <a:solidFill>
              <a:srgbClr val="00B0F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8684" name="Line 18"/>
          <p:cNvSpPr>
            <a:spLocks noChangeShapeType="1"/>
          </p:cNvSpPr>
          <p:nvPr/>
        </p:nvSpPr>
        <p:spPr bwMode="auto">
          <a:xfrm>
            <a:off x="5508625" y="2997200"/>
            <a:ext cx="1871663" cy="4318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8685" name="Line 20"/>
          <p:cNvSpPr>
            <a:spLocks noChangeShapeType="1"/>
          </p:cNvSpPr>
          <p:nvPr/>
        </p:nvSpPr>
        <p:spPr bwMode="auto">
          <a:xfrm>
            <a:off x="2339975" y="2997200"/>
            <a:ext cx="1511300" cy="4318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8686" name="Line 21"/>
          <p:cNvSpPr>
            <a:spLocks noChangeShapeType="1"/>
          </p:cNvSpPr>
          <p:nvPr/>
        </p:nvSpPr>
        <p:spPr bwMode="auto">
          <a:xfrm flipH="1">
            <a:off x="1979613" y="2997200"/>
            <a:ext cx="1655762" cy="4318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8687" name="Line 22"/>
          <p:cNvSpPr>
            <a:spLocks noChangeShapeType="1"/>
          </p:cNvSpPr>
          <p:nvPr/>
        </p:nvSpPr>
        <p:spPr bwMode="auto">
          <a:xfrm flipH="1">
            <a:off x="3419475" y="2997200"/>
            <a:ext cx="1079500" cy="4318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8688" name="Line 23"/>
          <p:cNvSpPr>
            <a:spLocks noChangeShapeType="1"/>
          </p:cNvSpPr>
          <p:nvPr/>
        </p:nvSpPr>
        <p:spPr bwMode="auto">
          <a:xfrm flipH="1">
            <a:off x="1692275" y="2997200"/>
            <a:ext cx="4032250" cy="431800"/>
          </a:xfrm>
          <a:prstGeom prst="line">
            <a:avLst/>
          </a:prstGeom>
          <a:noFill/>
          <a:ln w="12700">
            <a:solidFill>
              <a:srgbClr val="00B0F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8689" name="Line 24"/>
          <p:cNvSpPr>
            <a:spLocks noChangeShapeType="1"/>
          </p:cNvSpPr>
          <p:nvPr/>
        </p:nvSpPr>
        <p:spPr bwMode="auto">
          <a:xfrm flipH="1">
            <a:off x="4716463" y="2997200"/>
            <a:ext cx="1223962" cy="4318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8690" name="Line 25"/>
          <p:cNvSpPr>
            <a:spLocks noChangeShapeType="1"/>
          </p:cNvSpPr>
          <p:nvPr/>
        </p:nvSpPr>
        <p:spPr bwMode="auto">
          <a:xfrm flipH="1">
            <a:off x="5435600" y="2997200"/>
            <a:ext cx="936625" cy="431800"/>
          </a:xfrm>
          <a:prstGeom prst="line">
            <a:avLst/>
          </a:prstGeom>
          <a:noFill/>
          <a:ln w="12700">
            <a:solidFill>
              <a:srgbClr val="00B0F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8691" name="Line 26"/>
          <p:cNvSpPr>
            <a:spLocks noChangeShapeType="1"/>
          </p:cNvSpPr>
          <p:nvPr/>
        </p:nvSpPr>
        <p:spPr bwMode="auto">
          <a:xfrm flipH="1">
            <a:off x="1331913" y="2997200"/>
            <a:ext cx="5400675" cy="4318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8692" name="Line 27"/>
          <p:cNvSpPr>
            <a:spLocks noChangeShapeType="1"/>
          </p:cNvSpPr>
          <p:nvPr/>
        </p:nvSpPr>
        <p:spPr bwMode="auto">
          <a:xfrm flipH="1">
            <a:off x="2339975" y="2997200"/>
            <a:ext cx="5040313" cy="4318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8693" name="Line 28"/>
          <p:cNvSpPr>
            <a:spLocks noChangeShapeType="1"/>
          </p:cNvSpPr>
          <p:nvPr/>
        </p:nvSpPr>
        <p:spPr bwMode="auto">
          <a:xfrm flipH="1">
            <a:off x="3708400" y="2997200"/>
            <a:ext cx="3311525" cy="431800"/>
          </a:xfrm>
          <a:prstGeom prst="line">
            <a:avLst/>
          </a:prstGeom>
          <a:noFill/>
          <a:ln w="12700">
            <a:solidFill>
              <a:srgbClr val="00B0F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8694" name="Line 29"/>
          <p:cNvSpPr>
            <a:spLocks noChangeShapeType="1"/>
          </p:cNvSpPr>
          <p:nvPr/>
        </p:nvSpPr>
        <p:spPr bwMode="auto">
          <a:xfrm flipH="1">
            <a:off x="6804025" y="2997200"/>
            <a:ext cx="863600" cy="431800"/>
          </a:xfrm>
          <a:prstGeom prst="line">
            <a:avLst/>
          </a:prstGeom>
          <a:noFill/>
          <a:ln w="12700">
            <a:solidFill>
              <a:srgbClr val="00B0F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Inversions</a:t>
            </a:r>
            <a:endParaRPr lang="en-US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Given any list of </a:t>
            </a:r>
            <a:r>
              <a:rPr lang="en-US" alt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numbers, there are </a:t>
            </a:r>
            <a:b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pairs of numbers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For example, the list  (1, 3, 5, 4, 2, 6) contains the following 15 pairs: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Tx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		(1, 3)	(1, 5)	(1, 4)	(1, 2)	(1, 6)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Tx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			(3, 5)	(3, 4)	(3, 2)	(3, 6)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Tx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 					(5, 4)	(5, 2)	(5, 6)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Tx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					(4, 2)	(4, 6)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Tx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 							(2, 6)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3851275" y="2060575"/>
          <a:ext cx="1655763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39" name="Equation" r:id="rId1" imgW="914400" imgH="457200" progId="Equation.3">
                  <p:embed/>
                </p:oleObj>
              </mc:Choice>
              <mc:Fallback>
                <p:oleObj name="Equation" r:id="rId1" imgW="914400" imgH="457200" progId="Equation.3">
                  <p:embed/>
                  <p:pic>
                    <p:nvPicPr>
                      <p:cNvPr id="0" name="图片 1333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2060575"/>
                        <a:ext cx="1655763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Inversions</a:t>
            </a:r>
            <a:endParaRPr lang="en-US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You may note that 11 of these pairs of numbers are in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 order: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Tx/>
              <a:buNone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  <a:r>
              <a:rPr lang="en-US" alt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(1, 3)	(1, 5)	(1, 4)	(1, 2)	(1, 6)</a:t>
            </a:r>
            <a:endParaRPr lang="en-US" altLang="en-US" sz="20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Tx/>
              <a:buNone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			</a:t>
            </a:r>
            <a:r>
              <a:rPr lang="en-US" alt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(3, 5)	(3, 4)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(3, 2)	</a:t>
            </a:r>
            <a:r>
              <a:rPr lang="en-US" alt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(3, 6)</a:t>
            </a:r>
            <a:endParaRPr lang="en-US" altLang="en-US" sz="20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Tx/>
              <a:buNone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					(5, 4)	(5, 2)</a:t>
            </a: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(5, 6)</a:t>
            </a:r>
            <a:endParaRPr lang="en-US" altLang="en-US" sz="20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Tx/>
              <a:buNone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					(4, 2)	</a:t>
            </a:r>
            <a:r>
              <a:rPr lang="en-US" alt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(4, 6)</a:t>
            </a:r>
            <a:endParaRPr lang="en-US" altLang="en-US" sz="20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							</a:t>
            </a:r>
            <a:r>
              <a:rPr lang="en-US" alt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(2, 6)</a:t>
            </a:r>
            <a:endParaRPr lang="en-US" altLang="en-US" sz="20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Inversions</a:t>
            </a:r>
            <a:endParaRPr lang="en-US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The remaining four pairs are 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</a:rPr>
              <a:t>reversed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or 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</a:rPr>
              <a:t>inverted</a:t>
            </a:r>
            <a:endParaRPr lang="en-US" alt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	(1, 3)	(1, 5)	(1, 4)	(1, 2)	(1, 6)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Tx/>
              <a:buNone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			(3, 5)	(3, 4)	</a:t>
            </a:r>
            <a:r>
              <a:rPr lang="en-US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(3, 2)</a:t>
            </a: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(3, 6)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Tx/>
              <a:buNone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					</a:t>
            </a:r>
            <a:r>
              <a:rPr lang="en-US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(5, 4)	(5, 2)</a:t>
            </a:r>
            <a:r>
              <a:rPr lang="en-US" altLang="en-US" sz="2000" dirty="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(5, 6)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Tx/>
              <a:buNone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					</a:t>
            </a:r>
            <a:r>
              <a:rPr lang="en-US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(4, 2)</a:t>
            </a: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(4, 6)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Tx/>
              <a:buNone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							(2, 6)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Inversions</a:t>
            </a:r>
            <a:endParaRPr lang="en-US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Given a permutation of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elements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Font typeface="Arial" panose="020B0604020202020204" pitchFamily="34" charset="0"/>
              <a:buNone/>
              <a:defRPr/>
            </a:pP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a</a:t>
            </a:r>
            <a:r>
              <a:rPr lang="en-US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0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a</a:t>
            </a:r>
            <a:r>
              <a:rPr lang="en-US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...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a</a:t>
            </a:r>
            <a:r>
              <a:rPr lang="en-US" i="1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 – 1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an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inversion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defined as a pair of entries which are reversed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That is,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 err="1">
                <a:latin typeface="Times New Roman" panose="02020603050405020304" pitchFamily="18" charset="0"/>
                <a:cs typeface="Arial" panose="020B0604020202020204" pitchFamily="34" charset="0"/>
              </a:rPr>
              <a:t>a</a:t>
            </a:r>
            <a:r>
              <a:rPr lang="en-US" i="1" baseline="-25000" dirty="0" err="1">
                <a:latin typeface="Times New Roman" panose="02020603050405020304" pitchFamily="18" charset="0"/>
                <a:cs typeface="Arial" panose="020B0604020202020204" pitchFamily="34" charset="0"/>
              </a:rPr>
              <a:t>j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i="1" dirty="0" err="1">
                <a:latin typeface="Times New Roman" panose="02020603050405020304" pitchFamily="18" charset="0"/>
                <a:cs typeface="Arial" panose="020B0604020202020204" pitchFamily="34" charset="0"/>
              </a:rPr>
              <a:t>a</a:t>
            </a:r>
            <a:r>
              <a:rPr lang="en-US" i="1" baseline="-25000" dirty="0" err="1">
                <a:latin typeface="Times New Roman" panose="02020603050405020304" pitchFamily="18" charset="0"/>
                <a:cs typeface="Arial" panose="020B0604020202020204" pitchFamily="34" charset="0"/>
              </a:rPr>
              <a:t>k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forms an inversion if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  <a:defRPr/>
            </a:pP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				j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&lt;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but </a:t>
            </a:r>
            <a:r>
              <a:rPr lang="en-US" i="1" dirty="0" err="1">
                <a:latin typeface="Times New Roman" panose="02020603050405020304" pitchFamily="18" charset="0"/>
                <a:cs typeface="Arial" panose="020B0604020202020204" pitchFamily="34" charset="0"/>
              </a:rPr>
              <a:t>a</a:t>
            </a:r>
            <a:r>
              <a:rPr lang="en-US" i="1" baseline="-25000" dirty="0" err="1">
                <a:latin typeface="Times New Roman" panose="02020603050405020304" pitchFamily="18" charset="0"/>
                <a:cs typeface="Arial" panose="020B0604020202020204" pitchFamily="34" charset="0"/>
              </a:rPr>
              <a:t>j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&gt; </a:t>
            </a:r>
            <a:r>
              <a:rPr lang="en-US" i="1" dirty="0" err="1">
                <a:latin typeface="Times New Roman" panose="02020603050405020304" pitchFamily="18" charset="0"/>
                <a:cs typeface="Arial" panose="020B0604020202020204" pitchFamily="34" charset="0"/>
              </a:rPr>
              <a:t>a</a:t>
            </a:r>
            <a:r>
              <a:rPr lang="en-US" i="1" baseline="-25000" dirty="0" err="1">
                <a:latin typeface="Times New Roman" panose="02020603050405020304" pitchFamily="18" charset="0"/>
                <a:cs typeface="Arial" panose="020B0604020202020204" pitchFamily="34" charset="0"/>
              </a:rPr>
              <a:t>k</a:t>
            </a:r>
            <a:endParaRPr lang="en-US" i="1" baseline="-250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  <a:defRPr/>
            </a:pPr>
            <a:endParaRPr lang="en-US" i="1" baseline="-250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  <a:defRPr/>
            </a:pPr>
            <a:endParaRPr lang="en-US" i="1" baseline="-25000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Inversions</a:t>
            </a:r>
            <a:endParaRPr lang="en-US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	Therefore, the permutation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Font typeface="Arial" panose="020B0604020202020204" pitchFamily="34" charset="0"/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1, 3, 5, 4, 2, 6 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	contains four inversions: 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ctr">
              <a:buFontTx/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(3, 2) (5, 4) (5, 2) (4, 2)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Inversions</a:t>
            </a:r>
            <a:endParaRPr lang="en-US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Exchanging (or swapping) two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adjacent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entries either: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removes an inversion, 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., 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			 1  3  5  4  2  6</a:t>
            </a: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			 1  3  5  2  4  6 </a:t>
            </a: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Tx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removes the inversion (4, 2)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or introduces a new inversion, 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., (5, 3) with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			 1  3  5  4  2  6</a:t>
            </a: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			 1  5  3  4  2  6</a:t>
            </a: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796" name="Line 7"/>
          <p:cNvSpPr>
            <a:spLocks noChangeShapeType="1"/>
          </p:cNvSpPr>
          <p:nvPr/>
        </p:nvSpPr>
        <p:spPr bwMode="auto">
          <a:xfrm flipH="1">
            <a:off x="4211638" y="2636838"/>
            <a:ext cx="215900" cy="360362"/>
          </a:xfrm>
          <a:prstGeom prst="line">
            <a:avLst/>
          </a:prstGeom>
          <a:noFill/>
          <a:ln w="12700">
            <a:solidFill>
              <a:srgbClr val="00B0F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3797" name="Line 8"/>
          <p:cNvSpPr>
            <a:spLocks noChangeShapeType="1"/>
          </p:cNvSpPr>
          <p:nvPr/>
        </p:nvSpPr>
        <p:spPr bwMode="auto">
          <a:xfrm>
            <a:off x="4211638" y="2636838"/>
            <a:ext cx="215900" cy="360362"/>
          </a:xfrm>
          <a:prstGeom prst="line">
            <a:avLst/>
          </a:prstGeom>
          <a:noFill/>
          <a:ln w="12700">
            <a:solidFill>
              <a:srgbClr val="00B0F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3798" name="Line 7"/>
          <p:cNvSpPr>
            <a:spLocks noChangeShapeType="1"/>
          </p:cNvSpPr>
          <p:nvPr/>
        </p:nvSpPr>
        <p:spPr bwMode="auto">
          <a:xfrm flipH="1">
            <a:off x="3690938" y="4264025"/>
            <a:ext cx="215900" cy="35877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3799" name="Line 8"/>
          <p:cNvSpPr>
            <a:spLocks noChangeShapeType="1"/>
          </p:cNvSpPr>
          <p:nvPr/>
        </p:nvSpPr>
        <p:spPr bwMode="auto">
          <a:xfrm>
            <a:off x="3690938" y="4264025"/>
            <a:ext cx="215900" cy="35877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Number of Inversions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There are		  pairs of numbers in any set of </a:t>
            </a:r>
            <a:r>
              <a:rPr lang="en-US" alt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objects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Consequently, each pair contributes to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 set of ordered pairs, or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 set of inversions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For a random ordering, we would expect approximately half of all pairs are inversions: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2009775" y="1484313"/>
          <a:ext cx="1368425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74" name="Equation" r:id="rId1" imgW="914400" imgH="457200" progId="Equation.3">
                  <p:embed/>
                </p:oleObj>
              </mc:Choice>
              <mc:Fallback>
                <p:oleObj name="Equation" r:id="rId1" imgW="914400" imgH="457200" progId="Equation.3">
                  <p:embed/>
                  <p:pic>
                    <p:nvPicPr>
                      <p:cNvPr id="0" name="图片 1345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9775" y="1484313"/>
                        <a:ext cx="1368425" cy="68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2843213" y="4343400"/>
          <a:ext cx="2952750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75" name="Equation" r:id="rId3" imgW="1562100" imgH="457200" progId="Equation.3">
                  <p:embed/>
                </p:oleObj>
              </mc:Choice>
              <mc:Fallback>
                <p:oleObj name="Equation" r:id="rId3" imgW="1562100" imgH="457200" progId="Equation.3">
                  <p:embed/>
                  <p:pic>
                    <p:nvPicPr>
                      <p:cNvPr id="0" name="图片 1345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4343400"/>
                        <a:ext cx="2952750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Number of Inversions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For example, the following unsorted list of 56 entries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	  61  548      3  923  195  973  289  237    57  299  594  928  515    55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	507  351  262  797  788  442    97  798  227  127  474  825      7  182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	929  852  504  485    45    98  538  476  175  374  523  800    19  901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	349  947  613  265  844  811  636  859    81  270  697  563  976  539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has 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655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inversions and 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885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ordered pairs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The formula predicts				inversions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074" name="Object 3"/>
          <p:cNvGraphicFramePr>
            <a:graphicFrameLocks noChangeAspect="1"/>
          </p:cNvGraphicFramePr>
          <p:nvPr/>
        </p:nvGraphicFramePr>
        <p:xfrm>
          <a:off x="3276600" y="4079875"/>
          <a:ext cx="2663825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388" name="Equation" r:id="rId1" imgW="1625600" imgH="457200" progId="Equation.DSMT4">
                  <p:embed/>
                </p:oleObj>
              </mc:Choice>
              <mc:Fallback>
                <p:oleObj name="Equation" r:id="rId1" imgW="1625600" imgH="457200" progId="Equation.DSMT4">
                  <p:embed/>
                  <p:pic>
                    <p:nvPicPr>
                      <p:cNvPr id="0" name="图片 1353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079875"/>
                        <a:ext cx="2663825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Number of Inversions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Let us consider the number of inversions in our first three lists: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	  1 16 12 26 25 35 33 58 45 42 56 67 83 75 74 86 81 88 99 95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	  1 17 21 42 24 27 32 35 45 47 57 23 66 69 70 76 87 85 95 99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	22 20 81 38 95 84 99 12 79 44 26 87 96 10 48 80   1 31 16 92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Each list has 20 entries, and therefore: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There are				pairs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On average, 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190/2 =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95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pairs would form inversions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098" name="Object 3"/>
          <p:cNvGraphicFramePr>
            <a:graphicFrameLocks noChangeAspect="1"/>
          </p:cNvGraphicFramePr>
          <p:nvPr/>
        </p:nvGraphicFramePr>
        <p:xfrm>
          <a:off x="2411760" y="3736975"/>
          <a:ext cx="2476500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11" name="Equation" r:id="rId1" imgW="1511300" imgH="457200" progId="Equation.DSMT4">
                  <p:embed/>
                </p:oleObj>
              </mc:Choice>
              <mc:Fallback>
                <p:oleObj name="Equation" r:id="rId1" imgW="1511300" imgH="457200" progId="Equation.DSMT4">
                  <p:embed/>
                  <p:pic>
                    <p:nvPicPr>
                      <p:cNvPr id="0" name="图片 1364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3736975"/>
                        <a:ext cx="2476500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Number of Inversions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The first list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	  1 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16 12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26 25 35 33 58 </a:t>
            </a:r>
            <a:r>
              <a:rPr lang="en-US" altLang="en-US" sz="1600" dirty="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45 42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56 67 83 75 74 </a:t>
            </a:r>
            <a:r>
              <a:rPr lang="en-US" altLang="en-US" sz="1600" dirty="0">
                <a:solidFill>
                  <a:srgbClr val="CC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86 81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88 99 95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has 13 inversions:</a:t>
            </a: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	   (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  (26, 25)  (35, 33)  (58, 45)  (58, 42)  (58, 56)  (</a:t>
            </a:r>
            <a:r>
              <a:rPr lang="en-US" altLang="en-US" sz="1600" dirty="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45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1600" dirty="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42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	   (83, 75)  (83, 74)  (83, 81)  (75, 74)  (</a:t>
            </a:r>
            <a:r>
              <a:rPr lang="en-US" altLang="en-US" sz="1600" dirty="0">
                <a:solidFill>
                  <a:srgbClr val="CC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86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1600" dirty="0">
                <a:solidFill>
                  <a:srgbClr val="CC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81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  (99, 95)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This is well below 95, the expected number of inversions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Therefore, this is likely not to be a 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</a:rPr>
              <a:t>random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list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Number of Inversions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The second list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	  1 17 21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42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24 27 32 35 45 47 57</a:t>
            </a:r>
            <a:r>
              <a:rPr lang="en-US" altLang="en-US" sz="1600" dirty="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23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66 69 70 76 </a:t>
            </a:r>
            <a:r>
              <a:rPr lang="en-US" altLang="en-US" sz="1600" dirty="0">
                <a:solidFill>
                  <a:srgbClr val="CC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87 85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95 99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also has 13 inversions:</a:t>
            </a: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	   (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42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24)  (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42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27)  (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42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32)  (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42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35)  (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42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1600" dirty="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  (24, </a:t>
            </a:r>
            <a:r>
              <a:rPr lang="en-US" altLang="en-US" sz="1600" dirty="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  (27, </a:t>
            </a:r>
            <a:r>
              <a:rPr lang="en-US" altLang="en-US" sz="1600" dirty="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	   (32, </a:t>
            </a:r>
            <a:r>
              <a:rPr lang="en-US" altLang="en-US" sz="1600" dirty="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  (35, </a:t>
            </a:r>
            <a:r>
              <a:rPr lang="en-US" altLang="en-US" sz="1600" dirty="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  (45, </a:t>
            </a:r>
            <a:r>
              <a:rPr lang="en-US" altLang="en-US" sz="1600" dirty="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  (47, </a:t>
            </a:r>
            <a:r>
              <a:rPr lang="en-US" altLang="en-US" sz="1600" dirty="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  (57, </a:t>
            </a:r>
            <a:r>
              <a:rPr lang="en-US" altLang="en-US" sz="1600" dirty="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  (</a:t>
            </a:r>
            <a:r>
              <a:rPr lang="en-US" altLang="en-US" sz="1600" dirty="0">
                <a:solidFill>
                  <a:srgbClr val="CC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87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altLang="en-US" sz="1600" dirty="0">
                <a:solidFill>
                  <a:srgbClr val="CC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85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This, too, is not a random list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Number of Inversions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The third list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	22 20 81 38 95 84 </a:t>
            </a:r>
            <a:r>
              <a:rPr lang="en-US" altLang="en-US" sz="1600" b="1" dirty="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99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12 79 44 26 87 96 10 48 80   </a:t>
            </a:r>
            <a:r>
              <a:rPr lang="en-US" alt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31 16 92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has 100 inversions:</a:t>
            </a: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		 (22, 20)  (22, 12)  (22, 10)  (22,   </a:t>
            </a:r>
            <a:r>
              <a:rPr lang="en-US" altLang="en-US" sz="1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)  (22, 16)  (20, 12)  (20, 10)  (20,   </a:t>
            </a:r>
            <a:r>
              <a:rPr lang="en-US" altLang="en-US" sz="1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)  (20, 16)  (81, 38)</a:t>
            </a:r>
            <a:endParaRPr lang="en-US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		 (81, 12)  (81, 79)  (81, 44)  (81, 26)  (81, 10)  (81, 48)  (81, 80)  (81,   </a:t>
            </a:r>
            <a:r>
              <a:rPr lang="en-US" altLang="en-US" sz="1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)  (81, 16)  (81, 31)</a:t>
            </a:r>
            <a:endParaRPr lang="en-US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		 (38, 12)  (38, 26)  (38, 10)  (38,   </a:t>
            </a:r>
            <a:r>
              <a:rPr lang="en-US" altLang="en-US" sz="1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)  (38, 16)  (38, 31)  (95, 84)  (95, 12)  (95, 79)  (95, 44)</a:t>
            </a:r>
            <a:endParaRPr lang="en-US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		 (95, 26)  (95, 87)  (95, 10)  (95, 48)  (95, 80)  (95,   </a:t>
            </a:r>
            <a:r>
              <a:rPr lang="en-US" altLang="en-US" sz="1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)  (95, 16)  (95, 31)  (95, 92)  (84, 12)</a:t>
            </a:r>
            <a:endParaRPr lang="en-US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		 (84, 79)  (84, 44)  (84, 26)  (84, 10)  (84, 48)  (84, 80)  (84,   </a:t>
            </a:r>
            <a:r>
              <a:rPr lang="en-US" altLang="en-US" sz="1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)  (84, 16)  (84, 31)  (</a:t>
            </a:r>
            <a:r>
              <a:rPr lang="en-US" altLang="en-US" sz="1000" b="1" dirty="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99</a:t>
            </a: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, 12)</a:t>
            </a:r>
            <a:endParaRPr lang="en-US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		 (</a:t>
            </a:r>
            <a:r>
              <a:rPr lang="en-US" altLang="en-US" sz="1000" b="1" dirty="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99</a:t>
            </a: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, 79)  (</a:t>
            </a:r>
            <a:r>
              <a:rPr lang="en-US" altLang="en-US" sz="1000" b="1" dirty="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99</a:t>
            </a: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, 44)  (</a:t>
            </a:r>
            <a:r>
              <a:rPr lang="en-US" altLang="en-US" sz="1000" b="1" dirty="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99</a:t>
            </a: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, 26)  (</a:t>
            </a:r>
            <a:r>
              <a:rPr lang="en-US" altLang="en-US" sz="1000" b="1" dirty="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99</a:t>
            </a: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, 87)  (</a:t>
            </a:r>
            <a:r>
              <a:rPr lang="en-US" altLang="en-US" sz="1000" b="1" dirty="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99</a:t>
            </a: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, 96)  (</a:t>
            </a:r>
            <a:r>
              <a:rPr lang="en-US" altLang="en-US" sz="1000" b="1" dirty="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99</a:t>
            </a: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, 10)  (</a:t>
            </a:r>
            <a:r>
              <a:rPr lang="en-US" altLang="en-US" sz="1000" b="1" dirty="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99</a:t>
            </a: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, 48)  (</a:t>
            </a:r>
            <a:r>
              <a:rPr lang="en-US" altLang="en-US" sz="1000" b="1" dirty="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99</a:t>
            </a: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, 80)  (</a:t>
            </a:r>
            <a:r>
              <a:rPr lang="en-US" altLang="en-US" sz="1000" b="1" dirty="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99</a:t>
            </a: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,   </a:t>
            </a:r>
            <a:r>
              <a:rPr lang="en-US" altLang="en-US" sz="1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)  (</a:t>
            </a:r>
            <a:r>
              <a:rPr lang="en-US" altLang="en-US" sz="1000" b="1" dirty="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99</a:t>
            </a: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, 16)</a:t>
            </a:r>
            <a:endParaRPr lang="en-US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		 (</a:t>
            </a:r>
            <a:r>
              <a:rPr lang="en-US" altLang="en-US" sz="1000" b="1" dirty="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99</a:t>
            </a: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, 31)  (</a:t>
            </a:r>
            <a:r>
              <a:rPr lang="en-US" altLang="en-US" sz="1000" b="1" dirty="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99</a:t>
            </a: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, 92)  (12, 10)  (12,   </a:t>
            </a:r>
            <a:r>
              <a:rPr lang="en-US" altLang="en-US" sz="1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)  (79, 44)  (79, 26)  (79, 10)  (79, 48)  (79,   </a:t>
            </a:r>
            <a:r>
              <a:rPr lang="en-US" altLang="en-US" sz="1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)  (79, 16)</a:t>
            </a:r>
            <a:endParaRPr lang="en-US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		 (79, 31)  (44, 26)  (44, 10)  (44,   </a:t>
            </a:r>
            <a:r>
              <a:rPr lang="en-US" altLang="en-US" sz="1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)  (44, 16)  (44, 31)  (26, 10)  (26,   </a:t>
            </a:r>
            <a:r>
              <a:rPr lang="en-US" altLang="en-US" sz="1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)  (26, 16)  (87, 10)</a:t>
            </a:r>
            <a:endParaRPr lang="en-US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		 (87, 48)  (87, 80)  (87,   </a:t>
            </a:r>
            <a:r>
              <a:rPr lang="en-US" altLang="en-US" sz="1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)  (87, 16)  (87, 31)  (96, 10)  (96, 48)  (96, 80)  (96,   </a:t>
            </a:r>
            <a:r>
              <a:rPr lang="en-US" altLang="en-US" sz="1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)  (96, 16)</a:t>
            </a:r>
            <a:endParaRPr lang="en-US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		 (96, 31)  (96, 92)  (10,   </a:t>
            </a:r>
            <a:r>
              <a:rPr lang="en-US" altLang="en-US" sz="1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)  (48,   </a:t>
            </a:r>
            <a:r>
              <a:rPr lang="en-US" altLang="en-US" sz="1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)  (48, 16)  (48, 31)  (80,   </a:t>
            </a:r>
            <a:r>
              <a:rPr lang="en-US" altLang="en-US" sz="1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)  (80, 16)  (80, 31)  (31, 16)</a:t>
            </a:r>
            <a:endParaRPr lang="en-US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Introduction</a:t>
            </a:r>
            <a:endParaRPr lang="en-US" altLang="zh-CN" dirty="0"/>
          </a:p>
          <a:p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Inversions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Insertion sort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Bubble sort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This topic discusses the insertion sort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We will discuss: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 algorithm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an example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run-time analysis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worst case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average case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best case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Consider the following observations: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 list with one element is sorted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In general, if we have a sorted list of </a:t>
            </a:r>
            <a:r>
              <a:rPr lang="en-US" alt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k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items, we can insert a new item to create a sorted list of size </a:t>
            </a:r>
            <a:r>
              <a:rPr lang="en-US" alt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k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+ 1</a:t>
            </a:r>
            <a:endParaRPr lang="en-US" alt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5" name="图片 4" descr="卡通人物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3104347"/>
            <a:ext cx="3533042" cy="303666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For example, consider this sorted array containing of eight sorted entries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Suppose we want to insert 14 into this array leaving the resulting array sorted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58888" y="2395538"/>
          <a:ext cx="691197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1690"/>
                <a:gridCol w="531690"/>
                <a:gridCol w="531690"/>
                <a:gridCol w="531690"/>
                <a:gridCol w="531690"/>
                <a:gridCol w="531690"/>
                <a:gridCol w="531690"/>
                <a:gridCol w="531690"/>
                <a:gridCol w="531690"/>
                <a:gridCol w="531690"/>
                <a:gridCol w="531690"/>
                <a:gridCol w="531690"/>
                <a:gridCol w="531690"/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CA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CA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CA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CA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  <a:endParaRPr lang="en-CA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  <a:endParaRPr lang="en-CA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  <a:endParaRPr lang="en-CA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  <a:endParaRPr lang="en-CA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en-CA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b="1" dirty="0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  <a:endParaRPr lang="en-CA" sz="2400" b="1" dirty="0">
                        <a:solidFill>
                          <a:srgbClr val="00B0F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CA" sz="24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  <a:endParaRPr lang="en-CA" sz="24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  <a:endParaRPr lang="en-CA" sz="24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CA" sz="24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Starting at the back, if the number is greater than 14, copy it to the right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Once an entry less than 14 is found, insert 14 into the resulting vacancy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220" name="Picture 4" descr="i1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44" r="-1389" b="11687"/>
          <a:stretch>
            <a:fillRect/>
          </a:stretch>
        </p:blipFill>
        <p:spPr bwMode="auto">
          <a:xfrm>
            <a:off x="2123728" y="2780928"/>
            <a:ext cx="5256584" cy="4077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The Algorithm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For any unsorted list: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Treat the first element as a sorted list of size 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1</a:t>
            </a:r>
            <a:endParaRPr lang="en-US" alt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Then, given a sorted list of size </a:t>
            </a:r>
            <a:r>
              <a:rPr lang="en-US" alt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k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– 1</a:t>
            </a:r>
            <a:r>
              <a:rPr lang="en-US" alt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n-US" altLang="en-US" i="1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Insert the </a:t>
            </a:r>
            <a:r>
              <a:rPr lang="en-US" alt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k</a:t>
            </a:r>
            <a:r>
              <a:rPr lang="en-US" altLang="en-US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th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item into the sorted list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 sorted list is now of size </a:t>
            </a:r>
            <a:r>
              <a:rPr lang="en-US" alt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k</a:t>
            </a:r>
            <a:endParaRPr lang="en-US" altLang="en-US" i="1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4" descr="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338" y="1916113"/>
            <a:ext cx="2087562" cy="309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The Algorithm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Recall the five sorting techniques: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Insertion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Exchange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Selection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Merging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Distribution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Clearly insertion falls into the first category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4" descr="i1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83" b="15044"/>
          <a:stretch>
            <a:fillRect/>
          </a:stretch>
        </p:blipFill>
        <p:spPr bwMode="auto">
          <a:xfrm>
            <a:off x="5017536" y="3802434"/>
            <a:ext cx="3671888" cy="2780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 Algorithm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556792"/>
            <a:ext cx="8784976" cy="5026570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Code for this would be: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3" indent="-525780" defTabSz="1075055">
              <a:buFont typeface="Arial" panose="020B0604020202020204" pitchFamily="34" charset="0"/>
              <a:buNone/>
            </a:pPr>
            <a:r>
              <a:rPr lang="en-US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for ( </a:t>
            </a:r>
            <a:r>
              <a:rPr lang="en-US" alt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j = k; j &gt; 0; --j ) {</a:t>
            </a:r>
            <a:endParaRPr lang="en-US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3" indent="-525780" defTabSz="1075055">
              <a:buFont typeface="Arial" panose="020B0604020202020204" pitchFamily="34" charset="0"/>
              <a:buNone/>
            </a:pPr>
            <a:r>
              <a:rPr lang="en-US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if ( array[j - 1] &gt; array[j] ) {</a:t>
            </a:r>
            <a:endParaRPr lang="en-US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3" indent="-525780" defTabSz="1075055">
              <a:buNone/>
            </a:pPr>
            <a:r>
              <a:rPr lang="en-CA" alt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	</a:t>
            </a:r>
            <a:r>
              <a:rPr lang="en-CA" alt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std</a:t>
            </a:r>
            <a:r>
              <a:rPr lang="en-CA" alt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::swap( array[j - 1], array[j] );</a:t>
            </a:r>
            <a:endParaRPr lang="en-CA" alt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3" indent="-525780" defTabSz="1075055">
              <a:buFont typeface="Arial" panose="020B0604020202020204" pitchFamily="34" charset="0"/>
              <a:buNone/>
            </a:pPr>
            <a:r>
              <a:rPr lang="en-US" alt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} else {</a:t>
            </a:r>
            <a:endParaRPr lang="en-US" alt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3" indent="-525780" defTabSz="1075055">
              <a:buFont typeface="Arial" panose="020B0604020202020204" pitchFamily="34" charset="0"/>
              <a:buNone/>
            </a:pPr>
            <a:r>
              <a:rPr lang="en-US" alt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	// As soon as we don't need to swap, the (k + 1)</a:t>
            </a:r>
            <a:r>
              <a:rPr lang="en-US" alt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st</a:t>
            </a:r>
            <a:endParaRPr lang="en-US" alt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3" indent="-525780" defTabSz="1075055">
              <a:buFont typeface="Arial" panose="020B0604020202020204" pitchFamily="34" charset="0"/>
              <a:buNone/>
            </a:pPr>
            <a:r>
              <a:rPr lang="en-US" alt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	// is in the correct location</a:t>
            </a:r>
            <a:endParaRPr lang="en-US" alt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3" indent="-525780" defTabSz="1075055">
              <a:buFont typeface="Arial" panose="020B0604020202020204" pitchFamily="34" charset="0"/>
              <a:buNone/>
            </a:pPr>
            <a:r>
              <a:rPr lang="en-US" alt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	break;</a:t>
            </a:r>
            <a:endParaRPr lang="en-US" alt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3" indent="-525780" defTabSz="1075055">
              <a:buFont typeface="Arial" panose="020B0604020202020204" pitchFamily="34" charset="0"/>
              <a:buNone/>
            </a:pPr>
            <a:r>
              <a:rPr lang="en-US" alt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}</a:t>
            </a:r>
            <a:endParaRPr lang="en-US" alt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3" indent="-525780" defTabSz="1075055">
              <a:buFont typeface="Arial" panose="020B0604020202020204" pitchFamily="34" charset="0"/>
              <a:buNone/>
            </a:pPr>
            <a:r>
              <a:rPr lang="en-US" alt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}</a:t>
            </a:r>
            <a:endParaRPr lang="en-US" alt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Implementation and Analysis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This would be embedded in a function call such as</a:t>
            </a:r>
            <a:endParaRPr lang="en-US" alt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altLang="en-US" sz="1200" b="1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lvl="2" indent="-514350" defTabSz="763905">
              <a:buFontTx/>
              <a:buNone/>
            </a:pPr>
            <a:r>
              <a:rPr lang="en-US" alt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template &lt;typename Type&gt;</a:t>
            </a:r>
            <a:endParaRPr lang="en-US" alt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 indent="-514350" defTabSz="763905">
              <a:buFontTx/>
              <a:buNone/>
            </a:pPr>
            <a:r>
              <a:rPr lang="en-US" alt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void </a:t>
            </a:r>
            <a:r>
              <a:rPr lang="en-US" altLang="en-US" sz="1400" dirty="0" err="1">
                <a:latin typeface="Consolas" panose="020B0609020204030204" pitchFamily="49" charset="0"/>
                <a:cs typeface="Arial" panose="020B0604020202020204" pitchFamily="34" charset="0"/>
              </a:rPr>
              <a:t>insertion_sort</a:t>
            </a:r>
            <a:r>
              <a:rPr lang="en-US" alt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( Type *</a:t>
            </a:r>
            <a:r>
              <a:rPr lang="en-US" altLang="en-US" sz="14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alt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 array, </a:t>
            </a:r>
            <a:r>
              <a:rPr lang="en-US" altLang="en-US" sz="1400" dirty="0" err="1">
                <a:latin typeface="Consolas" panose="020B0609020204030204" pitchFamily="49" charset="0"/>
                <a:cs typeface="Arial" panose="020B0604020202020204" pitchFamily="34" charset="0"/>
              </a:rPr>
              <a:t>int</a:t>
            </a:r>
            <a:r>
              <a:rPr lang="en-US" alt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alt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 n ) {</a:t>
            </a:r>
            <a:endParaRPr lang="en-US" alt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 indent="-514350" defTabSz="763905">
              <a:buFontTx/>
              <a:buNone/>
            </a:pPr>
            <a:r>
              <a:rPr lang="en-US" alt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	for ( </a:t>
            </a:r>
            <a:r>
              <a:rPr lang="en-US" altLang="en-US" sz="1400" dirty="0" err="1">
                <a:latin typeface="Consolas" panose="020B0609020204030204" pitchFamily="49" charset="0"/>
                <a:cs typeface="Arial" panose="020B0604020202020204" pitchFamily="34" charset="0"/>
              </a:rPr>
              <a:t>int</a:t>
            </a:r>
            <a:r>
              <a:rPr lang="en-US" alt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 k = 1; k &lt; n; ++k ) {</a:t>
            </a:r>
            <a:endParaRPr lang="en-US" alt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 indent="-514350" defTabSz="763905">
              <a:buFont typeface="Arial" panose="020B0604020202020204" pitchFamily="34" charset="0"/>
              <a:buNone/>
            </a:pPr>
            <a:r>
              <a:rPr lang="en-US" alt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for ( </a:t>
            </a:r>
            <a:r>
              <a:rPr lang="en-US" altLang="en-US" sz="14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j = k; j &gt; 0; --j ) {</a:t>
            </a:r>
            <a:endParaRPr lang="en-US" altLang="en-US" sz="14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indent="-514350" defTabSz="763905">
              <a:buFont typeface="Arial" panose="020B0604020202020204" pitchFamily="34" charset="0"/>
              <a:buNone/>
            </a:pPr>
            <a:r>
              <a:rPr lang="en-US" alt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if ( array[j - 1] &gt; array[j] ) {</a:t>
            </a:r>
            <a:endParaRPr lang="en-US" altLang="en-US" sz="14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indent="-514350" defTabSz="763905">
              <a:buNone/>
            </a:pPr>
            <a:r>
              <a:rPr lang="en-CA" alt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			</a:t>
            </a:r>
            <a:r>
              <a:rPr lang="en-CA" altLang="en-US" sz="14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std</a:t>
            </a:r>
            <a:r>
              <a:rPr lang="en-CA" alt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::swap( array[j - 1], array[j] );</a:t>
            </a:r>
            <a:endParaRPr lang="en-US" altLang="en-US" sz="14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 indent="-514350" defTabSz="763905">
              <a:buFont typeface="Arial" panose="020B0604020202020204" pitchFamily="34" charset="0"/>
              <a:buNone/>
            </a:pPr>
            <a:r>
              <a:rPr lang="en-US" alt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		} else {</a:t>
            </a:r>
            <a:endParaRPr lang="en-US" altLang="en-US" sz="14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 indent="-514350" defTabSz="763905">
              <a:buFont typeface="Arial" panose="020B0604020202020204" pitchFamily="34" charset="0"/>
              <a:buNone/>
            </a:pPr>
            <a:r>
              <a:rPr lang="en-US" alt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			// As soon as we don't need to swap, the (k + 1)</a:t>
            </a:r>
            <a:r>
              <a:rPr lang="en-US" altLang="en-US" sz="14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st</a:t>
            </a:r>
            <a:endParaRPr lang="en-US" altLang="en-US" sz="14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 indent="-514350" defTabSz="763905">
              <a:buFont typeface="Arial" panose="020B0604020202020204" pitchFamily="34" charset="0"/>
              <a:buNone/>
            </a:pPr>
            <a:r>
              <a:rPr lang="en-US" alt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				// is in the correct location</a:t>
            </a:r>
            <a:endParaRPr lang="en-US" altLang="en-US" sz="14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 indent="-514350" defTabSz="763905">
              <a:buFont typeface="Arial" panose="020B0604020202020204" pitchFamily="34" charset="0"/>
              <a:buNone/>
            </a:pPr>
            <a:r>
              <a:rPr lang="en-US" alt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				break;</a:t>
            </a:r>
            <a:endParaRPr lang="en-US" altLang="en-US" sz="14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 indent="-514350" defTabSz="763905">
              <a:buFont typeface="Arial" panose="020B0604020202020204" pitchFamily="34" charset="0"/>
              <a:buNone/>
            </a:pPr>
            <a:r>
              <a:rPr lang="en-US" alt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		}</a:t>
            </a:r>
            <a:endParaRPr lang="en-US" altLang="en-US" sz="14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 indent="-514350" defTabSz="763905">
              <a:buFont typeface="Arial" panose="020B0604020202020204" pitchFamily="34" charset="0"/>
              <a:buNone/>
            </a:pPr>
            <a:r>
              <a:rPr lang="en-US" alt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	}</a:t>
            </a:r>
            <a:endParaRPr lang="en-US" altLang="en-US" sz="14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lvl="2" indent="-514350" defTabSz="763905">
              <a:buFontTx/>
              <a:buNone/>
            </a:pPr>
            <a:r>
              <a:rPr lang="en-US" alt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	}</a:t>
            </a:r>
            <a:endParaRPr lang="en-US" alt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 indent="-514350" defTabSz="763905">
              <a:buFontTx/>
              <a:buNone/>
            </a:pPr>
            <a:r>
              <a:rPr lang="en-US" alt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}</a:t>
            </a:r>
            <a:endParaRPr lang="en-US" alt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Implementation and Analysis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7638"/>
            <a:ext cx="8229600" cy="532373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Let’s do a run-time analysis of this code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outer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for-loop will be executed a total of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times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In the worst case, the inner for-loop is executed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times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/>
              <a:t>Thus, </a:t>
            </a:r>
            <a:r>
              <a:rPr lang="en-US" altLang="en-US" dirty="0">
                <a:solidFill>
                  <a:srgbClr val="FF0000"/>
                </a:solidFill>
              </a:rPr>
              <a:t>the worst-case run time is O(</a:t>
            </a:r>
            <a:r>
              <a:rPr lang="en-US" altLang="en-US" i="1" dirty="0">
                <a:solidFill>
                  <a:srgbClr val="FF0000"/>
                </a:solidFill>
              </a:rPr>
              <a:t>n</a:t>
            </a:r>
            <a:r>
              <a:rPr lang="en-US" altLang="en-US" baseline="30000" dirty="0">
                <a:solidFill>
                  <a:srgbClr val="FF0000"/>
                </a:solidFill>
              </a:rPr>
              <a:t>2</a:t>
            </a:r>
            <a:r>
              <a:rPr lang="en-US" altLang="en-US" dirty="0">
                <a:solidFill>
                  <a:srgbClr val="FF0000"/>
                </a:solidFill>
              </a:rPr>
              <a:t>)</a:t>
            </a:r>
            <a:endParaRPr lang="en-US" altLang="en-US" baseline="30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indent="-422275" defTabSz="777875">
              <a:buFontTx/>
              <a:buNone/>
            </a:pPr>
            <a:r>
              <a:rPr lang="en-US" alt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template &lt;</a:t>
            </a:r>
            <a:r>
              <a:rPr lang="en-US" altLang="en-US" sz="1400" dirty="0" err="1">
                <a:latin typeface="Consolas" panose="020B0609020204030204" pitchFamily="49" charset="0"/>
                <a:cs typeface="Arial" panose="020B0604020202020204" pitchFamily="34" charset="0"/>
              </a:rPr>
              <a:t>typename</a:t>
            </a:r>
            <a:r>
              <a:rPr lang="en-US" alt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 Type&gt;</a:t>
            </a:r>
            <a:endParaRPr lang="en-US" alt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 indent="-422275" defTabSz="777875">
              <a:buFontTx/>
              <a:buNone/>
            </a:pPr>
            <a:r>
              <a:rPr lang="en-US" alt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void </a:t>
            </a:r>
            <a:r>
              <a:rPr lang="en-US" altLang="en-US" sz="1400" dirty="0" err="1">
                <a:latin typeface="Consolas" panose="020B0609020204030204" pitchFamily="49" charset="0"/>
                <a:cs typeface="Arial" panose="020B0604020202020204" pitchFamily="34" charset="0"/>
              </a:rPr>
              <a:t>insertion_sort</a:t>
            </a:r>
            <a:r>
              <a:rPr lang="en-US" alt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( Type *</a:t>
            </a:r>
            <a:r>
              <a:rPr lang="en-US" altLang="en-US" sz="14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alt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 array, </a:t>
            </a:r>
            <a:r>
              <a:rPr lang="en-US" altLang="en-US" sz="1400" dirty="0" err="1">
                <a:latin typeface="Consolas" panose="020B0609020204030204" pitchFamily="49" charset="0"/>
                <a:cs typeface="Arial" panose="020B0604020202020204" pitchFamily="34" charset="0"/>
              </a:rPr>
              <a:t>int</a:t>
            </a:r>
            <a:r>
              <a:rPr lang="en-US" alt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alt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 n ) {</a:t>
            </a:r>
            <a:endParaRPr lang="en-US" alt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 indent="-422275" defTabSz="777875">
              <a:buFontTx/>
              <a:buNone/>
            </a:pPr>
            <a:r>
              <a:rPr lang="en-US" alt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	for ( </a:t>
            </a:r>
            <a:r>
              <a:rPr lang="en-US" altLang="en-US" sz="1400" dirty="0" err="1">
                <a:latin typeface="Consolas" panose="020B0609020204030204" pitchFamily="49" charset="0"/>
                <a:cs typeface="Arial" panose="020B0604020202020204" pitchFamily="34" charset="0"/>
              </a:rPr>
              <a:t>int</a:t>
            </a:r>
            <a:r>
              <a:rPr lang="en-US" alt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 k = 1; k &lt; n; ++k ) {</a:t>
            </a:r>
            <a:endParaRPr lang="en-US" alt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 indent="-422275" defTabSz="777875">
              <a:buNone/>
            </a:pPr>
            <a:r>
              <a:rPr lang="en-US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		for ( </a:t>
            </a:r>
            <a:r>
              <a:rPr lang="en-US" alt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j = k; j &gt; 0; --j ) {</a:t>
            </a:r>
            <a:endParaRPr lang="en-US" alt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indent="-422275" defTabSz="777875">
              <a:buNone/>
            </a:pPr>
            <a:r>
              <a:rPr lang="en-US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			if ( array[j - 1] &gt; array[j] ) {</a:t>
            </a:r>
            <a:endParaRPr lang="en-US" alt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indent="-422275" defTabSz="777875">
              <a:buNone/>
            </a:pPr>
            <a:r>
              <a:rPr lang="en-CA" alt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				</a:t>
            </a:r>
            <a:r>
              <a:rPr lang="en-CA" altLang="en-US" sz="1400" dirty="0" err="1">
                <a:latin typeface="Consolas" panose="020B0609020204030204" pitchFamily="49" charset="0"/>
                <a:cs typeface="Arial" panose="020B0604020202020204" pitchFamily="34" charset="0"/>
              </a:rPr>
              <a:t>std</a:t>
            </a:r>
            <a:r>
              <a:rPr lang="en-CA" alt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::swap( array[j - 1], array[j] );</a:t>
            </a:r>
            <a:endParaRPr lang="en-US" alt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 indent="-422275" defTabSz="777875">
              <a:buNone/>
            </a:pPr>
            <a:r>
              <a:rPr lang="en-US" alt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			} else {</a:t>
            </a:r>
            <a:endParaRPr lang="en-US" alt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 indent="-422275" defTabSz="777875">
              <a:buNone/>
            </a:pPr>
            <a:r>
              <a:rPr lang="en-US" alt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				// As soon as we don't need to swap, the (k + 1)</a:t>
            </a:r>
            <a:r>
              <a:rPr lang="en-US" altLang="en-US" sz="1400" dirty="0" err="1">
                <a:latin typeface="Consolas" panose="020B0609020204030204" pitchFamily="49" charset="0"/>
                <a:cs typeface="Arial" panose="020B0604020202020204" pitchFamily="34" charset="0"/>
              </a:rPr>
              <a:t>st</a:t>
            </a:r>
            <a:endParaRPr lang="en-US" alt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 indent="-422275" defTabSz="777875">
              <a:buNone/>
            </a:pPr>
            <a:r>
              <a:rPr lang="en-US" alt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   				// is in the correct location</a:t>
            </a:r>
            <a:endParaRPr lang="en-US" alt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 indent="-422275" defTabSz="777875">
              <a:buNone/>
            </a:pPr>
            <a:r>
              <a:rPr lang="en-US" alt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   				break;</a:t>
            </a:r>
            <a:endParaRPr lang="en-US" alt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 indent="-422275" defTabSz="777875">
              <a:buNone/>
            </a:pPr>
            <a:r>
              <a:rPr lang="en-US" alt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			}</a:t>
            </a:r>
            <a:endParaRPr lang="en-US" alt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 indent="-422275" defTabSz="777875">
              <a:buNone/>
            </a:pPr>
            <a:r>
              <a:rPr lang="en-US" alt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		}</a:t>
            </a:r>
            <a:endParaRPr lang="en-US" altLang="en-US" sz="14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lvl="2" indent="-422275" defTabSz="777875">
              <a:buFontTx/>
              <a:buNone/>
            </a:pPr>
            <a:r>
              <a:rPr lang="en-US" alt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	}</a:t>
            </a:r>
            <a:endParaRPr lang="en-US" alt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 indent="-422275" defTabSz="777875">
              <a:buFontTx/>
              <a:buNone/>
            </a:pPr>
            <a:r>
              <a:rPr lang="en-US" alt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}</a:t>
            </a:r>
            <a:endParaRPr lang="en-US" alt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Implementation and Analysis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Observation: we may break out of the inner loop…</a:t>
            </a:r>
            <a:endParaRPr lang="en-US" alt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altLang="en-US" sz="1200" b="1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lvl="2">
              <a:buFontTx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template &lt;typename Type&gt;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Tx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void </a:t>
            </a:r>
            <a:r>
              <a:rPr lang="en-US" altLang="en-US" sz="1200" dirty="0" err="1">
                <a:latin typeface="Consolas" panose="020B0609020204030204" pitchFamily="49" charset="0"/>
                <a:cs typeface="Arial" panose="020B0604020202020204" pitchFamily="34" charset="0"/>
              </a:rPr>
              <a:t>insertion_sort</a:t>
            </a: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( Type *</a:t>
            </a:r>
            <a:r>
              <a:rPr lang="en-US" altLang="en-US" sz="12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array, </a:t>
            </a:r>
            <a:r>
              <a:rPr lang="en-US" altLang="en-US" sz="1200" dirty="0" err="1">
                <a:latin typeface="Consolas" panose="020B0609020204030204" pitchFamily="49" charset="0"/>
                <a:cs typeface="Arial" panose="020B0604020202020204" pitchFamily="34" charset="0"/>
              </a:rPr>
              <a:t>int</a:t>
            </a: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altLang="en-US" sz="12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n ) {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Tx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   for ( </a:t>
            </a:r>
            <a:r>
              <a:rPr lang="en-US" altLang="en-US" sz="1200" dirty="0" err="1">
                <a:latin typeface="Consolas" panose="020B0609020204030204" pitchFamily="49" charset="0"/>
                <a:cs typeface="Arial" panose="020B0604020202020204" pitchFamily="34" charset="0"/>
              </a:rPr>
              <a:t>int</a:t>
            </a: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k = 1; k &lt; n; ++k ) {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alt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for ( </a:t>
            </a:r>
            <a:r>
              <a:rPr lang="en-US" alt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j = k; j &gt; 0; --j ) {</a:t>
            </a:r>
            <a:endParaRPr lang="en-US" alt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alt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if ( array[j - 1] &gt; array[j] ) {</a:t>
            </a:r>
            <a:endParaRPr lang="en-US" alt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buNone/>
            </a:pPr>
            <a:r>
              <a:rPr lang="en-US" alt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CA" altLang="en-US" sz="1200" dirty="0" err="1">
                <a:latin typeface="Consolas" panose="020B0609020204030204" pitchFamily="49" charset="0"/>
                <a:cs typeface="Arial" panose="020B0604020202020204" pitchFamily="34" charset="0"/>
              </a:rPr>
              <a:t>std</a:t>
            </a:r>
            <a:r>
              <a:rPr lang="en-CA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::swap( array[j - 1], array[j] );</a:t>
            </a:r>
            <a:endParaRPr lang="en-CA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           } else {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               // As soon as we don't need to swap, the (k + 1)</a:t>
            </a:r>
            <a:r>
              <a:rPr lang="en-US" altLang="en-US" sz="1200" dirty="0" err="1">
                <a:latin typeface="Consolas" panose="020B0609020204030204" pitchFamily="49" charset="0"/>
                <a:cs typeface="Arial" panose="020B0604020202020204" pitchFamily="34" charset="0"/>
              </a:rPr>
              <a:t>st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              // is in the correct location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              break;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           }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       }</a:t>
            </a:r>
            <a:endParaRPr lang="en-US" altLang="en-US" sz="12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lvl="2">
              <a:buFontTx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   }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Tx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}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678113" y="4173144"/>
            <a:ext cx="647700" cy="2159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Implementation and Analysis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Recall: each time we perform a swap, we remove an inversion</a:t>
            </a:r>
            <a:endParaRPr lang="en-US" alt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altLang="en-US" sz="1200" b="1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lvl="2">
              <a:buFontTx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template &lt;typename Type&gt;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Tx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void </a:t>
            </a:r>
            <a:r>
              <a:rPr lang="en-US" altLang="en-US" sz="1200" dirty="0" err="1">
                <a:latin typeface="Consolas" panose="020B0609020204030204" pitchFamily="49" charset="0"/>
                <a:cs typeface="Arial" panose="020B0604020202020204" pitchFamily="34" charset="0"/>
              </a:rPr>
              <a:t>insertion_sort</a:t>
            </a: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( Type *</a:t>
            </a:r>
            <a:r>
              <a:rPr lang="en-US" altLang="en-US" sz="12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array, </a:t>
            </a:r>
            <a:r>
              <a:rPr lang="en-US" altLang="en-US" sz="1200" dirty="0" err="1">
                <a:latin typeface="Consolas" panose="020B0609020204030204" pitchFamily="49" charset="0"/>
                <a:cs typeface="Arial" panose="020B0604020202020204" pitchFamily="34" charset="0"/>
              </a:rPr>
              <a:t>int</a:t>
            </a: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altLang="en-US" sz="12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n ) {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Tx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   for ( </a:t>
            </a:r>
            <a:r>
              <a:rPr lang="en-US" altLang="en-US" sz="1200" dirty="0" err="1">
                <a:latin typeface="Consolas" panose="020B0609020204030204" pitchFamily="49" charset="0"/>
                <a:cs typeface="Arial" panose="020B0604020202020204" pitchFamily="34" charset="0"/>
              </a:rPr>
              <a:t>int</a:t>
            </a: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k = 1; k &lt; n; ++k ) {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alt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for ( </a:t>
            </a:r>
            <a:r>
              <a:rPr lang="en-US" alt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j = k; j &gt; 0; --j ) {</a:t>
            </a:r>
            <a:endParaRPr lang="en-US" alt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alt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if ( array[j - 1] &gt; array[j] ) {</a:t>
            </a:r>
            <a:endParaRPr lang="en-US" alt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buNone/>
            </a:pPr>
            <a:r>
              <a:rPr lang="en-US" alt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CA" altLang="en-US" sz="1200" dirty="0" err="1">
                <a:latin typeface="Consolas" panose="020B0609020204030204" pitchFamily="49" charset="0"/>
                <a:cs typeface="Arial" panose="020B0604020202020204" pitchFamily="34" charset="0"/>
              </a:rPr>
              <a:t>std</a:t>
            </a:r>
            <a:r>
              <a:rPr lang="en-CA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::swap( array[j - 1], array[j] );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           } else {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               // As soon as we don't need to swap, the (k + 1)</a:t>
            </a:r>
            <a:r>
              <a:rPr lang="en-US" altLang="en-US" sz="1200" dirty="0" err="1">
                <a:latin typeface="Consolas" panose="020B0609020204030204" pitchFamily="49" charset="0"/>
                <a:cs typeface="Arial" panose="020B0604020202020204" pitchFamily="34" charset="0"/>
              </a:rPr>
              <a:t>st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              // is in the correct location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              break;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           }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       }</a:t>
            </a:r>
            <a:endParaRPr lang="en-US" altLang="en-US" sz="12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lvl="2">
              <a:buFontTx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   }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Tx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}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368550" y="3068639"/>
            <a:ext cx="3571602" cy="55086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Implementation and Analysis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Thus, the body is run only as often as there are inversions</a:t>
            </a:r>
            <a:endParaRPr lang="en-US" alt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altLang="en-US" sz="1200" b="1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lvl="2">
              <a:buFontTx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template &lt;typename Type&gt;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Tx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void </a:t>
            </a:r>
            <a:r>
              <a:rPr lang="en-US" altLang="en-US" sz="1200" dirty="0" err="1">
                <a:latin typeface="Consolas" panose="020B0609020204030204" pitchFamily="49" charset="0"/>
                <a:cs typeface="Arial" panose="020B0604020202020204" pitchFamily="34" charset="0"/>
              </a:rPr>
              <a:t>insertion_sort</a:t>
            </a: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( Type *</a:t>
            </a:r>
            <a:r>
              <a:rPr lang="en-US" altLang="en-US" sz="12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array, </a:t>
            </a:r>
            <a:r>
              <a:rPr lang="en-US" altLang="en-US" sz="1200" dirty="0" err="1">
                <a:latin typeface="Consolas" panose="020B0609020204030204" pitchFamily="49" charset="0"/>
                <a:cs typeface="Arial" panose="020B0604020202020204" pitchFamily="34" charset="0"/>
              </a:rPr>
              <a:t>int</a:t>
            </a: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altLang="en-US" sz="12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n ) {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Tx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   for ( </a:t>
            </a:r>
            <a:r>
              <a:rPr lang="en-US" altLang="en-US" sz="1200" dirty="0" err="1">
                <a:latin typeface="Consolas" panose="020B0609020204030204" pitchFamily="49" charset="0"/>
                <a:cs typeface="Arial" panose="020B0604020202020204" pitchFamily="34" charset="0"/>
              </a:rPr>
              <a:t>int</a:t>
            </a: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k = 1; k &lt; n; ++k ) {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alt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for ( </a:t>
            </a:r>
            <a:r>
              <a:rPr lang="en-US" alt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j = k; j &gt; 0; --j ) {</a:t>
            </a:r>
            <a:endParaRPr lang="en-US" alt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alt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if ( array[j - 1] &gt; array[j] ) {</a:t>
            </a:r>
            <a:endParaRPr lang="en-US" alt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buNone/>
            </a:pPr>
            <a:r>
              <a:rPr lang="en-US" alt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CA" altLang="en-US" sz="1200" dirty="0" err="1">
                <a:latin typeface="Consolas" panose="020B0609020204030204" pitchFamily="49" charset="0"/>
                <a:cs typeface="Arial" panose="020B0604020202020204" pitchFamily="34" charset="0"/>
              </a:rPr>
              <a:t>std</a:t>
            </a:r>
            <a:r>
              <a:rPr lang="en-CA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::swap( array[j - 1], array[j] );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           } else {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               // As soon as we don't need to swap, the (k + 1)</a:t>
            </a:r>
            <a:r>
              <a:rPr lang="en-US" altLang="en-US" sz="1200" dirty="0" err="1">
                <a:latin typeface="Consolas" panose="020B0609020204030204" pitchFamily="49" charset="0"/>
                <a:cs typeface="Arial" panose="020B0604020202020204" pitchFamily="34" charset="0"/>
              </a:rPr>
              <a:t>st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              // is in the correct location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              break;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           }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       }</a:t>
            </a:r>
            <a:endParaRPr lang="en-US" altLang="en-US" sz="12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lvl="2">
              <a:buFontTx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   }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Tx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}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22533" name="Text Box 11"/>
          <p:cNvSpPr txBox="1">
            <a:spLocks noChangeArrowheads="1"/>
          </p:cNvSpPr>
          <p:nvPr/>
        </p:nvSpPr>
        <p:spPr bwMode="auto">
          <a:xfrm>
            <a:off x="2195513" y="5445125"/>
            <a:ext cx="63722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dirty="0">
                <a:solidFill>
                  <a:srgbClr val="FF0000"/>
                </a:solidFill>
              </a:rPr>
              <a:t>If the number of inversions is </a:t>
            </a:r>
            <a:r>
              <a:rPr lang="en-US" altLang="en-US" sz="20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2000" dirty="0">
                <a:solidFill>
                  <a:srgbClr val="FF0000"/>
                </a:solidFill>
              </a:rPr>
              <a:t>, the run time is </a:t>
            </a:r>
            <a:r>
              <a:rPr lang="en-US" altLang="en-US" sz="2000" b="1" dirty="0">
                <a:solidFill>
                  <a:srgbClr val="FF0000"/>
                </a:solidFill>
                <a:latin typeface="Symbol" panose="05050102010706020507" pitchFamily="18" charset="2"/>
              </a:rPr>
              <a:t>Q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+ </a:t>
            </a:r>
            <a:r>
              <a:rPr lang="en-US" altLang="en-US" sz="20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lang="en-US" altLang="en-US" sz="2000" dirty="0">
              <a:solidFill>
                <a:srgbClr val="FF0000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368550" y="3068639"/>
            <a:ext cx="3571602" cy="55086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Consequences of Our Analysis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The average random list has </a:t>
            </a:r>
            <a:r>
              <a:rPr lang="en-US" alt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d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= </a:t>
            </a:r>
            <a:r>
              <a:rPr lang="en-US" altLang="en-US" b="1" dirty="0">
                <a:latin typeface="Symbol" panose="05050102010706020507" pitchFamily="18" charset="2"/>
                <a:cs typeface="Arial" panose="020B0604020202020204" pitchFamily="34" charset="0"/>
              </a:rPr>
              <a:t>Q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alt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 inversions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Insertion sort, however, will run in </a:t>
            </a:r>
            <a:r>
              <a:rPr lang="en-US" altLang="en-US" b="1" dirty="0">
                <a:solidFill>
                  <a:srgbClr val="FF0000"/>
                </a:solidFill>
                <a:latin typeface="Symbol" panose="05050102010706020507" pitchFamily="18" charset="2"/>
                <a:cs typeface="Arial" panose="020B0604020202020204" pitchFamily="34" charset="0"/>
              </a:rPr>
              <a:t>Q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time whenever </a:t>
            </a:r>
            <a:r>
              <a:rPr lang="en-US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= O(</a:t>
            </a:r>
            <a:r>
              <a:rPr lang="en-US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Other benefits: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 algorithm is easy to implement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Even in the worst case, the algorithm is fast for small problems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Group 42"/>
          <p:cNvGraphicFramePr>
            <a:graphicFrameLocks noGrp="1"/>
          </p:cNvGraphicFramePr>
          <p:nvPr/>
        </p:nvGraphicFramePr>
        <p:xfrm>
          <a:off x="4716463" y="4149725"/>
          <a:ext cx="3552825" cy="2346840"/>
        </p:xfrm>
        <a:graphic>
          <a:graphicData uri="http://schemas.openxmlformats.org/drawingml/2006/table">
            <a:tbl>
              <a:tblPr/>
              <a:tblGrid>
                <a:gridCol w="864096"/>
                <a:gridCol w="2688729"/>
              </a:tblGrid>
              <a:tr h="7617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Size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8" marB="45708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Approximate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Time (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ns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    8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8" marB="45708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 175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8" marB="45708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  16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8" marB="45708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 750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8" marB="45708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  32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8" marB="45708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2700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8" marB="45708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  64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8" marB="45708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8000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8" marB="45708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Consequences of Our Analysis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Unfortunately, it is not very useful in general: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Sorting a random list of size 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altLang="en-US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23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≈ 8 000 000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would require approximately one day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Doubling the size of the list quadruples the required run time</a:t>
            </a:r>
            <a:endParaRPr lang="en-US" alt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An optimized quick sort requires less than 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4s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on a list of the above size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Consequences of Our Analysis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The following table summarizes the run-times of insertion sort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40343" name="Group 55"/>
          <p:cNvGraphicFramePr>
            <a:graphicFrameLocks noGrp="1"/>
          </p:cNvGraphicFramePr>
          <p:nvPr/>
        </p:nvGraphicFramePr>
        <p:xfrm>
          <a:off x="1258888" y="2133600"/>
          <a:ext cx="6121400" cy="1584816"/>
        </p:xfrm>
        <a:graphic>
          <a:graphicData uri="http://schemas.openxmlformats.org/drawingml/2006/table">
            <a:tbl>
              <a:tblPr/>
              <a:tblGrid>
                <a:gridCol w="1296434"/>
                <a:gridCol w="1584317"/>
                <a:gridCol w="3240649"/>
              </a:tblGrid>
              <a:tr h="3960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Case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8" marR="91448" marT="45702" marB="45702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Run Time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8" marR="91448" marT="45702" marB="45702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Comments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8" marR="91448" marT="45702" marB="45702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0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Worst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8" marR="91448" marT="45702" marB="45702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</a:rPr>
                        <a:t>Q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1448" marR="91448" marT="45702" marB="45702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Reverse sorted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8" marR="91448" marT="45702" marB="45702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0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Average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8" marR="91448" marT="45702" marB="45702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O(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+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1448" marR="91448" marT="45702" marB="45702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Slow if 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=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</a:rPr>
                        <a:t>w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(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1448" marR="91448" marT="45702" marB="45702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0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Best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8" marR="91448" marT="45702" marB="45702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</a:rPr>
                        <a:t>Q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1448" marR="91448" marT="45702" marB="45702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Very few inversions:  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= O(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1448" marR="91448" marT="45702" marB="45702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5" descr="i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5786" y="2780928"/>
            <a:ext cx="3852428" cy="3612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 small improvement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1"/>
            <a:ext cx="8229600" cy="1396752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Swapping is expensive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so we could just temporarily assign the new entry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this reduces assignments by a factor of 3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Implementation and Analysis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A reasonably good</a:t>
            </a:r>
            <a:r>
              <a:rPr lang="en-US" alt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implementation</a:t>
            </a:r>
            <a:endParaRPr lang="en-US" alt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altLang="en-US" sz="1200" b="1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lvl="2">
              <a:buFontTx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template &lt;</a:t>
            </a:r>
            <a:r>
              <a:rPr lang="en-US" altLang="en-US" sz="1200" dirty="0" err="1">
                <a:latin typeface="Consolas" panose="020B0609020204030204" pitchFamily="49" charset="0"/>
                <a:cs typeface="Arial" panose="020B0604020202020204" pitchFamily="34" charset="0"/>
              </a:rPr>
              <a:t>typename</a:t>
            </a: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Type&gt;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Tx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void insertion( Type *</a:t>
            </a:r>
            <a:r>
              <a:rPr lang="en-US" altLang="en-US" sz="12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array, </a:t>
            </a:r>
            <a:r>
              <a:rPr lang="en-US" altLang="en-US" sz="1200" dirty="0" err="1">
                <a:latin typeface="Consolas" panose="020B0609020204030204" pitchFamily="49" charset="0"/>
                <a:cs typeface="Arial" panose="020B0604020202020204" pitchFamily="34" charset="0"/>
              </a:rPr>
              <a:t>int</a:t>
            </a: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altLang="en-US" sz="12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n ) {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Tx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   for ( </a:t>
            </a:r>
            <a:r>
              <a:rPr lang="en-US" altLang="en-US" sz="1200" dirty="0" err="1">
                <a:latin typeface="Consolas" panose="020B0609020204030204" pitchFamily="49" charset="0"/>
                <a:cs typeface="Arial" panose="020B0604020202020204" pitchFamily="34" charset="0"/>
              </a:rPr>
              <a:t>int</a:t>
            </a: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k = 1; k &lt; n; ++k ) {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Tx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       Type </a:t>
            </a:r>
            <a:r>
              <a:rPr lang="en-US" altLang="en-US" sz="1200" dirty="0" err="1">
                <a:latin typeface="Consolas" panose="020B0609020204030204" pitchFamily="49" charset="0"/>
                <a:cs typeface="Arial" panose="020B0604020202020204" pitchFamily="34" charset="0"/>
              </a:rPr>
              <a:t>tmp</a:t>
            </a: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= array[k];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Tx/>
              <a:buNone/>
            </a:pP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Tx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       for ( </a:t>
            </a:r>
            <a:r>
              <a:rPr lang="en-US" altLang="en-US" sz="1200" dirty="0" err="1">
                <a:latin typeface="Consolas" panose="020B0609020204030204" pitchFamily="49" charset="0"/>
                <a:cs typeface="Arial" panose="020B0604020202020204" pitchFamily="34" charset="0"/>
              </a:rPr>
              <a:t>int</a:t>
            </a: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j = k; j &gt; 0; --j ) {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Tx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           if ( array[j - 1] &gt; </a:t>
            </a:r>
            <a:r>
              <a:rPr lang="en-US" altLang="en-US" sz="1200" dirty="0" err="1">
                <a:latin typeface="Consolas" panose="020B0609020204030204" pitchFamily="49" charset="0"/>
                <a:cs typeface="Arial" panose="020B0604020202020204" pitchFamily="34" charset="0"/>
              </a:rPr>
              <a:t>tmp</a:t>
            </a: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) {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Tx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               array[j] = array[j - 1];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Tx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           } else {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Tx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                array[j] = </a:t>
            </a:r>
            <a:r>
              <a:rPr lang="en-US" altLang="en-US" sz="1200" dirty="0" err="1">
                <a:latin typeface="Consolas" panose="020B0609020204030204" pitchFamily="49" charset="0"/>
                <a:cs typeface="Arial" panose="020B0604020202020204" pitchFamily="34" charset="0"/>
              </a:rPr>
              <a:t>tmp</a:t>
            </a: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Tx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                </a:t>
            </a:r>
            <a:r>
              <a:rPr lang="en-US" altLang="en-US" sz="12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goto</a:t>
            </a:r>
            <a:r>
              <a:rPr lang="en-US" altLang="en-US" sz="12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finished</a:t>
            </a: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Tx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           }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Tx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       }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Tx/>
              <a:buNone/>
            </a:pP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Tx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       array[0] = </a:t>
            </a:r>
            <a:r>
              <a:rPr lang="en-US" altLang="en-US" sz="1200" dirty="0" err="1">
                <a:latin typeface="Consolas" panose="020B0609020204030204" pitchFamily="49" charset="0"/>
                <a:cs typeface="Arial" panose="020B0604020202020204" pitchFamily="34" charset="0"/>
              </a:rPr>
              <a:t>tmp</a:t>
            </a: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;  // only executed if </a:t>
            </a:r>
            <a:r>
              <a:rPr lang="en-US" altLang="en-US" sz="1200" dirty="0" err="1">
                <a:latin typeface="Consolas" panose="020B0609020204030204" pitchFamily="49" charset="0"/>
                <a:cs typeface="Arial" panose="020B0604020202020204" pitchFamily="34" charset="0"/>
              </a:rPr>
              <a:t>tmp</a:t>
            </a: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&lt; array[0]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Tx/>
              <a:buNone/>
            </a:pP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Tx/>
              <a:buNone/>
            </a:pPr>
            <a:r>
              <a:rPr lang="en-US" altLang="en-US" sz="1200">
                <a:latin typeface="Consolas" panose="020B0609020204030204" pitchFamily="49" charset="0"/>
                <a:cs typeface="Arial" panose="020B0604020202020204" pitchFamily="34" charset="0"/>
              </a:rPr>
              <a:t>        </a:t>
            </a:r>
            <a:r>
              <a:rPr lang="en-US" altLang="en-US" sz="120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finished</a:t>
            </a:r>
            <a:r>
              <a:rPr lang="en-US" altLang="en-US" sz="1200">
                <a:latin typeface="Consolas" panose="020B0609020204030204" pitchFamily="49" charset="0"/>
                <a:cs typeface="Arial" panose="020B0604020202020204" pitchFamily="34" charset="0"/>
              </a:rPr>
              <a:t>;  </a:t>
            </a: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// empty statement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Tx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    }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Tx/>
              <a:buNone/>
            </a:pPr>
            <a:r>
              <a:rPr lang="en-US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}</a:t>
            </a:r>
            <a:endParaRPr lang="en-US" alt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27652" name="Text Box 6"/>
          <p:cNvSpPr txBox="1">
            <a:spLocks noChangeArrowheads="1"/>
          </p:cNvSpPr>
          <p:nvPr/>
        </p:nvSpPr>
        <p:spPr bwMode="auto">
          <a:xfrm>
            <a:off x="5219700" y="6308725"/>
            <a:ext cx="31607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aseline="30000"/>
              <a:t>* </a:t>
            </a:r>
            <a:r>
              <a:rPr lang="en-US" altLang="en-US" sz="1600"/>
              <a:t>we could do better with pointers</a:t>
            </a:r>
            <a:endParaRPr lang="en-US" altLang="en-US" sz="1600" baseline="300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 small improvement</a:t>
            </a:r>
            <a:endParaRPr lang="zh-CN" altLang="en-US" dirty="0"/>
          </a:p>
        </p:txBody>
      </p:sp>
      <p:pic>
        <p:nvPicPr>
          <p:cNvPr id="4" name="Picture 2" descr="See the source image"/>
          <p:cNvPicPr>
            <a:picLocks noGrp="1" noChangeAspect="1" noChangeArrowheads="1" noCrop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051" y="1556792"/>
            <a:ext cx="7889897" cy="4903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Insertion Sort: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Insert new entries into growing sorted lists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Run-time analysis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Actual and average case run time:	</a:t>
            </a:r>
            <a:r>
              <a:rPr lang="en-US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alt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en-US" alt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lvl="2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Detailed analysis:			</a:t>
            </a:r>
            <a:r>
              <a:rPr lang="en-US" altLang="en-US" dirty="0">
                <a:latin typeface="Symbol" panose="05050102010706020507" pitchFamily="18" charset="2"/>
                <a:cs typeface="Arial" panose="020B0604020202020204" pitchFamily="34" charset="0"/>
              </a:rPr>
              <a:t>Q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alt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+ </a:t>
            </a:r>
            <a:r>
              <a:rPr lang="en-US" alt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d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en-US" alt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lvl="2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Best case (</a:t>
            </a:r>
            <a:r>
              <a:rPr lang="en-US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alt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inversions):		</a:t>
            </a:r>
            <a:r>
              <a:rPr lang="en-US" altLang="en-US" dirty="0">
                <a:latin typeface="Symbol" panose="05050102010706020507" pitchFamily="18" charset="2"/>
                <a:cs typeface="Arial" panose="020B0604020202020204" pitchFamily="34" charset="0"/>
              </a:rPr>
              <a:t>Q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alt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en-US" alt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Memory requirements:  </a:t>
            </a:r>
            <a:r>
              <a:rPr lang="en-US" altLang="en-US" dirty="0">
                <a:latin typeface="Symbol" panose="05050102010706020507" pitchFamily="18" charset="2"/>
                <a:cs typeface="Arial" panose="020B0604020202020204" pitchFamily="34" charset="0"/>
              </a:rPr>
              <a:t>Q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(1)</a:t>
            </a:r>
            <a:endParaRPr lang="en-US" altLang="en-US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n-US" alt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lvl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Introduction</a:t>
            </a:r>
            <a:endParaRPr lang="en-US" altLang="zh-CN" dirty="0"/>
          </a:p>
          <a:p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Inversions</a:t>
            </a:r>
            <a:endParaRPr lang="en-US" altLang="zh-CN" dirty="0"/>
          </a:p>
          <a:p>
            <a:r>
              <a:rPr lang="en-US" altLang="zh-CN" dirty="0"/>
              <a:t>Insertion sort</a:t>
            </a:r>
            <a:endParaRPr lang="en-US" altLang="zh-CN" dirty="0"/>
          </a:p>
          <a:p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Bubble sort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示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723" y="4006160"/>
            <a:ext cx="4279416" cy="2503280"/>
          </a:xfrm>
          <a:prstGeom prst="rect">
            <a:avLst/>
          </a:prstGeom>
        </p:spPr>
      </p:pic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The second sorting algorithm is the </a:t>
            </a:r>
            <a:r>
              <a:rPr lang="en-US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alt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bubble sort algorithm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Uses an opposite strategy from insertion sort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We will examine: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 algorithm and an example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Run times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best case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worst case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average case (introducing 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</a:rPr>
              <a:t>inversions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Summary and discussion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Suppose we have an array of data which is unsorted: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Starting at the front, traverse the array, find the largest item, and move (or 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</a:rPr>
              <a:t>bubble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) it to the top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With each subsequent iteration, find the next largest item and 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</a:rPr>
              <a:t>bubble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it up towards the top of the array</a:t>
            </a:r>
            <a:endParaRPr lang="en-US" alt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138242" name="Picture 2" descr="See the source image"/>
          <p:cNvPicPr>
            <a:picLocks noChangeAspect="1" noChangeArrowheads="1" noCrop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860799"/>
            <a:ext cx="7867650" cy="244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As well as looking at good algorithms, it is often useful to look at sub-optimal algorithms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Bubble sort is a simple algorithm with: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 memorable name, and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 simple idea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It is also significantly worse than insertion sort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 basic algorithm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Starting with the first item, assume that it is the largest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Compare it with the second item: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If the first is larger, swap the two,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Otherwise, assume that the second item is the largest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Continue up the array, either swapping or redefining the largest item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 basic algorithm</a:t>
            </a:r>
            <a:endParaRPr lang="en-US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After one pass, the largest item must be the last in the list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Start at the front again: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 second pass will bring the second largest element into the second last position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Repeat </a:t>
            </a:r>
            <a:r>
              <a:rPr lang="en-US" alt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– 1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times, after which, all entries will be in place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endParaRPr lang="en-US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5627688" cy="4525963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Consider the unsorted array to the right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We start with the element in the first location, and move forward: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if the current and next items are in order, continue with the next item, otherwise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swap the two entries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340" name="Picture 5" descr="bubble0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763" y="1844675"/>
            <a:ext cx="2259012" cy="350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endParaRPr lang="en-US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5627688" cy="4525963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After one loop, the largest element is in the last location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Repeat the procedure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364" name="Picture 5" descr="bubble0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763" y="1844675"/>
            <a:ext cx="2259012" cy="291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5" descr="C:\Users\dwharder\Desktop\xv1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763" y="1844675"/>
            <a:ext cx="2260600" cy="232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endParaRPr lang="en-US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5627688" cy="4525963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Now the two largest elements are at the end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Repeat again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6" descr="C:\Users\dwharder\Desktop\xv2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763" y="1844675"/>
            <a:ext cx="2260600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endParaRPr lang="en-US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5627688" cy="4525963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With this loop, 5 and 7 are swapped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6" descr="C:\Users\dwharder\Desktop\xv3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763" y="1844675"/>
            <a:ext cx="2260600" cy="113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endParaRPr lang="en-US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5627688" cy="4525963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Finally, we check the last two entries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At this point, we have a sorted array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 basic algorithm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The default algorithm:</a:t>
            </a:r>
            <a:endParaRPr lang="en-US" alt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altLang="en-US" sz="1200" b="1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defTabSz="808355">
              <a:buFontTx/>
              <a:buNone/>
            </a:pPr>
            <a:r>
              <a:rPr lang="en-US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		template &lt;typename Type&gt;</a:t>
            </a:r>
            <a:endParaRPr lang="en-US" alt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808355">
              <a:buFontTx/>
              <a:buNone/>
            </a:pPr>
            <a:r>
              <a:rPr lang="en-US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		void bubble( Type *</a:t>
            </a:r>
            <a:r>
              <a:rPr lang="en-US" alt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en-US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array, </a:t>
            </a:r>
            <a:r>
              <a:rPr lang="en-US" alt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en-US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n ) {</a:t>
            </a:r>
            <a:endParaRPr lang="en-US" alt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808355">
              <a:buFontTx/>
              <a:buNone/>
            </a:pPr>
            <a:r>
              <a:rPr lang="en-US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			for ( </a:t>
            </a:r>
            <a:r>
              <a:rPr lang="en-US" alt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= n - 1; </a:t>
            </a:r>
            <a:r>
              <a:rPr lang="en-US" alt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&gt; 0; --</a:t>
            </a:r>
            <a:r>
              <a:rPr lang="en-US" alt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) {</a:t>
            </a:r>
            <a:endParaRPr lang="en-US" alt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808355">
              <a:buFontTx/>
              <a:buNone/>
            </a:pPr>
            <a:r>
              <a:rPr lang="en-US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				for ( </a:t>
            </a:r>
            <a:r>
              <a:rPr lang="en-US" alt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j = 0; j &lt; </a:t>
            </a:r>
            <a:r>
              <a:rPr lang="en-US" alt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++j ) {</a:t>
            </a:r>
            <a:endParaRPr lang="en-US" alt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808355">
              <a:buFontTx/>
              <a:buNone/>
            </a:pPr>
            <a:r>
              <a:rPr lang="en-US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					if ( array[j] &gt; array[j + 1] ) {</a:t>
            </a:r>
            <a:endParaRPr lang="en-US" alt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808355">
              <a:buFontTx/>
              <a:buNone/>
            </a:pPr>
            <a:r>
              <a:rPr lang="en-US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						</a:t>
            </a:r>
            <a:r>
              <a:rPr lang="en-US" alt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en-US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::swap( array[j], array[j + 1] );</a:t>
            </a:r>
            <a:endParaRPr lang="en-US" alt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808355">
              <a:buFontTx/>
              <a:buNone/>
            </a:pPr>
            <a:r>
              <a:rPr lang="en-US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					}</a:t>
            </a:r>
            <a:endParaRPr lang="en-US" alt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808355">
              <a:buFontTx/>
              <a:buNone/>
            </a:pPr>
            <a:r>
              <a:rPr lang="en-US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				}</a:t>
            </a:r>
            <a:endParaRPr lang="en-US" alt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808355">
              <a:buFontTx/>
              <a:buNone/>
            </a:pPr>
            <a:r>
              <a:rPr lang="en-US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			}</a:t>
            </a:r>
            <a:endParaRPr lang="en-US" alt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808355">
              <a:buFontTx/>
              <a:buNone/>
            </a:pPr>
            <a:r>
              <a:rPr lang="en-US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		}</a:t>
            </a:r>
            <a:endParaRPr lang="en-US" alt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Here we have two nested loops, and therefore calculating the run time is straight-forward: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3316" name="Object 2"/>
          <p:cNvGraphicFramePr>
            <a:graphicFrameLocks noChangeAspect="1"/>
          </p:cNvGraphicFramePr>
          <p:nvPr/>
        </p:nvGraphicFramePr>
        <p:xfrm>
          <a:off x="1824038" y="2546350"/>
          <a:ext cx="4919662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434" name="Equation" r:id="rId1" imgW="2819400" imgH="419100" progId="Equation.DSMT4">
                  <p:embed/>
                </p:oleObj>
              </mc:Choice>
              <mc:Fallback>
                <p:oleObj name="Equation" r:id="rId1" imgW="2819400" imgH="419100" progId="Equation.DSMT4">
                  <p:embed/>
                  <p:pic>
                    <p:nvPicPr>
                      <p:cNvPr id="0" name="图片 1374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4038" y="2546350"/>
                        <a:ext cx="4919662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Implementations and Improvements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The next few slides show some implementations of bubble sort together with a few improvements: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reduce the number of swaps,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halting if the list is sorted,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limiting the range on which we must bubble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alternating between bubbling up and sinking down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First Improvement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435280" cy="492514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We could avoid so many swaps...</a:t>
            </a:r>
            <a:endParaRPr 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  <a:defRPr/>
            </a:pPr>
            <a:endParaRPr lang="en-US" sz="1200" b="1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defTabSz="536575">
              <a:buFontTx/>
              <a:buNone/>
              <a:defRPr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template &lt;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typename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Type&gt;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536575">
              <a:buFontTx/>
              <a:buNone/>
              <a:defRPr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void bubble( Type *const array,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const n ) {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536575">
              <a:buFontTx/>
              <a:buNone/>
              <a:defRPr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for (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n - 1;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0; --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 {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536575">
              <a:buFontTx/>
              <a:buNone/>
              <a:defRPr/>
            </a:pP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Type max = array[0];				// assume a[0] is the max</a:t>
            </a:r>
            <a:endParaRPr lang="en-US" sz="1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536575">
              <a:buFontTx/>
              <a:buNone/>
              <a:defRPr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for (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j = 1; j &lt;=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++j ) {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536575">
              <a:buFontTx/>
              <a:buNone/>
              <a:defRPr/>
            </a:pP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	if ( array[j] &lt; max ) {</a:t>
            </a:r>
            <a:endParaRPr lang="en-US" sz="1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536575">
              <a:buFontTx/>
              <a:buNone/>
              <a:defRPr/>
            </a:pP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		array[j - 1] = array[j];   // move</a:t>
            </a:r>
            <a:endParaRPr lang="en-US" sz="1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536575">
              <a:buFontTx/>
              <a:buNone/>
              <a:defRPr/>
            </a:pP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	} else {</a:t>
            </a:r>
            <a:endParaRPr lang="en-US" sz="1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536575">
              <a:buFontTx/>
              <a:buNone/>
              <a:defRPr/>
            </a:pP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		array[j – 1] = max;		// store the old max</a:t>
            </a:r>
            <a:endParaRPr lang="en-US" sz="1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536575">
              <a:buFontTx/>
              <a:buNone/>
              <a:defRPr/>
            </a:pP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		max = array[j];			// get the new max</a:t>
            </a:r>
            <a:endParaRPr lang="en-US" sz="1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536575">
              <a:buFontTx/>
              <a:buNone/>
              <a:defRPr/>
            </a:pP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	}</a:t>
            </a:r>
            <a:endParaRPr lang="en-US" sz="1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536575">
              <a:buFontTx/>
              <a:buNone/>
              <a:defRPr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}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536575">
              <a:buFontTx/>
              <a:buNone/>
              <a:defRPr/>
            </a:pP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array[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 = max;   				// store the max</a:t>
            </a:r>
            <a:endParaRPr lang="en-US" sz="1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536575">
              <a:buFontTx/>
              <a:buNone/>
              <a:defRPr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}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536575">
              <a:buFontTx/>
              <a:buNone/>
              <a:defRPr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Flagged Bubble Sort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	One useful modification would be to check if no swaps occur: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If no swaps occur, the list is sorted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In this example, no swaps occurred</a:t>
            </a:r>
            <a:b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during the 5</a:t>
            </a:r>
            <a:r>
              <a:rPr lang="en-US" altLang="en-US" baseline="3000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pass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	Use a Boolean flag to check if no</a:t>
            </a:r>
            <a:b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swaps occurred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508" name="Picture 5" descr="C:\Users\dwharder\Desktop\xv1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263" y="2060575"/>
            <a:ext cx="3505200" cy="249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Flagged Bubble Sort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40768"/>
            <a:ext cx="8229600" cy="5400600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Check if the list is sorted (no swaps)</a:t>
            </a:r>
            <a:endParaRPr 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  <a:defRPr/>
            </a:pPr>
            <a:endParaRPr lang="en-US" sz="1200" b="1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defTabSz="628650">
              <a:buFontTx/>
              <a:buNone/>
              <a:defRPr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template &lt;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typename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Type&gt;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628650">
              <a:buFontTx/>
              <a:buNone/>
              <a:defRPr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void bubble( Type *const array,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const n ) {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628650">
              <a:buFontTx/>
              <a:buNone/>
              <a:defRPr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for (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n - 1;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0; --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 {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628650">
              <a:buFontTx/>
              <a:buNone/>
              <a:defRPr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Type max = array[0];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628650">
              <a:buFontTx/>
              <a:buNone/>
              <a:defRPr/>
            </a:pP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bool sorted = true;</a:t>
            </a:r>
            <a:endParaRPr lang="en-US" sz="1400" dirty="0">
              <a:solidFill>
                <a:schemeClr val="bg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628650">
              <a:buFontTx/>
              <a:buNone/>
              <a:defRPr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for (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j = 1; j &lt;=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++j ) {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628650">
              <a:buFontTx/>
              <a:buNone/>
              <a:defRPr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	if ( array[j] &lt; max ) {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628650">
              <a:buFontTx/>
              <a:buNone/>
              <a:defRPr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		array[j - 1] = array[j];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628650">
              <a:buFontTx/>
              <a:buNone/>
              <a:defRPr/>
            </a:pP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		sorted = false;</a:t>
            </a:r>
            <a:endParaRPr lang="en-US" sz="1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628650">
              <a:buFontTx/>
              <a:buNone/>
              <a:defRPr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	} else {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628650">
              <a:buFontTx/>
              <a:buNone/>
              <a:defRPr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		array[j – 1] = max;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628650">
              <a:buFontTx/>
              <a:buNone/>
              <a:defRPr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		max = array[j];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628650">
              <a:buFontTx/>
              <a:buNone/>
              <a:defRPr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	}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628650">
              <a:buFontTx/>
              <a:buNone/>
              <a:defRPr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}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628650">
              <a:buFontTx/>
              <a:buNone/>
              <a:defRPr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array[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 = max;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628650">
              <a:buFontTx/>
              <a:buNone/>
              <a:defRPr/>
            </a:pP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if ( sorted ) {</a:t>
            </a:r>
            <a:endParaRPr lang="en-US" sz="1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628650">
              <a:buFontTx/>
              <a:buNone/>
              <a:defRPr/>
            </a:pP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	break;</a:t>
            </a:r>
            <a:endParaRPr lang="en-US" sz="1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628650">
              <a:buFontTx/>
              <a:buNone/>
              <a:defRPr/>
            </a:pP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}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628650">
              <a:buFontTx/>
              <a:buNone/>
              <a:defRPr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}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628650">
              <a:buFontTx/>
              <a:buNone/>
              <a:defRPr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Range-limiting Bubble Sort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Intuitively, one may believe that limiting the loops based on the location of the last swap may significantly speed up the algorithm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For example, after the second pass,</a:t>
            </a:r>
            <a:b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we are certain all entries after 4 are</a:t>
            </a:r>
            <a:b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sorted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The implementation is easier than that for using a Boolean flag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Unfortunately, in practice, this does little to affect the number of comparisons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556" name="Picture 4" descr="x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963" y="2492896"/>
            <a:ext cx="2230437" cy="190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Range-limiting Bubble Sort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17662"/>
            <a:ext cx="8229600" cy="4835673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 </a:t>
            </a:r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at the place of the last swap</a:t>
            </a:r>
            <a:endParaRPr lang="en-US" baseline="30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  <a:defRPr/>
            </a:pPr>
            <a:endParaRPr lang="en-US" sz="1200" b="1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defTabSz="536575">
              <a:buFontTx/>
              <a:buNone/>
              <a:defRPr/>
            </a:pPr>
            <a:r>
              <a:rPr 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template &lt;</a:t>
            </a:r>
            <a:r>
              <a:rPr lang="en-US" sz="15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typename</a:t>
            </a:r>
            <a:r>
              <a:rPr 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Type&gt;</a:t>
            </a:r>
            <a:endParaRPr lang="en-US" sz="15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536575">
              <a:buFontTx/>
              <a:buNone/>
              <a:defRPr/>
            </a:pPr>
            <a:r>
              <a:rPr 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void bubble( Type *const array, </a:t>
            </a:r>
            <a:r>
              <a:rPr lang="en-US" sz="15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const n ) {</a:t>
            </a:r>
            <a:endParaRPr lang="en-US" sz="15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536575">
              <a:buFontTx/>
              <a:buNone/>
              <a:defRPr/>
            </a:pPr>
            <a:r>
              <a:rPr 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for ( </a:t>
            </a:r>
            <a:r>
              <a:rPr lang="en-US" sz="15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n - 1; </a:t>
            </a:r>
            <a:r>
              <a:rPr lang="en-US" sz="15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0;</a:t>
            </a:r>
            <a:r>
              <a:rPr lang="en-US" sz="15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  <a:endParaRPr lang="en-US" sz="15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536575">
              <a:buFontTx/>
              <a:buNone/>
              <a:defRPr/>
            </a:pPr>
            <a:r>
              <a:rPr 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Type max = array[0];</a:t>
            </a:r>
            <a:endParaRPr lang="en-US" sz="15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536575">
              <a:buFontTx/>
              <a:buNone/>
              <a:defRPr/>
            </a:pP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en-US" sz="15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ii = 0;</a:t>
            </a:r>
            <a:endParaRPr lang="en-US" sz="1500" dirty="0">
              <a:solidFill>
                <a:schemeClr val="bg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536575">
              <a:buFontTx/>
              <a:buNone/>
              <a:defRPr/>
            </a:pPr>
            <a:r>
              <a:rPr lang="en-US" sz="15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( </a:t>
            </a:r>
            <a:r>
              <a:rPr lang="en-US" sz="15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j = 1; j &lt;= </a:t>
            </a:r>
            <a:r>
              <a:rPr lang="en-US" sz="15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++j ) {</a:t>
            </a:r>
            <a:endParaRPr lang="en-US" sz="15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536575">
              <a:buFontTx/>
              <a:buNone/>
              <a:defRPr/>
            </a:pPr>
            <a:r>
              <a:rPr 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	if ( array[j] &lt; max ) {</a:t>
            </a:r>
            <a:endParaRPr lang="en-US" sz="15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536575">
              <a:buFontTx/>
              <a:buNone/>
              <a:defRPr/>
            </a:pPr>
            <a:r>
              <a:rPr 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   			array[j - 1] = array[j];</a:t>
            </a:r>
            <a:endParaRPr lang="en-US" sz="15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536575">
              <a:buFontTx/>
              <a:buNone/>
              <a:defRPr/>
            </a:pP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		ii = j - 1;</a:t>
            </a:r>
            <a:endParaRPr lang="en-US" sz="15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536575">
              <a:buFontTx/>
              <a:buNone/>
              <a:defRPr/>
            </a:pPr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				</a:t>
            </a:r>
            <a:r>
              <a:rPr 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 else {</a:t>
            </a:r>
            <a:endParaRPr lang="en-US" sz="15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536575">
              <a:buFontTx/>
              <a:buNone/>
              <a:defRPr/>
            </a:pPr>
            <a:r>
              <a:rPr 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		array[j – 1] = max;</a:t>
            </a:r>
            <a:endParaRPr lang="en-US" sz="15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536575">
              <a:buFontTx/>
              <a:buNone/>
              <a:defRPr/>
            </a:pPr>
            <a:r>
              <a:rPr 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		max = array[j];</a:t>
            </a:r>
            <a:endParaRPr lang="en-US" sz="15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536575">
              <a:buFontTx/>
              <a:buNone/>
              <a:defRPr/>
            </a:pPr>
            <a:r>
              <a:rPr 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	}</a:t>
            </a:r>
            <a:endParaRPr lang="en-US" sz="15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536575">
              <a:buFontTx/>
              <a:buNone/>
              <a:defRPr/>
            </a:pPr>
            <a:r>
              <a:rPr 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}</a:t>
            </a:r>
            <a:endParaRPr lang="en-US" sz="15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536575">
              <a:buFontTx/>
              <a:buNone/>
              <a:defRPr/>
            </a:pPr>
            <a:r>
              <a:rPr 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array[</a:t>
            </a:r>
            <a:r>
              <a:rPr lang="en-US" sz="15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 = max;</a:t>
            </a:r>
            <a:endParaRPr lang="en-US" sz="15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536575">
              <a:buFontTx/>
              <a:buNone/>
              <a:defRPr/>
            </a:pPr>
            <a:r>
              <a:rPr 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en-US" sz="15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5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5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ii;</a:t>
            </a:r>
            <a:endParaRPr lang="en-US" sz="15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536575">
              <a:buFontTx/>
              <a:buNone/>
              <a:defRPr/>
            </a:pPr>
            <a:r>
              <a:rPr lang="en-US" sz="15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5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536575">
              <a:buFontTx/>
              <a:buNone/>
              <a:defRPr/>
            </a:pPr>
            <a:r>
              <a:rPr 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  <a:endParaRPr lang="en-US" sz="15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Alternating Bubble Sort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One operation which does significantly improve the run time is to alternate between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bubbling the largest entry to the top, and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sinking the smallest entry to the bottom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628" name="Picture 4" descr="x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7550" y="2205038"/>
            <a:ext cx="2230438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Alternating Bubble Sort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17638"/>
            <a:ext cx="9023920" cy="516572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Alternating between bubbling and sinking: </a:t>
            </a:r>
            <a:endParaRPr lang="en-US" altLang="en-US" sz="1200" b="1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sz="600" b="1" dirty="0">
                <a:latin typeface="Courier New" panose="02070309020205020404" pitchFamily="49" charset="0"/>
                <a:cs typeface="Arial" panose="020B0604020202020204" pitchFamily="34" charset="0"/>
              </a:rPr>
              <a:t>		</a:t>
            </a: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template &lt;</a:t>
            </a:r>
            <a:r>
              <a:rPr lang="en-US" altLang="en-US" sz="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typename</a:t>
            </a: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 Type&gt;</a:t>
            </a:r>
            <a:endParaRPr lang="en-US" altLang="en-US" sz="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Tx/>
              <a:buNone/>
            </a:pP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		void bubble( Type *</a:t>
            </a:r>
            <a:r>
              <a:rPr lang="en-US" altLang="en-US" sz="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 array, </a:t>
            </a:r>
            <a:r>
              <a:rPr lang="en-US" altLang="en-US" sz="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 n ) {</a:t>
            </a:r>
            <a:endParaRPr lang="en-US" altLang="en-US" sz="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Tx/>
              <a:buNone/>
            </a:pP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altLang="en-US" sz="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 lower = 0;</a:t>
            </a:r>
            <a:endParaRPr lang="en-US" altLang="en-US" sz="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Tx/>
              <a:buNone/>
            </a:pP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altLang="en-US" sz="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 upper = n - 1;</a:t>
            </a:r>
            <a:endParaRPr lang="en-US" altLang="en-US" sz="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Tx/>
              <a:buNone/>
            </a:pPr>
            <a:endParaRPr lang="en-US" altLang="en-US" sz="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Tx/>
              <a:buNone/>
            </a:pP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		while ( true ) {</a:t>
            </a:r>
            <a:endParaRPr lang="en-US" altLang="en-US" sz="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Tx/>
              <a:buNone/>
            </a:pP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altLang="en-US" sz="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en-US" sz="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new_upper</a:t>
            </a: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 = lower;</a:t>
            </a:r>
            <a:endParaRPr lang="en-US" altLang="en-US" sz="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Tx/>
              <a:buNone/>
            </a:pPr>
            <a:endParaRPr lang="en-US" altLang="en-US" sz="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Tx/>
              <a:buNone/>
            </a:pP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		for ( </a:t>
            </a:r>
            <a:r>
              <a:rPr lang="en-US" altLang="en-US" sz="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en-US" sz="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 = lower; </a:t>
            </a:r>
            <a:r>
              <a:rPr lang="en-US" altLang="en-US" sz="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 &lt; upper; ++</a:t>
            </a:r>
            <a:r>
              <a:rPr lang="en-US" altLang="en-US" sz="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 ) {</a:t>
            </a:r>
            <a:endParaRPr lang="en-US" altLang="en-US" sz="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Tx/>
              <a:buNone/>
            </a:pP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		if ( array[</a:t>
            </a:r>
            <a:r>
              <a:rPr lang="en-US" altLang="en-US" sz="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] &gt; array[</a:t>
            </a:r>
            <a:r>
              <a:rPr lang="en-US" altLang="en-US" sz="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 + 1] ) {</a:t>
            </a:r>
            <a:endParaRPr lang="en-US" altLang="en-US" sz="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Tx/>
              <a:buNone/>
            </a:pP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		Type </a:t>
            </a:r>
            <a:r>
              <a:rPr lang="en-US" altLang="en-US" sz="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 = array[</a:t>
            </a:r>
            <a:r>
              <a:rPr lang="en-US" altLang="en-US" sz="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  <a:endParaRPr lang="en-US" altLang="en-US" sz="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Tx/>
              <a:buNone/>
            </a:pP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		array[</a:t>
            </a:r>
            <a:r>
              <a:rPr lang="en-US" altLang="en-US" sz="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] = array[</a:t>
            </a:r>
            <a:r>
              <a:rPr lang="en-US" altLang="en-US" sz="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 + 1];</a:t>
            </a:r>
            <a:endParaRPr lang="en-US" altLang="en-US" sz="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Tx/>
              <a:buNone/>
            </a:pP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		array[</a:t>
            </a:r>
            <a:r>
              <a:rPr lang="en-US" altLang="en-US" sz="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 + 1] = </a:t>
            </a:r>
            <a:r>
              <a:rPr lang="en-US" altLang="en-US" sz="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altLang="en-US" sz="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Tx/>
              <a:buNone/>
            </a:pP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altLang="en-US" sz="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new_upper</a:t>
            </a: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en-US" sz="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altLang="en-US" sz="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Tx/>
              <a:buNone/>
            </a:pP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		}</a:t>
            </a:r>
            <a:endParaRPr lang="en-US" altLang="en-US" sz="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Tx/>
              <a:buNone/>
            </a:pP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		}</a:t>
            </a:r>
            <a:endParaRPr lang="en-US" altLang="en-US" sz="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Tx/>
              <a:buNone/>
            </a:pPr>
            <a:endParaRPr lang="en-US" altLang="en-US" sz="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Tx/>
              <a:buNone/>
            </a:pP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		upper = </a:t>
            </a:r>
            <a:r>
              <a:rPr lang="en-US" altLang="en-US" sz="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new_upper</a:t>
            </a: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altLang="en-US" sz="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Tx/>
              <a:buNone/>
            </a:pPr>
            <a:endParaRPr lang="en-US" altLang="en-US" sz="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Tx/>
              <a:buNone/>
            </a:pP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		if ( lower == upper ) {</a:t>
            </a:r>
            <a:endParaRPr lang="en-US" altLang="en-US" sz="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Tx/>
              <a:buNone/>
            </a:pP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		break;</a:t>
            </a:r>
            <a:endParaRPr lang="en-US" altLang="en-US" sz="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Tx/>
              <a:buNone/>
            </a:pP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		}</a:t>
            </a:r>
            <a:endParaRPr lang="en-US" altLang="en-US" sz="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Tx/>
              <a:buNone/>
            </a:pPr>
            <a:endParaRPr lang="en-US" altLang="en-US" sz="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Tx/>
              <a:buNone/>
            </a:pP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altLang="en-US" sz="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en-US" sz="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new_lower</a:t>
            </a: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 = upper;</a:t>
            </a:r>
            <a:endParaRPr lang="en-US" altLang="en-US" sz="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Tx/>
              <a:buNone/>
            </a:pPr>
            <a:endParaRPr lang="en-US" altLang="en-US" sz="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Tx/>
              <a:buNone/>
            </a:pP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		for ( </a:t>
            </a:r>
            <a:r>
              <a:rPr lang="en-US" altLang="en-US" sz="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en-US" sz="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 = upper; </a:t>
            </a:r>
            <a:r>
              <a:rPr lang="en-US" altLang="en-US" sz="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 &gt; lower; --</a:t>
            </a:r>
            <a:r>
              <a:rPr lang="en-US" altLang="en-US" sz="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 ) {</a:t>
            </a:r>
            <a:endParaRPr lang="en-US" altLang="en-US" sz="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Tx/>
              <a:buNone/>
            </a:pP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		if ( array[</a:t>
            </a:r>
            <a:r>
              <a:rPr lang="en-US" altLang="en-US" sz="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 - 1] &gt; array[</a:t>
            </a:r>
            <a:r>
              <a:rPr lang="en-US" altLang="en-US" sz="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] ) {</a:t>
            </a:r>
            <a:endParaRPr lang="en-US" altLang="en-US" sz="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Tx/>
              <a:buNone/>
            </a:pP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		Type </a:t>
            </a:r>
            <a:r>
              <a:rPr lang="en-US" altLang="en-US" sz="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 = array[</a:t>
            </a:r>
            <a:r>
              <a:rPr lang="en-US" altLang="en-US" sz="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  <a:endParaRPr lang="en-US" altLang="en-US" sz="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Tx/>
              <a:buNone/>
            </a:pP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		array[</a:t>
            </a:r>
            <a:r>
              <a:rPr lang="en-US" altLang="en-US" sz="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] = array[</a:t>
            </a:r>
            <a:r>
              <a:rPr lang="en-US" altLang="en-US" sz="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 - 1];</a:t>
            </a:r>
            <a:endParaRPr lang="en-US" altLang="en-US" sz="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Tx/>
              <a:buNone/>
            </a:pP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		array[</a:t>
            </a:r>
            <a:r>
              <a:rPr lang="en-US" altLang="en-US" sz="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 - 1] = </a:t>
            </a:r>
            <a:r>
              <a:rPr lang="en-US" altLang="en-US" sz="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altLang="en-US" sz="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Tx/>
              <a:buNone/>
            </a:pP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altLang="en-US" sz="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new_lower</a:t>
            </a: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en-US" sz="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altLang="en-US" sz="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Tx/>
              <a:buNone/>
            </a:pP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		}</a:t>
            </a:r>
            <a:endParaRPr lang="en-US" altLang="en-US" sz="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Tx/>
              <a:buNone/>
            </a:pP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		}</a:t>
            </a:r>
            <a:endParaRPr lang="en-US" altLang="en-US" sz="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Tx/>
              <a:buNone/>
            </a:pPr>
            <a:endParaRPr lang="en-US" altLang="en-US" sz="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Tx/>
              <a:buNone/>
            </a:pP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		lower = </a:t>
            </a:r>
            <a:r>
              <a:rPr lang="en-US" altLang="en-US" sz="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new_lower</a:t>
            </a: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altLang="en-US" sz="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Tx/>
              <a:buNone/>
            </a:pPr>
            <a:endParaRPr lang="en-US" altLang="en-US" sz="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Tx/>
              <a:buNone/>
            </a:pP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		if ( lower == upper ) {</a:t>
            </a:r>
            <a:endParaRPr lang="en-US" altLang="en-US" sz="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Tx/>
              <a:buNone/>
            </a:pP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		break;</a:t>
            </a:r>
            <a:endParaRPr lang="en-US" altLang="en-US" sz="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Tx/>
              <a:buNone/>
            </a:pP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		}</a:t>
            </a:r>
            <a:endParaRPr lang="en-US" altLang="en-US" sz="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Tx/>
              <a:buNone/>
            </a:pP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		}</a:t>
            </a:r>
            <a:endParaRPr lang="en-US" altLang="en-US" sz="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Tx/>
              <a:buNone/>
            </a:pPr>
            <a:r>
              <a:rPr lang="en-US" altLang="en-US" sz="600" b="1" dirty="0">
                <a:latin typeface="Consolas" panose="020B0609020204030204" pitchFamily="49" charset="0"/>
                <a:cs typeface="Consolas" panose="020B0609020204030204" pitchFamily="49" charset="0"/>
              </a:rPr>
              <a:t>		}</a:t>
            </a:r>
            <a:endParaRPr lang="en-US" altLang="en-US" sz="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7652" name="TextBox 3"/>
          <p:cNvSpPr txBox="1">
            <a:spLocks noChangeArrowheads="1"/>
          </p:cNvSpPr>
          <p:nvPr/>
        </p:nvSpPr>
        <p:spPr bwMode="auto">
          <a:xfrm>
            <a:off x="4532313" y="3071813"/>
            <a:ext cx="24161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1800"/>
              <a:t>Bubble up to the back</a:t>
            </a:r>
            <a:endParaRPr lang="en-CA" altLang="en-US" sz="1800"/>
          </a:p>
        </p:txBody>
      </p:sp>
      <p:sp>
        <p:nvSpPr>
          <p:cNvPr id="27653" name="TextBox 4"/>
          <p:cNvSpPr txBox="1">
            <a:spLocks noChangeArrowheads="1"/>
          </p:cNvSpPr>
          <p:nvPr/>
        </p:nvSpPr>
        <p:spPr bwMode="auto">
          <a:xfrm>
            <a:off x="4532313" y="4845050"/>
            <a:ext cx="2416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1800"/>
              <a:t>Sink down to the front</a:t>
            </a:r>
            <a:endParaRPr lang="en-CA" altLang="en-US" sz="18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Run-time Analysis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Because the bubble sort simply swaps adjacent entries,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cannot be any better than insertion sort which does </a:t>
            </a:r>
            <a:r>
              <a:rPr lang="en-US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+ </a:t>
            </a:r>
            <a:r>
              <a:rPr lang="en-US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comparisons where </a:t>
            </a:r>
            <a:r>
              <a:rPr lang="en-US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the number of inversions</a:t>
            </a:r>
            <a:endParaRPr lang="en-US" alt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Unfortunately, run-time analysis isn’t that easy: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There are numerous unnecessary comparisons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Empirical Analysis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	The next slide map the number of required comparisons necessary to sort 32768 arrays of size 1024 where the number of inversions range from 10000 to 523776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Each point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is the number of inversions in an unsorted list 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and the number of required comparisons 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7" descr="bubbl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8975" y="2357438"/>
            <a:ext cx="4249738" cy="419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Empirical Analysis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	The following for plots show the required number of comparisons required to sort an array of size 1024</a:t>
            </a:r>
            <a:b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25" name="TextBox 4"/>
          <p:cNvSpPr txBox="1">
            <a:spLocks noChangeArrowheads="1"/>
          </p:cNvSpPr>
          <p:nvPr/>
        </p:nvSpPr>
        <p:spPr bwMode="auto">
          <a:xfrm>
            <a:off x="6557963" y="6429375"/>
            <a:ext cx="300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Times New Roman" panose="02020603050405020304" pitchFamily="18" charset="0"/>
              </a:rPr>
              <a:t>d</a:t>
            </a:r>
            <a:endParaRPr lang="en-CA" altLang="en-US" sz="1800"/>
          </a:p>
        </p:txBody>
      </p:sp>
      <p:sp>
        <p:nvSpPr>
          <p:cNvPr id="30726" name="TextBox 5"/>
          <p:cNvSpPr txBox="1">
            <a:spLocks noChangeArrowheads="1"/>
          </p:cNvSpPr>
          <p:nvPr/>
        </p:nvSpPr>
        <p:spPr bwMode="auto">
          <a:xfrm>
            <a:off x="584200" y="4729163"/>
            <a:ext cx="34163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Basic implementation	</a:t>
            </a:r>
            <a:r>
              <a:rPr lang="en-US" altLang="en-US" sz="1800" dirty="0">
                <a:solidFill>
                  <a:srgbClr val="FF33CC"/>
                </a:solidFill>
              </a:rPr>
              <a:t>——</a:t>
            </a:r>
            <a:br>
              <a:rPr lang="en-US" altLang="en-US" sz="1800" dirty="0">
                <a:solidFill>
                  <a:srgbClr val="FF33CC"/>
                </a:solidFill>
              </a:rPr>
            </a:br>
            <a:r>
              <a:rPr lang="en-US" altLang="en-US" sz="1800" dirty="0"/>
              <a:t>Flagged			</a:t>
            </a:r>
            <a:r>
              <a:rPr lang="en-US" altLang="en-US" sz="1800" dirty="0">
                <a:solidFill>
                  <a:schemeClr val="tx2"/>
                </a:solidFill>
              </a:rPr>
              <a:t>——</a:t>
            </a:r>
            <a:br>
              <a:rPr lang="en-US" altLang="en-US" sz="1800" dirty="0">
                <a:solidFill>
                  <a:schemeClr val="accent2"/>
                </a:solidFill>
              </a:rPr>
            </a:br>
            <a:r>
              <a:rPr lang="en-US" altLang="en-US" sz="1800" dirty="0"/>
              <a:t>Range limiting		</a:t>
            </a:r>
            <a:r>
              <a:rPr lang="en-US" altLang="en-US" sz="1800" dirty="0">
                <a:solidFill>
                  <a:srgbClr val="FF0000"/>
                </a:solidFill>
              </a:rPr>
              <a:t>——</a:t>
            </a:r>
            <a:br>
              <a:rPr lang="en-US" altLang="en-US" sz="1800" dirty="0">
                <a:solidFill>
                  <a:srgbClr val="00FFFF"/>
                </a:solidFill>
              </a:rPr>
            </a:br>
            <a:r>
              <a:rPr lang="en-US" altLang="en-US" sz="1800" dirty="0"/>
              <a:t>Alternating		——</a:t>
            </a:r>
            <a:endParaRPr lang="en-CA" altLang="en-US" sz="1800" dirty="0"/>
          </a:p>
        </p:txBody>
      </p:sp>
      <p:sp>
        <p:nvSpPr>
          <p:cNvPr id="30727" name="TextBox 6"/>
          <p:cNvSpPr txBox="1">
            <a:spLocks noChangeArrowheads="1"/>
          </p:cNvSpPr>
          <p:nvPr/>
        </p:nvSpPr>
        <p:spPr bwMode="auto">
          <a:xfrm rot="-5400000">
            <a:off x="3607594" y="4250531"/>
            <a:ext cx="14160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Comparisons</a:t>
            </a:r>
            <a:endParaRPr lang="en-CA" altLang="en-US" sz="180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Empirical Analysis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	The number of comparisons with the flagged/limiting sort</a:t>
            </a:r>
            <a:b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is initially </a:t>
            </a:r>
            <a:r>
              <a:rPr lang="en-US" altLang="en-US" i="1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>
                <a:latin typeface="Times New Roman" panose="02020603050405020304" pitchFamily="18" charset="0"/>
                <a:cs typeface="Arial" panose="020B0604020202020204" pitchFamily="34" charset="0"/>
              </a:rPr>
              <a:t> + 3</a:t>
            </a:r>
            <a:r>
              <a:rPr lang="en-US" altLang="en-US" i="1">
                <a:latin typeface="Times New Roman" panose="02020603050405020304" pitchFamily="18" charset="0"/>
                <a:cs typeface="Arial" panose="020B0604020202020204" pitchFamily="34" charset="0"/>
              </a:rPr>
              <a:t>d</a:t>
            </a:r>
            <a:endParaRPr lang="en-US" altLang="en-US" i="1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	For the alternating</a:t>
            </a:r>
            <a:b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variation, it is</a:t>
            </a:r>
            <a:b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initially </a:t>
            </a:r>
            <a:r>
              <a:rPr lang="en-US" altLang="en-US" i="1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>
                <a:latin typeface="Times New Roman" panose="02020603050405020304" pitchFamily="18" charset="0"/>
                <a:cs typeface="Arial" panose="020B0604020202020204" pitchFamily="34" charset="0"/>
              </a:rPr>
              <a:t> + 1.5</a:t>
            </a:r>
            <a:r>
              <a:rPr lang="en-US" altLang="en-US" i="1">
                <a:latin typeface="Times New Roman" panose="02020603050405020304" pitchFamily="18" charset="0"/>
                <a:cs typeface="Arial" panose="020B0604020202020204" pitchFamily="34" charset="0"/>
              </a:rPr>
              <a:t>d</a:t>
            </a:r>
            <a:endParaRPr lang="en-US" altLang="en-US" i="1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31748" name="Picture 4" descr="bubbl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8975" y="2357438"/>
            <a:ext cx="4249738" cy="419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9" name="Line 6"/>
          <p:cNvSpPr>
            <a:spLocks noChangeShapeType="1"/>
          </p:cNvSpPr>
          <p:nvPr/>
        </p:nvSpPr>
        <p:spPr bwMode="auto">
          <a:xfrm flipV="1">
            <a:off x="4716463" y="2451100"/>
            <a:ext cx="1295400" cy="374491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1750" name="Line 8"/>
          <p:cNvSpPr>
            <a:spLocks noChangeShapeType="1"/>
          </p:cNvSpPr>
          <p:nvPr/>
        </p:nvSpPr>
        <p:spPr bwMode="auto">
          <a:xfrm flipV="1">
            <a:off x="4716463" y="2451100"/>
            <a:ext cx="2663849" cy="3816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1751" name="TextBox 6"/>
          <p:cNvSpPr txBox="1">
            <a:spLocks noChangeArrowheads="1"/>
          </p:cNvSpPr>
          <p:nvPr/>
        </p:nvSpPr>
        <p:spPr bwMode="auto">
          <a:xfrm>
            <a:off x="6557963" y="6429375"/>
            <a:ext cx="300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Times New Roman" panose="02020603050405020304" pitchFamily="18" charset="0"/>
              </a:rPr>
              <a:t>d</a:t>
            </a:r>
            <a:endParaRPr lang="en-CA" altLang="en-US" sz="1800"/>
          </a:p>
        </p:txBody>
      </p:sp>
      <p:sp>
        <p:nvSpPr>
          <p:cNvPr id="31752" name="TextBox 7"/>
          <p:cNvSpPr txBox="1">
            <a:spLocks noChangeArrowheads="1"/>
          </p:cNvSpPr>
          <p:nvPr/>
        </p:nvSpPr>
        <p:spPr bwMode="auto">
          <a:xfrm>
            <a:off x="584200" y="4729163"/>
            <a:ext cx="348044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Basic implementation	</a:t>
            </a:r>
            <a:r>
              <a:rPr lang="en-US" altLang="en-US" sz="1800" dirty="0">
                <a:solidFill>
                  <a:srgbClr val="FF33CC"/>
                </a:solidFill>
              </a:rPr>
              <a:t>——</a:t>
            </a:r>
            <a:br>
              <a:rPr lang="en-US" altLang="en-US" sz="1800" dirty="0">
                <a:solidFill>
                  <a:srgbClr val="FF33CC"/>
                </a:solidFill>
              </a:rPr>
            </a:br>
            <a:r>
              <a:rPr lang="en-US" altLang="en-US" sz="1800" dirty="0"/>
              <a:t>Flagged			</a:t>
            </a:r>
            <a:r>
              <a:rPr lang="en-US" altLang="en-US" sz="1800" dirty="0">
                <a:solidFill>
                  <a:schemeClr val="tx2"/>
                </a:solidFill>
              </a:rPr>
              <a:t>——</a:t>
            </a:r>
            <a:br>
              <a:rPr lang="en-US" altLang="en-US" sz="1800" dirty="0">
                <a:solidFill>
                  <a:schemeClr val="accent2"/>
                </a:solidFill>
              </a:rPr>
            </a:br>
            <a:r>
              <a:rPr lang="en-US" altLang="en-US" sz="1800" dirty="0"/>
              <a:t>Range limiting		</a:t>
            </a:r>
            <a:r>
              <a:rPr lang="en-US" altLang="en-US" sz="1800" dirty="0">
                <a:solidFill>
                  <a:srgbClr val="FF0000"/>
                </a:solidFill>
              </a:rPr>
              <a:t>——</a:t>
            </a:r>
            <a:br>
              <a:rPr lang="en-US" altLang="en-US" sz="1800" dirty="0">
                <a:solidFill>
                  <a:srgbClr val="00FFFF"/>
                </a:solidFill>
              </a:rPr>
            </a:br>
            <a:r>
              <a:rPr lang="en-US" altLang="en-US" sz="1800" dirty="0"/>
              <a:t>Alternating		——</a:t>
            </a:r>
            <a:endParaRPr lang="en-CA" altLang="en-US" sz="1800" dirty="0"/>
          </a:p>
        </p:txBody>
      </p:sp>
      <p:sp>
        <p:nvSpPr>
          <p:cNvPr id="31753" name="TextBox 8"/>
          <p:cNvSpPr txBox="1">
            <a:spLocks noChangeArrowheads="1"/>
          </p:cNvSpPr>
          <p:nvPr/>
        </p:nvSpPr>
        <p:spPr bwMode="auto">
          <a:xfrm rot="-5400000">
            <a:off x="3607594" y="4250531"/>
            <a:ext cx="14160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Comparisons</a:t>
            </a:r>
            <a:endParaRPr lang="en-CA" altLang="en-US" sz="180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6" descr="insertion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8975" y="2357438"/>
            <a:ext cx="4249738" cy="419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Empirical Analysis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	Unfortunately, the comparisons for insertion sort is </a:t>
            </a:r>
            <a:r>
              <a:rPr lang="en-US" altLang="en-US" i="1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>
                <a:latin typeface="Times New Roman" panose="02020603050405020304" pitchFamily="18" charset="0"/>
                <a:cs typeface="Arial" panose="020B0604020202020204" pitchFamily="34" charset="0"/>
              </a:rPr>
              <a:t> +</a:t>
            </a:r>
            <a:r>
              <a:rPr lang="en-US" altLang="en-US" i="1">
                <a:latin typeface="Times New Roman" panose="02020603050405020304" pitchFamily="18" charset="0"/>
                <a:cs typeface="Arial" panose="020B0604020202020204" pitchFamily="34" charset="0"/>
              </a:rPr>
              <a:t> d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which is better in all cases except when the list is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Sorted, or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Reverse sorted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773" name="TextBox 4"/>
          <p:cNvSpPr txBox="1">
            <a:spLocks noChangeArrowheads="1"/>
          </p:cNvSpPr>
          <p:nvPr/>
        </p:nvSpPr>
        <p:spPr bwMode="auto">
          <a:xfrm>
            <a:off x="6557963" y="6429375"/>
            <a:ext cx="300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Times New Roman" panose="02020603050405020304" pitchFamily="18" charset="0"/>
              </a:rPr>
              <a:t>d</a:t>
            </a:r>
            <a:endParaRPr lang="en-CA" altLang="en-US" sz="1800"/>
          </a:p>
        </p:txBody>
      </p:sp>
      <p:sp>
        <p:nvSpPr>
          <p:cNvPr id="32774" name="TextBox 5"/>
          <p:cNvSpPr txBox="1">
            <a:spLocks noChangeArrowheads="1"/>
          </p:cNvSpPr>
          <p:nvPr/>
        </p:nvSpPr>
        <p:spPr bwMode="auto">
          <a:xfrm>
            <a:off x="584200" y="4729163"/>
            <a:ext cx="341630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Basic implementation	</a:t>
            </a:r>
            <a:r>
              <a:rPr lang="en-US" altLang="en-US" sz="1800" dirty="0">
                <a:solidFill>
                  <a:srgbClr val="FF33CC"/>
                </a:solidFill>
              </a:rPr>
              <a:t>——</a:t>
            </a:r>
            <a:br>
              <a:rPr lang="en-US" altLang="en-US" sz="1800" dirty="0">
                <a:solidFill>
                  <a:srgbClr val="FF33CC"/>
                </a:solidFill>
              </a:rPr>
            </a:br>
            <a:r>
              <a:rPr lang="en-US" altLang="en-US" sz="1800" dirty="0"/>
              <a:t>Flagged			</a:t>
            </a:r>
            <a:r>
              <a:rPr lang="en-US" altLang="en-US" sz="1800" dirty="0">
                <a:solidFill>
                  <a:schemeClr val="accent2"/>
                </a:solidFill>
              </a:rPr>
              <a:t>——</a:t>
            </a:r>
            <a:br>
              <a:rPr lang="en-US" altLang="en-US" sz="1800" dirty="0">
                <a:solidFill>
                  <a:schemeClr val="accent2"/>
                </a:solidFill>
              </a:rPr>
            </a:br>
            <a:r>
              <a:rPr lang="en-US" altLang="en-US" sz="1800" dirty="0"/>
              <a:t>Range limiting		</a:t>
            </a:r>
            <a:r>
              <a:rPr lang="en-US" altLang="en-US" sz="1800" dirty="0">
                <a:solidFill>
                  <a:srgbClr val="FF0000"/>
                </a:solidFill>
              </a:rPr>
              <a:t>——</a:t>
            </a:r>
            <a:br>
              <a:rPr lang="en-US" altLang="en-US" sz="1800" dirty="0">
                <a:solidFill>
                  <a:srgbClr val="00FFFF"/>
                </a:solidFill>
              </a:rPr>
            </a:br>
            <a:r>
              <a:rPr lang="en-US" altLang="en-US" sz="1800" dirty="0"/>
              <a:t>Alternating		——</a:t>
            </a:r>
            <a:endParaRPr lang="en-US" altLang="en-US" sz="18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B0F0"/>
                </a:solidFill>
              </a:rPr>
              <a:t>Insertion Sort</a:t>
            </a:r>
            <a:r>
              <a:rPr lang="en-US" altLang="en-US" sz="1800" dirty="0"/>
              <a:t>		</a:t>
            </a:r>
            <a:r>
              <a:rPr lang="en-US" altLang="en-US" sz="1800" dirty="0">
                <a:solidFill>
                  <a:srgbClr val="66FFFF"/>
                </a:solidFill>
              </a:rPr>
              <a:t>——</a:t>
            </a:r>
            <a:endParaRPr lang="en-CA" altLang="en-US" sz="1800" dirty="0">
              <a:solidFill>
                <a:srgbClr val="66FFFF"/>
              </a:solidFill>
            </a:endParaRPr>
          </a:p>
        </p:txBody>
      </p:sp>
      <p:sp>
        <p:nvSpPr>
          <p:cNvPr id="32775" name="TextBox 6"/>
          <p:cNvSpPr txBox="1">
            <a:spLocks noChangeArrowheads="1"/>
          </p:cNvSpPr>
          <p:nvPr/>
        </p:nvSpPr>
        <p:spPr bwMode="auto">
          <a:xfrm rot="-5400000">
            <a:off x="3607594" y="4250531"/>
            <a:ext cx="14160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Comparisons</a:t>
            </a:r>
            <a:endParaRPr lang="en-CA" altLang="en-US" sz="180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Run-Time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00518"/>
            <a:ext cx="8229600" cy="4525963"/>
          </a:xfrm>
        </p:spPr>
        <p:txBody>
          <a:bodyPr/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The following table summarizes the run-times of our modified  bubble sorting algorithms; </a:t>
            </a:r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however, they are all worse than insertion sort in practice</a:t>
            </a:r>
            <a:endParaRPr lang="en-US" altLang="en-US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40334" name="Group 46"/>
          <p:cNvGraphicFramePr>
            <a:graphicFrameLocks noGrp="1"/>
          </p:cNvGraphicFramePr>
          <p:nvPr/>
        </p:nvGraphicFramePr>
        <p:xfrm>
          <a:off x="1331640" y="3100309"/>
          <a:ext cx="6864350" cy="1584704"/>
        </p:xfrm>
        <a:graphic>
          <a:graphicData uri="http://schemas.openxmlformats.org/drawingml/2006/table">
            <a:tbl>
              <a:tblPr/>
              <a:tblGrid>
                <a:gridCol w="1655763"/>
                <a:gridCol w="1944811"/>
                <a:gridCol w="3263776"/>
              </a:tblGrid>
              <a:tr h="3960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Case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88" marB="45688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Run Time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88" marB="45688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Comments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88" marB="45688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0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Worst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88" marB="45688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</a:rPr>
                        <a:t>Q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688" marB="45688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</a:rPr>
                        <a:t>Q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inversions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88" marB="45688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0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Average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88" marB="45688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</a:rPr>
                        <a:t>Q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 + d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688" marB="45688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Slow if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=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</a:rPr>
                        <a:t>w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88" marB="45688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0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Best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88" marB="45688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</a:rPr>
                        <a:t>Q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688" marB="45688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= O(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inversions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88" marB="45688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3" name="图片 2" descr="一群卡通人物&#10;&#10;中度可信度描述已自动生成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350" t="41597" r="3800" b="39500"/>
          <a:stretch>
            <a:fillRect/>
          </a:stretch>
        </p:blipFill>
        <p:spPr>
          <a:xfrm>
            <a:off x="2627784" y="2348880"/>
            <a:ext cx="504056" cy="533788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endParaRPr lang="en-US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28653"/>
            <a:ext cx="8229600" cy="4525963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In this topic, we have looked at bubble sort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From the description, it sounds as if it is as good as insertion sort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it has the same asymptotic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behaviour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in practice, however, it is significantly worse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it is also much more difficult to code...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图片 6" descr="男人的照片上写着字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42"/>
          <a:stretch>
            <a:fillRect/>
          </a:stretch>
        </p:blipFill>
        <p:spPr>
          <a:xfrm>
            <a:off x="3789072" y="3691634"/>
            <a:ext cx="4897728" cy="30068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22206</Words>
  <Application>WPS 演示</Application>
  <PresentationFormat>全屏显示(4:3)</PresentationFormat>
  <Paragraphs>1148</Paragraphs>
  <Slides>81</Slides>
  <Notes>77</Notes>
  <HiddenSlides>1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7</vt:i4>
      </vt:variant>
      <vt:variant>
        <vt:lpstr>幻灯片标题</vt:lpstr>
      </vt:variant>
      <vt:variant>
        <vt:i4>81</vt:i4>
      </vt:variant>
    </vt:vector>
  </HeadingPairs>
  <TitlesOfParts>
    <vt:vector size="100" baseType="lpstr">
      <vt:lpstr>Arial</vt:lpstr>
      <vt:lpstr>宋体</vt:lpstr>
      <vt:lpstr>Wingdings</vt:lpstr>
      <vt:lpstr>Calibri</vt:lpstr>
      <vt:lpstr>Arial</vt:lpstr>
      <vt:lpstr>Times New Roman</vt:lpstr>
      <vt:lpstr>Symbol</vt:lpstr>
      <vt:lpstr>微软雅黑</vt:lpstr>
      <vt:lpstr>Arial Unicode MS</vt:lpstr>
      <vt:lpstr>Courier New</vt:lpstr>
      <vt:lpstr>Consolas</vt:lpstr>
      <vt:lpstr>Custom Design</vt:lpstr>
      <vt:lpstr>Visio.Drawing.5</vt:lpstr>
      <vt:lpstr>Equation.3</vt:lpstr>
      <vt:lpstr>Equation.3</vt:lpstr>
      <vt:lpstr>Equation.3</vt:lpstr>
      <vt:lpstr>Equation.DSMT4</vt:lpstr>
      <vt:lpstr>Equation.DSMT4</vt:lpstr>
      <vt:lpstr>Equation.DSMT4</vt:lpstr>
      <vt:lpstr>CS101 Algorithms and Data Structures</vt:lpstr>
      <vt:lpstr>Outline</vt:lpstr>
      <vt:lpstr>Definition</vt:lpstr>
      <vt:lpstr>Definition</vt:lpstr>
      <vt:lpstr>Definition</vt:lpstr>
      <vt:lpstr>In-place Sorting</vt:lpstr>
      <vt:lpstr>Classifications</vt:lpstr>
      <vt:lpstr>Run-time</vt:lpstr>
      <vt:lpstr>Run-time</vt:lpstr>
      <vt:lpstr>Lower-bound Run-time</vt:lpstr>
      <vt:lpstr>Lower-bound Run-time</vt:lpstr>
      <vt:lpstr>Lower-bound Run-time</vt:lpstr>
      <vt:lpstr>Optimal Sorting Algorithms</vt:lpstr>
      <vt:lpstr>Sub-optimal Sorting Algorithms</vt:lpstr>
      <vt:lpstr>Sub-optimal Sorting Algorithms</vt:lpstr>
      <vt:lpstr>Summary</vt:lpstr>
      <vt:lpstr>Outline</vt:lpstr>
      <vt:lpstr>Inversions</vt:lpstr>
      <vt:lpstr>Inversions</vt:lpstr>
      <vt:lpstr>Inversions</vt:lpstr>
      <vt:lpstr>Inversions</vt:lpstr>
      <vt:lpstr>Inversions</vt:lpstr>
      <vt:lpstr>Inversions</vt:lpstr>
      <vt:lpstr>Inversions</vt:lpstr>
      <vt:lpstr>Inversions</vt:lpstr>
      <vt:lpstr>Inversions</vt:lpstr>
      <vt:lpstr>Inversions</vt:lpstr>
      <vt:lpstr>Number of Inversions</vt:lpstr>
      <vt:lpstr>Number of Inversions</vt:lpstr>
      <vt:lpstr>Number of Inversions</vt:lpstr>
      <vt:lpstr>Number of Inversions</vt:lpstr>
      <vt:lpstr>Number of Inversions</vt:lpstr>
      <vt:lpstr>Number of Inversions</vt:lpstr>
      <vt:lpstr>Outline</vt:lpstr>
      <vt:lpstr>Outline</vt:lpstr>
      <vt:lpstr>Background</vt:lpstr>
      <vt:lpstr>Background</vt:lpstr>
      <vt:lpstr>Background</vt:lpstr>
      <vt:lpstr>The Algorithm</vt:lpstr>
      <vt:lpstr>The Algorithm</vt:lpstr>
      <vt:lpstr>The Algorithm</vt:lpstr>
      <vt:lpstr>Implementation and Analysis</vt:lpstr>
      <vt:lpstr>Implementation and Analysis</vt:lpstr>
      <vt:lpstr>Implementation and Analysis</vt:lpstr>
      <vt:lpstr>Implementation and Analysis</vt:lpstr>
      <vt:lpstr>Implementation and Analysis</vt:lpstr>
      <vt:lpstr>Consequences of Our Analysis</vt:lpstr>
      <vt:lpstr>Consequences of Our Analysis</vt:lpstr>
      <vt:lpstr>Consequences of Our Analysis</vt:lpstr>
      <vt:lpstr>A small improvement</vt:lpstr>
      <vt:lpstr>Implementation and Analysis</vt:lpstr>
      <vt:lpstr>A small improvement</vt:lpstr>
      <vt:lpstr>Summary</vt:lpstr>
      <vt:lpstr>Outline</vt:lpstr>
      <vt:lpstr>Outline</vt:lpstr>
      <vt:lpstr>Description</vt:lpstr>
      <vt:lpstr>Description</vt:lpstr>
      <vt:lpstr>The basic algorithm</vt:lpstr>
      <vt:lpstr>The basic algorithm</vt:lpstr>
      <vt:lpstr>Example</vt:lpstr>
      <vt:lpstr>Example</vt:lpstr>
      <vt:lpstr>Example</vt:lpstr>
      <vt:lpstr>Example</vt:lpstr>
      <vt:lpstr>Example</vt:lpstr>
      <vt:lpstr>The basic algorithm</vt:lpstr>
      <vt:lpstr>Analysis</vt:lpstr>
      <vt:lpstr>Implementations and Improvements</vt:lpstr>
      <vt:lpstr>First Improvement</vt:lpstr>
      <vt:lpstr>Flagged Bubble Sort</vt:lpstr>
      <vt:lpstr>Flagged Bubble Sort</vt:lpstr>
      <vt:lpstr>Range-limiting Bubble Sort</vt:lpstr>
      <vt:lpstr>Range-limiting Bubble Sort</vt:lpstr>
      <vt:lpstr>Alternating Bubble Sort</vt:lpstr>
      <vt:lpstr>Alternating Bubble Sort</vt:lpstr>
      <vt:lpstr>Run-time Analysis</vt:lpstr>
      <vt:lpstr>Empirical Analysis</vt:lpstr>
      <vt:lpstr>Empirical Analysis</vt:lpstr>
      <vt:lpstr>Empirical Analysis</vt:lpstr>
      <vt:lpstr>Empirical Analysis</vt:lpstr>
      <vt:lpstr>Run-Time</vt:lpstr>
      <vt:lpstr>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ECE 250 Algorithms and Data Structures</dc:title>
  <dc:creator>dwharder</dc:creator>
  <cp:lastModifiedBy>熊章智</cp:lastModifiedBy>
  <cp:revision>1356</cp:revision>
  <dcterms:created xsi:type="dcterms:W3CDTF">2009-09-11T23:00:00Z</dcterms:created>
  <dcterms:modified xsi:type="dcterms:W3CDTF">2024-10-11T09:05:49Z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3B9AB361822A43FA84FF5BDA736963A3</vt:lpwstr>
  </property>
  <property fmtid="{D5CDD505-2E9C-101B-9397-08002B2CF9AE}" pid="3" name="KSOProductBuildVer">
    <vt:lpwstr>2052-11.8.2.12089</vt:lpwstr>
  </property>
</Properties>
</file>