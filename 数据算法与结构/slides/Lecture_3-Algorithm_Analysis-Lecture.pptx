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jpeg" ContentType="image/jpeg"/>
  <Default Extension="JPG" ContentType="image/.jpg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541" r:id="rId3"/>
    <p:sldId id="379" r:id="rId5"/>
    <p:sldId id="380" r:id="rId6"/>
    <p:sldId id="544" r:id="rId7"/>
    <p:sldId id="542" r:id="rId8"/>
    <p:sldId id="545" r:id="rId9"/>
    <p:sldId id="546" r:id="rId10"/>
    <p:sldId id="547" r:id="rId11"/>
    <p:sldId id="548" r:id="rId12"/>
    <p:sldId id="561" r:id="rId13"/>
    <p:sldId id="549" r:id="rId14"/>
    <p:sldId id="384" r:id="rId15"/>
    <p:sldId id="389" r:id="rId16"/>
    <p:sldId id="558" r:id="rId17"/>
    <p:sldId id="390" r:id="rId18"/>
    <p:sldId id="393" r:id="rId19"/>
    <p:sldId id="394" r:id="rId20"/>
    <p:sldId id="395" r:id="rId21"/>
    <p:sldId id="398" r:id="rId22"/>
    <p:sldId id="399" r:id="rId23"/>
    <p:sldId id="440" r:id="rId24"/>
    <p:sldId id="441" r:id="rId25"/>
    <p:sldId id="413" r:id="rId26"/>
    <p:sldId id="412" r:id="rId27"/>
    <p:sldId id="414" r:id="rId28"/>
    <p:sldId id="415" r:id="rId29"/>
    <p:sldId id="417" r:id="rId30"/>
    <p:sldId id="418" r:id="rId31"/>
    <p:sldId id="419" r:id="rId32"/>
    <p:sldId id="421" r:id="rId33"/>
    <p:sldId id="420" r:id="rId34"/>
    <p:sldId id="422" r:id="rId35"/>
    <p:sldId id="423" r:id="rId36"/>
    <p:sldId id="424" r:id="rId37"/>
    <p:sldId id="425" r:id="rId38"/>
    <p:sldId id="426" r:id="rId39"/>
    <p:sldId id="562" r:id="rId40"/>
    <p:sldId id="563" r:id="rId41"/>
    <p:sldId id="427" r:id="rId42"/>
    <p:sldId id="428" r:id="rId43"/>
    <p:sldId id="429" r:id="rId44"/>
    <p:sldId id="430" r:id="rId45"/>
    <p:sldId id="431" r:id="rId46"/>
    <p:sldId id="432" r:id="rId47"/>
    <p:sldId id="559" r:id="rId48"/>
    <p:sldId id="445" r:id="rId49"/>
    <p:sldId id="433" r:id="rId50"/>
    <p:sldId id="451" r:id="rId51"/>
    <p:sldId id="452" r:id="rId52"/>
    <p:sldId id="453" r:id="rId53"/>
    <p:sldId id="454" r:id="rId54"/>
    <p:sldId id="455" r:id="rId55"/>
    <p:sldId id="456" r:id="rId56"/>
    <p:sldId id="457" r:id="rId57"/>
    <p:sldId id="458" r:id="rId58"/>
    <p:sldId id="459" r:id="rId59"/>
    <p:sldId id="460" r:id="rId60"/>
    <p:sldId id="461" r:id="rId61"/>
    <p:sldId id="462" r:id="rId62"/>
    <p:sldId id="555" r:id="rId63"/>
    <p:sldId id="463" r:id="rId64"/>
    <p:sldId id="464" r:id="rId65"/>
    <p:sldId id="465" r:id="rId66"/>
    <p:sldId id="466" r:id="rId67"/>
    <p:sldId id="467" r:id="rId68"/>
    <p:sldId id="468" r:id="rId69"/>
    <p:sldId id="551" r:id="rId70"/>
    <p:sldId id="476" r:id="rId71"/>
    <p:sldId id="469" r:id="rId72"/>
    <p:sldId id="470" r:id="rId73"/>
    <p:sldId id="472" r:id="rId74"/>
    <p:sldId id="473" r:id="rId75"/>
    <p:sldId id="474" r:id="rId76"/>
    <p:sldId id="475" r:id="rId77"/>
    <p:sldId id="478" r:id="rId78"/>
    <p:sldId id="479" r:id="rId79"/>
    <p:sldId id="480" r:id="rId80"/>
    <p:sldId id="481" r:id="rId81"/>
    <p:sldId id="482" r:id="rId82"/>
    <p:sldId id="483" r:id="rId83"/>
    <p:sldId id="484" r:id="rId84"/>
    <p:sldId id="489" r:id="rId85"/>
    <p:sldId id="490" r:id="rId86"/>
    <p:sldId id="491" r:id="rId87"/>
    <p:sldId id="492" r:id="rId88"/>
    <p:sldId id="493" r:id="rId89"/>
    <p:sldId id="494" r:id="rId90"/>
    <p:sldId id="495" r:id="rId91"/>
    <p:sldId id="496" r:id="rId92"/>
    <p:sldId id="498" r:id="rId93"/>
    <p:sldId id="503" r:id="rId94"/>
    <p:sldId id="504" r:id="rId95"/>
    <p:sldId id="505" r:id="rId96"/>
    <p:sldId id="506" r:id="rId97"/>
    <p:sldId id="507" r:id="rId98"/>
    <p:sldId id="508" r:id="rId99"/>
    <p:sldId id="509" r:id="rId100"/>
    <p:sldId id="510" r:id="rId101"/>
    <p:sldId id="511" r:id="rId102"/>
    <p:sldId id="512" r:id="rId103"/>
    <p:sldId id="513" r:id="rId104"/>
    <p:sldId id="514" r:id="rId105"/>
    <p:sldId id="515" r:id="rId106"/>
    <p:sldId id="516" r:id="rId107"/>
    <p:sldId id="517" r:id="rId108"/>
    <p:sldId id="519" r:id="rId109"/>
    <p:sldId id="520" r:id="rId110"/>
    <p:sldId id="521" r:id="rId111"/>
    <p:sldId id="522" r:id="rId112"/>
    <p:sldId id="560" r:id="rId113"/>
    <p:sldId id="523" r:id="rId114"/>
    <p:sldId id="524" r:id="rId115"/>
    <p:sldId id="525" r:id="rId116"/>
    <p:sldId id="526" r:id="rId117"/>
    <p:sldId id="556" r:id="rId118"/>
    <p:sldId id="528" r:id="rId119"/>
    <p:sldId id="529" r:id="rId120"/>
    <p:sldId id="530" r:id="rId121"/>
    <p:sldId id="531" r:id="rId122"/>
    <p:sldId id="532" r:id="rId123"/>
    <p:sldId id="533" r:id="rId124"/>
    <p:sldId id="534" r:id="rId125"/>
    <p:sldId id="535" r:id="rId126"/>
    <p:sldId id="536" r:id="rId127"/>
    <p:sldId id="537" r:id="rId128"/>
    <p:sldId id="557" r:id="rId12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06EAE131-24EA-4FA5-A8E1-88088CC1DEEB}">
          <p14:sldIdLst>
            <p14:sldId id="541"/>
            <p14:sldId id="379"/>
            <p14:sldId id="380"/>
            <p14:sldId id="544"/>
            <p14:sldId id="542"/>
            <p14:sldId id="545"/>
            <p14:sldId id="546"/>
            <p14:sldId id="547"/>
            <p14:sldId id="548"/>
            <p14:sldId id="561"/>
            <p14:sldId id="549"/>
            <p14:sldId id="384"/>
            <p14:sldId id="389"/>
          </p14:sldIdLst>
        </p14:section>
        <p14:section name="Untitled Section" id="{0ADCA502-53A8-44EB-999D-A8FC9200BA97}">
          <p14:sldIdLst>
            <p14:sldId id="558"/>
            <p14:sldId id="390"/>
            <p14:sldId id="393"/>
            <p14:sldId id="394"/>
            <p14:sldId id="395"/>
            <p14:sldId id="398"/>
            <p14:sldId id="399"/>
            <p14:sldId id="440"/>
            <p14:sldId id="441"/>
            <p14:sldId id="413"/>
            <p14:sldId id="412"/>
            <p14:sldId id="414"/>
            <p14:sldId id="415"/>
            <p14:sldId id="417"/>
            <p14:sldId id="418"/>
            <p14:sldId id="419"/>
            <p14:sldId id="421"/>
            <p14:sldId id="420"/>
            <p14:sldId id="422"/>
            <p14:sldId id="423"/>
            <p14:sldId id="424"/>
            <p14:sldId id="425"/>
            <p14:sldId id="426"/>
            <p14:sldId id="562"/>
            <p14:sldId id="563"/>
            <p14:sldId id="427"/>
            <p14:sldId id="428"/>
            <p14:sldId id="429"/>
            <p14:sldId id="430"/>
            <p14:sldId id="431"/>
            <p14:sldId id="432"/>
          </p14:sldIdLst>
        </p14:section>
        <p14:section name="Untitled Section" id="{495F650D-2BE0-4681-853E-B229B739DCA5}">
          <p14:sldIdLst>
            <p14:sldId id="559"/>
            <p14:sldId id="445"/>
            <p14:sldId id="433"/>
            <p14:sldId id="451"/>
            <p14:sldId id="452"/>
            <p14:sldId id="453"/>
            <p14:sldId id="454"/>
            <p14:sldId id="455"/>
            <p14:sldId id="456"/>
            <p14:sldId id="457"/>
            <p14:sldId id="458"/>
            <p14:sldId id="459"/>
            <p14:sldId id="460"/>
            <p14:sldId id="461"/>
            <p14:sldId id="462"/>
            <p14:sldId id="555"/>
            <p14:sldId id="463"/>
            <p14:sldId id="464"/>
            <p14:sldId id="465"/>
            <p14:sldId id="466"/>
            <p14:sldId id="467"/>
            <p14:sldId id="468"/>
            <p14:sldId id="551"/>
            <p14:sldId id="476"/>
            <p14:sldId id="469"/>
            <p14:sldId id="470"/>
            <p14:sldId id="472"/>
            <p14:sldId id="473"/>
            <p14:sldId id="474"/>
            <p14:sldId id="475"/>
            <p14:sldId id="478"/>
            <p14:sldId id="479"/>
            <p14:sldId id="480"/>
            <p14:sldId id="481"/>
            <p14:sldId id="482"/>
            <p14:sldId id="483"/>
            <p14:sldId id="484"/>
            <p14:sldId id="489"/>
            <p14:sldId id="490"/>
            <p14:sldId id="491"/>
            <p14:sldId id="492"/>
            <p14:sldId id="493"/>
            <p14:sldId id="494"/>
            <p14:sldId id="495"/>
            <p14:sldId id="496"/>
            <p14:sldId id="498"/>
            <p14:sldId id="503"/>
            <p14:sldId id="504"/>
            <p14:sldId id="505"/>
            <p14:sldId id="506"/>
            <p14:sldId id="507"/>
            <p14:sldId id="508"/>
            <p14:sldId id="509"/>
            <p14:sldId id="510"/>
            <p14:sldId id="511"/>
            <p14:sldId id="512"/>
            <p14:sldId id="513"/>
            <p14:sldId id="514"/>
            <p14:sldId id="515"/>
            <p14:sldId id="516"/>
            <p14:sldId id="517"/>
            <p14:sldId id="519"/>
            <p14:sldId id="520"/>
            <p14:sldId id="521"/>
            <p14:sldId id="522"/>
          </p14:sldIdLst>
        </p14:section>
        <p14:section name="Untitled Section" id="{182549E2-1005-427B-9BD4-D3608BF5A660}">
          <p14:sldIdLst>
            <p14:sldId id="560"/>
            <p14:sldId id="523"/>
            <p14:sldId id="524"/>
            <p14:sldId id="525"/>
            <p14:sldId id="526"/>
            <p14:sldId id="556"/>
            <p14:sldId id="528"/>
            <p14:sldId id="529"/>
            <p14:sldId id="530"/>
            <p14:sldId id="531"/>
            <p14:sldId id="532"/>
            <p14:sldId id="533"/>
            <p14:sldId id="534"/>
            <p14:sldId id="535"/>
            <p14:sldId id="536"/>
            <p14:sldId id="537"/>
            <p14:sldId id="55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91" autoAdjust="0"/>
    <p:restoredTop sz="86782" autoAdjust="0"/>
  </p:normalViewPr>
  <p:slideViewPr>
    <p:cSldViewPr>
      <p:cViewPr varScale="1">
        <p:scale>
          <a:sx n="81" d="100"/>
          <a:sy n="81" d="100"/>
        </p:scale>
        <p:origin x="91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04496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40" d="100"/>
        <a:sy n="140" d="100"/>
      </p:scale>
      <p:origin x="0" y="-51576"/>
    </p:cViewPr>
  </p:sorterViewPr>
  <p:notesViewPr>
    <p:cSldViewPr>
      <p:cViewPr varScale="1">
        <p:scale>
          <a:sx n="92" d="100"/>
          <a:sy n="92" d="100"/>
        </p:scale>
        <p:origin x="-3768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6.xml"/><Relationship Id="rId98" Type="http://schemas.openxmlformats.org/officeDocument/2006/relationships/slide" Target="slides/slide95.xml"/><Relationship Id="rId97" Type="http://schemas.openxmlformats.org/officeDocument/2006/relationships/slide" Target="slides/slide94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2" Type="http://schemas.openxmlformats.org/officeDocument/2006/relationships/tableStyles" Target="tableStyles.xml"/><Relationship Id="rId131" Type="http://schemas.openxmlformats.org/officeDocument/2006/relationships/viewProps" Target="viewProps.xml"/><Relationship Id="rId130" Type="http://schemas.openxmlformats.org/officeDocument/2006/relationships/presProps" Target="presProps.xml"/><Relationship Id="rId13" Type="http://schemas.openxmlformats.org/officeDocument/2006/relationships/slide" Target="slides/slide10.xml"/><Relationship Id="rId129" Type="http://schemas.openxmlformats.org/officeDocument/2006/relationships/slide" Target="slides/slide126.xml"/><Relationship Id="rId128" Type="http://schemas.openxmlformats.org/officeDocument/2006/relationships/slide" Target="slides/slide125.xml"/><Relationship Id="rId127" Type="http://schemas.openxmlformats.org/officeDocument/2006/relationships/slide" Target="slides/slide124.xml"/><Relationship Id="rId126" Type="http://schemas.openxmlformats.org/officeDocument/2006/relationships/slide" Target="slides/slide123.xml"/><Relationship Id="rId125" Type="http://schemas.openxmlformats.org/officeDocument/2006/relationships/slide" Target="slides/slide122.xml"/><Relationship Id="rId124" Type="http://schemas.openxmlformats.org/officeDocument/2006/relationships/slide" Target="slides/slide121.xml"/><Relationship Id="rId123" Type="http://schemas.openxmlformats.org/officeDocument/2006/relationships/slide" Target="slides/slide120.xml"/><Relationship Id="rId122" Type="http://schemas.openxmlformats.org/officeDocument/2006/relationships/slide" Target="slides/slide119.xml"/><Relationship Id="rId121" Type="http://schemas.openxmlformats.org/officeDocument/2006/relationships/slide" Target="slides/slide118.xml"/><Relationship Id="rId120" Type="http://schemas.openxmlformats.org/officeDocument/2006/relationships/slide" Target="slides/slide117.xml"/><Relationship Id="rId12" Type="http://schemas.openxmlformats.org/officeDocument/2006/relationships/slide" Target="slides/slide9.xml"/><Relationship Id="rId119" Type="http://schemas.openxmlformats.org/officeDocument/2006/relationships/slide" Target="slides/slide116.xml"/><Relationship Id="rId118" Type="http://schemas.openxmlformats.org/officeDocument/2006/relationships/slide" Target="slides/slide115.xml"/><Relationship Id="rId117" Type="http://schemas.openxmlformats.org/officeDocument/2006/relationships/slide" Target="slides/slide114.xml"/><Relationship Id="rId116" Type="http://schemas.openxmlformats.org/officeDocument/2006/relationships/slide" Target="slides/slide113.xml"/><Relationship Id="rId115" Type="http://schemas.openxmlformats.org/officeDocument/2006/relationships/slide" Target="slides/slide112.xml"/><Relationship Id="rId114" Type="http://schemas.openxmlformats.org/officeDocument/2006/relationships/slide" Target="slides/slide111.xml"/><Relationship Id="rId113" Type="http://schemas.openxmlformats.org/officeDocument/2006/relationships/slide" Target="slides/slide110.xml"/><Relationship Id="rId112" Type="http://schemas.openxmlformats.org/officeDocument/2006/relationships/slide" Target="slides/slide109.xml"/><Relationship Id="rId111" Type="http://schemas.openxmlformats.org/officeDocument/2006/relationships/slide" Target="slides/slide108.xml"/><Relationship Id="rId110" Type="http://schemas.openxmlformats.org/officeDocument/2006/relationships/slide" Target="slides/slide107.xml"/><Relationship Id="rId11" Type="http://schemas.openxmlformats.org/officeDocument/2006/relationships/slide" Target="slides/slide8.xml"/><Relationship Id="rId109" Type="http://schemas.openxmlformats.org/officeDocument/2006/relationships/slide" Target="slides/slide106.xml"/><Relationship Id="rId108" Type="http://schemas.openxmlformats.org/officeDocument/2006/relationships/slide" Target="slides/slide105.xml"/><Relationship Id="rId107" Type="http://schemas.openxmlformats.org/officeDocument/2006/relationships/slide" Target="slides/slide104.xml"/><Relationship Id="rId106" Type="http://schemas.openxmlformats.org/officeDocument/2006/relationships/slide" Target="slides/slide103.xml"/><Relationship Id="rId105" Type="http://schemas.openxmlformats.org/officeDocument/2006/relationships/slide" Target="slides/slide102.xml"/><Relationship Id="rId104" Type="http://schemas.openxmlformats.org/officeDocument/2006/relationships/slide" Target="slides/slide101.xml"/><Relationship Id="rId103" Type="http://schemas.openxmlformats.org/officeDocument/2006/relationships/slide" Target="slides/slide100.xml"/><Relationship Id="rId102" Type="http://schemas.openxmlformats.org/officeDocument/2006/relationships/slide" Target="slides/slide99.xml"/><Relationship Id="rId101" Type="http://schemas.openxmlformats.org/officeDocument/2006/relationships/slide" Target="slides/slide98.xml"/><Relationship Id="rId100" Type="http://schemas.openxmlformats.org/officeDocument/2006/relationships/slide" Target="slides/slide97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7.vml.rels><?xml version="1.0" encoding="UTF-8" standalone="yes"?>
<Relationships xmlns="http://schemas.openxmlformats.org/package/2006/relationships"><Relationship Id="rId5" Type="http://schemas.openxmlformats.org/officeDocument/2006/relationships/image" Target="../media/image20.wmf"/><Relationship Id="rId4" Type="http://schemas.openxmlformats.org/officeDocument/2006/relationships/image" Target="../media/image19.wmf"/><Relationship Id="rId3" Type="http://schemas.openxmlformats.org/officeDocument/2006/relationships/image" Target="../media/image18.wmf"/><Relationship Id="rId2" Type="http://schemas.openxmlformats.org/officeDocument/2006/relationships/image" Target="../media/image12.wmf"/><Relationship Id="rId1" Type="http://schemas.openxmlformats.org/officeDocument/2006/relationships/image" Target="../media/image17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2.wmf"/><Relationship Id="rId1" Type="http://schemas.openxmlformats.org/officeDocument/2006/relationships/image" Target="../media/image21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10.vml.rels><?xml version="1.0" encoding="UTF-8" standalone="yes"?>
<Relationships xmlns="http://schemas.openxmlformats.org/package/2006/relationships"><Relationship Id="rId9" Type="http://schemas.openxmlformats.org/officeDocument/2006/relationships/image" Target="../media/image32.wmf"/><Relationship Id="rId8" Type="http://schemas.openxmlformats.org/officeDocument/2006/relationships/image" Target="../media/image31.wmf"/><Relationship Id="rId7" Type="http://schemas.openxmlformats.org/officeDocument/2006/relationships/image" Target="../media/image30.wmf"/><Relationship Id="rId6" Type="http://schemas.openxmlformats.org/officeDocument/2006/relationships/image" Target="../media/image29.wmf"/><Relationship Id="rId5" Type="http://schemas.openxmlformats.org/officeDocument/2006/relationships/image" Target="../media/image28.wmf"/><Relationship Id="rId4" Type="http://schemas.openxmlformats.org/officeDocument/2006/relationships/image" Target="../media/image27.wmf"/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0" Type="http://schemas.openxmlformats.org/officeDocument/2006/relationships/image" Target="../media/image33.wmf"/><Relationship Id="rId1" Type="http://schemas.openxmlformats.org/officeDocument/2006/relationships/image" Target="../media/image24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47.wmf"/><Relationship Id="rId1" Type="http://schemas.openxmlformats.org/officeDocument/2006/relationships/image" Target="../media/image46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9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60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61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62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63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6.wmf"/><Relationship Id="rId2" Type="http://schemas.openxmlformats.org/officeDocument/2006/relationships/image" Target="../media/image65.wmf"/><Relationship Id="rId1" Type="http://schemas.openxmlformats.org/officeDocument/2006/relationships/image" Target="../media/image64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7.w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8.w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9.w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2.w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7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4A6F3147-B3C0-4B2A-B964-AB106F786BE1}" type="datetimeFigureOut">
              <a:rPr lang="en-US"/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CA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CA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1BF7B1FF-DFE5-4B27-8E0E-F1DDF2FB76BC}" type="slidenum">
              <a:rPr lang="en-CA"/>
            </a:fld>
            <a:endParaRPr lang="en-C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3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4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5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6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7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8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9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0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2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3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4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5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6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7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8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9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0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2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3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4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5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6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7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8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9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0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2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3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4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6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7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8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9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0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2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3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4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5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D6C11BF-C013-4618-A8BA-081214EE9F2F}" type="slidenum">
              <a:rPr lang="en-US" altLang="zh-CN" sz="1200"/>
            </a:fld>
            <a:endParaRPr lang="en-US" altLang="zh-CN" sz="1200"/>
          </a:p>
        </p:txBody>
      </p:sp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CA" altLang="zh-CN" sz="1200" dirty="0">
                <a:solidFill>
                  <a:srgbClr val="000000"/>
                </a:solidFill>
                <a:latin typeface="Arial" panose="020B0604020202020204"/>
                <a:cs typeface="+mn-cs"/>
              </a:rPr>
              <a:t>Adapted from slides by Douglas Wilhelm Harder of U Waterloo (https://ece.uwaterloo.ca/~dwharder/aads/Lecture_materials/)</a:t>
            </a:r>
            <a:endParaRPr lang="en-CA" altLang="zh-CN" sz="1200" dirty="0">
              <a:solidFill>
                <a:srgbClr val="000000"/>
              </a:solidFill>
              <a:latin typeface="Arial" panose="020B0604020202020204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CA" altLang="zh-CN" sz="1200" dirty="0">
                <a:solidFill>
                  <a:srgbClr val="000000"/>
                </a:solidFill>
                <a:latin typeface="Arial" panose="020B0604020202020204"/>
                <a:cs typeface="+mn-cs"/>
              </a:rPr>
              <a:t>Contains</a:t>
            </a:r>
            <a:r>
              <a:rPr lang="en-CA" altLang="zh-CN" sz="1200" baseline="0" dirty="0">
                <a:solidFill>
                  <a:srgbClr val="000000"/>
                </a:solidFill>
                <a:latin typeface="Arial" panose="020B0604020202020204"/>
                <a:cs typeface="+mn-cs"/>
              </a:rPr>
              <a:t> material from s</a:t>
            </a:r>
            <a:r>
              <a:rPr lang="en-US" altLang="zh-CN" dirty="0" err="1"/>
              <a:t>lides</a:t>
            </a:r>
            <a:r>
              <a:rPr lang="en-US" altLang="zh-CN" dirty="0"/>
              <a:t> at https://courses.cs.washington.edu/courses/cse326/03wi/326lecturesb.shtml (by Dan </a:t>
            </a:r>
            <a:r>
              <a:rPr lang="en-US" altLang="zh-CN" dirty="0" err="1"/>
              <a:t>Suciu</a:t>
            </a:r>
            <a:r>
              <a:rPr lang="en-US" altLang="zh-CN" dirty="0"/>
              <a:t> of U Washington)</a:t>
            </a:r>
            <a:endParaRPr lang="zh-CN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rgbClr val="000000"/>
                </a:solidFill>
                <a:latin typeface="Arial" panose="020B0604020202020204"/>
                <a:cs typeface="+mn-cs"/>
              </a:rPr>
              <a:t>重点应该是落在各种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/>
                <a:cs typeface="+mn-cs"/>
              </a:rPr>
              <a:t>symbol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/>
                <a:cs typeface="+mn-cs"/>
              </a:rPr>
              <a:t>的意义，关系，以及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/>
                <a:cs typeface="+mn-cs"/>
              </a:rPr>
              <a:t>best worst average case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/>
                <a:cs typeface="+mn-cs"/>
              </a:rPr>
              <a:t>。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/>
                <a:cs typeface="+mn-cs"/>
              </a:rPr>
              <a:t>Outline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/>
                <a:cs typeface="+mn-cs"/>
              </a:rPr>
              <a:t>里面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/>
                <a:cs typeface="+mn-cs"/>
              </a:rPr>
              <a:t>4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/>
                <a:cs typeface="+mn-cs"/>
              </a:rPr>
              <a:t>个主题都留了基础的需要总结讲解的例子，后面有一些具体的例子比如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/>
                <a:cs typeface="+mn-cs"/>
              </a:rPr>
              <a:t>selection sort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/>
                <a:cs typeface="+mn-cs"/>
              </a:rPr>
              <a:t>因为后面要单独讲就隐藏了。</a:t>
            </a:r>
            <a:endParaRPr lang="en-CA" altLang="zh-CN" sz="1200" dirty="0">
              <a:solidFill>
                <a:srgbClr val="000000"/>
              </a:solidFill>
              <a:latin typeface="Arial" panose="020B0604020202020204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DE41CA-8B80-4041-B077-1FF4258252B6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1AC8165-BA5D-49CC-A980-C71C61E15C73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559221F-1EAD-49F3-A2BB-9FB7330AED9D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7680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0FA5DC3-5BAD-4AB9-B1D9-AC9FDBAB745E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DE41CA-8B80-4041-B077-1FF4258252B6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778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9A71215-3646-453A-BF97-A7D33AD9AC64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8089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6FB9E11-39B0-4D36-A87D-A861FB6B2BB6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8192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63ACF96-4FD1-466D-B4D1-8B2C1318D394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8294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33DD8C4-B727-4E57-B707-7F6169A13713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860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5A4BA78-9167-47FB-B9A6-371D561CBD99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8704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ADBB1A5-1D1C-4E8D-A060-6F5DC9C19289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CA" altLang="zh-CN" dirty="0"/>
              <a:t>Note that for small values of </a:t>
            </a:r>
            <a:r>
              <a:rPr lang="en-CA" altLang="zh-CN" i="1" dirty="0"/>
              <a:t>n</a:t>
            </a:r>
            <a:r>
              <a:rPr lang="en-CA" altLang="zh-CN" dirty="0"/>
              <a:t>, it may be reasonable to use an algorithm that is asymptotically more expensive, but we will consider these on a one-by-one basis</a:t>
            </a:r>
            <a:endParaRPr lang="en-CA" altLang="zh-CN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F7B1FF-DFE5-4B27-8E0E-F1DDF2FB76BC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0137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7B83580-6A4D-4FE1-AA94-27B0708498C7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0035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F9F4F-6B79-43EB-BC0D-4C597B4F8C13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0240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6CA7BA8-41FC-4989-898E-87456CA60456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034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789B5AE-7077-48C5-9951-8249C759E3B9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0547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A60A2E6-F0F9-4566-A733-282A2996E68B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0649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345888-1EA2-462A-A37C-E479D70A2163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0752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D44BC68-670F-444D-BF25-F3C6E5AEADDC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095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E888B24-017A-4989-BD6A-C4590143BC71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0854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B4A14BD-8C21-4F77-B2D3-EA8A0C06C295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1059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DCED894-CCE3-4B50-893A-5FD6FB898B07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116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1D8F852-989A-4B57-9813-C60E03FE7EEB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1264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5EDAC01-DA36-4076-9F90-E3A35289DA97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1366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5D1605D-9E73-48C6-B145-0430DE70B250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1469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9169D27-A329-41BF-8842-676EB73F498E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1571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14DD6F6-173E-45D3-A324-05FFF903804B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167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0DE84F-A258-48D6-955F-2032494CFF0C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177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8C71925-1735-4A27-AC57-EC4D32B7143E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1878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D72FED3-2B9B-42BA-85F9-4359B7A1B86F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1981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FDC35B4-C4F6-47A2-8263-E774F0BB574F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2083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C44E34E-8F37-46EE-B6C8-3AAD60642FCD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DE41CA-8B80-4041-B077-1FF4258252B6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0752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EA26D8-FB0F-46BA-8B4F-59B6FFED9080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1366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A1E51BD-92C2-4885-B654-42B71EB1BA68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1469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F49EA54-92FC-4D7D-B2CE-DFA14C6221F8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1571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3B54FE3-ABB2-433D-BDAA-B6774C0B712E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167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7CB890B-DF38-4FA9-B891-B2B840F48CE7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177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C4BCA0C-78A9-4422-94BD-821D7D0D2A3A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1878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2F55431-7726-4473-91F8-8872AD45BCCB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1981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B13652-D542-47DA-9185-3FF29FD42687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2083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A88D242-C01D-459E-A7BD-74450E2DA0DD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218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A7A82A2-8C68-47ED-8481-7D5E9C1BA201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2288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B1A329-2591-4CF5-8351-5AEA4B54FDAD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2390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lang="en-CA" dirty="0"/>
              <a:t>Defining</a:t>
            </a:r>
            <a:r>
              <a:rPr lang="en-CA" baseline="0" dirty="0"/>
              <a:t> big-O with multiple variables is tricky. Ref: http://people.cs.ksu.edu/~rhowell/asymptotic.pdf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BB10860-A8EC-484F-9C73-3528F7533219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2493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F7EEC41-0AC9-4C20-B60C-8C159C7203F7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5155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B81F9DE-C10F-45D3-8806-0C631DBCBC83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2595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697DB33-B48F-4CA8-ADC8-5151E0C56FFF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2697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87BE735-F4D3-42BF-A8BA-7C2F36EC2AAB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2800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5E04C21-678A-40CF-8544-80A53CF4EAF9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290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21EA41E-C1E2-4FE9-BA30-C20CF034AAD7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300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1323F5C-0FAF-44D1-B360-23545D17EF8D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3107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30C15A1-E5E6-4C84-BE0A-8647F296C07A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3926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2391EF9-F3B9-425F-AB59-3FEA4347AF1A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3209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B69D893-CA13-4260-851C-388B667FAAB9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3312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9ACF742-4150-4E4B-952C-32C4701C0395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351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010D98-AF4B-42D3-A829-CFBA4AC125D7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3619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CA6F653-057D-4EB0-8942-D2202240FCC4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372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A8F5FC1-DB56-4DCC-A91E-41B9314120A3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3824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2F413F1-EB07-4A73-BDE3-4E1F64C9F207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4131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F98F61D-9376-4343-9127-0A120E6E0735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423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9C6E3AD-4ECD-4D33-B75D-2A37354AC102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433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D91BFF5-BA8D-4D0D-B9D1-40543D1EB243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4438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C7A4323-4836-43FB-852A-709954C95CE1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4541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80CDB93-EA32-49AB-A432-D86F74EBFCB8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4643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5DF0798-6E77-442A-A848-661485B2BBE4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474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22EC9CA-CDBB-4511-B0BA-521A6402DA31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5257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95756DB-7774-4B86-86B8-9A83F28204B3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5360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AF9B8B0-DE55-4FC3-B4D5-D6447B69049B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546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9F156B6-D32E-420F-BE4A-5892E0241F58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556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023A05C-9F11-45E1-84F7-67991325BD12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5667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1A0FA5-B8D5-46CB-8755-C1A309750472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5769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02C4F26-FF92-45DA-95CA-41ED023C885C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5872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C088420-DC54-4CD1-B16C-D07DE250249F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5974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8C22275-BAFB-4AA0-9FF2-56DCC1B4DD80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6179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1BBC338-1065-4BBB-9D57-233FB025E917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6691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C82ED08-CB8C-4C16-9939-97719538DEC5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679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FCB144B-3B21-48E4-A9C3-F5806E834778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689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0A95691-0861-4255-BD35-A67428BA6F58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6998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A320B8C-8CA9-4520-B595-173C58F9EE5E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7101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D9505E-6743-410C-92EA-BEE1C86CA05E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7203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A4A5F65-94CC-4D80-AD0C-D8E0A25FC717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730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8D8704C-3C50-4ABE-A78F-A4DC21CF9378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7408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4D08AF1-8534-4C22-B9B2-27684B2A583E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7510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E99593A-B3C7-409F-A3E8-D15D0C3C4933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7613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B03B520-901A-4E22-BBA9-961EBC5FB658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7715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DF7376-CC54-4015-AC56-C7068F1A282E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7817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4DA870E-6553-4667-BDA7-0FAE684E63E3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7920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05A7E7E-DC04-4ED2-A4FF-62481361C008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802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72219F8-5930-4C72-B801-C26448319C31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812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381A64F-67DA-47B1-8555-0368DA8C3956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8329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A713F34-338D-4E09-8349-3BCD117681D3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8432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72F56D3-610B-4034-ABFE-4D63248CE96E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8534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EAE0C58-AEFB-4F4A-AFFC-56F03A9C9C32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863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0D5C831-68C3-4936-B968-FB71100F5DE8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DE41CA-8B80-4041-B077-1FF4258252B6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8739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6DD09A2-44B0-42DA-9CAE-DFBEB4D94075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884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CB0483E-38FD-4D5C-A482-661F72864E8D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8944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7D10E0D-4813-45D4-9F2D-7433BD31A0D8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9046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F12C4A2-0248-46AD-A440-C6762CFF172B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9251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lang="en-US" dirty="0" err="1"/>
              <a:t>只要max被选出来</a:t>
            </a:r>
            <a:r>
              <a:rPr lang="zh-CN" altLang="en-US" dirty="0"/>
              <a:t>，后面就不需要执行了</a:t>
            </a: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CA" dirty="0" err="1"/>
              <a:t>一直需要执行的情况</a:t>
            </a:r>
            <a:r>
              <a:rPr lang="zh-CN" altLang="en-US" dirty="0"/>
              <a:t>：第</a:t>
            </a:r>
            <a:r>
              <a:rPr lang="en-US" altLang="zh-CN" dirty="0" err="1"/>
              <a:t>i</a:t>
            </a:r>
            <a:r>
              <a:rPr lang="zh-CN" altLang="en-US" dirty="0"/>
              <a:t>个是前面</a:t>
            </a:r>
            <a:r>
              <a:rPr lang="en-US" altLang="zh-CN" dirty="0" err="1"/>
              <a:t>i</a:t>
            </a:r>
            <a:r>
              <a:rPr lang="zh-CN" altLang="en-US" dirty="0"/>
              <a:t>个里面最大的</a:t>
            </a:r>
            <a:endParaRPr lang="en-CA" dirty="0"/>
          </a:p>
          <a:p>
            <a:endParaRPr lang="en-US" altLang="zh-CN" dirty="0"/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DC02B71-39CC-418D-ADE9-64683DCD3420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935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r>
              <a:rPr lang="en-CA" dirty="0" err="1"/>
              <a:t>一直需要执行的情况</a:t>
            </a:r>
            <a:r>
              <a:rPr lang="zh-CN" altLang="en-US" dirty="0"/>
              <a:t>：第</a:t>
            </a:r>
            <a:r>
              <a:rPr lang="en-US" altLang="zh-CN" dirty="0" err="1"/>
              <a:t>i</a:t>
            </a:r>
            <a:r>
              <a:rPr lang="zh-CN" altLang="en-US" dirty="0"/>
              <a:t>个是前面</a:t>
            </a:r>
            <a:r>
              <a:rPr lang="en-US" altLang="zh-CN" dirty="0" err="1"/>
              <a:t>i</a:t>
            </a:r>
            <a:r>
              <a:rPr lang="zh-CN" altLang="en-US" dirty="0"/>
              <a:t>个里面最大的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61137BE-2EA1-4204-9DD8-3111F9F05C4F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945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972E9AD-949C-4146-B613-9851615AD40D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9558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B3C498E-1CFD-4C62-B2C6-E490E1DECC34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9661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6E95698-EC0D-4451-974A-37D6443C5320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9763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0A6FCE9-A78E-4E08-A080-4B548ACC4A02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986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8CCBE12-87FE-4AD1-AB25-EDEF795EDFC6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9968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5E28029-F918-4975-B1D7-695F5180BF68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0070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109B4F2-FD3F-4979-B67E-21EA9E824ACA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0173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9B790A-4A7E-4DB1-895D-E5BC01FCED20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DE41CA-8B80-4041-B077-1FF4258252B6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F19777-EF02-403D-A50D-41783CAD438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7541BD4B-8C8D-4F13-B8FB-E6D003F3238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94826BD6-EF89-9341-B45C-446EE922479D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174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C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://algo-visualizer.jasonpark.me/#path=search/binary_search/recursive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emf"/><Relationship Id="rId1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.emf"/><Relationship Id="rId1" Type="http://schemas.openxmlformats.org/officeDocument/2006/relationships/oleObject" Target="../embeddings/oleObject2.bin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4.emf"/><Relationship Id="rId1" Type="http://schemas.openxmlformats.org/officeDocument/2006/relationships/oleObject" Target="../embeddings/oleObject3.bin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5.emf"/><Relationship Id="rId1" Type="http://schemas.openxmlformats.org/officeDocument/2006/relationships/oleObject" Target="../embeddings/oleObject4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wmf"/><Relationship Id="rId1" Type="http://schemas.openxmlformats.org/officeDocument/2006/relationships/oleObject" Target="../embeddings/oleObject5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6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13.wmf"/><Relationship Id="rId3" Type="http://schemas.openxmlformats.org/officeDocument/2006/relationships/oleObject" Target="../embeddings/oleObject7.bin"/><Relationship Id="rId2" Type="http://schemas.openxmlformats.org/officeDocument/2006/relationships/image" Target="../media/image12.wmf"/><Relationship Id="rId1" Type="http://schemas.openxmlformats.org/officeDocument/2006/relationships/oleObject" Target="../embeddings/oleObject6.bin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jpeg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.bin"/><Relationship Id="rId8" Type="http://schemas.openxmlformats.org/officeDocument/2006/relationships/image" Target="../media/image19.wmf"/><Relationship Id="rId7" Type="http://schemas.openxmlformats.org/officeDocument/2006/relationships/oleObject" Target="../embeddings/oleObject12.bin"/><Relationship Id="rId6" Type="http://schemas.openxmlformats.org/officeDocument/2006/relationships/image" Target="../media/image18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2.wmf"/><Relationship Id="rId3" Type="http://schemas.openxmlformats.org/officeDocument/2006/relationships/oleObject" Target="../embeddings/oleObject10.bin"/><Relationship Id="rId2" Type="http://schemas.openxmlformats.org/officeDocument/2006/relationships/image" Target="../media/image17.wmf"/><Relationship Id="rId13" Type="http://schemas.openxmlformats.org/officeDocument/2006/relationships/notesSlide" Target="../notesSlides/notesSlide17.xml"/><Relationship Id="rId12" Type="http://schemas.openxmlformats.org/officeDocument/2006/relationships/vmlDrawing" Target="../drawings/vmlDrawing7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20.wmf"/><Relationship Id="rId1" Type="http://schemas.openxmlformats.org/officeDocument/2006/relationships/oleObject" Target="../embeddings/oleObject9.bin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8.v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6.jpeg"/><Relationship Id="rId6" Type="http://schemas.openxmlformats.org/officeDocument/2006/relationships/image" Target="../media/image20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12.wmf"/><Relationship Id="rId3" Type="http://schemas.openxmlformats.org/officeDocument/2006/relationships/oleObject" Target="../embeddings/oleObject15.bin"/><Relationship Id="rId2" Type="http://schemas.openxmlformats.org/officeDocument/2006/relationships/image" Target="../media/image21.wmf"/><Relationship Id="rId10" Type="http://schemas.openxmlformats.org/officeDocument/2006/relationships/notesSlide" Target="../notesSlides/notesSlide18.xml"/><Relationship Id="rId1" Type="http://schemas.openxmlformats.org/officeDocument/2006/relationships/oleObject" Target="../embeddings/oleObject14.bin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9.xml"/><Relationship Id="rId8" Type="http://schemas.openxmlformats.org/officeDocument/2006/relationships/vmlDrawing" Target="../drawings/vmlDrawing9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22.wmf"/><Relationship Id="rId3" Type="http://schemas.openxmlformats.org/officeDocument/2006/relationships/oleObject" Target="../embeddings/oleObject18.bin"/><Relationship Id="rId2" Type="http://schemas.openxmlformats.org/officeDocument/2006/relationships/image" Target="../media/image21.wmf"/><Relationship Id="rId1" Type="http://schemas.openxmlformats.org/officeDocument/2006/relationships/oleObject" Target="../embeddings/oleObject17.bin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4.bin"/><Relationship Id="rId8" Type="http://schemas.openxmlformats.org/officeDocument/2006/relationships/image" Target="../media/image27.wmf"/><Relationship Id="rId7" Type="http://schemas.openxmlformats.org/officeDocument/2006/relationships/oleObject" Target="../embeddings/oleObject23.bin"/><Relationship Id="rId6" Type="http://schemas.openxmlformats.org/officeDocument/2006/relationships/image" Target="../media/image26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25.wmf"/><Relationship Id="rId3" Type="http://schemas.openxmlformats.org/officeDocument/2006/relationships/oleObject" Target="../embeddings/oleObject21.bin"/><Relationship Id="rId23" Type="http://schemas.openxmlformats.org/officeDocument/2006/relationships/notesSlide" Target="../notesSlides/notesSlide20.xml"/><Relationship Id="rId22" Type="http://schemas.openxmlformats.org/officeDocument/2006/relationships/vmlDrawing" Target="../drawings/vmlDrawing10.vml"/><Relationship Id="rId21" Type="http://schemas.openxmlformats.org/officeDocument/2006/relationships/slideLayout" Target="../slideLayouts/slideLayout2.xml"/><Relationship Id="rId20" Type="http://schemas.openxmlformats.org/officeDocument/2006/relationships/image" Target="../media/image33.wmf"/><Relationship Id="rId2" Type="http://schemas.openxmlformats.org/officeDocument/2006/relationships/image" Target="../media/image24.wmf"/><Relationship Id="rId19" Type="http://schemas.openxmlformats.org/officeDocument/2006/relationships/oleObject" Target="../embeddings/oleObject29.bin"/><Relationship Id="rId18" Type="http://schemas.openxmlformats.org/officeDocument/2006/relationships/image" Target="../media/image32.wmf"/><Relationship Id="rId17" Type="http://schemas.openxmlformats.org/officeDocument/2006/relationships/oleObject" Target="../embeddings/oleObject28.bin"/><Relationship Id="rId16" Type="http://schemas.openxmlformats.org/officeDocument/2006/relationships/image" Target="../media/image31.wmf"/><Relationship Id="rId15" Type="http://schemas.openxmlformats.org/officeDocument/2006/relationships/oleObject" Target="../embeddings/oleObject27.bin"/><Relationship Id="rId14" Type="http://schemas.openxmlformats.org/officeDocument/2006/relationships/image" Target="../media/image30.wmf"/><Relationship Id="rId13" Type="http://schemas.openxmlformats.org/officeDocument/2006/relationships/oleObject" Target="../embeddings/oleObject26.bin"/><Relationship Id="rId12" Type="http://schemas.openxmlformats.org/officeDocument/2006/relationships/image" Target="../media/image29.wmf"/><Relationship Id="rId11" Type="http://schemas.openxmlformats.org/officeDocument/2006/relationships/oleObject" Target="../embeddings/oleObject25.bin"/><Relationship Id="rId10" Type="http://schemas.openxmlformats.org/officeDocument/2006/relationships/image" Target="../media/image28.wmf"/><Relationship Id="rId1" Type="http://schemas.openxmlformats.org/officeDocument/2006/relationships/oleObject" Target="../embeddings/oleObject20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png"/></Relationships>
</file>

<file path=ppt/slides/_rels/slide3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8.xml"/><Relationship Id="rId4" Type="http://schemas.openxmlformats.org/officeDocument/2006/relationships/vmlDrawing" Target="../drawings/vmlDrawing1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7.wmf"/><Relationship Id="rId1" Type="http://schemas.openxmlformats.org/officeDocument/2006/relationships/oleObject" Target="../embeddings/oleObject30.bin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8.png"/></Relationships>
</file>

<file path=ppt/slides/_rels/slide4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0.xml"/><Relationship Id="rId4" Type="http://schemas.openxmlformats.org/officeDocument/2006/relationships/vmlDrawing" Target="../drawings/vmlDrawing1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9.wmf"/><Relationship Id="rId1" Type="http://schemas.openxmlformats.org/officeDocument/2006/relationships/oleObject" Target="../embeddings/oleObject31.bin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0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1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2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1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5.xml"/><Relationship Id="rId4" Type="http://schemas.openxmlformats.org/officeDocument/2006/relationships/vmlDrawing" Target="../drawings/vmlDrawing1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3.wmf"/><Relationship Id="rId1" Type="http://schemas.openxmlformats.org/officeDocument/2006/relationships/oleObject" Target="../embeddings/oleObject32.bin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2.xml"/><Relationship Id="rId4" Type="http://schemas.openxmlformats.org/officeDocument/2006/relationships/vmlDrawing" Target="../drawings/vmlDrawing1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4.wmf"/><Relationship Id="rId1" Type="http://schemas.openxmlformats.org/officeDocument/2006/relationships/oleObject" Target="../embeddings/oleObject33.bin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5.png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6.xml"/><Relationship Id="rId6" Type="http://schemas.openxmlformats.org/officeDocument/2006/relationships/vmlDrawing" Target="../drawings/vmlDrawing15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7.wmf"/><Relationship Id="rId3" Type="http://schemas.openxmlformats.org/officeDocument/2006/relationships/oleObject" Target="../embeddings/oleObject35.bin"/><Relationship Id="rId2" Type="http://schemas.openxmlformats.org/officeDocument/2006/relationships/image" Target="../media/image46.wmf"/><Relationship Id="rId1" Type="http://schemas.openxmlformats.org/officeDocument/2006/relationships/oleObject" Target="../embeddings/oleObject34.bin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8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9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0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1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2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3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4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5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6.png"/></Relationships>
</file>

<file path=ppt/slides/_rels/slide10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8.wmf"/><Relationship Id="rId1" Type="http://schemas.openxmlformats.org/officeDocument/2006/relationships/image" Target="../media/image57.wmf"/></Relationships>
</file>

<file path=ppt/slides/_rels/slide10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0.xml"/><Relationship Id="rId4" Type="http://schemas.openxmlformats.org/officeDocument/2006/relationships/vmlDrawing" Target="../drawings/vmlDrawing16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9.wmf"/><Relationship Id="rId1" Type="http://schemas.openxmlformats.org/officeDocument/2006/relationships/oleObject" Target="../embeddings/oleObject36.bin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2.xml"/><Relationship Id="rId4" Type="http://schemas.openxmlformats.org/officeDocument/2006/relationships/vmlDrawing" Target="../drawings/vmlDrawing17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0.wmf"/><Relationship Id="rId1" Type="http://schemas.openxmlformats.org/officeDocument/2006/relationships/oleObject" Target="../embeddings/oleObject37.bin"/></Relationships>
</file>

<file path=ppt/slides/_rels/slide10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3.xml"/><Relationship Id="rId4" Type="http://schemas.openxmlformats.org/officeDocument/2006/relationships/vmlDrawing" Target="../drawings/vmlDrawing18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1.wmf"/><Relationship Id="rId1" Type="http://schemas.openxmlformats.org/officeDocument/2006/relationships/oleObject" Target="../embeddings/oleObject38.bin"/></Relationships>
</file>

<file path=ppt/slides/_rels/slide10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4.xml"/><Relationship Id="rId4" Type="http://schemas.openxmlformats.org/officeDocument/2006/relationships/vmlDrawing" Target="../drawings/vmlDrawing19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2.wmf"/><Relationship Id="rId1" Type="http://schemas.openxmlformats.org/officeDocument/2006/relationships/oleObject" Target="../embeddings/oleObject39.bin"/></Relationships>
</file>

<file path=ppt/slides/_rels/slide10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5.xml"/><Relationship Id="rId4" Type="http://schemas.openxmlformats.org/officeDocument/2006/relationships/vmlDrawing" Target="../drawings/vmlDrawing20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3.wmf"/><Relationship Id="rId1" Type="http://schemas.openxmlformats.org/officeDocument/2006/relationships/oleObject" Target="../embeddings/oleObject40.bin"/></Relationships>
</file>

<file path=ppt/slides/_rels/slide10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96.xml"/><Relationship Id="rId8" Type="http://schemas.openxmlformats.org/officeDocument/2006/relationships/vmlDrawing" Target="../drawings/vmlDrawing21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66.wmf"/><Relationship Id="rId5" Type="http://schemas.openxmlformats.org/officeDocument/2006/relationships/oleObject" Target="../embeddings/oleObject43.bin"/><Relationship Id="rId4" Type="http://schemas.openxmlformats.org/officeDocument/2006/relationships/image" Target="../media/image65.wmf"/><Relationship Id="rId3" Type="http://schemas.openxmlformats.org/officeDocument/2006/relationships/oleObject" Target="../embeddings/oleObject42.bin"/><Relationship Id="rId2" Type="http://schemas.openxmlformats.org/officeDocument/2006/relationships/image" Target="../media/image64.wmf"/><Relationship Id="rId1" Type="http://schemas.openxmlformats.org/officeDocument/2006/relationships/oleObject" Target="../embeddings/oleObject41.bin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0.xml"/><Relationship Id="rId4" Type="http://schemas.openxmlformats.org/officeDocument/2006/relationships/vmlDrawing" Target="../drawings/vmlDrawing2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7.wmf"/><Relationship Id="rId1" Type="http://schemas.openxmlformats.org/officeDocument/2006/relationships/oleObject" Target="../embeddings/oleObject44.bin"/></Relationships>
</file>

<file path=ppt/slides/_rels/slide1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1.xml"/><Relationship Id="rId4" Type="http://schemas.openxmlformats.org/officeDocument/2006/relationships/vmlDrawing" Target="../drawings/vmlDrawing2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8.wmf"/><Relationship Id="rId1" Type="http://schemas.openxmlformats.org/officeDocument/2006/relationships/oleObject" Target="../embeddings/oleObject45.bin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4.xml"/><Relationship Id="rId4" Type="http://schemas.openxmlformats.org/officeDocument/2006/relationships/vmlDrawing" Target="../drawings/vmlDrawing2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9.wmf"/><Relationship Id="rId1" Type="http://schemas.openxmlformats.org/officeDocument/2006/relationships/oleObject" Target="../embeddings/oleObject46.bin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0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1.png"/></Relationships>
</file>

<file path=ppt/slides/_rels/slide1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7.xml"/><Relationship Id="rId4" Type="http://schemas.openxmlformats.org/officeDocument/2006/relationships/vmlDrawing" Target="../drawings/vmlDrawing25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2.wmf"/><Relationship Id="rId1" Type="http://schemas.openxmlformats.org/officeDocument/2006/relationships/oleObject" Target="../embeddings/oleObject47.bin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3.png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4.png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1.xml"/><Relationship Id="rId4" Type="http://schemas.openxmlformats.org/officeDocument/2006/relationships/vmlDrawing" Target="../drawings/vmlDrawing26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5.wmf"/><Relationship Id="rId1" Type="http://schemas.openxmlformats.org/officeDocument/2006/relationships/oleObject" Target="../embeddings/oleObject48.bin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 anchor="ctr"/>
          <a:lstStyle/>
          <a:p>
            <a:pPr eaLnBrk="1" hangingPunct="1"/>
            <a:r>
              <a:rPr lang="en-US" altLang="zh-CN" sz="4400" dirty="0"/>
              <a:t>Algorithm Analysis</a:t>
            </a:r>
            <a:endParaRPr lang="en-US" altLang="zh-CN" sz="4400" dirty="0"/>
          </a:p>
        </p:txBody>
      </p:sp>
      <p:sp>
        <p:nvSpPr>
          <p:cNvPr id="4099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Algorithm Analysis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Textbook </a:t>
            </a:r>
            <a:r>
              <a:rPr lang="en-US" altLang="zh-CN" dirty="0" err="1">
                <a:ea typeface="宋体" panose="02010600030101010101" pitchFamily="2" charset="-122"/>
              </a:rPr>
              <a:t>Ch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/>
              <a:t>2,3</a:t>
            </a:r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</a:t>
            </a:r>
            <a:endParaRPr lang="en-US" dirty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Justification for analysis</a:t>
            </a:r>
            <a:endParaRPr lang="en-US" dirty="0"/>
          </a:p>
          <a:p>
            <a:r>
              <a:rPr lang="en-US" dirty="0"/>
              <a:t>Landau symbols</a:t>
            </a:r>
            <a:endParaRPr lang="en-US" dirty="0"/>
          </a:p>
          <a:p>
            <a:r>
              <a:rPr lang="en-US" altLang="zh-CN" dirty="0"/>
              <a:t>Run time of programs</a:t>
            </a:r>
            <a:endParaRPr lang="en-US" altLang="zh-CN" dirty="0"/>
          </a:p>
          <a:p>
            <a:r>
              <a:rPr lang="en-US" altLang="zh-CN" dirty="0"/>
              <a:t>Best-, worst-, and average-case</a:t>
            </a:r>
            <a:endParaRPr lang="en-US" altLang="zh-CN" dirty="0"/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Comparing algorithms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Suppose we have two algorithms. How can we tell which is better?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We could implement both algorithms, run them both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Expensive and error prone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Preferably, we should analyze them mathematically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Algorithm analysis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Find an item in a sorted array of length N</a:t>
            </a:r>
            <a:endParaRPr lang="en-US" altLang="zh-CN" dirty="0"/>
          </a:p>
          <a:p>
            <a:r>
              <a:rPr lang="en-US" altLang="zh-CN" dirty="0"/>
              <a:t>Algorithm 1: Linear search (check each item from left to right)</a:t>
            </a:r>
            <a:endParaRPr lang="en-US" altLang="zh-CN" dirty="0"/>
          </a:p>
          <a:p>
            <a:pPr lvl="1"/>
            <a:r>
              <a:rPr lang="en-US" altLang="zh-CN" dirty="0"/>
              <a:t>Do you use this approach when looking up a word in a dictionary?</a:t>
            </a:r>
            <a:endParaRPr lang="en-US" altLang="zh-CN" dirty="0"/>
          </a:p>
          <a:p>
            <a:r>
              <a:rPr lang="en-US" altLang="zh-CN" dirty="0"/>
              <a:t>Algorithm 2: Binary search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pic>
        <p:nvPicPr>
          <p:cNvPr id="190472" name="Picture 8" descr="Image result for binary search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9652" y="3067228"/>
            <a:ext cx="6264696" cy="3386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Implementation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5050" y="1187314"/>
            <a:ext cx="4186808" cy="460648"/>
          </a:xfrm>
        </p:spPr>
        <p:txBody>
          <a:bodyPr/>
          <a:lstStyle/>
          <a:p>
            <a:pPr marL="0" indent="0">
              <a:buNone/>
            </a:pPr>
            <a:r>
              <a:rPr lang="en-US" altLang="zh-CN"/>
              <a:t>Algorithm </a:t>
            </a:r>
            <a:r>
              <a:rPr lang="en-US" altLang="zh-CN" dirty="0"/>
              <a:t>1: Linear search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1043608" y="1591142"/>
            <a:ext cx="6452407" cy="1938992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miter lim="800000"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dirty="0" err="1">
                <a:latin typeface="Courier New" panose="02070309020205020404" charset="0"/>
              </a:rPr>
              <a:t>int</a:t>
            </a:r>
            <a:r>
              <a:rPr lang="en-US" altLang="en-US" dirty="0">
                <a:latin typeface="Courier New" panose="02070309020205020404" charset="0"/>
              </a:rPr>
              <a:t> </a:t>
            </a:r>
            <a:r>
              <a:rPr lang="en-US" altLang="en-US" dirty="0" err="1">
                <a:latin typeface="Courier New" panose="02070309020205020404" charset="0"/>
              </a:rPr>
              <a:t>lfind</a:t>
            </a:r>
            <a:r>
              <a:rPr lang="en-US" altLang="en-US" dirty="0">
                <a:latin typeface="Courier New" panose="02070309020205020404" charset="0"/>
              </a:rPr>
              <a:t>(</a:t>
            </a:r>
            <a:r>
              <a:rPr lang="en-US" altLang="en-US" dirty="0" err="1">
                <a:latin typeface="Courier New" panose="02070309020205020404" charset="0"/>
              </a:rPr>
              <a:t>int</a:t>
            </a:r>
            <a:r>
              <a:rPr lang="en-US" altLang="en-US" dirty="0">
                <a:latin typeface="Courier New" panose="02070309020205020404" charset="0"/>
              </a:rPr>
              <a:t> key, </a:t>
            </a:r>
            <a:r>
              <a:rPr lang="en-US" altLang="en-US" dirty="0" err="1">
                <a:latin typeface="Courier New" panose="02070309020205020404" charset="0"/>
              </a:rPr>
              <a:t>int</a:t>
            </a:r>
            <a:r>
              <a:rPr lang="en-US" altLang="en-US" dirty="0">
                <a:latin typeface="Courier New" panose="02070309020205020404" charset="0"/>
              </a:rPr>
              <a:t> a[], </a:t>
            </a:r>
            <a:r>
              <a:rPr lang="en-US" altLang="en-US" dirty="0" err="1">
                <a:latin typeface="Courier New" panose="02070309020205020404" charset="0"/>
              </a:rPr>
              <a:t>int</a:t>
            </a:r>
            <a:r>
              <a:rPr lang="en-US" altLang="en-US" dirty="0">
                <a:latin typeface="Courier New" panose="02070309020205020404" charset="0"/>
              </a:rPr>
              <a:t> n)</a:t>
            </a:r>
            <a:endParaRPr lang="en-US" altLang="en-US" dirty="0">
              <a:latin typeface="Courier New" panose="02070309020205020404" charset="0"/>
            </a:endParaRPr>
          </a:p>
          <a:p>
            <a:pPr eaLnBrk="1" hangingPunct="1"/>
            <a:r>
              <a:rPr lang="en-US" altLang="en-US" dirty="0">
                <a:latin typeface="Courier New" panose="02070309020205020404" charset="0"/>
              </a:rPr>
              <a:t>{  if (n==0) return –1;</a:t>
            </a:r>
            <a:endParaRPr lang="en-US" altLang="en-US" dirty="0">
              <a:latin typeface="Courier New" panose="02070309020205020404" charset="0"/>
            </a:endParaRPr>
          </a:p>
          <a:p>
            <a:pPr eaLnBrk="1" hangingPunct="1"/>
            <a:r>
              <a:rPr lang="en-US" altLang="en-US" dirty="0">
                <a:latin typeface="Courier New" panose="02070309020205020404" charset="0"/>
              </a:rPr>
              <a:t>   if (key == a[n-1]) return n-1;</a:t>
            </a:r>
            <a:endParaRPr lang="en-US" altLang="en-US" dirty="0">
              <a:latin typeface="Courier New" panose="02070309020205020404" charset="0"/>
            </a:endParaRPr>
          </a:p>
          <a:p>
            <a:pPr eaLnBrk="1" hangingPunct="1"/>
            <a:r>
              <a:rPr lang="en-US" altLang="en-US" dirty="0">
                <a:latin typeface="Courier New" panose="02070309020205020404" charset="0"/>
              </a:rPr>
              <a:t>   return </a:t>
            </a:r>
            <a:r>
              <a:rPr lang="en-US" altLang="en-US" dirty="0" err="1">
                <a:latin typeface="Courier New" panose="02070309020205020404" charset="0"/>
              </a:rPr>
              <a:t>lfind</a:t>
            </a:r>
            <a:r>
              <a:rPr lang="en-US" altLang="en-US" dirty="0">
                <a:latin typeface="Courier New" panose="02070309020205020404" charset="0"/>
              </a:rPr>
              <a:t>(key, a, n-1);</a:t>
            </a:r>
            <a:endParaRPr lang="en-US" altLang="en-US" dirty="0">
              <a:latin typeface="Courier New" panose="02070309020205020404" charset="0"/>
            </a:endParaRPr>
          </a:p>
          <a:p>
            <a:pPr eaLnBrk="1" hangingPunct="1"/>
            <a:r>
              <a:rPr lang="en-US" altLang="en-US" dirty="0">
                <a:latin typeface="Courier New" panose="02070309020205020404" charset="0"/>
              </a:rPr>
              <a:t>}</a:t>
            </a:r>
            <a:endParaRPr lang="en-US" altLang="en-US" dirty="0">
              <a:latin typeface="Courier New" panose="02070309020205020404" charset="0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457200" y="4221088"/>
            <a:ext cx="7879080" cy="2246769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miter lim="800000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anchor="t" anchorCtr="0" compatLnSpc="1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dirty="0" err="1">
                <a:latin typeface="Courier New" panose="02070309020205020404" charset="0"/>
                <a:ea typeface="宋体" panose="02010600030101010101" pitchFamily="2" charset="-122"/>
              </a:rPr>
              <a:t>int</a:t>
            </a:r>
            <a:r>
              <a:rPr lang="en-US" altLang="zh-CN" dirty="0"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r>
              <a:rPr lang="en-US" altLang="zh-CN" dirty="0" err="1">
                <a:latin typeface="Courier New" panose="02070309020205020404" charset="0"/>
                <a:ea typeface="宋体" panose="02010600030101010101" pitchFamily="2" charset="-122"/>
              </a:rPr>
              <a:t>bfind</a:t>
            </a:r>
            <a:r>
              <a:rPr lang="en-US" altLang="zh-CN" dirty="0">
                <a:latin typeface="Courier New" panose="02070309020205020404" charset="0"/>
                <a:ea typeface="宋体" panose="02010600030101010101" pitchFamily="2" charset="-122"/>
              </a:rPr>
              <a:t>(</a:t>
            </a:r>
            <a:r>
              <a:rPr lang="en-US" altLang="zh-CN" dirty="0" err="1">
                <a:latin typeface="Courier New" panose="02070309020205020404" charset="0"/>
                <a:ea typeface="宋体" panose="02010600030101010101" pitchFamily="2" charset="-122"/>
              </a:rPr>
              <a:t>int</a:t>
            </a:r>
            <a:r>
              <a:rPr lang="en-US" altLang="zh-CN" dirty="0">
                <a:latin typeface="Courier New" panose="02070309020205020404" charset="0"/>
                <a:ea typeface="宋体" panose="02010600030101010101" pitchFamily="2" charset="-122"/>
              </a:rPr>
              <a:t> key, </a:t>
            </a:r>
            <a:r>
              <a:rPr lang="en-US" altLang="zh-CN" dirty="0" err="1">
                <a:latin typeface="Courier New" panose="02070309020205020404" charset="0"/>
                <a:ea typeface="宋体" panose="02010600030101010101" pitchFamily="2" charset="-122"/>
              </a:rPr>
              <a:t>int</a:t>
            </a:r>
            <a:r>
              <a:rPr lang="en-US" altLang="zh-CN" dirty="0">
                <a:latin typeface="Courier New" panose="02070309020205020404" charset="0"/>
                <a:ea typeface="宋体" panose="02010600030101010101" pitchFamily="2" charset="-122"/>
              </a:rPr>
              <a:t> a[], </a:t>
            </a:r>
            <a:r>
              <a:rPr lang="en-US" altLang="zh-CN" dirty="0" err="1">
                <a:latin typeface="Courier New" panose="02070309020205020404" charset="0"/>
                <a:ea typeface="宋体" panose="02010600030101010101" pitchFamily="2" charset="-122"/>
              </a:rPr>
              <a:t>int</a:t>
            </a:r>
            <a:r>
              <a:rPr lang="en-US" altLang="zh-CN" dirty="0">
                <a:latin typeface="Courier New" panose="02070309020205020404" charset="0"/>
                <a:ea typeface="宋体" panose="02010600030101010101" pitchFamily="2" charset="-122"/>
              </a:rPr>
              <a:t> left, </a:t>
            </a:r>
            <a:r>
              <a:rPr lang="en-US" altLang="zh-CN" dirty="0" err="1">
                <a:latin typeface="Courier New" panose="02070309020205020404" charset="0"/>
                <a:ea typeface="宋体" panose="02010600030101010101" pitchFamily="2" charset="-122"/>
              </a:rPr>
              <a:t>int</a:t>
            </a:r>
            <a:r>
              <a:rPr lang="en-US" altLang="zh-CN" dirty="0">
                <a:latin typeface="Courier New" panose="02070309020205020404" charset="0"/>
                <a:ea typeface="宋体" panose="02010600030101010101" pitchFamily="2" charset="-122"/>
              </a:rPr>
              <a:t> right)</a:t>
            </a:r>
            <a:endParaRPr lang="en-US" altLang="zh-CN" dirty="0">
              <a:latin typeface="Courier New" panose="02070309020205020404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dirty="0">
                <a:latin typeface="Courier New" panose="02070309020205020404" charset="0"/>
                <a:ea typeface="宋体" panose="02010600030101010101" pitchFamily="2" charset="-122"/>
              </a:rPr>
              <a:t>{   if (left+1 == right) return –1;</a:t>
            </a:r>
            <a:endParaRPr lang="en-US" altLang="zh-CN" dirty="0">
              <a:latin typeface="Courier New" panose="02070309020205020404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dirty="0">
                <a:latin typeface="Courier New" panose="02070309020205020404" charset="0"/>
                <a:ea typeface="宋体" panose="02010600030101010101" pitchFamily="2" charset="-122"/>
              </a:rPr>
              <a:t>    </a:t>
            </a:r>
            <a:r>
              <a:rPr lang="en-US" altLang="zh-CN" dirty="0" err="1">
                <a:latin typeface="Courier New" panose="02070309020205020404" charset="0"/>
                <a:ea typeface="宋体" panose="02010600030101010101" pitchFamily="2" charset="-122"/>
              </a:rPr>
              <a:t>int</a:t>
            </a:r>
            <a:r>
              <a:rPr lang="en-US" altLang="zh-CN" dirty="0">
                <a:latin typeface="Courier New" panose="02070309020205020404" charset="0"/>
                <a:ea typeface="宋体" panose="02010600030101010101" pitchFamily="2" charset="-122"/>
              </a:rPr>
              <a:t> m = (left + right) / 2;</a:t>
            </a:r>
            <a:endParaRPr lang="en-US" altLang="zh-CN" dirty="0">
              <a:latin typeface="Courier New" panose="02070309020205020404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dirty="0">
                <a:latin typeface="Courier New" panose="02070309020205020404" charset="0"/>
                <a:ea typeface="宋体" panose="02010600030101010101" pitchFamily="2" charset="-122"/>
              </a:rPr>
              <a:t>    if (key == a[m]) return m;</a:t>
            </a:r>
            <a:endParaRPr lang="en-US" altLang="zh-CN" dirty="0">
              <a:latin typeface="Courier New" panose="02070309020205020404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dirty="0">
                <a:latin typeface="Courier New" panose="02070309020205020404" charset="0"/>
                <a:ea typeface="宋体" panose="02010600030101010101" pitchFamily="2" charset="-122"/>
              </a:rPr>
              <a:t>    if (key &lt; a[m]) return </a:t>
            </a:r>
            <a:r>
              <a:rPr lang="en-US" altLang="zh-CN" dirty="0" err="1">
                <a:latin typeface="Courier New" panose="02070309020205020404" charset="0"/>
                <a:ea typeface="宋体" panose="02010600030101010101" pitchFamily="2" charset="-122"/>
              </a:rPr>
              <a:t>bfind</a:t>
            </a:r>
            <a:r>
              <a:rPr lang="en-US" altLang="zh-CN" dirty="0">
                <a:latin typeface="Courier New" panose="02070309020205020404" charset="0"/>
                <a:ea typeface="宋体" panose="02010600030101010101" pitchFamily="2" charset="-122"/>
              </a:rPr>
              <a:t>(key, a, left, m);</a:t>
            </a:r>
            <a:endParaRPr lang="en-US" altLang="zh-CN" dirty="0">
              <a:latin typeface="Courier New" panose="02070309020205020404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dirty="0">
                <a:latin typeface="Courier New" panose="02070309020205020404" charset="0"/>
                <a:ea typeface="宋体" panose="02010600030101010101" pitchFamily="2" charset="-122"/>
              </a:rPr>
              <a:t>    else return </a:t>
            </a:r>
            <a:r>
              <a:rPr lang="en-US" altLang="zh-CN" dirty="0" err="1">
                <a:latin typeface="Courier New" panose="02070309020205020404" charset="0"/>
                <a:ea typeface="宋体" panose="02010600030101010101" pitchFamily="2" charset="-122"/>
              </a:rPr>
              <a:t>bfind</a:t>
            </a:r>
            <a:r>
              <a:rPr lang="en-US" altLang="zh-CN" dirty="0">
                <a:latin typeface="Courier New" panose="02070309020205020404" charset="0"/>
                <a:ea typeface="宋体" panose="02010600030101010101" pitchFamily="2" charset="-122"/>
              </a:rPr>
              <a:t>(key, a, m, right); </a:t>
            </a:r>
            <a:endParaRPr lang="en-US" altLang="zh-CN" dirty="0">
              <a:latin typeface="Courier New" panose="02070309020205020404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dirty="0">
                <a:latin typeface="Courier New" panose="02070309020205020404" charset="0"/>
                <a:ea typeface="宋体" panose="02010600030101010101" pitchFamily="2" charset="-122"/>
              </a:rPr>
              <a:t>}</a:t>
            </a:r>
            <a:endParaRPr lang="en-US" altLang="zh-CN" dirty="0">
              <a:latin typeface="Courier New" panose="02070309020205020404" charset="0"/>
              <a:ea typeface="宋体" panose="02010600030101010101" pitchFamily="2" charset="-122"/>
            </a:endParaRPr>
          </a:p>
        </p:txBody>
      </p:sp>
      <p:sp>
        <p:nvSpPr>
          <p:cNvPr id="8" name="Content Placeholder 2"/>
          <p:cNvSpPr txBox="1"/>
          <p:nvPr/>
        </p:nvSpPr>
        <p:spPr bwMode="auto">
          <a:xfrm>
            <a:off x="457200" y="3760440"/>
            <a:ext cx="4186808" cy="46064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/>
              <a:t>Algorithm 2: Binary search (</a:t>
            </a:r>
            <a:r>
              <a:rPr lang="en-US" altLang="zh-CN" dirty="0">
                <a:hlinkClick r:id="rId1"/>
              </a:rPr>
              <a:t>demo</a:t>
            </a:r>
            <a:r>
              <a:rPr lang="en-US" altLang="zh-CN" dirty="0"/>
              <a:t>)</a:t>
            </a:r>
            <a:endParaRPr lang="en-US" altLang="zh-CN" dirty="0"/>
          </a:p>
          <a:p>
            <a:pPr lvl="1"/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Empirical comparison</a:t>
            </a:r>
            <a:endParaRPr lang="zh-CN" altLang="en-US" dirty="0"/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369976" y="1417638"/>
            <a:ext cx="5867400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 dirty="0">
                <a:latin typeface="Courier New" panose="02070309020205020404" charset="0"/>
                <a:ea typeface="宋体" panose="02010600030101010101" pitchFamily="2" charset="-122"/>
              </a:rPr>
              <a:t>// create an array [0,1,2,</a:t>
            </a:r>
            <a:r>
              <a:rPr lang="is-IS" altLang="zh-CN" sz="2000" dirty="0">
                <a:latin typeface="Courier New" panose="02070309020205020404" charset="0"/>
                <a:ea typeface="宋体" panose="02010600030101010101" pitchFamily="2" charset="-122"/>
              </a:rPr>
              <a:t>…,n-1</a:t>
            </a:r>
            <a:r>
              <a:rPr lang="en-US" altLang="zh-CN" sz="2000" dirty="0">
                <a:latin typeface="Courier New" panose="02070309020205020404" charset="0"/>
                <a:ea typeface="宋体" panose="02010600030101010101" pitchFamily="2" charset="-122"/>
              </a:rPr>
              <a:t>]</a:t>
            </a:r>
            <a:endParaRPr lang="en-US" altLang="zh-CN" sz="2000" dirty="0">
              <a:latin typeface="Courier New" panose="02070309020205020404" charset="0"/>
              <a:ea typeface="宋体" panose="02010600030101010101" pitchFamily="2" charset="-122"/>
            </a:endParaRPr>
          </a:p>
          <a:p>
            <a:pPr eaLnBrk="0" hangingPunct="0">
              <a:spcBef>
                <a:spcPct val="50000"/>
              </a:spcBef>
            </a:pPr>
            <a:r>
              <a:rPr lang="en-US" altLang="zh-CN" sz="2000" dirty="0">
                <a:latin typeface="Courier New" panose="02070309020205020404" charset="0"/>
                <a:ea typeface="宋体" panose="02010600030101010101" pitchFamily="2" charset="-122"/>
              </a:rPr>
              <a:t>for (</a:t>
            </a:r>
            <a:r>
              <a:rPr lang="en-US" altLang="zh-CN" sz="2000" dirty="0" err="1">
                <a:latin typeface="Courier New" panose="02070309020205020404" charset="0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Courier New" panose="02070309020205020404" charset="0"/>
                <a:ea typeface="宋体" panose="02010600030101010101" pitchFamily="2" charset="-122"/>
              </a:rPr>
              <a:t>=0; </a:t>
            </a:r>
            <a:r>
              <a:rPr lang="en-US" altLang="zh-CN" sz="2000" dirty="0" err="1">
                <a:latin typeface="Courier New" panose="02070309020205020404" charset="0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Courier New" panose="02070309020205020404" charset="0"/>
                <a:ea typeface="宋体" panose="02010600030101010101" pitchFamily="2" charset="-122"/>
              </a:rPr>
              <a:t>&lt;n; </a:t>
            </a:r>
            <a:r>
              <a:rPr lang="en-US" altLang="zh-CN" sz="2000" dirty="0" err="1">
                <a:latin typeface="Courier New" panose="02070309020205020404" charset="0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Courier New" panose="02070309020205020404" charset="0"/>
                <a:ea typeface="宋体" panose="02010600030101010101" pitchFamily="2" charset="-122"/>
              </a:rPr>
              <a:t>++) a[</a:t>
            </a:r>
            <a:r>
              <a:rPr lang="en-US" altLang="zh-CN" sz="2000" dirty="0" err="1">
                <a:latin typeface="Courier New" panose="02070309020205020404" charset="0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Courier New" panose="02070309020205020404" charset="0"/>
                <a:ea typeface="宋体" panose="02010600030101010101" pitchFamily="2" charset="-122"/>
              </a:rPr>
              <a:t>] = </a:t>
            </a:r>
            <a:r>
              <a:rPr lang="en-US" altLang="zh-CN" sz="2000" dirty="0" err="1">
                <a:latin typeface="Courier New" panose="02070309020205020404" charset="0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Courier New" panose="02070309020205020404" charset="0"/>
                <a:ea typeface="宋体" panose="02010600030101010101" pitchFamily="2" charset="-122"/>
              </a:rPr>
              <a:t>;</a:t>
            </a:r>
            <a:endParaRPr lang="en-US" altLang="zh-CN" sz="2000" dirty="0">
              <a:latin typeface="Courier New" panose="02070309020205020404" charset="0"/>
              <a:ea typeface="宋体" panose="02010600030101010101" pitchFamily="2" charset="-122"/>
            </a:endParaRPr>
          </a:p>
          <a:p>
            <a:pPr eaLnBrk="0" hangingPunct="0">
              <a:spcBef>
                <a:spcPct val="50000"/>
              </a:spcBef>
            </a:pPr>
            <a:r>
              <a:rPr lang="en-US" altLang="zh-CN" sz="2000" dirty="0">
                <a:latin typeface="Courier New" panose="02070309020205020404" charset="0"/>
                <a:ea typeface="宋体" panose="02010600030101010101" pitchFamily="2" charset="-122"/>
              </a:rPr>
              <a:t>// search each item in the array</a:t>
            </a:r>
            <a:endParaRPr lang="en-US" altLang="zh-CN" sz="2000" dirty="0">
              <a:latin typeface="Courier New" panose="02070309020205020404" charset="0"/>
              <a:ea typeface="宋体" panose="02010600030101010101" pitchFamily="2" charset="-122"/>
            </a:endParaRPr>
          </a:p>
          <a:p>
            <a:pPr eaLnBrk="0" hangingPunct="0">
              <a:spcBef>
                <a:spcPct val="50000"/>
              </a:spcBef>
            </a:pPr>
            <a:r>
              <a:rPr lang="en-US" altLang="zh-CN" sz="2000" dirty="0">
                <a:latin typeface="Courier New" panose="02070309020205020404" charset="0"/>
                <a:ea typeface="宋体" panose="02010600030101010101" pitchFamily="2" charset="-122"/>
              </a:rPr>
              <a:t>for (</a:t>
            </a:r>
            <a:r>
              <a:rPr lang="en-US" altLang="zh-CN" sz="2000" dirty="0" err="1">
                <a:latin typeface="Courier New" panose="02070309020205020404" charset="0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Courier New" panose="02070309020205020404" charset="0"/>
                <a:ea typeface="宋体" panose="02010600030101010101" pitchFamily="2" charset="-122"/>
              </a:rPr>
              <a:t>=0; </a:t>
            </a:r>
            <a:r>
              <a:rPr lang="en-US" altLang="zh-CN" sz="2000" dirty="0" err="1">
                <a:latin typeface="Courier New" panose="02070309020205020404" charset="0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Courier New" panose="02070309020205020404" charset="0"/>
                <a:ea typeface="宋体" panose="02010600030101010101" pitchFamily="2" charset="-122"/>
              </a:rPr>
              <a:t>&lt;n; </a:t>
            </a:r>
            <a:r>
              <a:rPr lang="en-US" altLang="zh-CN" sz="2000" dirty="0" err="1">
                <a:latin typeface="Courier New" panose="02070309020205020404" charset="0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Courier New" panose="02070309020205020404" charset="0"/>
                <a:ea typeface="宋体" panose="02010600030101010101" pitchFamily="2" charset="-122"/>
              </a:rPr>
              <a:t>++) </a:t>
            </a:r>
            <a:r>
              <a:rPr lang="en-US" altLang="zh-CN" sz="2000" dirty="0" err="1">
                <a:latin typeface="Courier New" panose="02070309020205020404" charset="0"/>
                <a:ea typeface="宋体" panose="02010600030101010101" pitchFamily="2" charset="-122"/>
              </a:rPr>
              <a:t>lfind</a:t>
            </a:r>
            <a:r>
              <a:rPr lang="en-US" altLang="zh-CN" sz="2000" dirty="0">
                <a:latin typeface="Courier New" panose="02070309020205020404" charset="0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Courier New" panose="02070309020205020404" charset="0"/>
                <a:ea typeface="宋体" panose="02010600030101010101" pitchFamily="2" charset="-122"/>
              </a:rPr>
              <a:t>i,a,n</a:t>
            </a:r>
            <a:r>
              <a:rPr lang="en-US" altLang="zh-CN" sz="2000" dirty="0">
                <a:latin typeface="Courier New" panose="02070309020205020404" charset="0"/>
                <a:ea typeface="宋体" panose="02010600030101010101" pitchFamily="2" charset="-122"/>
              </a:rPr>
              <a:t>);</a:t>
            </a:r>
            <a:endParaRPr lang="en-US" altLang="zh-CN" sz="2000" dirty="0">
              <a:latin typeface="Courier New" panose="02070309020205020404" charset="0"/>
              <a:ea typeface="宋体" panose="02010600030101010101" pitchFamily="2" charset="-122"/>
            </a:endParaRPr>
          </a:p>
        </p:txBody>
      </p:sp>
      <p:sp>
        <p:nvSpPr>
          <p:cNvPr id="5" name="AutoShape 6"/>
          <p:cNvSpPr>
            <a:spLocks noChangeArrowheads="1"/>
          </p:cNvSpPr>
          <p:nvPr/>
        </p:nvSpPr>
        <p:spPr bwMode="auto">
          <a:xfrm>
            <a:off x="5796136" y="2820154"/>
            <a:ext cx="2663825" cy="765175"/>
          </a:xfrm>
          <a:prstGeom prst="wedgeRoundRectCallout">
            <a:avLst>
              <a:gd name="adj1" fmla="val -67162"/>
              <a:gd name="adj2" fmla="val 620"/>
              <a:gd name="adj3" fmla="val 16667"/>
            </a:avLst>
          </a:prstGeom>
          <a:noFill/>
          <a:ln w="1270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>
                <a:latin typeface="Courier New" panose="02070309020205020404" charset="0"/>
                <a:ea typeface="宋体" panose="02010600030101010101" pitchFamily="2" charset="-122"/>
              </a:rPr>
              <a:t>or</a:t>
            </a:r>
            <a:br>
              <a:rPr lang="en-US" altLang="zh-CN" sz="2000">
                <a:latin typeface="Courier New" panose="02070309020205020404" charset="0"/>
                <a:ea typeface="宋体" panose="02010600030101010101" pitchFamily="2" charset="-122"/>
              </a:rPr>
            </a:br>
            <a:r>
              <a:rPr lang="en-US" altLang="zh-CN" sz="2000">
                <a:latin typeface="Courier New" panose="02070309020205020404" charset="0"/>
                <a:ea typeface="宋体" panose="02010600030101010101" pitchFamily="2" charset="-122"/>
              </a:rPr>
              <a:t>bfind(i,a,-1,n)</a:t>
            </a:r>
            <a:endParaRPr lang="en-US" altLang="zh-CN" sz="2000">
              <a:latin typeface="Courier New" panose="020703090202050204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Empirical comparison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104452" name="Object 4"/>
          <p:cNvGraphicFramePr>
            <a:graphicFrameLocks noChangeAspect="1"/>
          </p:cNvGraphicFramePr>
          <p:nvPr/>
        </p:nvGraphicFramePr>
        <p:xfrm>
          <a:off x="336550" y="1981200"/>
          <a:ext cx="8807450" cy="449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Chart" r:id="rId1" imgW="6445885" imgH="2912745" progId="Excel.Chart.8">
                  <p:embed/>
                </p:oleObj>
              </mc:Choice>
              <mc:Fallback>
                <p:oleObj name="Chart" r:id="rId1" imgW="6445885" imgH="2912745" progId="Excel.Chart.8">
                  <p:embed/>
                  <p:pic>
                    <p:nvPicPr>
                      <p:cNvPr id="0" name="图片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3368" r="8420"/>
                      <a:stretch>
                        <a:fillRect/>
                      </a:stretch>
                    </p:blipFill>
                    <p:spPr bwMode="auto">
                      <a:xfrm>
                        <a:off x="336550" y="1981200"/>
                        <a:ext cx="8807450" cy="4498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Empirical comparison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105475" name="Object 3"/>
          <p:cNvGraphicFramePr>
            <a:graphicFrameLocks noChangeAspect="1"/>
          </p:cNvGraphicFramePr>
          <p:nvPr/>
        </p:nvGraphicFramePr>
        <p:xfrm>
          <a:off x="342900" y="1442800"/>
          <a:ext cx="8458200" cy="4846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Chart" r:id="rId1" imgW="6502400" imgH="3420745" progId="Excel.Chart.8">
                  <p:embed/>
                </p:oleObj>
              </mc:Choice>
              <mc:Fallback>
                <p:oleObj name="Chart" r:id="rId1" imgW="6502400" imgH="3420745" progId="Excel.Chart.8">
                  <p:embed/>
                  <p:pic>
                    <p:nvPicPr>
                      <p:cNvPr id="0" name="图片 20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8347"/>
                      <a:stretch>
                        <a:fillRect/>
                      </a:stretch>
                    </p:blipFill>
                    <p:spPr bwMode="auto">
                      <a:xfrm>
                        <a:off x="342900" y="1442800"/>
                        <a:ext cx="8458200" cy="4846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6499" name="Object 3"/>
          <p:cNvGraphicFramePr>
            <a:graphicFrameLocks noChangeAspect="1"/>
          </p:cNvGraphicFramePr>
          <p:nvPr/>
        </p:nvGraphicFramePr>
        <p:xfrm>
          <a:off x="228600" y="1172989"/>
          <a:ext cx="8915400" cy="564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Chart" r:id="rId1" imgW="6163945" imgH="3792855" progId="Excel.Chart.8">
                  <p:embed/>
                </p:oleObj>
              </mc:Choice>
              <mc:Fallback>
                <p:oleObj name="Chart" r:id="rId1" imgW="6163945" imgH="3792855" progId="Excel.Chart.8">
                  <p:embed/>
                  <p:pic>
                    <p:nvPicPr>
                      <p:cNvPr id="0" name="图片 30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12329"/>
                      <a:stretch>
                        <a:fillRect/>
                      </a:stretch>
                    </p:blipFill>
                    <p:spPr bwMode="auto">
                      <a:xfrm>
                        <a:off x="228600" y="1172989"/>
                        <a:ext cx="8915400" cy="5640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altLang="zh-CN" dirty="0"/>
              <a:t>Empirical comparison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00BC6-2006-894C-98AF-47BCCD9D404D}" type="slidenum">
              <a:rPr lang="en-US" altLang="en-US"/>
            </a:fld>
            <a:endParaRPr lang="en-US" altLang="en-US"/>
          </a:p>
        </p:txBody>
      </p:sp>
      <p:graphicFrame>
        <p:nvGraphicFramePr>
          <p:cNvPr id="108546" name="Object 2"/>
          <p:cNvGraphicFramePr>
            <a:graphicFrameLocks noChangeAspect="1"/>
          </p:cNvGraphicFramePr>
          <p:nvPr/>
        </p:nvGraphicFramePr>
        <p:xfrm>
          <a:off x="0" y="688975"/>
          <a:ext cx="9144000" cy="6169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" name="Chart" r:id="rId1" imgW="6174740" imgH="3804285" progId="Excel.Chart.8">
                  <p:embed/>
                </p:oleObj>
              </mc:Choice>
              <mc:Fallback>
                <p:oleObj name="Chart" r:id="rId1" imgW="6174740" imgH="3804285" progId="Excel.Chart.8">
                  <p:embed/>
                  <p:pic>
                    <p:nvPicPr>
                      <p:cNvPr id="0" name="图片 410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8791"/>
                      <a:stretch>
                        <a:fillRect/>
                      </a:stretch>
                    </p:blipFill>
                    <p:spPr bwMode="auto">
                      <a:xfrm>
                        <a:off x="0" y="688975"/>
                        <a:ext cx="9144000" cy="6169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8549" name="Group 5"/>
          <p:cNvGrpSpPr/>
          <p:nvPr/>
        </p:nvGrpSpPr>
        <p:grpSpPr bwMode="auto">
          <a:xfrm>
            <a:off x="4267200" y="1600200"/>
            <a:ext cx="4495800" cy="3048000"/>
            <a:chOff x="2688" y="1008"/>
            <a:chExt cx="2832" cy="1920"/>
          </a:xfrm>
        </p:grpSpPr>
        <p:sp>
          <p:nvSpPr>
            <p:cNvPr id="108547" name="AutoShape 3"/>
            <p:cNvSpPr>
              <a:spLocks noChangeArrowheads="1"/>
            </p:cNvSpPr>
            <p:nvPr/>
          </p:nvSpPr>
          <p:spPr bwMode="auto">
            <a:xfrm>
              <a:off x="2688" y="1008"/>
              <a:ext cx="1008" cy="384"/>
            </a:xfrm>
            <a:prstGeom prst="wedgeRectCallout">
              <a:avLst>
                <a:gd name="adj1" fmla="val 50894"/>
                <a:gd name="adj2" fmla="val 133856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eaLnBrk="0" hangingPunct="0"/>
              <a:r>
                <a:rPr lang="en-US" altLang="en-US"/>
                <a:t>slope </a:t>
              </a:r>
              <a:r>
                <a:rPr lang="en-US" altLang="en-US">
                  <a:sym typeface="Symbol" panose="05050102010706020507" charset="2"/>
                </a:rPr>
                <a:t></a:t>
              </a:r>
              <a:r>
                <a:rPr lang="en-US" altLang="en-US"/>
                <a:t> 2</a:t>
              </a:r>
              <a:endParaRPr lang="en-US" altLang="en-US"/>
            </a:p>
          </p:txBody>
        </p:sp>
        <p:sp>
          <p:nvSpPr>
            <p:cNvPr id="108548" name="AutoShape 4"/>
            <p:cNvSpPr>
              <a:spLocks noChangeArrowheads="1"/>
            </p:cNvSpPr>
            <p:nvPr/>
          </p:nvSpPr>
          <p:spPr bwMode="auto">
            <a:xfrm>
              <a:off x="4512" y="2544"/>
              <a:ext cx="1008" cy="384"/>
            </a:xfrm>
            <a:prstGeom prst="wedgeRectCallout">
              <a:avLst>
                <a:gd name="adj1" fmla="val -102681"/>
                <a:gd name="adj2" fmla="val -19792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eaLnBrk="0" hangingPunct="0"/>
              <a:r>
                <a:rPr lang="en-US" altLang="en-US"/>
                <a:t>slope </a:t>
              </a:r>
              <a:r>
                <a:rPr lang="en-US" altLang="en-US">
                  <a:sym typeface="Symbol" panose="05050102010706020507" charset="2"/>
                </a:rPr>
                <a:t></a:t>
              </a:r>
              <a:r>
                <a:rPr lang="en-US" altLang="en-US"/>
                <a:t> 1</a:t>
              </a:r>
              <a:endParaRPr lang="en-US" altLang="en-US"/>
            </a:p>
          </p:txBody>
        </p:sp>
      </p:grpSp>
      <p:sp>
        <p:nvSpPr>
          <p:cNvPr id="108550" name="Text Box 6"/>
          <p:cNvSpPr txBox="1">
            <a:spLocks noChangeArrowheads="1"/>
          </p:cNvSpPr>
          <p:nvPr/>
        </p:nvSpPr>
        <p:spPr bwMode="auto">
          <a:xfrm>
            <a:off x="288925" y="5527675"/>
            <a:ext cx="3294063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Recall: we search n times</a:t>
            </a:r>
            <a:br>
              <a:rPr lang="en-US" altLang="en-US"/>
            </a:br>
            <a:r>
              <a:rPr lang="en-US" altLang="en-US"/>
              <a:t>Linear = O(n</a:t>
            </a:r>
            <a:r>
              <a:rPr lang="en-US" altLang="en-US" baseline="30000"/>
              <a:t>2</a:t>
            </a:r>
            <a:r>
              <a:rPr lang="en-US" altLang="en-US"/>
              <a:t>)</a:t>
            </a:r>
            <a:endParaRPr lang="en-US" altLang="en-US"/>
          </a:p>
          <a:p>
            <a:r>
              <a:rPr lang="en-US" altLang="en-US"/>
              <a:t>Binary = O(n log n)</a:t>
            </a:r>
            <a:endParaRPr lang="en-US" altLang="en-US"/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zh-CN" dirty="0"/>
              <a:t>Empirical comparison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8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Analytical comparison</a:t>
            </a:r>
            <a:endParaRPr lang="zh-CN" alt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Linear search</a:t>
            </a:r>
            <a:endParaRPr lang="en-US" altLang="zh-CN" dirty="0"/>
          </a:p>
          <a:p>
            <a:pPr lvl="1"/>
            <a:r>
              <a:rPr lang="en-US" altLang="zh-CN" dirty="0"/>
              <a:t>O(</a:t>
            </a:r>
            <a:r>
              <a:rPr lang="en-US" altLang="zh-CN" i="1" dirty="0"/>
              <a:t>n</a:t>
            </a:r>
            <a:r>
              <a:rPr lang="en-US" altLang="zh-CN" dirty="0"/>
              <a:t>)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Binary search</a:t>
            </a:r>
            <a:endParaRPr lang="en-US" altLang="zh-CN" dirty="0"/>
          </a:p>
          <a:p>
            <a:pPr lvl="1"/>
            <a:r>
              <a:rPr lang="en-US" altLang="zh-CN" dirty="0"/>
              <a:t>O(log </a:t>
            </a:r>
            <a:r>
              <a:rPr lang="en-US" altLang="zh-CN" i="1" dirty="0"/>
              <a:t>n</a:t>
            </a:r>
            <a:r>
              <a:rPr lang="en-US" altLang="zh-CN" dirty="0"/>
              <a:t>)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So binary search is better than linear search</a:t>
            </a:r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Asymptotic Analysis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	In general, we will always analyze algorithms with respect to one or more variables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	We will begin with one variable: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The number of items </a:t>
            </a:r>
            <a:r>
              <a:rPr lang="en-US" i="1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currently stored in an array or other data structure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The number of items expected to be stored in an array or other data structure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The dimensions of an </a:t>
            </a:r>
            <a:r>
              <a:rPr lang="en-US" i="1">
                <a:latin typeface="Times New Roman" panose="02020603050405020304" pitchFamily="18" charset="0"/>
                <a:cs typeface="Arial" panose="020B0604020202020204" pitchFamily="34" charset="0"/>
              </a:rPr>
              <a:t>n </a:t>
            </a:r>
            <a:r>
              <a:rPr 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n-US"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i="1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matrix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	Examples with multiple variables: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Dealing with </a:t>
            </a:r>
            <a:r>
              <a:rPr lang="en-US" i="1">
                <a:latin typeface="Times New Roman" panose="02020603050405020304" pitchFamily="18" charset="0"/>
                <a:cs typeface="Arial" panose="020B0604020202020204" pitchFamily="34" charset="0"/>
              </a:rPr>
              <a:t>n 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objects stored in </a:t>
            </a:r>
            <a:r>
              <a:rPr lang="en-US" i="1">
                <a:latin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memory locations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Multiplying a </a:t>
            </a:r>
            <a:r>
              <a:rPr lang="en-US" i="1">
                <a:latin typeface="Times New Roman" panose="02020603050405020304" pitchFamily="18" charset="0"/>
                <a:cs typeface="Arial" panose="020B0604020202020204" pitchFamily="34" charset="0"/>
              </a:rPr>
              <a:t>k </a:t>
            </a:r>
            <a:r>
              <a:rPr 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n-US"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i="1">
                <a:latin typeface="Times New Roman" panose="02020603050405020304" pitchFamily="18" charset="0"/>
                <a:cs typeface="Arial" panose="020B0604020202020204" pitchFamily="34" charset="0"/>
              </a:rPr>
              <a:t>m 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and an </a:t>
            </a:r>
            <a:r>
              <a:rPr lang="en-US" i="1">
                <a:latin typeface="Times New Roman" panose="02020603050405020304" pitchFamily="18" charset="0"/>
                <a:cs typeface="Arial" panose="020B0604020202020204" pitchFamily="34" charset="0"/>
              </a:rPr>
              <a:t>m </a:t>
            </a:r>
            <a:r>
              <a:rPr 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n-US"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i="1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matrix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Dealing with sparse matrices of size </a:t>
            </a:r>
            <a:r>
              <a:rPr lang="en-US" i="1">
                <a:latin typeface="Times New Roman" panose="02020603050405020304" pitchFamily="18" charset="0"/>
                <a:cs typeface="Arial" panose="020B0604020202020204" pitchFamily="34" charset="0"/>
              </a:rPr>
              <a:t>n </a:t>
            </a:r>
            <a:r>
              <a:rPr 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n-US"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i="1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with </a:t>
            </a:r>
            <a:r>
              <a:rPr lang="en-US" i="1">
                <a:latin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non-zero entries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Asymptotic Analysis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Given an algorithm, we want to describe its computational cost mathematically and in a machine-independent way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For this, we need Landau symbols (a.k.a. Big-O notation) and the associated asymptotic analysis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</a:t>
            </a:r>
            <a:endParaRPr lang="en-US" dirty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Justification for analysis</a:t>
            </a:r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Landau symbols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altLang="zh-CN" dirty="0"/>
              <a:t>Run time of programs</a:t>
            </a:r>
            <a:endParaRPr lang="en-US" altLang="zh-CN" dirty="0"/>
          </a:p>
          <a:p>
            <a:r>
              <a:rPr lang="en-US" altLang="zh-CN" dirty="0"/>
              <a:t>Best-, worst-, and average-case</a:t>
            </a:r>
            <a:endParaRPr lang="en-US" altLang="zh-CN" dirty="0"/>
          </a:p>
          <a:p>
            <a:pPr lvl="1"/>
            <a:endParaRPr 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3789040"/>
            <a:ext cx="4248472" cy="285335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Quadratic Growth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	Consider the two functions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en-US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f(</a:t>
            </a:r>
            <a:r>
              <a:rPr lang="en-US" i="1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) = </a:t>
            </a:r>
            <a:r>
              <a:rPr lang="en-US" i="1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baseline="3000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>
                <a:solidFill>
                  <a:srgbClr val="3333CC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g(</a:t>
            </a:r>
            <a:r>
              <a:rPr lang="en-US" i="1">
                <a:solidFill>
                  <a:srgbClr val="3333CC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>
                <a:solidFill>
                  <a:srgbClr val="3333CC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) = </a:t>
            </a:r>
            <a:r>
              <a:rPr lang="en-US" i="1">
                <a:solidFill>
                  <a:srgbClr val="3333CC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baseline="30000">
                <a:solidFill>
                  <a:srgbClr val="3333CC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n-US">
                <a:solidFill>
                  <a:srgbClr val="3333CC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 – 3</a:t>
            </a:r>
            <a:r>
              <a:rPr lang="en-US" i="1">
                <a:solidFill>
                  <a:srgbClr val="3333CC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>
                <a:solidFill>
                  <a:srgbClr val="3333CC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 + 2</a:t>
            </a:r>
            <a:endParaRPr lang="en-US">
              <a:solidFill>
                <a:srgbClr val="3333CC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	Around </a:t>
            </a:r>
            <a:r>
              <a:rPr lang="en-US" i="1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>
                <a:latin typeface="Times New Roman" panose="02020603050405020304" pitchFamily="18" charset="0"/>
                <a:cs typeface="Arial" panose="020B0604020202020204" pitchFamily="34" charset="0"/>
              </a:rPr>
              <a:t> = 0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, they look very different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203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489304" y="2780928"/>
            <a:ext cx="6210300" cy="379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Quadratic Growth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Yet on the range 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 = [0, 1000]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they are (relatively) indistinguishable: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510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187624" y="2718800"/>
            <a:ext cx="6362700" cy="3867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Quadratic Growth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The absolute difference is large, for example,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		f(1000) = 1 000 000</a:t>
            </a:r>
            <a:endParaRPr 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		g(1000) =   997 002</a:t>
            </a:r>
            <a:endParaRPr 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but the relative difference is very small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and this difference goes to zero as 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∞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1619250" y="3141663"/>
          <a:ext cx="3960813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" name="Equation" r:id="rId1" imgW="2387600" imgH="457200" progId="Equation.3">
                  <p:embed/>
                </p:oleObj>
              </mc:Choice>
              <mc:Fallback>
                <p:oleObj name="Equation" r:id="rId1" imgW="2387600" imgH="457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3141663"/>
                        <a:ext cx="3960813" cy="758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13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259632" y="2996952"/>
            <a:ext cx="6381750" cy="34563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Polynomial Growth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To demonstrate with another example,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f(</a:t>
            </a: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) = </a:t>
            </a: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6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and    </a:t>
            </a:r>
            <a:r>
              <a:rPr lang="en-US" dirty="0">
                <a:solidFill>
                  <a:srgbClr val="3333CC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g(</a:t>
            </a:r>
            <a:r>
              <a:rPr lang="en-US" i="1" dirty="0">
                <a:solidFill>
                  <a:srgbClr val="3333CC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solidFill>
                  <a:srgbClr val="3333CC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) = </a:t>
            </a:r>
            <a:r>
              <a:rPr lang="en-US" i="1" dirty="0">
                <a:solidFill>
                  <a:srgbClr val="3333CC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baseline="30000" dirty="0">
                <a:solidFill>
                  <a:srgbClr val="3333CC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6</a:t>
            </a:r>
            <a:r>
              <a:rPr lang="en-US" dirty="0">
                <a:solidFill>
                  <a:srgbClr val="3333CC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 – 23</a:t>
            </a:r>
            <a:r>
              <a:rPr lang="en-US" i="1" dirty="0">
                <a:solidFill>
                  <a:srgbClr val="3333CC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baseline="30000" dirty="0">
                <a:solidFill>
                  <a:srgbClr val="3333CC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5</a:t>
            </a:r>
            <a:r>
              <a:rPr lang="en-US" dirty="0">
                <a:solidFill>
                  <a:srgbClr val="3333CC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+193</a:t>
            </a:r>
            <a:r>
              <a:rPr lang="en-US" i="1" dirty="0">
                <a:solidFill>
                  <a:srgbClr val="3333CC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baseline="30000" dirty="0">
                <a:solidFill>
                  <a:srgbClr val="3333CC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4</a:t>
            </a:r>
            <a:r>
              <a:rPr lang="en-US" dirty="0">
                <a:solidFill>
                  <a:srgbClr val="3333CC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 –729</a:t>
            </a:r>
            <a:r>
              <a:rPr lang="en-US" i="1" dirty="0">
                <a:solidFill>
                  <a:srgbClr val="3333CC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baseline="30000" dirty="0">
                <a:solidFill>
                  <a:srgbClr val="3333CC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3</a:t>
            </a:r>
            <a:r>
              <a:rPr lang="en-US" dirty="0">
                <a:solidFill>
                  <a:srgbClr val="3333CC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+1206</a:t>
            </a:r>
            <a:r>
              <a:rPr lang="en-US" i="1" dirty="0">
                <a:solidFill>
                  <a:srgbClr val="3333CC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baseline="30000" dirty="0">
                <a:solidFill>
                  <a:srgbClr val="3333CC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n-US" dirty="0">
                <a:solidFill>
                  <a:srgbClr val="3333CC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 – 648</a:t>
            </a:r>
            <a:r>
              <a:rPr lang="en-US" i="1" dirty="0">
                <a:solidFill>
                  <a:srgbClr val="3333CC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endParaRPr lang="en-US" dirty="0">
              <a:solidFill>
                <a:srgbClr val="3333CC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Around 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 = 0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they are very different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Polynomial Growth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Still, around 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 = 1000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the relative difference is less than 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3%</a:t>
            </a:r>
            <a:endParaRPr 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178178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160328" y="2650560"/>
            <a:ext cx="6353175" cy="3819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Polynomial Growth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The justification for both pairs of polynomials being similar is that, in both cases, they each had the same leading term: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Arial" panose="020B0604020202020204" pitchFamily="34" charset="0"/>
              <a:buNone/>
            </a:pP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	n</a:t>
            </a:r>
            <a:r>
              <a:rPr lang="en-US" baseline="30000" dirty="0">
                <a:latin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in the first case, 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baseline="30000" dirty="0">
                <a:latin typeface="Times New Roman" panose="02020603050405020304" pitchFamily="18" charset="0"/>
                <a:cs typeface="Arial" panose="020B0604020202020204" pitchFamily="34" charset="0"/>
              </a:rPr>
              <a:t>6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in the second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Arial" panose="020B0604020202020204" pitchFamily="34" charset="0"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What if the coefficients of the leading terms were different?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this case, both functions would exhibit the same rate of growth, however, one would always be </a:t>
            </a:r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proportionally larger</a:t>
            </a:r>
            <a:endParaRPr lang="en-US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However, if the two functions </a:t>
            </a:r>
            <a:r>
              <a:rPr lang="en-CA" altLang="zh-CN" dirty="0"/>
              <a:t>describe the run-time of two algorithms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can always run the slower algorithm on a faster computer to make them equally fast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In contrast: </a:t>
            </a:r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we make linear search equally fast to binary search by using a faster computer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(say, an </a:t>
            </a:r>
            <a:r>
              <a:rPr lang="en-US" altLang="zh-CN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Ultimate Laptop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1" indent="-34290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Weak ordering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3855" indent="-363855">
              <a:buNone/>
            </a:pPr>
            <a:r>
              <a:rPr lang="en-CA" dirty="0"/>
              <a:t>	Consider the following definitions:</a:t>
            </a:r>
            <a:endParaRPr lang="en-CA" dirty="0"/>
          </a:p>
          <a:p>
            <a:pPr lvl="1"/>
            <a:r>
              <a:rPr lang="en-CA" dirty="0"/>
              <a:t>We will consider two functions to be equivalent, </a:t>
            </a:r>
            <a:r>
              <a:rPr lang="en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~ </a:t>
            </a:r>
            <a:r>
              <a:rPr lang="en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CA" dirty="0"/>
              <a:t>, if</a:t>
            </a:r>
            <a:endParaRPr lang="en-CA" dirty="0"/>
          </a:p>
          <a:p>
            <a:pPr lvl="1"/>
            <a:endParaRPr lang="en-CA" dirty="0"/>
          </a:p>
          <a:p>
            <a:pPr marL="457200" lvl="1" indent="0">
              <a:buNone/>
            </a:pPr>
            <a:r>
              <a:rPr lang="en-CA" dirty="0"/>
              <a:t>				where</a:t>
            </a:r>
            <a:endParaRPr lang="en-CA" dirty="0"/>
          </a:p>
          <a:p>
            <a:pPr lvl="1"/>
            <a:endParaRPr lang="en-CA" dirty="0"/>
          </a:p>
          <a:p>
            <a:pPr lvl="1"/>
            <a:r>
              <a:rPr lang="en-CA" dirty="0"/>
              <a:t>We will state that </a:t>
            </a:r>
            <a:r>
              <a:rPr lang="en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</a:t>
            </a:r>
            <a:r>
              <a:rPr lang="en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CA" dirty="0"/>
              <a:t> if</a:t>
            </a:r>
            <a:endParaRPr lang="en-CA" dirty="0"/>
          </a:p>
          <a:p>
            <a:pPr lvl="1"/>
            <a:endParaRPr lang="en-CA" dirty="0"/>
          </a:p>
          <a:p>
            <a:pPr lvl="1"/>
            <a:endParaRPr lang="en-CA" dirty="0"/>
          </a:p>
          <a:p>
            <a:pPr marL="363855" indent="-363855">
              <a:buNone/>
            </a:pPr>
            <a:r>
              <a:rPr lang="en-CA" dirty="0"/>
              <a:t>	For functions we are interested in, these define a weak ordering</a:t>
            </a:r>
            <a:endParaRPr lang="en-CA" dirty="0"/>
          </a:p>
          <a:p>
            <a:pPr lvl="1"/>
            <a:endParaRPr lang="en-CA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4932040" y="2635864"/>
          <a:ext cx="1091828" cy="3125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5" name="Equation" r:id="rId1" imgW="621665" imgH="177800" progId="Equation.3">
                  <p:embed/>
                </p:oleObj>
              </mc:Choice>
              <mc:Fallback>
                <p:oleObj name="Equation" r:id="rId1" imgW="621665" imgH="177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040" y="2635864"/>
                        <a:ext cx="1091828" cy="3125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2830415" y="2488465"/>
          <a:ext cx="1314450" cy="712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6" name="Equation" r:id="rId3" imgW="17983200" imgH="9753600" progId="Equation.DSMT4">
                  <p:embed/>
                </p:oleObj>
              </mc:Choice>
              <mc:Fallback>
                <p:oleObj name="Equation" r:id="rId3" imgW="17983200" imgH="97536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0415" y="2488465"/>
                        <a:ext cx="1314450" cy="712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3779912" y="3152691"/>
          <a:ext cx="1314450" cy="712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7" name="Equation" r:id="rId5" imgW="17983200" imgH="9753600" progId="Equation.DSMT4">
                  <p:embed/>
                </p:oleObj>
              </mc:Choice>
              <mc:Fallback>
                <p:oleObj name="Equation" r:id="rId5" imgW="17983200" imgH="9753600" progId="Equation.DSMT4">
                  <p:embed/>
                  <p:pic>
                    <p:nvPicPr>
                      <p:cNvPr id="0" name="图片 61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912" y="3152691"/>
                        <a:ext cx="1314450" cy="712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Weak ordering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3855" indent="-363855">
              <a:buNone/>
            </a:pPr>
            <a:r>
              <a:rPr lang="en-CA" dirty="0"/>
              <a:t>	Let </a:t>
            </a:r>
            <a:r>
              <a:rPr lang="en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CA" dirty="0"/>
              <a:t> and </a:t>
            </a:r>
            <a:r>
              <a:rPr lang="en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CA" dirty="0"/>
              <a:t> describe the run-time of two algorithms</a:t>
            </a:r>
            <a:endParaRPr lang="en-CA" dirty="0"/>
          </a:p>
          <a:p>
            <a:pPr lvl="1"/>
            <a:r>
              <a:rPr lang="en-CA" dirty="0"/>
              <a:t>If </a:t>
            </a:r>
            <a:r>
              <a:rPr lang="en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~ </a:t>
            </a:r>
            <a:r>
              <a:rPr lang="en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CA" dirty="0"/>
              <a:t>, then it is </a:t>
            </a:r>
            <a:r>
              <a:rPr lang="en-CA" dirty="0">
                <a:solidFill>
                  <a:srgbClr val="FF0000"/>
                </a:solidFill>
              </a:rPr>
              <a:t>always possible </a:t>
            </a:r>
            <a:r>
              <a:rPr lang="en-CA" dirty="0"/>
              <a:t>to improve the performance of one function over the other by purchasing a faster computer</a:t>
            </a:r>
            <a:endParaRPr lang="en-CA" dirty="0"/>
          </a:p>
          <a:p>
            <a:pPr lvl="1"/>
            <a:r>
              <a:rPr lang="en-CA" dirty="0"/>
              <a:t>If </a:t>
            </a:r>
            <a:r>
              <a:rPr lang="en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&lt; </a:t>
            </a:r>
            <a:r>
              <a:rPr lang="en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CA" dirty="0"/>
              <a:t>, then you can </a:t>
            </a:r>
            <a:r>
              <a:rPr lang="en-CA" u="sng" dirty="0">
                <a:solidFill>
                  <a:srgbClr val="FF0000"/>
                </a:solidFill>
              </a:rPr>
              <a:t>never</a:t>
            </a:r>
            <a:r>
              <a:rPr lang="en-CA" dirty="0">
                <a:solidFill>
                  <a:srgbClr val="FF0000"/>
                </a:solidFill>
              </a:rPr>
              <a:t> </a:t>
            </a:r>
            <a:r>
              <a:rPr lang="en-CA" dirty="0"/>
              <a:t>purchase a computer fast enough so that the second function always runs in less time than the first</a:t>
            </a:r>
            <a:endParaRPr lang="en-CA" dirty="0"/>
          </a:p>
          <a:p>
            <a:pPr lvl="1"/>
            <a:endParaRPr lang="en-CA" dirty="0"/>
          </a:p>
          <a:p>
            <a:pPr marL="363855" indent="-363855">
              <a:buNone/>
            </a:pPr>
            <a:r>
              <a:rPr lang="en-CA" dirty="0"/>
              <a:t>	</a:t>
            </a:r>
            <a:endParaRPr lang="en-CA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Some Assumptions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We will make some assumptions: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Our functions will describe the time or memory required to solve a problem of size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are restricting ourselves to certain functions: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They are defined for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≥ 0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They are strictly positive for all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3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fact,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&gt;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for some value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 0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That is, any problem requires at least one instruction and byte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They are increasing (monotonic increasing)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Landau Symbols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	Better known as big O notation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A function 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f(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 = </a:t>
            </a:r>
            <a:r>
              <a:rPr 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O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(g(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if there exists 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k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c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such that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buFontTx/>
              <a:buNone/>
            </a:pP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f(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 &lt; 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c 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g(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</a:t>
            </a:r>
            <a:endParaRPr 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whenever 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 &gt; 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k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function 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f(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has a rate of growth no greater than that of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 g(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4076700"/>
            <a:ext cx="3810000" cy="27813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Landau Symbols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Another Landau symbol is </a:t>
            </a:r>
            <a:r>
              <a:rPr lang="en-US" b="1" dirty="0">
                <a:latin typeface="Symbol" panose="05050102010706020507" charset="2"/>
                <a:cs typeface="Arial" panose="020B0604020202020204" pitchFamily="34" charset="0"/>
              </a:rPr>
              <a:t>Q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A function 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f(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 = </a:t>
            </a:r>
            <a:r>
              <a:rPr lang="en-US" b="1" dirty="0">
                <a:latin typeface="Symbol" panose="05050102010706020507" charset="2"/>
                <a:cs typeface="Arial" panose="020B0604020202020204" pitchFamily="34" charset="0"/>
              </a:rPr>
              <a:t>Q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(g(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if there exist positive 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k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c</a:t>
            </a:r>
            <a:r>
              <a:rPr lang="en-US" baseline="-25000" dirty="0">
                <a:latin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such that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buFontTx/>
              <a:buNone/>
            </a:pP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c</a:t>
            </a:r>
            <a:r>
              <a:rPr lang="en-US" baseline="-25000" dirty="0">
                <a:latin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g(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 &lt; f(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 &lt; 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c</a:t>
            </a:r>
            <a:r>
              <a:rPr lang="en-US" baseline="-25000" dirty="0">
                <a:latin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g(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</a:t>
            </a:r>
            <a:endParaRPr 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whenever 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 &gt; 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k</a:t>
            </a:r>
            <a:endParaRPr 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function 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f(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has a rate of growth equal to that of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 g(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4077072"/>
            <a:ext cx="38100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Landau Symbols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5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If 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f(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g(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are polynomials of the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same degree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with positive leading coefficients: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				where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050" name="Object 2"/>
          <p:cNvGraphicFramePr>
            <a:graphicFrameLocks noChangeAspect="1"/>
          </p:cNvGraphicFramePr>
          <p:nvPr/>
        </p:nvGraphicFramePr>
        <p:xfrm>
          <a:off x="2268538" y="2415034"/>
          <a:ext cx="1714500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5" name="Equation" r:id="rId1" imgW="825500" imgH="419100" progId="Equation.3">
                  <p:embed/>
                </p:oleObj>
              </mc:Choice>
              <mc:Fallback>
                <p:oleObj name="Equation" r:id="rId1" imgW="825500" imgH="4191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2415034"/>
                        <a:ext cx="1714500" cy="869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3"/>
          <p:cNvGraphicFramePr>
            <a:graphicFrameLocks noChangeAspect="1"/>
          </p:cNvGraphicFramePr>
          <p:nvPr/>
        </p:nvGraphicFramePr>
        <p:xfrm>
          <a:off x="5137150" y="2622500"/>
          <a:ext cx="1292225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6" name="Equation" r:id="rId3" imgW="621665" imgH="177800" progId="Equation.3">
                  <p:embed/>
                </p:oleObj>
              </mc:Choice>
              <mc:Fallback>
                <p:oleObj name="Equation" r:id="rId3" imgW="621665" imgH="177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7150" y="2622500"/>
                        <a:ext cx="1292225" cy="369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457200" y="2935486"/>
            <a:ext cx="8229600" cy="258174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From the definition, this means given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 </a:t>
            </a:r>
            <a:r>
              <a:rPr lang="en-US" i="1" dirty="0">
                <a:latin typeface="Symbol" panose="05050102010706020507" charset="2"/>
                <a:cs typeface="Times New Roman" panose="02020603050405020304" pitchFamily="18" charset="0"/>
              </a:rPr>
              <a:t>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 0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there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exists a 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 0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such that                          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whenever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That is,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9" name="Object 2"/>
          <p:cNvGraphicFramePr>
            <a:graphicFrameLocks noChangeAspect="1"/>
          </p:cNvGraphicFramePr>
          <p:nvPr/>
        </p:nvGraphicFramePr>
        <p:xfrm>
          <a:off x="3708400" y="3783533"/>
          <a:ext cx="1665288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7" name="Equation" r:id="rId5" imgW="812165" imgH="457200" progId="Equation.3">
                  <p:embed/>
                </p:oleObj>
              </mc:Choice>
              <mc:Fallback>
                <p:oleObj name="Equation" r:id="rId5" imgW="812165" imgH="457200" progId="Equation.3">
                  <p:embed/>
                  <p:pic>
                    <p:nvPicPr>
                      <p:cNvPr id="0" name="图片 71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3783533"/>
                        <a:ext cx="1665288" cy="936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4"/>
          <p:cNvGraphicFramePr>
            <a:graphicFrameLocks noChangeAspect="1"/>
          </p:cNvGraphicFramePr>
          <p:nvPr/>
        </p:nvGraphicFramePr>
        <p:xfrm>
          <a:off x="2071688" y="4797152"/>
          <a:ext cx="2444750" cy="858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8" name="Equation" r:id="rId7" imgW="1193800" imgH="419100" progId="Equation.3">
                  <p:embed/>
                </p:oleObj>
              </mc:Choice>
              <mc:Fallback>
                <p:oleObj name="Equation" r:id="rId7" imgW="1193800" imgH="419100" progId="Equation.3">
                  <p:embed/>
                  <p:pic>
                    <p:nvPicPr>
                      <p:cNvPr id="0" name="图片 71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1688" y="4797152"/>
                        <a:ext cx="2444750" cy="8588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5"/>
          <p:cNvGraphicFramePr>
            <a:graphicFrameLocks noChangeAspect="1"/>
          </p:cNvGraphicFramePr>
          <p:nvPr/>
        </p:nvGraphicFramePr>
        <p:xfrm>
          <a:off x="1400175" y="5627414"/>
          <a:ext cx="379730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9" name="Equation" r:id="rId9" imgW="1853565" imgH="215900" progId="Equation.3">
                  <p:embed/>
                </p:oleObj>
              </mc:Choice>
              <mc:Fallback>
                <p:oleObj name="Equation" r:id="rId9" imgW="1853565" imgH="215900" progId="Equation.3">
                  <p:embed/>
                  <p:pic>
                    <p:nvPicPr>
                      <p:cNvPr id="0" name="图片 71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0175" y="5627414"/>
                        <a:ext cx="3797300" cy="442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Landau Symbols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0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    If                     where                , it follows that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f(</a:t>
            </a: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) = </a:t>
            </a:r>
            <a:r>
              <a:rPr lang="en-US" b="1" dirty="0">
                <a:solidFill>
                  <a:srgbClr val="FF0000"/>
                </a:solidFill>
                <a:latin typeface="Symbol" panose="05050102010706020507" charset="2"/>
                <a:cs typeface="Arial" panose="020B0604020202020204" pitchFamily="34" charset="0"/>
              </a:rPr>
              <a:t>Q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(g(</a:t>
            </a: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))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099" name="Object 3"/>
          <p:cNvGraphicFramePr>
            <a:graphicFrameLocks noChangeAspect="1"/>
          </p:cNvGraphicFramePr>
          <p:nvPr/>
        </p:nvGraphicFramePr>
        <p:xfrm>
          <a:off x="1428750" y="1484784"/>
          <a:ext cx="1285875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3" name="Equation" r:id="rId1" imgW="774065" imgH="419100" progId="Equation.3">
                  <p:embed/>
                </p:oleObj>
              </mc:Choice>
              <mc:Fallback>
                <p:oleObj name="Equation" r:id="rId1" imgW="774065" imgH="4191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50" y="1484784"/>
                        <a:ext cx="1285875" cy="695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0" name="Object 4"/>
          <p:cNvGraphicFramePr>
            <a:graphicFrameLocks noChangeAspect="1"/>
          </p:cNvGraphicFramePr>
          <p:nvPr/>
        </p:nvGraphicFramePr>
        <p:xfrm>
          <a:off x="3571875" y="1641947"/>
          <a:ext cx="1046163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4" name="Equation" r:id="rId3" imgW="621665" imgH="177800" progId="Equation.3">
                  <p:embed/>
                </p:oleObj>
              </mc:Choice>
              <mc:Fallback>
                <p:oleObj name="Equation" r:id="rId3" imgW="621665" imgH="177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875" y="1641947"/>
                        <a:ext cx="1046163" cy="298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2673350" y="2362671"/>
          <a:ext cx="379730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5" name="Equation" r:id="rId5" imgW="1853565" imgH="215900" progId="Equation.3">
                  <p:embed/>
                </p:oleObj>
              </mc:Choice>
              <mc:Fallback>
                <p:oleObj name="Equation" r:id="rId5" imgW="1853565" imgH="215900" progId="Equation.3">
                  <p:embed/>
                  <p:pic>
                    <p:nvPicPr>
                      <p:cNvPr id="0" name="图片 820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3350" y="2362671"/>
                        <a:ext cx="3797300" cy="442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3380172"/>
            <a:ext cx="38100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Landau Symbols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2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We have a similar definition for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    If                     where                , it follows that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f(</a:t>
            </a: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) =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O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(g(</a:t>
            </a: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))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There are other possibilities we would like to describe: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    If                    , we will say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f(</a:t>
            </a: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) =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o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(g(</a:t>
            </a: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))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function 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f(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has a rate of growth less than that of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 g(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</a:t>
            </a:r>
            <a:endParaRPr 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We would also like to describe the opposite cases: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function 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f(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has a rate of growth greater than that of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 g(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</a:t>
            </a:r>
            <a:endParaRPr 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function 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f(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has a rate of growth greater than or equal to that of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 g(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</a:t>
            </a:r>
            <a:endParaRPr 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122" name="Object 2"/>
          <p:cNvGraphicFramePr>
            <a:graphicFrameLocks noChangeAspect="1"/>
          </p:cNvGraphicFramePr>
          <p:nvPr/>
        </p:nvGraphicFramePr>
        <p:xfrm>
          <a:off x="1428750" y="1856805"/>
          <a:ext cx="1285875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7" name="Equation" r:id="rId1" imgW="774065" imgH="419100" progId="Equation.3">
                  <p:embed/>
                </p:oleObj>
              </mc:Choice>
              <mc:Fallback>
                <p:oleObj name="Equation" r:id="rId1" imgW="774065" imgH="4191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50" y="1856805"/>
                        <a:ext cx="1285875" cy="695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" name="Object 3"/>
          <p:cNvGraphicFramePr>
            <a:graphicFrameLocks noChangeAspect="1"/>
          </p:cNvGraphicFramePr>
          <p:nvPr/>
        </p:nvGraphicFramePr>
        <p:xfrm>
          <a:off x="3592513" y="2012380"/>
          <a:ext cx="1003300" cy="300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8" name="Equation" r:id="rId3" imgW="596900" imgH="177800" progId="Equation.3">
                  <p:embed/>
                </p:oleObj>
              </mc:Choice>
              <mc:Fallback>
                <p:oleObj name="Equation" r:id="rId3" imgW="596900" imgH="177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2513" y="2012380"/>
                        <a:ext cx="1003300" cy="3000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4" name="Object 4"/>
          <p:cNvGraphicFramePr>
            <a:graphicFrameLocks noChangeAspect="1"/>
          </p:cNvGraphicFramePr>
          <p:nvPr/>
        </p:nvGraphicFramePr>
        <p:xfrm>
          <a:off x="1428750" y="3309739"/>
          <a:ext cx="1285875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9" name="Equation" r:id="rId5" imgW="774065" imgH="419100" progId="Equation.3">
                  <p:embed/>
                </p:oleObj>
              </mc:Choice>
              <mc:Fallback>
                <p:oleObj name="Equation" r:id="rId5" imgW="774065" imgH="4191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50" y="3309739"/>
                        <a:ext cx="1285875" cy="695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6" name="Object 4"/>
          <p:cNvGraphicFramePr>
            <a:graphicFrameLocks noChangeAspect="1"/>
          </p:cNvGraphicFramePr>
          <p:nvPr/>
        </p:nvGraphicFramePr>
        <p:xfrm>
          <a:off x="1709738" y="3778250"/>
          <a:ext cx="2244725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2" name="Equation" r:id="rId1" imgW="939165" imgH="203200" progId="Equation.3">
                  <p:embed/>
                </p:oleObj>
              </mc:Choice>
              <mc:Fallback>
                <p:oleObj name="Equation" r:id="rId1" imgW="939165" imgH="203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9738" y="3778250"/>
                        <a:ext cx="2244725" cy="484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Landau Symbols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5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	We will at times use five possible descriptions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147" name="Object 2"/>
          <p:cNvGraphicFramePr>
            <a:graphicFrameLocks noChangeAspect="1"/>
          </p:cNvGraphicFramePr>
          <p:nvPr/>
        </p:nvGraphicFramePr>
        <p:xfrm>
          <a:off x="5154613" y="5368925"/>
          <a:ext cx="1644650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3" name="Equation" r:id="rId3" imgW="862965" imgH="419100" progId="Equation.3">
                  <p:embed/>
                </p:oleObj>
              </mc:Choice>
              <mc:Fallback>
                <p:oleObj name="Equation" r:id="rId3" imgW="862965" imgH="4191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4613" y="5368925"/>
                        <a:ext cx="1644650" cy="796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8" name="Object 3"/>
          <p:cNvGraphicFramePr>
            <a:graphicFrameLocks noChangeAspect="1"/>
          </p:cNvGraphicFramePr>
          <p:nvPr/>
        </p:nvGraphicFramePr>
        <p:xfrm>
          <a:off x="1701800" y="2093913"/>
          <a:ext cx="2124075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4" name="Equation" r:id="rId5" imgW="888365" imgH="203200" progId="Equation.3">
                  <p:embed/>
                </p:oleObj>
              </mc:Choice>
              <mc:Fallback>
                <p:oleObj name="Equation" r:id="rId5" imgW="888365" imgH="203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1800" y="2093913"/>
                        <a:ext cx="2124075" cy="485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9" name="Object 5"/>
          <p:cNvGraphicFramePr>
            <a:graphicFrameLocks noChangeAspect="1"/>
          </p:cNvGraphicFramePr>
          <p:nvPr/>
        </p:nvGraphicFramePr>
        <p:xfrm>
          <a:off x="1709738" y="5500688"/>
          <a:ext cx="2214562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5" name="Equation" r:id="rId7" imgW="926465" imgH="203200" progId="Equation.3">
                  <p:embed/>
                </p:oleObj>
              </mc:Choice>
              <mc:Fallback>
                <p:oleObj name="Equation" r:id="rId7" imgW="926465" imgH="203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9738" y="5500688"/>
                        <a:ext cx="2214562" cy="485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0" name="Object 6"/>
          <p:cNvGraphicFramePr>
            <a:graphicFrameLocks noChangeAspect="1"/>
          </p:cNvGraphicFramePr>
          <p:nvPr/>
        </p:nvGraphicFramePr>
        <p:xfrm>
          <a:off x="5164138" y="1951038"/>
          <a:ext cx="1571625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6" name="Equation" r:id="rId9" imgW="825500" imgH="419100" progId="Equation.3">
                  <p:embed/>
                </p:oleObj>
              </mc:Choice>
              <mc:Fallback>
                <p:oleObj name="Equation" r:id="rId9" imgW="825500" imgH="4191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4138" y="1951038"/>
                        <a:ext cx="1571625" cy="796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1" name="Object 7"/>
          <p:cNvGraphicFramePr>
            <a:graphicFrameLocks noChangeAspect="1"/>
          </p:cNvGraphicFramePr>
          <p:nvPr/>
        </p:nvGraphicFramePr>
        <p:xfrm>
          <a:off x="4724400" y="3654425"/>
          <a:ext cx="2079625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7" name="Equation" r:id="rId11" imgW="1091565" imgH="419100" progId="Equation.3">
                  <p:embed/>
                </p:oleObj>
              </mc:Choice>
              <mc:Fallback>
                <p:oleObj name="Equation" r:id="rId11" imgW="1091565" imgH="4191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3654425"/>
                        <a:ext cx="2079625" cy="796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2" name="Object 8"/>
          <p:cNvGraphicFramePr>
            <a:graphicFrameLocks noChangeAspect="1"/>
          </p:cNvGraphicFramePr>
          <p:nvPr/>
        </p:nvGraphicFramePr>
        <p:xfrm>
          <a:off x="5157788" y="4514850"/>
          <a:ext cx="1571625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8" name="Equation" r:id="rId13" imgW="825500" imgH="419100" progId="Equation.3">
                  <p:embed/>
                </p:oleObj>
              </mc:Choice>
              <mc:Fallback>
                <p:oleObj name="Equation" r:id="rId13" imgW="825500" imgH="4191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7788" y="4514850"/>
                        <a:ext cx="1571625" cy="796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3" name="Object 9"/>
          <p:cNvGraphicFramePr>
            <a:graphicFrameLocks noChangeAspect="1"/>
          </p:cNvGraphicFramePr>
          <p:nvPr/>
        </p:nvGraphicFramePr>
        <p:xfrm>
          <a:off x="1709738" y="2922588"/>
          <a:ext cx="2244725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9" name="Equation" r:id="rId15" imgW="939165" imgH="203200" progId="Equation.3">
                  <p:embed/>
                </p:oleObj>
              </mc:Choice>
              <mc:Fallback>
                <p:oleObj name="Equation" r:id="rId15" imgW="939165" imgH="2032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9738" y="2922588"/>
                        <a:ext cx="2244725" cy="485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4" name="Object 10"/>
          <p:cNvGraphicFramePr>
            <a:graphicFrameLocks noChangeAspect="1"/>
          </p:cNvGraphicFramePr>
          <p:nvPr/>
        </p:nvGraphicFramePr>
        <p:xfrm>
          <a:off x="1709738" y="4635500"/>
          <a:ext cx="2244725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0" name="Equation" r:id="rId17" imgW="939165" imgH="203200" progId="Equation.3">
                  <p:embed/>
                </p:oleObj>
              </mc:Choice>
              <mc:Fallback>
                <p:oleObj name="Equation" r:id="rId17" imgW="939165" imgH="2032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9738" y="4635500"/>
                        <a:ext cx="2244725" cy="484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5" name="Object 11"/>
          <p:cNvGraphicFramePr>
            <a:graphicFrameLocks noChangeAspect="1"/>
          </p:cNvGraphicFramePr>
          <p:nvPr/>
        </p:nvGraphicFramePr>
        <p:xfrm>
          <a:off x="5160963" y="2797175"/>
          <a:ext cx="1643062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1" name="Equation" r:id="rId19" imgW="862965" imgH="419100" progId="Equation.3">
                  <p:embed/>
                </p:oleObj>
              </mc:Choice>
              <mc:Fallback>
                <p:oleObj name="Equation" r:id="rId19" imgW="862965" imgH="4191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0963" y="2797175"/>
                        <a:ext cx="1643062" cy="796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4" descr="ff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344613" y="2133600"/>
            <a:ext cx="5449887" cy="1709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01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Landau Symbols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Graphically, we can summarize these as follows: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   We say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   if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Landau Symbols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For the functions we are interested in, it can be said that</a:t>
            </a:r>
            <a:endParaRPr 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buFont typeface="Arial" panose="020B0604020202020204" pitchFamily="34" charset="0"/>
              <a:buNone/>
            </a:pP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f(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 = </a:t>
            </a:r>
            <a:r>
              <a:rPr 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O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(g(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is equivalent to 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f(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 = </a:t>
            </a:r>
            <a:r>
              <a:rPr lang="en-US" b="1" dirty="0">
                <a:latin typeface="Symbol" panose="05050102010706020507" charset="2"/>
                <a:cs typeface="Arial" panose="020B0604020202020204" pitchFamily="34" charset="0"/>
              </a:rPr>
              <a:t>Q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(g(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or 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f(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 = </a:t>
            </a:r>
            <a:r>
              <a:rPr 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o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(g(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))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buFontTx/>
              <a:buNone/>
            </a:pP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f(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 = </a:t>
            </a:r>
            <a:r>
              <a:rPr lang="en-US" b="1" dirty="0">
                <a:latin typeface="Symbol" panose="05050102010706020507" charset="2"/>
                <a:cs typeface="Arial" panose="020B0604020202020204" pitchFamily="34" charset="0"/>
              </a:rPr>
              <a:t>W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(g(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is equivalent to 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f(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 = </a:t>
            </a:r>
            <a:r>
              <a:rPr lang="en-US" b="1" dirty="0">
                <a:latin typeface="Symbol" panose="05050102010706020507" charset="2"/>
                <a:cs typeface="Arial" panose="020B0604020202020204" pitchFamily="34" charset="0"/>
              </a:rPr>
              <a:t>Q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(g(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or 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f(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 = </a:t>
            </a:r>
            <a:r>
              <a:rPr lang="en-US" b="1" dirty="0">
                <a:latin typeface="Symbol" panose="05050102010706020507" charset="2"/>
                <a:cs typeface="Arial" panose="020B0604020202020204" pitchFamily="34" charset="0"/>
              </a:rPr>
              <a:t>w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(g(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))</a:t>
            </a:r>
            <a:endParaRPr 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Landau Symbols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	Some other observations we can make are: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Tx/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			</a:t>
            </a:r>
            <a:r>
              <a:rPr lang="en-US" sz="2000">
                <a:latin typeface="Times New Roman" panose="02020603050405020304" pitchFamily="18" charset="0"/>
                <a:cs typeface="Arial" panose="020B0604020202020204" pitchFamily="34" charset="0"/>
              </a:rPr>
              <a:t>f(</a:t>
            </a:r>
            <a:r>
              <a:rPr lang="en-US" sz="2000" i="1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sz="2000">
                <a:latin typeface="Times New Roman" panose="02020603050405020304" pitchFamily="18" charset="0"/>
                <a:cs typeface="Arial" panose="020B0604020202020204" pitchFamily="34" charset="0"/>
              </a:rPr>
              <a:t>) = </a:t>
            </a:r>
            <a:r>
              <a:rPr lang="en-US" sz="2000" b="1">
                <a:latin typeface="Symbol" panose="05050102010706020507" charset="2"/>
                <a:cs typeface="Arial" panose="020B0604020202020204" pitchFamily="34" charset="0"/>
              </a:rPr>
              <a:t>Q</a:t>
            </a:r>
            <a:r>
              <a:rPr lang="en-US" sz="2000">
                <a:latin typeface="Times New Roman" panose="02020603050405020304" pitchFamily="18" charset="0"/>
                <a:cs typeface="Arial" panose="020B0604020202020204" pitchFamily="34" charset="0"/>
              </a:rPr>
              <a:t>(g(</a:t>
            </a:r>
            <a:r>
              <a:rPr lang="en-US" sz="2000" i="1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sz="2000">
                <a:latin typeface="Times New Roman" panose="02020603050405020304" pitchFamily="18" charset="0"/>
                <a:cs typeface="Arial" panose="020B0604020202020204" pitchFamily="34" charset="0"/>
              </a:rPr>
              <a:t>))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⇔ </a:t>
            </a:r>
            <a:r>
              <a:rPr lang="en-US" sz="2000">
                <a:latin typeface="Times New Roman" panose="02020603050405020304" pitchFamily="18" charset="0"/>
                <a:cs typeface="Arial" panose="020B0604020202020204" pitchFamily="34" charset="0"/>
              </a:rPr>
              <a:t>g(</a:t>
            </a:r>
            <a:r>
              <a:rPr lang="en-US" sz="2000" i="1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sz="2000">
                <a:latin typeface="Times New Roman" panose="02020603050405020304" pitchFamily="18" charset="0"/>
                <a:cs typeface="Arial" panose="020B0604020202020204" pitchFamily="34" charset="0"/>
              </a:rPr>
              <a:t>) = </a:t>
            </a:r>
            <a:r>
              <a:rPr lang="en-US" sz="2000" b="1">
                <a:latin typeface="Symbol" panose="05050102010706020507" charset="2"/>
                <a:cs typeface="Arial" panose="020B0604020202020204" pitchFamily="34" charset="0"/>
              </a:rPr>
              <a:t>Q</a:t>
            </a:r>
            <a:r>
              <a:rPr lang="en-US" sz="2000">
                <a:latin typeface="Times New Roman" panose="02020603050405020304" pitchFamily="18" charset="0"/>
                <a:cs typeface="Arial" panose="020B0604020202020204" pitchFamily="34" charset="0"/>
              </a:rPr>
              <a:t>(f(</a:t>
            </a:r>
            <a:r>
              <a:rPr lang="en-US" sz="2000" i="1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sz="2000">
                <a:latin typeface="Times New Roman" panose="02020603050405020304" pitchFamily="18" charset="0"/>
                <a:cs typeface="Arial" panose="020B0604020202020204" pitchFamily="34" charset="0"/>
              </a:rPr>
              <a:t>))</a:t>
            </a:r>
            <a:endParaRPr lang="en-US" sz="200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lvl="1">
              <a:buFontTx/>
              <a:buNone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			</a:t>
            </a:r>
            <a:r>
              <a:rPr lang="en-US" sz="2000">
                <a:latin typeface="Times New Roman" panose="02020603050405020304" pitchFamily="18" charset="0"/>
                <a:cs typeface="Arial" panose="020B0604020202020204" pitchFamily="34" charset="0"/>
              </a:rPr>
              <a:t>f(</a:t>
            </a:r>
            <a:r>
              <a:rPr lang="en-US" sz="2000" i="1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sz="2000">
                <a:latin typeface="Times New Roman" panose="02020603050405020304" pitchFamily="18" charset="0"/>
                <a:cs typeface="Arial" panose="020B0604020202020204" pitchFamily="34" charset="0"/>
              </a:rPr>
              <a:t>) = </a:t>
            </a:r>
            <a:r>
              <a:rPr lang="en-US" sz="2000" b="1">
                <a:latin typeface="Times New Roman" panose="02020603050405020304" pitchFamily="18" charset="0"/>
                <a:cs typeface="Arial" panose="020B0604020202020204" pitchFamily="34" charset="0"/>
              </a:rPr>
              <a:t>O</a:t>
            </a:r>
            <a:r>
              <a:rPr lang="en-US" sz="2000">
                <a:latin typeface="Times New Roman" panose="02020603050405020304" pitchFamily="18" charset="0"/>
                <a:cs typeface="Arial" panose="020B0604020202020204" pitchFamily="34" charset="0"/>
              </a:rPr>
              <a:t>(g(</a:t>
            </a:r>
            <a:r>
              <a:rPr lang="en-US" sz="2000" i="1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sz="2000">
                <a:latin typeface="Times New Roman" panose="02020603050405020304" pitchFamily="18" charset="0"/>
                <a:cs typeface="Arial" panose="020B0604020202020204" pitchFamily="34" charset="0"/>
              </a:rPr>
              <a:t>))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⇔ </a:t>
            </a:r>
            <a:r>
              <a:rPr lang="en-US" sz="2000">
                <a:latin typeface="Times New Roman" panose="02020603050405020304" pitchFamily="18" charset="0"/>
                <a:cs typeface="Arial" panose="020B0604020202020204" pitchFamily="34" charset="0"/>
              </a:rPr>
              <a:t>g(</a:t>
            </a:r>
            <a:r>
              <a:rPr lang="en-US" sz="2000" i="1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sz="2000">
                <a:latin typeface="Times New Roman" panose="02020603050405020304" pitchFamily="18" charset="0"/>
                <a:cs typeface="Arial" panose="020B0604020202020204" pitchFamily="34" charset="0"/>
              </a:rPr>
              <a:t>) = </a:t>
            </a:r>
            <a:r>
              <a:rPr lang="en-US" sz="2000" b="1">
                <a:latin typeface="Symbol" panose="05050102010706020507" charset="2"/>
                <a:cs typeface="Arial" panose="020B0604020202020204" pitchFamily="34" charset="0"/>
              </a:rPr>
              <a:t>W</a:t>
            </a:r>
            <a:r>
              <a:rPr lang="en-US" sz="2000">
                <a:latin typeface="Times New Roman" panose="02020603050405020304" pitchFamily="18" charset="0"/>
                <a:cs typeface="Arial" panose="020B0604020202020204" pitchFamily="34" charset="0"/>
              </a:rPr>
              <a:t>(f(</a:t>
            </a:r>
            <a:r>
              <a:rPr lang="en-US" sz="2000" i="1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sz="2000">
                <a:latin typeface="Times New Roman" panose="02020603050405020304" pitchFamily="18" charset="0"/>
                <a:cs typeface="Arial" panose="020B0604020202020204" pitchFamily="34" charset="0"/>
              </a:rPr>
              <a:t>))</a:t>
            </a:r>
            <a:endParaRPr lang="en-US" sz="200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lvl="1">
              <a:buFontTx/>
              <a:buNone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			</a:t>
            </a:r>
            <a:r>
              <a:rPr lang="en-US" sz="2000">
                <a:latin typeface="Times New Roman" panose="02020603050405020304" pitchFamily="18" charset="0"/>
                <a:cs typeface="Arial" panose="020B0604020202020204" pitchFamily="34" charset="0"/>
              </a:rPr>
              <a:t>f(</a:t>
            </a:r>
            <a:r>
              <a:rPr lang="en-US" sz="2000" i="1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sz="2000">
                <a:latin typeface="Times New Roman" panose="02020603050405020304" pitchFamily="18" charset="0"/>
                <a:cs typeface="Arial" panose="020B0604020202020204" pitchFamily="34" charset="0"/>
              </a:rPr>
              <a:t>)  = </a:t>
            </a:r>
            <a:r>
              <a:rPr lang="en-US" sz="2000" b="1">
                <a:latin typeface="Times New Roman" panose="02020603050405020304" pitchFamily="18" charset="0"/>
                <a:cs typeface="Arial" panose="020B0604020202020204" pitchFamily="34" charset="0"/>
              </a:rPr>
              <a:t>o</a:t>
            </a:r>
            <a:r>
              <a:rPr lang="en-US" sz="2000">
                <a:latin typeface="Times New Roman" panose="02020603050405020304" pitchFamily="18" charset="0"/>
                <a:cs typeface="Arial" panose="020B0604020202020204" pitchFamily="34" charset="0"/>
              </a:rPr>
              <a:t>(g(</a:t>
            </a:r>
            <a:r>
              <a:rPr lang="en-US" sz="2000" i="1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sz="2000">
                <a:latin typeface="Times New Roman" panose="02020603050405020304" pitchFamily="18" charset="0"/>
                <a:cs typeface="Arial" panose="020B0604020202020204" pitchFamily="34" charset="0"/>
              </a:rPr>
              <a:t>))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 ⇔ </a:t>
            </a:r>
            <a:r>
              <a:rPr lang="en-US" sz="2000">
                <a:latin typeface="Times New Roman" panose="02020603050405020304" pitchFamily="18" charset="0"/>
                <a:cs typeface="Arial" panose="020B0604020202020204" pitchFamily="34" charset="0"/>
              </a:rPr>
              <a:t>g(</a:t>
            </a:r>
            <a:r>
              <a:rPr lang="en-US" sz="2000" i="1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sz="2000">
                <a:latin typeface="Times New Roman" panose="02020603050405020304" pitchFamily="18" charset="0"/>
                <a:cs typeface="Arial" panose="020B0604020202020204" pitchFamily="34" charset="0"/>
              </a:rPr>
              <a:t>) = </a:t>
            </a:r>
            <a:r>
              <a:rPr lang="en-US" sz="2000" b="1">
                <a:latin typeface="Symbol" panose="05050102010706020507" charset="2"/>
                <a:cs typeface="Arial" panose="020B0604020202020204" pitchFamily="34" charset="0"/>
              </a:rPr>
              <a:t>w</a:t>
            </a:r>
            <a:r>
              <a:rPr lang="en-US" sz="2000">
                <a:latin typeface="Times New Roman" panose="02020603050405020304" pitchFamily="18" charset="0"/>
                <a:cs typeface="Arial" panose="020B0604020202020204" pitchFamily="34" charset="0"/>
              </a:rPr>
              <a:t>(f(</a:t>
            </a:r>
            <a:r>
              <a:rPr lang="en-US" sz="2000" i="1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sz="2000">
                <a:latin typeface="Times New Roman" panose="02020603050405020304" pitchFamily="18" charset="0"/>
                <a:cs typeface="Arial" panose="020B0604020202020204" pitchFamily="34" charset="0"/>
              </a:rPr>
              <a:t>))</a:t>
            </a:r>
            <a:endParaRPr lang="en-US" sz="200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lvl="1">
              <a:buFontTx/>
              <a:buNone/>
            </a:pP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Big-</a:t>
            </a:r>
            <a:r>
              <a:rPr lang="en-US" b="1">
                <a:latin typeface="Symbol" panose="05050102010706020507" charset="2"/>
                <a:cs typeface="Arial" panose="020B0604020202020204" pitchFamily="34" charset="0"/>
              </a:rPr>
              <a:t>Q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as an Equivalence Relation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If we look at the first relationship, we notice that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f(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 = </a:t>
            </a:r>
            <a:r>
              <a:rPr lang="en-US" b="1" dirty="0">
                <a:latin typeface="Symbol" panose="05050102010706020507" charset="2"/>
                <a:cs typeface="Arial" panose="020B0604020202020204" pitchFamily="34" charset="0"/>
              </a:rPr>
              <a:t>Q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(g(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seems to describe an equivalence relation: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Tx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1.   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f(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 = </a:t>
            </a:r>
            <a:r>
              <a:rPr lang="en-US" b="1" dirty="0">
                <a:latin typeface="Symbol" panose="05050102010706020507" charset="2"/>
                <a:cs typeface="Arial" panose="020B0604020202020204" pitchFamily="34" charset="0"/>
              </a:rPr>
              <a:t>Q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(g(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if and only if 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g(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 = </a:t>
            </a:r>
            <a:r>
              <a:rPr lang="en-US" b="1" dirty="0">
                <a:latin typeface="Symbol" panose="05050102010706020507" charset="2"/>
                <a:cs typeface="Arial" panose="020B0604020202020204" pitchFamily="34" charset="0"/>
              </a:rPr>
              <a:t>Q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(f(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Tx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2.   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f(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 = </a:t>
            </a:r>
            <a:r>
              <a:rPr lang="en-US" b="1" dirty="0">
                <a:latin typeface="Symbol" panose="05050102010706020507" charset="2"/>
                <a:cs typeface="Arial" panose="020B0604020202020204" pitchFamily="34" charset="0"/>
              </a:rPr>
              <a:t>Q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(f(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Tx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3.   If 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f(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 = </a:t>
            </a:r>
            <a:r>
              <a:rPr lang="en-US" b="1" dirty="0">
                <a:latin typeface="Symbol" panose="05050102010706020507" charset="2"/>
                <a:cs typeface="Arial" panose="020B0604020202020204" pitchFamily="34" charset="0"/>
              </a:rPr>
              <a:t>Q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(g(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g(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 = </a:t>
            </a:r>
            <a:r>
              <a:rPr lang="en-US" b="1" dirty="0">
                <a:latin typeface="Symbol" panose="05050102010706020507" charset="2"/>
                <a:cs typeface="Arial" panose="020B0604020202020204" pitchFamily="34" charset="0"/>
              </a:rPr>
              <a:t>Q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(h(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it follows that 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f(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 = </a:t>
            </a:r>
            <a:r>
              <a:rPr lang="en-US" b="1" dirty="0">
                <a:latin typeface="Symbol" panose="05050102010706020507" charset="2"/>
                <a:cs typeface="Arial" panose="020B0604020202020204" pitchFamily="34" charset="0"/>
              </a:rPr>
              <a:t>Q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(h(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))</a:t>
            </a:r>
            <a:endParaRPr 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Consequently, we can group all functions into equivalence classes, where all functions within one class are big-theta </a:t>
            </a:r>
            <a:r>
              <a:rPr lang="en-US" b="1" dirty="0">
                <a:latin typeface="Symbol" panose="05050102010706020507" charset="2"/>
                <a:cs typeface="Arial" panose="020B0604020202020204" pitchFamily="34" charset="0"/>
              </a:rPr>
              <a:t>Q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of each other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Big-</a:t>
            </a:r>
            <a:r>
              <a:rPr lang="en-US" b="1">
                <a:latin typeface="Symbol" panose="05050102010706020507" charset="2"/>
                <a:cs typeface="Arial" panose="020B0604020202020204" pitchFamily="34" charset="0"/>
              </a:rPr>
              <a:t>Q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as an Equivalence Relation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For example, all of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buFontTx/>
              <a:buNone/>
            </a:pP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baseline="30000" dirty="0">
                <a:latin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            100000 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baseline="30000" dirty="0">
                <a:latin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 – 4 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 + 19             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baseline="30000" dirty="0">
                <a:latin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 + 1000000</a:t>
            </a:r>
            <a:endParaRPr 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buFontTx/>
              <a:buNone/>
            </a:pP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 323 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baseline="30000" dirty="0">
                <a:latin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 – 4 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 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ln(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 + 43 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 + 10                     42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baseline="30000" dirty="0">
                <a:latin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 + 32</a:t>
            </a:r>
            <a:endParaRPr 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buFontTx/>
              <a:buNone/>
            </a:pP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baseline="30000" dirty="0">
                <a:latin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 + 61 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 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ln</a:t>
            </a:r>
            <a:r>
              <a:rPr lang="en-US" baseline="30000" dirty="0">
                <a:latin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 + 7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 + 14 ln</a:t>
            </a:r>
            <a:r>
              <a:rPr lang="en-US" baseline="30000" dirty="0">
                <a:latin typeface="Times New Roman" panose="02020603050405020304" pitchFamily="18" charset="0"/>
                <a:cs typeface="Arial" panose="020B0604020202020204" pitchFamily="34" charset="0"/>
              </a:rPr>
              <a:t>3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 + ln(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</a:t>
            </a:r>
            <a:endParaRPr 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 big-</a:t>
            </a:r>
            <a:r>
              <a:rPr lang="en-US" b="1" dirty="0">
                <a:solidFill>
                  <a:srgbClr val="FF0000"/>
                </a:solidFill>
                <a:latin typeface="Symbol" panose="05050102010706020507" charset="2"/>
                <a:cs typeface="Arial" panose="020B0604020202020204" pitchFamily="34" charset="0"/>
              </a:rPr>
              <a:t>Q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each other</a:t>
            </a: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	E.g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., 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42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baseline="30000" dirty="0">
                <a:latin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 + 32 = </a:t>
            </a:r>
            <a:r>
              <a:rPr lang="en-US" b="1" dirty="0">
                <a:latin typeface="Symbol" panose="05050102010706020507" charset="2"/>
                <a:cs typeface="Arial" panose="020B0604020202020204" pitchFamily="34" charset="0"/>
              </a:rPr>
              <a:t>Q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( 323 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baseline="30000" dirty="0">
                <a:latin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 – 4 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 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ln(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 + 43 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 + 10 )</a:t>
            </a:r>
            <a:endParaRPr 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Big-</a:t>
            </a:r>
            <a:r>
              <a:rPr lang="en-US" b="1">
                <a:latin typeface="Symbol" panose="05050102010706020507" charset="2"/>
                <a:cs typeface="Arial" panose="020B0604020202020204" pitchFamily="34" charset="0"/>
              </a:rPr>
              <a:t>Q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as an Equivalence Relation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We will select just one element to represent the entire class of these functions:  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baseline="30000" dirty="0">
                <a:latin typeface="Times New Roman" panose="02020603050405020304" pitchFamily="18" charset="0"/>
                <a:cs typeface="Arial" panose="020B0604020202020204" pitchFamily="34" charset="0"/>
              </a:rPr>
              <a:t>2</a:t>
            </a:r>
            <a:endParaRPr lang="en-US" baseline="30000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could choose any function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but this is the simplest</a:t>
            </a:r>
            <a:endParaRPr 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Big-</a:t>
            </a:r>
            <a:r>
              <a:rPr lang="en-US" b="1" dirty="0">
                <a:latin typeface="Symbol" panose="05050102010706020507" charset="2"/>
                <a:cs typeface="Arial" panose="020B0604020202020204" pitchFamily="34" charset="0"/>
              </a:rPr>
              <a:t>Q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as an Equivalence Relation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The most common classes are given names: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	 </a:t>
            </a:r>
            <a:r>
              <a:rPr lang="en-US" b="1" dirty="0">
                <a:latin typeface="Symbol" panose="05050102010706020507" charset="2"/>
                <a:cs typeface="Arial" panose="020B0604020202020204" pitchFamily="34" charset="0"/>
              </a:rPr>
              <a:t>Q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(1)			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constant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	 </a:t>
            </a:r>
            <a:r>
              <a:rPr lang="en-US" b="1" dirty="0">
                <a:latin typeface="Symbol" panose="05050102010706020507" charset="2"/>
                <a:cs typeface="Arial" panose="020B0604020202020204" pitchFamily="34" charset="0"/>
              </a:rPr>
              <a:t>Q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(ln(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))		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logarithmic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	 </a:t>
            </a:r>
            <a:r>
              <a:rPr lang="en-US" b="1" dirty="0">
                <a:latin typeface="Symbol" panose="05050102010706020507" charset="2"/>
                <a:cs typeface="Arial" panose="020B0604020202020204" pitchFamily="34" charset="0"/>
              </a:rPr>
              <a:t>Q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			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linear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	 </a:t>
            </a:r>
            <a:r>
              <a:rPr lang="en-US" b="1" dirty="0">
                <a:latin typeface="Symbol" panose="05050102010706020507" charset="2"/>
                <a:cs typeface="Arial" panose="020B0604020202020204" pitchFamily="34" charset="0"/>
              </a:rPr>
              <a:t>Q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 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ln(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))		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log 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	 </a:t>
            </a:r>
            <a:r>
              <a:rPr lang="en-US" b="1" dirty="0">
                <a:latin typeface="Symbol" panose="05050102010706020507" charset="2"/>
                <a:cs typeface="Arial" panose="020B0604020202020204" pitchFamily="34" charset="0"/>
              </a:rPr>
              <a:t>Q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baseline="30000" dirty="0">
                <a:latin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			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quadratic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	 </a:t>
            </a:r>
            <a:r>
              <a:rPr lang="en-US" b="1" dirty="0">
                <a:latin typeface="Symbol" panose="05050102010706020507" charset="2"/>
                <a:cs typeface="Arial" panose="020B0604020202020204" pitchFamily="34" charset="0"/>
              </a:rPr>
              <a:t>Q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baseline="30000" dirty="0">
                <a:latin typeface="Times New Roman" panose="02020603050405020304" pitchFamily="18" charset="0"/>
                <a:cs typeface="Arial" panose="020B0604020202020204" pitchFamily="34" charset="0"/>
              </a:rPr>
              <a:t>3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			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cubic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	 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n-US" i="1" baseline="30000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i="1" dirty="0" err="1">
                <a:latin typeface="Times New Roman" panose="02020603050405020304" pitchFamily="18" charset="0"/>
                <a:cs typeface="Arial" panose="020B0604020202020204" pitchFamily="34" charset="0"/>
              </a:rPr>
              <a:t>e</a:t>
            </a:r>
            <a:r>
              <a:rPr lang="en-US" i="1" baseline="30000" dirty="0" err="1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4</a:t>
            </a:r>
            <a:r>
              <a:rPr lang="en-US" i="1" baseline="30000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, ...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		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exponential</a:t>
            </a:r>
            <a:endParaRPr lang="en-US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Empirical comparison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01" y="1600200"/>
            <a:ext cx="8995798" cy="396044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Empirical comparison plot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475656" y="1556792"/>
            <a:ext cx="6331983" cy="4861287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60648"/>
            <a:ext cx="8229600" cy="1143000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Logarithms and Exponentials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Recall that all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logarithms are scalar multiples of each other</a:t>
            </a: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Therefore </a:t>
            </a:r>
            <a:r>
              <a:rPr lang="en-US" dirty="0" err="1">
                <a:latin typeface="Times New Roman" panose="02020603050405020304" pitchFamily="18" charset="0"/>
                <a:cs typeface="Arial" panose="020B0604020202020204" pitchFamily="34" charset="0"/>
              </a:rPr>
              <a:t>log</a:t>
            </a:r>
            <a:r>
              <a:rPr lang="en-US" i="1" baseline="-25000" dirty="0" err="1">
                <a:latin typeface="Times New Roman" panose="02020603050405020304" pitchFamily="18" charset="0"/>
                <a:cs typeface="Arial" panose="020B0604020202020204" pitchFamily="34" charset="0"/>
              </a:rPr>
              <a:t>b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)= </a:t>
            </a:r>
            <a:r>
              <a:rPr lang="en-US" b="1" dirty="0">
                <a:latin typeface="Symbol" panose="05050102010706020507" charset="2"/>
                <a:cs typeface="Arial" panose="020B0604020202020204" pitchFamily="34" charset="0"/>
              </a:rPr>
              <a:t>Q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(ln(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))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 any base 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b</a:t>
            </a:r>
            <a:endParaRPr 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On the other hand, there is no single equivalence class for exponential functions: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&lt;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b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Therefore </a:t>
            </a:r>
            <a:r>
              <a:rPr lang="en-US" i="1" dirty="0">
                <a:solidFill>
                  <a:srgbClr val="C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a</a:t>
            </a:r>
            <a:r>
              <a:rPr lang="en-US" i="1" baseline="30000" dirty="0">
                <a:solidFill>
                  <a:srgbClr val="C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 = 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o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i="1" dirty="0" err="1">
                <a:solidFill>
                  <a:srgbClr val="C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b</a:t>
            </a:r>
            <a:r>
              <a:rPr lang="en-US" i="1" baseline="30000" dirty="0" err="1">
                <a:solidFill>
                  <a:srgbClr val="C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)</a:t>
            </a:r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But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any exponentially growing function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is almost universally undesirable to have!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170" name="Object 2"/>
          <p:cNvGraphicFramePr>
            <a:graphicFrameLocks noChangeAspect="1"/>
          </p:cNvGraphicFramePr>
          <p:nvPr/>
        </p:nvGraphicFramePr>
        <p:xfrm>
          <a:off x="2443733" y="3474720"/>
          <a:ext cx="2200275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9" name="Equation" r:id="rId1" imgW="1447800" imgH="469900" progId="Equation.3">
                  <p:embed/>
                </p:oleObj>
              </mc:Choice>
              <mc:Fallback>
                <p:oleObj name="Equation" r:id="rId1" imgW="1447800" imgH="4699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3733" y="3474720"/>
                        <a:ext cx="2200275" cy="714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Logarithms and Exponentials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Plotting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n-US" i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i="1" dirty="0" err="1">
                <a:solidFill>
                  <a:srgbClr val="0070C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e</a:t>
            </a:r>
            <a:r>
              <a:rPr lang="en-US" i="1" baseline="30000" dirty="0" err="1">
                <a:solidFill>
                  <a:srgbClr val="0070C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4</a:t>
            </a:r>
            <a:r>
              <a:rPr lang="en-US" i="1" baseline="30000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on the range 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[1, 10]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already shows how significantly different the functions grow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Note: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Tx/>
              <a:buNone/>
            </a:pP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n-US" baseline="30000" dirty="0">
                <a:latin typeface="Times New Roman" panose="02020603050405020304" pitchFamily="18" charset="0"/>
                <a:cs typeface="Arial" panose="020B0604020202020204" pitchFamily="34" charset="0"/>
              </a:rPr>
              <a:t>10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 =         1024</a:t>
            </a:r>
            <a:endParaRPr 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lvl="1">
              <a:buFontTx/>
              <a:buNone/>
            </a:pP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e</a:t>
            </a:r>
            <a:r>
              <a:rPr lang="en-US" baseline="30000" dirty="0">
                <a:latin typeface="Times New Roman" panose="02020603050405020304" pitchFamily="18" charset="0"/>
                <a:cs typeface="Arial" panose="020B0604020202020204" pitchFamily="34" charset="0"/>
              </a:rPr>
              <a:t>10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 ≈      22 026</a:t>
            </a:r>
            <a:endParaRPr 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lvl="1">
              <a:buFontTx/>
              <a:buNone/>
            </a:pP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4</a:t>
            </a:r>
            <a:r>
              <a:rPr lang="en-US" baseline="30000" dirty="0">
                <a:latin typeface="Times New Roman" panose="02020603050405020304" pitchFamily="18" charset="0"/>
                <a:cs typeface="Arial" panose="020B0604020202020204" pitchFamily="34" charset="0"/>
              </a:rPr>
              <a:t>10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 = 1 048 576</a:t>
            </a:r>
            <a:endParaRPr 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18637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419872" y="2636912"/>
            <a:ext cx="4467225" cy="380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Little-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as a Weak Ordering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We can show that, for example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ln( 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 ) = </a:t>
            </a:r>
            <a:r>
              <a:rPr 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o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 n</a:t>
            </a:r>
            <a:r>
              <a:rPr lang="en-US" i="1" baseline="30000" dirty="0">
                <a:latin typeface="Times New Roman" panose="02020603050405020304" pitchFamily="18" charset="0"/>
                <a:cs typeface="Arial" panose="020B0604020202020204" pitchFamily="34" charset="0"/>
              </a:rPr>
              <a:t>p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 )</a:t>
            </a:r>
            <a:endParaRPr 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for any 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p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 &gt; 0</a:t>
            </a:r>
            <a:endParaRPr 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Proof:  Using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l’Hôpital’s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rule, we have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Conversely, 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1 = </a:t>
            </a:r>
            <a:r>
              <a:rPr 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o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(ln( 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 ))</a:t>
            </a:r>
            <a:endParaRPr 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8194" name="Object 2"/>
          <p:cNvGraphicFramePr>
            <a:graphicFrameLocks noChangeAspect="1"/>
          </p:cNvGraphicFramePr>
          <p:nvPr/>
        </p:nvGraphicFramePr>
        <p:xfrm>
          <a:off x="1987550" y="3212976"/>
          <a:ext cx="5091113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3" name="Equation" r:id="rId1" imgW="2908300" imgH="419100" progId="Equation.3">
                  <p:embed/>
                </p:oleObj>
              </mc:Choice>
              <mc:Fallback>
                <p:oleObj name="Equation" r:id="rId1" imgW="2908300" imgH="4191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7550" y="3212976"/>
                        <a:ext cx="5091113" cy="733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Little-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as a Weak Ordering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7347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Font typeface="Arial" panose="020B0604020202020204" pitchFamily="34" charset="0"/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	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If </a:t>
                </a:r>
                <a:r>
                  <a:rPr lang="en-US" i="1" dirty="0">
                    <a:latin typeface="Times New Roman" panose="02020603050405020304" pitchFamily="18" charset="0"/>
                    <a:cs typeface="Arial" panose="020B0604020202020204" pitchFamily="34" charset="0"/>
                  </a:rPr>
                  <a:t>p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:r>
                  <a:rPr lang="en-US" i="1" dirty="0">
                    <a:latin typeface="Times New Roman" panose="02020603050405020304" pitchFamily="18" charset="0"/>
                    <a:cs typeface="Arial" panose="020B0604020202020204" pitchFamily="34" charset="0"/>
                  </a:rPr>
                  <a:t>q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are real positive numbers where </a:t>
                </a:r>
                <a:r>
                  <a:rPr lang="en-US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rPr>
                  <a:t>p</a:t>
                </a:r>
                <a:r>
                  <a:rPr lang="en-US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rPr>
                  <a:t> &lt; </a:t>
                </a:r>
                <a:r>
                  <a:rPr lang="en-US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rPr>
                  <a:t>q</a:t>
                </a:r>
                <a:endPara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/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It follows that  </a:t>
                </a:r>
                <a:r>
                  <a:rPr lang="en-US" sz="2000" i="1" dirty="0">
                    <a:latin typeface="Times New Roman" panose="02020603050405020304" pitchFamily="18" charset="0"/>
                    <a:cs typeface="Arial" panose="020B0604020202020204" pitchFamily="34" charset="0"/>
                  </a:rPr>
                  <a:t>n</a:t>
                </a:r>
                <a:r>
                  <a:rPr lang="en-US" sz="2000" i="1" baseline="30000" dirty="0">
                    <a:latin typeface="Times New Roman" panose="02020603050405020304" pitchFamily="18" charset="0"/>
                    <a:cs typeface="Arial" panose="020B0604020202020204" pitchFamily="34" charset="0"/>
                  </a:rPr>
                  <a:t>p</a:t>
                </a:r>
                <a:r>
                  <a:rPr lang="en-US" sz="2000" dirty="0">
                    <a:latin typeface="Times New Roman" panose="02020603050405020304" pitchFamily="18" charset="0"/>
                    <a:cs typeface="Arial" panose="020B0604020202020204" pitchFamily="34" charset="0"/>
                  </a:rPr>
                  <a:t> = </a:t>
                </a:r>
                <a:r>
                  <a:rPr lang="en-US" sz="2000" b="1" dirty="0">
                    <a:latin typeface="Times New Roman" panose="02020603050405020304" pitchFamily="18" charset="0"/>
                    <a:cs typeface="Arial" panose="020B0604020202020204" pitchFamily="34" charset="0"/>
                  </a:rPr>
                  <a:t>o</a:t>
                </a:r>
                <a:r>
                  <a:rPr lang="en-US" sz="2000" dirty="0">
                    <a:latin typeface="Times New Roman" panose="02020603050405020304" pitchFamily="18" charset="0"/>
                    <a:cs typeface="Arial" panose="020B0604020202020204" pitchFamily="34" charset="0"/>
                  </a:rPr>
                  <a:t>(</a:t>
                </a:r>
                <a:r>
                  <a:rPr lang="en-US" sz="2000" i="1" dirty="0">
                    <a:latin typeface="Times New Roman" panose="02020603050405020304" pitchFamily="18" charset="0"/>
                    <a:cs typeface="Arial" panose="020B0604020202020204" pitchFamily="34" charset="0"/>
                  </a:rPr>
                  <a:t>n</a:t>
                </a:r>
                <a:r>
                  <a:rPr lang="en-US" sz="2000" i="1" baseline="30000" dirty="0">
                    <a:latin typeface="Times New Roman" panose="02020603050405020304" pitchFamily="18" charset="0"/>
                    <a:cs typeface="Arial" panose="020B0604020202020204" pitchFamily="34" charset="0"/>
                  </a:rPr>
                  <a:t>q</a:t>
                </a:r>
                <a:r>
                  <a:rPr lang="en-US" sz="2000" dirty="0">
                    <a:latin typeface="Times New Roman" panose="02020603050405020304" pitchFamily="18" charset="0"/>
                    <a:cs typeface="Arial" panose="020B0604020202020204" pitchFamily="34" charset="0"/>
                  </a:rPr>
                  <a:t>)</a:t>
                </a:r>
                <a:endParaRPr lang="en-US" sz="2000" dirty="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  <a:p>
                <a:pPr lvl="1"/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For example, matrix-matrix multiplication is </a:t>
                </a:r>
                <a:r>
                  <a:rPr lang="en-US" sz="2000" b="1" dirty="0">
                    <a:latin typeface="Symbol" panose="05050102010706020507" charset="2"/>
                    <a:cs typeface="Arial" panose="020B0604020202020204" pitchFamily="34" charset="0"/>
                  </a:rPr>
                  <a:t>Q</a:t>
                </a:r>
                <a:r>
                  <a:rPr lang="en-US" sz="2000" dirty="0">
                    <a:latin typeface="Times New Roman" panose="02020603050405020304" pitchFamily="18" charset="0"/>
                    <a:cs typeface="Arial" panose="020B0604020202020204" pitchFamily="34" charset="0"/>
                  </a:rPr>
                  <a:t>(</a:t>
                </a:r>
                <a:r>
                  <a:rPr lang="en-US" sz="2000" i="1" dirty="0">
                    <a:latin typeface="Times New Roman" panose="02020603050405020304" pitchFamily="18" charset="0"/>
                    <a:cs typeface="Arial" panose="020B0604020202020204" pitchFamily="34" charset="0"/>
                  </a:rPr>
                  <a:t>n</a:t>
                </a:r>
                <a:r>
                  <a:rPr lang="en-US" sz="2000" baseline="30000" dirty="0">
                    <a:latin typeface="Times New Roman" panose="02020603050405020304" pitchFamily="18" charset="0"/>
                    <a:cs typeface="Arial" panose="020B0604020202020204" pitchFamily="34" charset="0"/>
                  </a:rPr>
                  <a:t>3</a:t>
                </a:r>
                <a:r>
                  <a:rPr lang="en-US" sz="2000" dirty="0">
                    <a:latin typeface="Times New Roman" panose="02020603050405020304" pitchFamily="18" charset="0"/>
                    <a:cs typeface="Arial" panose="020B0604020202020204" pitchFamily="34" charset="0"/>
                  </a:rPr>
                  <a:t>)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but a refined algorithm is </a:t>
                </a:r>
                <a:r>
                  <a:rPr lang="en-US" sz="2000" b="1" dirty="0">
                    <a:latin typeface="Symbol" panose="05050102010706020507" charset="2"/>
                    <a:cs typeface="Arial" panose="020B0604020202020204" pitchFamily="34" charset="0"/>
                  </a:rPr>
                  <a:t>Q</a:t>
                </a:r>
                <a:r>
                  <a:rPr lang="en-US" sz="2000" dirty="0">
                    <a:latin typeface="Times New Roman" panose="02020603050405020304" pitchFamily="18" charset="0"/>
                    <a:cs typeface="Arial" panose="020B0604020202020204" pitchFamily="34" charset="0"/>
                  </a:rPr>
                  <a:t>(</a:t>
                </a:r>
                <a:r>
                  <a:rPr lang="en-US" sz="2000" i="1" dirty="0" err="1">
                    <a:latin typeface="Times New Roman" panose="02020603050405020304" pitchFamily="18" charset="0"/>
                    <a:cs typeface="Arial" panose="020B0604020202020204" pitchFamily="34" charset="0"/>
                  </a:rPr>
                  <a:t>n</a:t>
                </a:r>
                <a:r>
                  <a:rPr lang="en-US" sz="2000" baseline="30000" dirty="0" err="1">
                    <a:latin typeface="Times New Roman" panose="02020603050405020304" pitchFamily="18" charset="0"/>
                    <a:cs typeface="Arial" panose="020B0604020202020204" pitchFamily="34" charset="0"/>
                  </a:rPr>
                  <a:t>lg</a:t>
                </a:r>
                <a:r>
                  <a:rPr lang="en-US" sz="2000" baseline="30000" dirty="0">
                    <a:latin typeface="Times New Roman" panose="02020603050405020304" pitchFamily="18" charset="0"/>
                    <a:cs typeface="Arial" panose="020B0604020202020204" pitchFamily="34" charset="0"/>
                  </a:rPr>
                  <a:t>(7)</a:t>
                </a:r>
                <a:r>
                  <a:rPr lang="en-US" sz="2000" dirty="0">
                    <a:latin typeface="Times New Roman" panose="02020603050405020304" pitchFamily="18" charset="0"/>
                    <a:cs typeface="Arial" panose="020B0604020202020204" pitchFamily="34" charset="0"/>
                  </a:rPr>
                  <a:t>)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where </a:t>
                </a:r>
                <a:r>
                  <a:rPr lang="en-US" sz="2000" dirty="0" err="1">
                    <a:latin typeface="Times New Roman" panose="02020603050405020304" pitchFamily="18" charset="0"/>
                    <a:cs typeface="Arial" panose="020B0604020202020204" pitchFamily="34" charset="0"/>
                  </a:rPr>
                  <a:t>lg</a:t>
                </a:r>
                <a:r>
                  <a:rPr lang="en-US" sz="2000" dirty="0">
                    <a:latin typeface="Times New Roman" panose="02020603050405020304" pitchFamily="18" charset="0"/>
                    <a:cs typeface="Arial" panose="020B0604020202020204" pitchFamily="34" charset="0"/>
                  </a:rPr>
                  <a:t>(7) ≈  2.81</a:t>
                </a:r>
                <a:endParaRPr lang="en-US" sz="2000" baseline="30000" dirty="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  <a:p>
                <a:pPr lvl="1"/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/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Also, </a:t>
                </a:r>
                <a:r>
                  <a:rPr lang="en-US" sz="2000" i="1" dirty="0">
                    <a:latin typeface="Times New Roman" panose="02020603050405020304" pitchFamily="18" charset="0"/>
                    <a:cs typeface="Arial" panose="020B0604020202020204" pitchFamily="34" charset="0"/>
                  </a:rPr>
                  <a:t>n</a:t>
                </a:r>
                <a:r>
                  <a:rPr lang="en-US" sz="2000" i="1" baseline="30000" dirty="0">
                    <a:latin typeface="Times New Roman" panose="02020603050405020304" pitchFamily="18" charset="0"/>
                    <a:cs typeface="Arial" panose="020B0604020202020204" pitchFamily="34" charset="0"/>
                  </a:rPr>
                  <a:t>p</a:t>
                </a:r>
                <a:r>
                  <a:rPr lang="en-US" sz="2000" dirty="0">
                    <a:latin typeface="Times New Roman" panose="02020603050405020304" pitchFamily="18" charset="0"/>
                    <a:cs typeface="Arial" panose="020B0604020202020204" pitchFamily="34" charset="0"/>
                  </a:rPr>
                  <a:t> = </a:t>
                </a:r>
                <a:r>
                  <a:rPr lang="en-US" sz="2000" b="1" dirty="0">
                    <a:latin typeface="Times New Roman" panose="02020603050405020304" pitchFamily="18" charset="0"/>
                    <a:cs typeface="Arial" panose="020B0604020202020204" pitchFamily="34" charset="0"/>
                  </a:rPr>
                  <a:t>o</a:t>
                </a:r>
                <a:r>
                  <a:rPr lang="en-US" sz="2000" dirty="0">
                    <a:latin typeface="Times New Roman" panose="02020603050405020304" pitchFamily="18" charset="0"/>
                    <a:cs typeface="Arial" panose="020B0604020202020204" pitchFamily="34" charset="0"/>
                  </a:rPr>
                  <a:t>(ln(</a:t>
                </a:r>
                <a:r>
                  <a:rPr lang="en-US" sz="2000" i="1" dirty="0">
                    <a:latin typeface="Times New Roman" panose="02020603050405020304" pitchFamily="18" charset="0"/>
                    <a:cs typeface="Arial" panose="020B0604020202020204" pitchFamily="34" charset="0"/>
                  </a:rPr>
                  <a:t>n</a:t>
                </a:r>
                <a:r>
                  <a:rPr lang="en-US" sz="2000" dirty="0">
                    <a:latin typeface="Times New Roman" panose="02020603050405020304" pitchFamily="18" charset="0"/>
                    <a:cs typeface="Arial" panose="020B0604020202020204" pitchFamily="34" charset="0"/>
                  </a:rPr>
                  <a:t>)</a:t>
                </a:r>
                <a:r>
                  <a:rPr lang="en-US" sz="2000" i="1" dirty="0">
                    <a:latin typeface="Times New Roman" panose="02020603050405020304" pitchFamily="18" charset="0"/>
                    <a:cs typeface="Arial" panose="020B0604020202020204" pitchFamily="34" charset="0"/>
                  </a:rPr>
                  <a:t>n</a:t>
                </a:r>
                <a:r>
                  <a:rPr lang="en-US" sz="2000" i="1" baseline="30000" dirty="0">
                    <a:latin typeface="Times New Roman" panose="02020603050405020304" pitchFamily="18" charset="0"/>
                    <a:cs typeface="Arial" panose="020B0604020202020204" pitchFamily="34" charset="0"/>
                  </a:rPr>
                  <a:t>p</a:t>
                </a:r>
                <a:r>
                  <a:rPr lang="en-US" sz="2000" dirty="0">
                    <a:latin typeface="Times New Roman" panose="02020603050405020304" pitchFamily="18" charset="0"/>
                    <a:cs typeface="Arial" panose="020B0604020202020204" pitchFamily="34" charset="0"/>
                  </a:rPr>
                  <a:t>)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, but </a:t>
                </a:r>
                <a:r>
                  <a:rPr lang="en-US" sz="2000" dirty="0">
                    <a:latin typeface="Times New Roman" panose="02020603050405020304" pitchFamily="18" charset="0"/>
                    <a:cs typeface="Arial" panose="020B0604020202020204" pitchFamily="34" charset="0"/>
                  </a:rPr>
                  <a:t>ln(</a:t>
                </a:r>
                <a:r>
                  <a:rPr lang="en-US" sz="2000" i="1" dirty="0">
                    <a:latin typeface="Times New Roman" panose="02020603050405020304" pitchFamily="18" charset="0"/>
                    <a:cs typeface="Arial" panose="020B0604020202020204" pitchFamily="34" charset="0"/>
                  </a:rPr>
                  <a:t>n</a:t>
                </a:r>
                <a:r>
                  <a:rPr lang="en-US" sz="2000" dirty="0">
                    <a:latin typeface="Times New Roman" panose="02020603050405020304" pitchFamily="18" charset="0"/>
                    <a:cs typeface="Arial" panose="020B0604020202020204" pitchFamily="34" charset="0"/>
                  </a:rPr>
                  <a:t>)</a:t>
                </a:r>
                <a:r>
                  <a:rPr lang="en-US" sz="2000" i="1" dirty="0">
                    <a:latin typeface="Times New Roman" panose="02020603050405020304" pitchFamily="18" charset="0"/>
                    <a:cs typeface="Arial" panose="020B0604020202020204" pitchFamily="34" charset="0"/>
                  </a:rPr>
                  <a:t>n</a:t>
                </a:r>
                <a:r>
                  <a:rPr lang="en-US" sz="2000" i="1" baseline="30000" dirty="0">
                    <a:latin typeface="Times New Roman" panose="02020603050405020304" pitchFamily="18" charset="0"/>
                    <a:cs typeface="Arial" panose="020B0604020202020204" pitchFamily="34" charset="0"/>
                  </a:rPr>
                  <a:t>p</a:t>
                </a:r>
                <a:r>
                  <a:rPr lang="en-US" sz="2000" dirty="0">
                    <a:latin typeface="Times New Roman" panose="02020603050405020304" pitchFamily="18" charset="0"/>
                    <a:cs typeface="Arial" panose="020B0604020202020204" pitchFamily="34" charset="0"/>
                  </a:rPr>
                  <a:t> = </a:t>
                </a:r>
                <a:r>
                  <a:rPr lang="en-US" sz="2000" b="1" dirty="0">
                    <a:latin typeface="Times New Roman" panose="02020603050405020304" pitchFamily="18" charset="0"/>
                    <a:cs typeface="Arial" panose="020B0604020202020204" pitchFamily="34" charset="0"/>
                  </a:rPr>
                  <a:t>o</a:t>
                </a:r>
                <a:r>
                  <a:rPr lang="en-US" sz="2000" dirty="0">
                    <a:latin typeface="Times New Roman" panose="02020603050405020304" pitchFamily="18" charset="0"/>
                    <a:cs typeface="Arial" panose="020B0604020202020204" pitchFamily="34" charset="0"/>
                  </a:rPr>
                  <a:t>(</a:t>
                </a:r>
                <a:r>
                  <a:rPr lang="en-US" sz="2000" i="1" dirty="0">
                    <a:latin typeface="Times New Roman" panose="02020603050405020304" pitchFamily="18" charset="0"/>
                    <a:cs typeface="Arial" panose="020B0604020202020204" pitchFamily="34" charset="0"/>
                  </a:rPr>
                  <a:t>n</a:t>
                </a:r>
                <a:r>
                  <a:rPr lang="en-US" sz="2000" i="1" baseline="30000" dirty="0">
                    <a:latin typeface="Times New Roman" panose="02020603050405020304" pitchFamily="18" charset="0"/>
                    <a:cs typeface="Arial" panose="020B0604020202020204" pitchFamily="34" charset="0"/>
                  </a:rPr>
                  <a:t>q</a:t>
                </a:r>
                <a:r>
                  <a:rPr lang="en-US" sz="2000" dirty="0">
                    <a:latin typeface="Times New Roman" panose="02020603050405020304" pitchFamily="18" charset="0"/>
                    <a:cs typeface="Arial" panose="020B0604020202020204" pitchFamily="34" charset="0"/>
                  </a:rPr>
                  <a:t>)</a:t>
                </a: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2"/>
                <a:r>
                  <a:rPr lang="en-US" sz="1800" i="1" dirty="0">
                    <a:latin typeface="Times New Roman" panose="02020603050405020304" pitchFamily="18" charset="0"/>
                    <a:cs typeface="Arial" panose="020B0604020202020204" pitchFamily="34" charset="0"/>
                  </a:rPr>
                  <a:t>n</a:t>
                </a:r>
                <a:r>
                  <a:rPr lang="en-US" sz="1800" i="1" baseline="30000" dirty="0">
                    <a:latin typeface="Times New Roman" panose="02020603050405020304" pitchFamily="18" charset="0"/>
                    <a:cs typeface="Arial" panose="020B0604020202020204" pitchFamily="34" charset="0"/>
                  </a:rPr>
                  <a:t>p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 has a slower rate of growth than </a:t>
                </a:r>
                <a:r>
                  <a:rPr lang="en-US" sz="1800" dirty="0">
                    <a:latin typeface="Times New Roman" panose="02020603050405020304" pitchFamily="18" charset="0"/>
                    <a:cs typeface="Arial" panose="020B0604020202020204" pitchFamily="34" charset="0"/>
                  </a:rPr>
                  <a:t>ln(</a:t>
                </a:r>
                <a:r>
                  <a:rPr lang="en-US" sz="1800" i="1" dirty="0">
                    <a:latin typeface="Times New Roman" panose="02020603050405020304" pitchFamily="18" charset="0"/>
                    <a:cs typeface="Arial" panose="020B0604020202020204" pitchFamily="34" charset="0"/>
                  </a:rPr>
                  <a:t>n</a:t>
                </a:r>
                <a:r>
                  <a:rPr lang="en-US" sz="1800" dirty="0">
                    <a:latin typeface="Times New Roman" panose="02020603050405020304" pitchFamily="18" charset="0"/>
                    <a:cs typeface="Arial" panose="020B0604020202020204" pitchFamily="34" charset="0"/>
                  </a:rPr>
                  <a:t>)</a:t>
                </a:r>
                <a:r>
                  <a:rPr lang="en-US" sz="1800" i="1" dirty="0">
                    <a:latin typeface="Times New Roman" panose="02020603050405020304" pitchFamily="18" charset="0"/>
                    <a:cs typeface="Arial" panose="020B0604020202020204" pitchFamily="34" charset="0"/>
                  </a:rPr>
                  <a:t>n</a:t>
                </a:r>
                <a:r>
                  <a:rPr lang="en-US" sz="1800" i="1" baseline="30000" dirty="0">
                    <a:latin typeface="Times New Roman" panose="02020603050405020304" pitchFamily="18" charset="0"/>
                    <a:cs typeface="Arial" panose="020B0604020202020204" pitchFamily="34" charset="0"/>
                  </a:rPr>
                  <a:t>p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, but</a:t>
                </a: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2"/>
                <a:r>
                  <a:rPr lang="en-US" sz="1800" dirty="0">
                    <a:latin typeface="Times New Roman" panose="02020603050405020304" pitchFamily="18" charset="0"/>
                    <a:cs typeface="Arial" panose="020B0604020202020204" pitchFamily="34" charset="0"/>
                  </a:rPr>
                  <a:t>ln(</a:t>
                </a:r>
                <a:r>
                  <a:rPr lang="en-US" sz="1800" i="1" dirty="0">
                    <a:latin typeface="Times New Roman" panose="02020603050405020304" pitchFamily="18" charset="0"/>
                    <a:cs typeface="Arial" panose="020B0604020202020204" pitchFamily="34" charset="0"/>
                  </a:rPr>
                  <a:t>n</a:t>
                </a:r>
                <a:r>
                  <a:rPr lang="en-US" sz="1800" dirty="0">
                    <a:latin typeface="Times New Roman" panose="02020603050405020304" pitchFamily="18" charset="0"/>
                    <a:cs typeface="Arial" panose="020B0604020202020204" pitchFamily="34" charset="0"/>
                  </a:rPr>
                  <a:t>)</a:t>
                </a:r>
                <a:r>
                  <a:rPr lang="en-US" sz="1800" i="1" dirty="0">
                    <a:latin typeface="Times New Roman" panose="02020603050405020304" pitchFamily="18" charset="0"/>
                    <a:cs typeface="Arial" panose="020B0604020202020204" pitchFamily="34" charset="0"/>
                  </a:rPr>
                  <a:t>n</a:t>
                </a:r>
                <a:r>
                  <a:rPr lang="en-US" sz="1800" i="1" baseline="30000" dirty="0">
                    <a:latin typeface="Times New Roman" panose="02020603050405020304" pitchFamily="18" charset="0"/>
                    <a:cs typeface="Arial" panose="020B0604020202020204" pitchFamily="34" charset="0"/>
                  </a:rPr>
                  <a:t>p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 has a slower rate of growth than </a:t>
                </a:r>
                <a:r>
                  <a:rPr lang="en-US" sz="1800" i="1" dirty="0">
                    <a:latin typeface="Times New Roman" panose="02020603050405020304" pitchFamily="18" charset="0"/>
                    <a:cs typeface="Arial" panose="020B0604020202020204" pitchFamily="34" charset="0"/>
                  </a:rPr>
                  <a:t>n</a:t>
                </a:r>
                <a:r>
                  <a:rPr lang="en-US" sz="1800" i="1" baseline="30000" dirty="0">
                    <a:latin typeface="Times New Roman" panose="02020603050405020304" pitchFamily="18" charset="0"/>
                    <a:cs typeface="Arial" panose="020B0604020202020204" pitchFamily="34" charset="0"/>
                  </a:rPr>
                  <a:t>q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 for </a:t>
                </a:r>
                <a:r>
                  <a:rPr lang="en-US" sz="1800" i="1" dirty="0">
                    <a:latin typeface="Times New Roman" panose="02020603050405020304" pitchFamily="18" charset="0"/>
                    <a:cs typeface="Arial" panose="020B0604020202020204" pitchFamily="34" charset="0"/>
                  </a:rPr>
                  <a:t>p</a:t>
                </a:r>
                <a:r>
                  <a:rPr lang="en-US" sz="1800" dirty="0">
                    <a:latin typeface="Times New Roman" panose="02020603050405020304" pitchFamily="18" charset="0"/>
                    <a:cs typeface="Arial" panose="020B0604020202020204" pitchFamily="34" charset="0"/>
                  </a:rPr>
                  <a:t> &lt; </a:t>
                </a:r>
                <a:r>
                  <a:rPr lang="en-US" sz="1800" i="1" dirty="0">
                    <a:latin typeface="Times New Roman" panose="02020603050405020304" pitchFamily="18" charset="0"/>
                    <a:cs typeface="Arial" panose="020B0604020202020204" pitchFamily="34" charset="0"/>
                  </a:rPr>
                  <a:t>q</a:t>
                </a:r>
                <a:endParaRPr lang="en-US" sz="1800" i="1" dirty="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  <a:p>
                <a:pPr lvl="2"/>
                <a:r>
                  <a:rPr lang="en-US" sz="1800" dirty="0">
                    <a:latin typeface="Times New Roman" panose="02020603050405020304" pitchFamily="18" charset="0"/>
                    <a:cs typeface="Arial" panose="020B0604020202020204" pitchFamily="34" charset="0"/>
                  </a:rPr>
                  <a:t>Ex: </a:t>
                </a:r>
                <a:r>
                  <a:rPr lang="en-US" sz="18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𝑛</m:t>
                    </m:r>
                    <m:func>
                      <m:funcPr>
                        <m:ctrlPr>
                          <a:rPr lang="en-US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8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ln</m:t>
                        </m:r>
                      </m:fName>
                      <m:e>
                        <m:r>
                          <a:rPr lang="en-US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  <m:r>
                          <a:rPr lang="en-US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</m:t>
                        </m:r>
                        <m:r>
                          <a:rPr lang="en-US" sz="1800" b="1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𝐨</m:t>
                        </m:r>
                        <m:r>
                          <a:rPr lang="en-US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1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1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  <m:r>
                              <a:rPr lang="en-US" sz="1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.</m:t>
                            </m:r>
                            <m:r>
                              <a:rPr lang="en-US" sz="1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00000000001</m:t>
                            </m:r>
                          </m:sup>
                        </m:sSup>
                        <m:r>
                          <a:rPr lang="en-US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)</m:t>
                        </m:r>
                      </m:e>
                    </m:func>
                  </m:oMath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57347" name="Rectangle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1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Little-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as a Weak Ordering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If we restrict ourselves to functions 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f(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which are </a:t>
            </a:r>
            <a:r>
              <a:rPr lang="en-US" b="1" dirty="0">
                <a:latin typeface="Symbol" panose="05050102010706020507" charset="2"/>
                <a:cs typeface="Arial" panose="020B0604020202020204" pitchFamily="34" charset="0"/>
              </a:rPr>
              <a:t>Q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i="1" baseline="30000" dirty="0">
                <a:latin typeface="Times New Roman" panose="02020603050405020304" pitchFamily="18" charset="0"/>
                <a:cs typeface="Arial" panose="020B0604020202020204" pitchFamily="34" charset="0"/>
              </a:rPr>
              <a:t>p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b="1" dirty="0">
                <a:latin typeface="Symbol" panose="05050102010706020507" charset="2"/>
                <a:cs typeface="Arial" panose="020B0604020202020204" pitchFamily="34" charset="0"/>
              </a:rPr>
              <a:t>Q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(ln(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i="1" baseline="30000" dirty="0">
                <a:latin typeface="Times New Roman" panose="02020603050405020304" pitchFamily="18" charset="0"/>
                <a:cs typeface="Arial" panose="020B0604020202020204" pitchFamily="34" charset="0"/>
              </a:rPr>
              <a:t>p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we note: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is never true that 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f(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 = </a:t>
            </a:r>
            <a:r>
              <a:rPr 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o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(f(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))</a:t>
            </a:r>
            <a:endParaRPr 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f(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 ≠ </a:t>
            </a:r>
            <a:r>
              <a:rPr lang="en-US" b="1" dirty="0">
                <a:latin typeface="Symbol" panose="05050102010706020507" charset="2"/>
                <a:cs typeface="Arial" panose="020B0604020202020204" pitchFamily="34" charset="0"/>
              </a:rPr>
              <a:t>Q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(g(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it follows that either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		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f(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 = </a:t>
            </a:r>
            <a:r>
              <a:rPr 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o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(g(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))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or 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g(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 = </a:t>
            </a:r>
            <a:r>
              <a:rPr 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o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(f(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))</a:t>
            </a:r>
            <a:endParaRPr 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f(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 = </a:t>
            </a:r>
            <a:r>
              <a:rPr 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o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(g(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g(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 = </a:t>
            </a:r>
            <a:r>
              <a:rPr 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o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(h(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it follows that 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f(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 = </a:t>
            </a:r>
            <a:r>
              <a:rPr 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o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(h(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This defines a weak ordering!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Arial" panose="020B0604020202020204" pitchFamily="34" charset="0"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Little-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as a Weak Ordering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Graphically, we can show this relationship by marking these against the real line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9396" name="Picture 5" descr="ff1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538163" y="3214688"/>
            <a:ext cx="8177212" cy="2327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</a:t>
            </a:r>
            <a:endParaRPr lang="en-US" dirty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Justification for analysis</a:t>
            </a:r>
            <a:endParaRPr lang="en-US" dirty="0"/>
          </a:p>
          <a:p>
            <a:r>
              <a:rPr lang="en-US" dirty="0"/>
              <a:t>Landau symbols</a:t>
            </a:r>
            <a:endParaRPr lang="en-US" dirty="0"/>
          </a:p>
          <a:p>
            <a:r>
              <a:rPr lang="en-US" altLang="zh-CN" dirty="0">
                <a:solidFill>
                  <a:srgbClr val="FF0000"/>
                </a:solidFill>
              </a:rPr>
              <a:t>Run time of programs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Best-, worst-, and average-case</a:t>
            </a:r>
            <a:endParaRPr lang="en-US" altLang="zh-CN" dirty="0"/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CA" altLang="zh-CN" dirty="0">
                <a:latin typeface="Arial" panose="020B0604020202020204" pitchFamily="34" charset="0"/>
                <a:cs typeface="Arial" panose="020B0604020202020204" pitchFamily="34" charset="0"/>
              </a:rPr>
              <a:t>Algorithms Analysis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531" name="Rectangle 3"/>
          <p:cNvSpPr>
            <a:spLocks noGrp="1"/>
          </p:cNvSpPr>
          <p:nvPr>
            <p:ph type="body" idx="4294967295"/>
          </p:nvPr>
        </p:nvSpPr>
        <p:spPr>
          <a:xfrm>
            <a:off x="457200" y="1639888"/>
            <a:ext cx="8229600" cy="4525962"/>
          </a:xfrm>
        </p:spPr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goal of algorithm analysis is to determine the asymptotic run time or memory requirements based on various parameters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CA" altLang="zh-CN" dirty="0">
                <a:latin typeface="Arial" panose="020B0604020202020204" pitchFamily="34" charset="0"/>
                <a:cs typeface="Arial" panose="020B0604020202020204" pitchFamily="34" charset="0"/>
              </a:rPr>
              <a:t>	We will use Landau symbols to describe the complexity of algorithms. E.g.,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Given an array of size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Selection sort requires </a:t>
            </a:r>
            <a:r>
              <a:rPr lang="en-US" b="1" dirty="0">
                <a:latin typeface="Symbol" panose="05050102010706020507" charset="2"/>
                <a:cs typeface="Arial" panose="020B0604020202020204" pitchFamily="34" charset="0"/>
              </a:rPr>
              <a:t>Q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baseline="30000" dirty="0">
                <a:latin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time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Merge sort, quick sort, and heap sort all require </a:t>
            </a:r>
            <a:r>
              <a:rPr lang="en-US" b="1" dirty="0">
                <a:latin typeface="Symbol" panose="05050102010706020507" charset="2"/>
                <a:cs typeface="Arial" panose="020B0604020202020204" pitchFamily="34" charset="0"/>
              </a:rPr>
              <a:t>Q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 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ln(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time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However: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Merge sort requires  </a:t>
            </a:r>
            <a:r>
              <a:rPr lang="en-US" b="1" dirty="0">
                <a:latin typeface="Symbol" panose="05050102010706020507" charset="2"/>
                <a:cs typeface="Arial" panose="020B0604020202020204" pitchFamily="34" charset="0"/>
              </a:rPr>
              <a:t>Q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additional memory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Quick sort requires  </a:t>
            </a:r>
            <a:r>
              <a:rPr lang="en-US" b="1" dirty="0">
                <a:latin typeface="Symbol" panose="05050102010706020507" charset="2"/>
                <a:cs typeface="Arial" panose="020B0604020202020204" pitchFamily="34" charset="0"/>
              </a:rPr>
              <a:t>Q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(ln(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additional memory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Heap sort requires  </a:t>
            </a:r>
            <a:r>
              <a:rPr lang="en-US" b="1" dirty="0">
                <a:latin typeface="Symbol" panose="05050102010706020507" charset="2"/>
                <a:cs typeface="Arial" panose="020B0604020202020204" pitchFamily="34" charset="0"/>
              </a:rPr>
              <a:t>Q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(1)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additional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memory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Algorithms Analysis</a:t>
            </a:r>
            <a:endParaRPr lang="en-CA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419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	An algorithm is said to have </a:t>
            </a:r>
            <a:r>
              <a:rPr lang="en-CA" i="1" dirty="0">
                <a:latin typeface="Arial" panose="020B0604020202020204" pitchFamily="34" charset="0"/>
                <a:cs typeface="Arial" panose="020B0604020202020204" pitchFamily="34" charset="0"/>
              </a:rPr>
              <a:t>polynomial time complexity</a:t>
            </a: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 if its run-time may be described by 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</a:t>
            </a:r>
            <a:r>
              <a:rPr lang="en-CA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CA" i="1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 for some fixed </a:t>
            </a:r>
            <a:r>
              <a:rPr lang="en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≥ 0</a:t>
            </a:r>
            <a:endParaRPr lang="en-C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We will consider such algorithms to be </a:t>
            </a:r>
            <a:r>
              <a:rPr lang="en-CA" i="1" dirty="0">
                <a:latin typeface="Arial" panose="020B0604020202020204" pitchFamily="34" charset="0"/>
                <a:cs typeface="Arial" panose="020B0604020202020204" pitchFamily="34" charset="0"/>
              </a:rPr>
              <a:t>efficient</a:t>
            </a:r>
            <a:endParaRPr lang="en-CA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CA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	Problems that have no known polynomial-time algorithms are said to be </a:t>
            </a:r>
            <a:r>
              <a:rPr lang="en-CA" i="1" dirty="0">
                <a:latin typeface="Arial" panose="020B0604020202020204" pitchFamily="34" charset="0"/>
                <a:cs typeface="Arial" panose="020B0604020202020204" pitchFamily="34" charset="0"/>
              </a:rPr>
              <a:t>intractable</a:t>
            </a:r>
            <a:endParaRPr lang="en-CA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Traveling salesman problem:  find the shortest path that visits </a:t>
            </a:r>
            <a:r>
              <a:rPr lang="en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CA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cities</a:t>
            </a:r>
            <a:endParaRPr lang="en-CA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Best run time:  </a:t>
            </a:r>
            <a:r>
              <a:rPr lang="en-CA" dirty="0">
                <a:latin typeface="Symbol" panose="05050102010706020507" charset="2"/>
                <a:cs typeface="Times New Roman" panose="02020603050405020304" pitchFamily="18" charset="0"/>
              </a:rPr>
              <a:t>Q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CA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CA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C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	In general, you don’t want to implement exponential-time or exponential-memory algorithms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CA" altLang="zh-CN" dirty="0">
                <a:latin typeface="Arial" panose="020B0604020202020204" pitchFamily="34" charset="0"/>
                <a:cs typeface="Arial" panose="020B0604020202020204" pitchFamily="34" charset="0"/>
              </a:rPr>
              <a:t>Algorithms Analysis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675" name="Rectangle 3"/>
          <p:cNvSpPr>
            <a:spLocks noGrp="1"/>
          </p:cNvSpPr>
          <p:nvPr>
            <p:ph type="body" idx="4294967295"/>
          </p:nvPr>
        </p:nvSpPr>
        <p:spPr>
          <a:xfrm>
            <a:off x="457200" y="1639888"/>
            <a:ext cx="8229600" cy="4525962"/>
          </a:xfrm>
        </p:spPr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	To properly investigate the determination of run times asymptotically:</a:t>
            </a:r>
            <a:endParaRPr lang="en-CA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We will begin with machine instructions and basic operations</a:t>
            </a:r>
            <a:endParaRPr lang="en-CA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Control statements</a:t>
            </a:r>
            <a:endParaRPr lang="en-CA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Conditional-controlled loops</a:t>
            </a:r>
            <a:endParaRPr lang="en-CA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Functions</a:t>
            </a:r>
            <a:endParaRPr lang="en-CA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Recursive functions</a:t>
            </a:r>
            <a:endParaRPr lang="en-CA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Machine Instructions</a:t>
            </a:r>
            <a:endParaRPr lang="en-US"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699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Given any processor, it is capable of performing only a limited number of operations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These operations are called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instructions</a:t>
            </a:r>
            <a:endParaRPr 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The collection of instructions is called the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instruction set</a:t>
            </a:r>
            <a:endParaRPr 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exact set of instructions differs between processors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MIPS, ARM, x86, 6800, 68k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	Any instruction runs in a fixed amount of time (an integral number of CPU cycles)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Machine Instructions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723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Any instruction runs in a fixed amount of time (an integral number of CPU cycles)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An example on the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Coldfire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is: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ctr">
              <a:buFont typeface="Arial" panose="020B0604020202020204" pitchFamily="34" charset="0"/>
              <a:buNone/>
            </a:pPr>
            <a:r>
              <a:rPr lang="en-US" b="1" dirty="0">
                <a:latin typeface="Consolas" panose="020B0609020204030204" pitchFamily="49" charset="0"/>
                <a:cs typeface="Arial" panose="020B0604020202020204" pitchFamily="34" charset="0"/>
              </a:rPr>
              <a:t>0x068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7</a:t>
            </a:r>
            <a:r>
              <a:rPr lang="en-US" b="1" dirty="0">
                <a:solidFill>
                  <a:srgbClr val="3333C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0000000F</a:t>
            </a:r>
            <a:endParaRPr lang="en-US" b="1" dirty="0">
              <a:solidFill>
                <a:srgbClr val="3333CC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which adds </a:t>
            </a:r>
            <a:r>
              <a:rPr lang="en-US" dirty="0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the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data register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As humans are not good at hex, this can be programmed in assembly language as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buFont typeface="Arial" panose="020B0604020202020204" pitchFamily="34" charset="0"/>
              <a:buNone/>
            </a:pPr>
            <a:r>
              <a:rPr lang="en-US" sz="1800" b="1" dirty="0">
                <a:latin typeface="Consolas" panose="020B0609020204030204" pitchFamily="49" charset="0"/>
                <a:cs typeface="Arial" panose="020B0604020202020204" pitchFamily="34" charset="0"/>
              </a:rPr>
              <a:t>ADDI.L </a:t>
            </a:r>
            <a:r>
              <a:rPr lang="en-US" sz="1800" b="1" dirty="0">
                <a:solidFill>
                  <a:srgbClr val="3333C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#$F</a:t>
            </a:r>
            <a:r>
              <a:rPr lang="en-US" sz="1800" b="1" dirty="0">
                <a:latin typeface="Consolas" panose="020B0609020204030204" pitchFamily="49" charset="0"/>
                <a:cs typeface="Arial" panose="020B0604020202020204" pitchFamily="34" charset="0"/>
              </a:rPr>
              <a:t>, D</a:t>
            </a: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7</a:t>
            </a:r>
            <a:endParaRPr lang="en-US" sz="18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More in ECE 222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Machine Instructions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747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Assembly language has an almost one-to-one translation to machine instructions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Assembly language is a low-level programming language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Other programming languages are higher-level: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Fortran, Pascal,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Matlab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Java, C++, and C#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The adjective “high” refers to the level of abstraction: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Java, C++, and C# have abstractions such as OO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Matlab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Fortran have operations which do not map to relatively small number of machine instructions: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buFont typeface="Arial" panose="020B0604020202020204" pitchFamily="34" charset="0"/>
              <a:buNone/>
            </a:pPr>
            <a:r>
              <a:rPr lang="en-US" dirty="0">
                <a:latin typeface="Consolas" panose="020B0609020204030204" pitchFamily="49" charset="0"/>
                <a:cs typeface="Arial" panose="020B0604020202020204" pitchFamily="34" charset="0"/>
              </a:rPr>
              <a:t>	&gt;&gt; 1.27^2.9                   % 1.27**2.9 in Fortran</a:t>
            </a:r>
            <a:endParaRPr lang="en-US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>
              <a:buFont typeface="Arial" panose="020B0604020202020204" pitchFamily="34" charset="0"/>
              <a:buNone/>
            </a:pPr>
            <a:r>
              <a:rPr lang="en-US" dirty="0">
                <a:latin typeface="Consolas" panose="020B0609020204030204" pitchFamily="49" charset="0"/>
                <a:cs typeface="Arial" panose="020B0604020202020204" pitchFamily="34" charset="0"/>
              </a:rPr>
              <a:t>	      2.0000036616123606774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Machine Instructions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771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The C programming language (C++ without objects and other abstractions) can be referred to as a mid-level programming language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There is abstraction, but the language is closely tied to the standard capabilities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There is a closer relationship between operators and machine instructions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Consider the operation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+= </a:t>
            </a:r>
            <a:r>
              <a:rPr lang="en-US" b="1" dirty="0">
                <a:solidFill>
                  <a:srgbClr val="3333C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sz="18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Assume that the compiler has already has the value of the variable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in register </a:t>
            </a:r>
            <a:r>
              <a:rPr lang="en-US" b="1" dirty="0">
                <a:latin typeface="Courier New" panose="02070309020205020404" charset="0"/>
                <a:cs typeface="Arial" panose="020B0604020202020204" pitchFamily="34" charset="0"/>
              </a:rPr>
              <a:t>D1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perhaps </a:t>
            </a:r>
            <a:r>
              <a:rPr lang="en-US" b="1" dirty="0">
                <a:solidFill>
                  <a:srgbClr val="3333C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is a variable stored at the location stored in address register </a:t>
            </a:r>
            <a:r>
              <a:rPr lang="en-US" b="1" dirty="0">
                <a:solidFill>
                  <a:srgbClr val="3333CC"/>
                </a:solidFill>
                <a:latin typeface="Courier New" panose="02070309020205020404" charset="0"/>
                <a:cs typeface="Arial" panose="020B0604020202020204" pitchFamily="34" charset="0"/>
              </a:rPr>
              <a:t>A1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this is then converted to the single instruction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Arial" panose="020B0604020202020204" pitchFamily="34" charset="0"/>
              <a:buNone/>
            </a:pPr>
            <a:r>
              <a:rPr lang="en-US" b="1" dirty="0">
                <a:latin typeface="Courier New" panose="02070309020205020404" charset="0"/>
                <a:cs typeface="Arial" panose="020B0604020202020204" pitchFamily="34" charset="0"/>
              </a:rPr>
              <a:t>				   ADD (</a:t>
            </a:r>
            <a:r>
              <a:rPr lang="en-US" b="1" dirty="0">
                <a:solidFill>
                  <a:srgbClr val="3333CC"/>
                </a:solidFill>
                <a:latin typeface="Courier New" panose="02070309020205020404" charset="0"/>
                <a:cs typeface="Arial" panose="020B0604020202020204" pitchFamily="34" charset="0"/>
              </a:rPr>
              <a:t>A1</a:t>
            </a:r>
            <a:r>
              <a:rPr lang="en-US" b="1" dirty="0">
                <a:latin typeface="Courier New" panose="02070309020205020404" charset="0"/>
                <a:cs typeface="Arial" panose="020B0604020202020204" pitchFamily="34" charset="0"/>
              </a:rPr>
              <a:t>), D1</a:t>
            </a:r>
            <a:endParaRPr lang="en-US" b="1" dirty="0">
              <a:latin typeface="Courier New" panose="02070309020205020404" charset="0"/>
              <a:cs typeface="Arial" panose="020B0604020202020204" pitchFamily="34" charset="0"/>
            </a:endParaRPr>
          </a:p>
          <a:p>
            <a:pPr lvl="1">
              <a:buFont typeface="Arial" panose="020B0604020202020204" pitchFamily="34" charset="0"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Operators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795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There is a close relationship between basic operations and machine instructions, so we may assume each operation requires a fixed number of CPU cycles, i.e., </a:t>
            </a:r>
            <a:r>
              <a:rPr lang="en-US" b="1" dirty="0">
                <a:latin typeface="Symbol" panose="05050102010706020507" charset="2"/>
                <a:cs typeface="Arial" panose="020B0604020202020204" pitchFamily="34" charset="0"/>
              </a:rPr>
              <a:t>Q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(1)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time: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Variable assignment		 </a:t>
            </a:r>
            <a:r>
              <a:rPr lang="en-US" b="1" dirty="0">
                <a:latin typeface="Courier New" panose="02070309020205020404" charset="0"/>
                <a:cs typeface="Arial" panose="020B0604020202020204" pitchFamily="34" charset="0"/>
              </a:rPr>
              <a:t>=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Integer operations			 </a:t>
            </a:r>
            <a:r>
              <a:rPr lang="en-US" b="1" dirty="0">
                <a:latin typeface="Courier New" panose="02070309020205020404" charset="0"/>
                <a:cs typeface="Arial" panose="020B0604020202020204" pitchFamily="34" charset="0"/>
              </a:rPr>
              <a:t>+ - * / % ++ --</a:t>
            </a:r>
            <a:endParaRPr lang="en-US" b="1" dirty="0">
              <a:latin typeface="Courier New" panose="0207030902020502040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Logical operations			 </a:t>
            </a:r>
            <a:r>
              <a:rPr lang="en-US" b="1" dirty="0">
                <a:latin typeface="Courier New" panose="02070309020205020404" charset="0"/>
                <a:cs typeface="Arial" panose="020B0604020202020204" pitchFamily="34" charset="0"/>
              </a:rPr>
              <a:t>&amp;&amp; || !</a:t>
            </a:r>
            <a:endParaRPr lang="en-US" b="1" dirty="0">
              <a:latin typeface="Courier New" panose="0207030902020502040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Bitwise operations			 </a:t>
            </a:r>
            <a:r>
              <a:rPr lang="en-US" b="1" dirty="0">
                <a:latin typeface="Courier New" panose="02070309020205020404" charset="0"/>
                <a:cs typeface="Arial" panose="020B0604020202020204" pitchFamily="34" charset="0"/>
              </a:rPr>
              <a:t>&amp; | ^ ~</a:t>
            </a:r>
            <a:endParaRPr lang="en-US" b="1" dirty="0">
              <a:latin typeface="Courier New" panose="0207030902020502040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Relational operations		 </a:t>
            </a:r>
            <a:r>
              <a:rPr lang="en-US" b="1" dirty="0">
                <a:latin typeface="Courier New" panose="02070309020205020404" charset="0"/>
                <a:cs typeface="Arial" panose="020B0604020202020204" pitchFamily="34" charset="0"/>
              </a:rPr>
              <a:t>== != &lt; &lt;= &gt;= &gt;</a:t>
            </a:r>
            <a:endParaRPr lang="en-US" b="1" dirty="0">
              <a:latin typeface="Courier New" panose="0207030902020502040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Memory allocation and deallocation	 </a:t>
            </a:r>
            <a:r>
              <a:rPr lang="en-US" b="1" dirty="0">
                <a:latin typeface="Courier New" panose="02070309020205020404" charset="0"/>
                <a:cs typeface="Arial" panose="020B0604020202020204" pitchFamily="34" charset="0"/>
              </a:rPr>
              <a:t>new delete</a:t>
            </a:r>
            <a:endParaRPr lang="en-US" b="1" dirty="0">
              <a:latin typeface="Courier New" panose="02070309020205020404" charset="0"/>
              <a:cs typeface="Arial" panose="020B0604020202020204" pitchFamily="34" charset="0"/>
            </a:endParaRPr>
          </a:p>
          <a:p>
            <a:pPr lvl="1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Operators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819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	Of these, memory allocation and deallocation are the slowest by a significant factor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A quick test on </a:t>
            </a:r>
            <a:r>
              <a:rPr lang="en-US">
                <a:latin typeface="Consolas" panose="020B0609020204030204" pitchFamily="49" charset="0"/>
                <a:cs typeface="Arial" panose="020B0604020202020204" pitchFamily="34" charset="0"/>
              </a:rPr>
              <a:t>eceunix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shows a factor of over 100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They require communication with the operation system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This does not account for the time required to call the constructor and destructor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	Note that after memory is allocated, the constructor is run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The constructor may not run in </a:t>
            </a:r>
            <a:r>
              <a:rPr lang="en-US" b="1">
                <a:latin typeface="Symbol" panose="05050102010706020507" charset="2"/>
                <a:cs typeface="Arial" panose="020B0604020202020204" pitchFamily="34" charset="0"/>
              </a:rPr>
              <a:t>Q</a:t>
            </a:r>
            <a:r>
              <a:rPr lang="en-US">
                <a:latin typeface="Times New Roman" panose="02020603050405020304" pitchFamily="18" charset="0"/>
                <a:cs typeface="Arial" panose="020B0604020202020204" pitchFamily="34" charset="0"/>
              </a:rPr>
              <a:t>(1)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time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Blocks of Operations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843" name="Rectangle 3"/>
          <p:cNvSpPr>
            <a:spLocks noGrp="1"/>
          </p:cNvSpPr>
          <p:nvPr>
            <p:ph type="body" idx="4294967295"/>
          </p:nvPr>
        </p:nvSpPr>
        <p:spPr>
          <a:xfrm>
            <a:off x="457200" y="1600200"/>
            <a:ext cx="8507413" cy="4525963"/>
          </a:xfrm>
        </p:spPr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Each operation runs in </a:t>
            </a:r>
            <a:r>
              <a:rPr lang="en-US" b="1" dirty="0">
                <a:latin typeface="Symbol" panose="05050102010706020507" charset="2"/>
                <a:cs typeface="Arial" panose="020B0604020202020204" pitchFamily="34" charset="0"/>
              </a:rPr>
              <a:t>Q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(1)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time and therefore any fixed number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of operations also run in </a:t>
            </a:r>
            <a:r>
              <a:rPr lang="en-US" b="1" dirty="0">
                <a:latin typeface="Symbol" panose="05050102010706020507" charset="2"/>
                <a:cs typeface="Arial" panose="020B0604020202020204" pitchFamily="34" charset="0"/>
              </a:rPr>
              <a:t>Q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(1)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time, for example: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buFont typeface="Arial" panose="020B0604020202020204" pitchFamily="34" charset="0"/>
              <a:buNone/>
            </a:pPr>
            <a:r>
              <a:rPr lang="en-US" dirty="0">
                <a:latin typeface="Consolas" panose="020B0609020204030204" pitchFamily="49" charset="0"/>
                <a:cs typeface="Arial" panose="020B0604020202020204" pitchFamily="34" charset="0"/>
              </a:rPr>
              <a:t>// Swap variables a and b</a:t>
            </a:r>
            <a:endParaRPr lang="en-US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>
              <a:buFont typeface="Arial" panose="020B0604020202020204" pitchFamily="34" charset="0"/>
              <a:buNone/>
            </a:pPr>
            <a:r>
              <a:rPr lang="en-US" dirty="0" err="1">
                <a:latin typeface="Consolas" panose="020B0609020204030204" pitchFamily="49" charset="0"/>
                <a:cs typeface="Arial" panose="020B0604020202020204" pitchFamily="34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Arial" panose="020B0604020202020204" pitchFamily="34" charset="0"/>
              </a:rPr>
              <a:t>tmp</a:t>
            </a:r>
            <a:r>
              <a:rPr lang="en-US" dirty="0">
                <a:latin typeface="Consolas" panose="020B0609020204030204" pitchFamily="49" charset="0"/>
                <a:cs typeface="Arial" panose="020B0604020202020204" pitchFamily="34" charset="0"/>
              </a:rPr>
              <a:t> = a;</a:t>
            </a:r>
            <a:endParaRPr lang="en-US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>
              <a:buFont typeface="Arial" panose="020B0604020202020204" pitchFamily="34" charset="0"/>
              <a:buNone/>
            </a:pPr>
            <a:r>
              <a:rPr lang="en-US" dirty="0">
                <a:latin typeface="Consolas" panose="020B0609020204030204" pitchFamily="49" charset="0"/>
                <a:cs typeface="Arial" panose="020B0604020202020204" pitchFamily="34" charset="0"/>
              </a:rPr>
              <a:t>a = b;</a:t>
            </a:r>
            <a:endParaRPr lang="en-US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>
              <a:buFont typeface="Arial" panose="020B0604020202020204" pitchFamily="34" charset="0"/>
              <a:buNone/>
            </a:pPr>
            <a:r>
              <a:rPr lang="en-US" dirty="0">
                <a:latin typeface="Consolas" panose="020B0609020204030204" pitchFamily="49" charset="0"/>
                <a:cs typeface="Arial" panose="020B0604020202020204" pitchFamily="34" charset="0"/>
              </a:rPr>
              <a:t>b = </a:t>
            </a:r>
            <a:r>
              <a:rPr lang="en-US" dirty="0" err="1">
                <a:latin typeface="Consolas" panose="020B0609020204030204" pitchFamily="49" charset="0"/>
                <a:cs typeface="Arial" panose="020B0604020202020204" pitchFamily="34" charset="0"/>
              </a:rPr>
              <a:t>tmp</a:t>
            </a:r>
            <a:r>
              <a:rPr lang="en-US" dirty="0">
                <a:latin typeface="Consolas" panose="020B0609020204030204" pitchFamily="49" charset="0"/>
                <a:cs typeface="Arial" panose="020B0604020202020204" pitchFamily="34" charset="0"/>
              </a:rPr>
              <a:t>;</a:t>
            </a:r>
            <a:endParaRPr lang="en-US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Blocks of Operations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867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	Seldom will you find large blocks of operations without any additional control statements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	This example rearranges an AVL tree structure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Arial" panose="020B0604020202020204" pitchFamily="34" charset="0"/>
              <a:buNone/>
            </a:pPr>
            <a:r>
              <a:rPr lang="en-US" sz="1600">
                <a:latin typeface="Consolas" panose="020B0609020204030204" pitchFamily="49" charset="0"/>
                <a:cs typeface="Arial" panose="020B0604020202020204" pitchFamily="34" charset="0"/>
              </a:rPr>
              <a:t> Tree_node *lrl = left-&gt;right-&gt;left;</a:t>
            </a:r>
            <a:endParaRPr lang="en-US" sz="160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600">
                <a:latin typeface="Consolas" panose="020B0609020204030204" pitchFamily="49" charset="0"/>
                <a:cs typeface="Arial" panose="020B0604020202020204" pitchFamily="34" charset="0"/>
              </a:rPr>
              <a:t>	  Tree_node *lrr = left-&gt;right-&gt;right;</a:t>
            </a:r>
            <a:endParaRPr lang="en-US" sz="160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600">
                <a:latin typeface="Consolas" panose="020B0609020204030204" pitchFamily="49" charset="0"/>
                <a:cs typeface="Arial" panose="020B0604020202020204" pitchFamily="34" charset="0"/>
              </a:rPr>
              <a:t>	  parent = left-&gt;right;</a:t>
            </a:r>
            <a:endParaRPr lang="en-US" sz="160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600">
                <a:latin typeface="Consolas" panose="020B0609020204030204" pitchFamily="49" charset="0"/>
                <a:cs typeface="Arial" panose="020B0604020202020204" pitchFamily="34" charset="0"/>
              </a:rPr>
              <a:t>	  parent-&gt;left  = left;</a:t>
            </a:r>
            <a:endParaRPr lang="en-US" sz="160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600">
                <a:latin typeface="Consolas" panose="020B0609020204030204" pitchFamily="49" charset="0"/>
                <a:cs typeface="Arial" panose="020B0604020202020204" pitchFamily="34" charset="0"/>
              </a:rPr>
              <a:t> 	  parent-&gt;right = this;</a:t>
            </a:r>
            <a:endParaRPr lang="en-US" sz="160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600">
                <a:latin typeface="Consolas" panose="020B0609020204030204" pitchFamily="49" charset="0"/>
                <a:cs typeface="Arial" panose="020B0604020202020204" pitchFamily="34" charset="0"/>
              </a:rPr>
              <a:t> 	  left-&gt;right = lrl;</a:t>
            </a:r>
            <a:endParaRPr lang="en-US" sz="160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600">
                <a:latin typeface="Consolas" panose="020B0609020204030204" pitchFamily="49" charset="0"/>
                <a:cs typeface="Arial" panose="020B0604020202020204" pitchFamily="34" charset="0"/>
              </a:rPr>
              <a:t>	  left = lrr;</a:t>
            </a:r>
            <a:endParaRPr lang="en-US" sz="160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	Run time:  </a:t>
            </a:r>
            <a:r>
              <a:rPr lang="en-US" b="1">
                <a:latin typeface="Symbol" panose="05050102010706020507" charset="2"/>
                <a:cs typeface="Arial" panose="020B0604020202020204" pitchFamily="34" charset="0"/>
              </a:rPr>
              <a:t>Q</a:t>
            </a:r>
            <a:r>
              <a:rPr lang="en-US">
                <a:latin typeface="Times New Roman" panose="02020603050405020304" pitchFamily="18" charset="0"/>
                <a:cs typeface="Arial" panose="020B0604020202020204" pitchFamily="34" charset="0"/>
              </a:rPr>
              <a:t>(1)</a:t>
            </a:r>
            <a:endParaRPr lang="en-US" b="1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pic>
        <p:nvPicPr>
          <p:cNvPr id="36868" name="Picture 5" descr="x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572000" y="3860800"/>
            <a:ext cx="3967163" cy="2427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Blocks in Sequence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891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Suppose you have now analyzed a number of blocks of code run in sequence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buFont typeface="Arial" panose="020B0604020202020204" pitchFamily="34" charset="0"/>
              <a:buNone/>
            </a:pPr>
            <a:endParaRPr lang="en-US" sz="14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>
              <a:buFont typeface="Arial" panose="020B0604020202020204" pitchFamily="34" charset="0"/>
              <a:buNone/>
            </a:pPr>
            <a:r>
              <a:rPr 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template &lt;typename T&gt;</a:t>
            </a:r>
            <a:endParaRPr lang="en-US" sz="14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>
              <a:buFont typeface="Arial" panose="020B0604020202020204" pitchFamily="34" charset="0"/>
              <a:buNone/>
            </a:pPr>
            <a:r>
              <a:rPr 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void </a:t>
            </a:r>
            <a:r>
              <a:rPr lang="en-US" sz="1400" dirty="0" err="1">
                <a:latin typeface="Consolas" panose="020B0609020204030204" pitchFamily="49" charset="0"/>
                <a:cs typeface="Arial" panose="020B0604020202020204" pitchFamily="34" charset="0"/>
              </a:rPr>
              <a:t>update_capacity</a:t>
            </a:r>
            <a:r>
              <a:rPr 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( </a:t>
            </a:r>
            <a:r>
              <a:rPr lang="en-US" sz="1400" dirty="0" err="1">
                <a:latin typeface="Consolas" panose="020B0609020204030204" pitchFamily="49" charset="0"/>
                <a:cs typeface="Arial" panose="020B0604020202020204" pitchFamily="34" charset="0"/>
              </a:rPr>
              <a:t>int</a:t>
            </a:r>
            <a:r>
              <a:rPr 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 delta ) {</a:t>
            </a:r>
            <a:endParaRPr lang="en-US" sz="14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>
              <a:buFont typeface="Arial" panose="020B0604020202020204" pitchFamily="34" charset="0"/>
              <a:buNone/>
            </a:pPr>
            <a:r>
              <a:rPr 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	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T *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array_old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= array;</a:t>
            </a:r>
            <a:endParaRPr lang="en-US" sz="1400" dirty="0">
              <a:solidFill>
                <a:srgbClr val="FF0000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>
              <a:buFont typeface="Arial" panose="020B0604020202020204" pitchFamily="34" charset="0"/>
              <a:buNone/>
            </a:pP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	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int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capacity_old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= 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array_capacity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;</a:t>
            </a:r>
            <a:b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array_capacity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+= delta;</a:t>
            </a:r>
            <a:endParaRPr lang="en-US" sz="1400" dirty="0">
              <a:solidFill>
                <a:srgbClr val="FF0000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>
              <a:buFont typeface="Arial" panose="020B0604020202020204" pitchFamily="34" charset="0"/>
              <a:buNone/>
            </a:pP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	array = new T[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array_capacity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];</a:t>
            </a:r>
            <a:endParaRPr lang="en-US" sz="1400" dirty="0">
              <a:solidFill>
                <a:srgbClr val="FF0000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>
              <a:buFont typeface="Arial" panose="020B0604020202020204" pitchFamily="34" charset="0"/>
              <a:buNone/>
            </a:pPr>
            <a:endParaRPr lang="en-US" sz="14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>
              <a:buFont typeface="Arial" panose="020B0604020202020204" pitchFamily="34" charset="0"/>
              <a:buNone/>
            </a:pPr>
            <a:r>
              <a:rPr 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	</a:t>
            </a:r>
            <a:r>
              <a:rPr lang="en-US" sz="1400" dirty="0">
                <a:solidFill>
                  <a:srgbClr val="3333C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for ( </a:t>
            </a:r>
            <a:r>
              <a:rPr lang="en-US" sz="1400" dirty="0" err="1">
                <a:solidFill>
                  <a:srgbClr val="3333C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int</a:t>
            </a:r>
            <a:r>
              <a:rPr lang="en-US" sz="1400" dirty="0">
                <a:solidFill>
                  <a:srgbClr val="3333C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3333C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i</a:t>
            </a:r>
            <a:r>
              <a:rPr lang="en-US" sz="1400" dirty="0">
                <a:solidFill>
                  <a:srgbClr val="3333C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= 0; </a:t>
            </a:r>
            <a:r>
              <a:rPr lang="en-US" sz="1400" dirty="0" err="1">
                <a:solidFill>
                  <a:srgbClr val="3333C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i</a:t>
            </a:r>
            <a:r>
              <a:rPr lang="en-US" sz="1400" dirty="0">
                <a:solidFill>
                  <a:srgbClr val="3333C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&lt; </a:t>
            </a:r>
            <a:r>
              <a:rPr lang="en-US" sz="1400" dirty="0" err="1">
                <a:solidFill>
                  <a:srgbClr val="3333C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capacity_old</a:t>
            </a:r>
            <a:r>
              <a:rPr lang="en-US" sz="1400" dirty="0">
                <a:solidFill>
                  <a:srgbClr val="3333C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; ++</a:t>
            </a:r>
            <a:r>
              <a:rPr lang="en-US" sz="1400" dirty="0" err="1">
                <a:solidFill>
                  <a:srgbClr val="3333C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i</a:t>
            </a:r>
            <a:r>
              <a:rPr lang="en-US" sz="1400" dirty="0">
                <a:solidFill>
                  <a:srgbClr val="3333C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) {</a:t>
            </a:r>
            <a:endParaRPr lang="en-US" sz="1400" dirty="0">
              <a:solidFill>
                <a:srgbClr val="3333CC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>
              <a:buFont typeface="Arial" panose="020B0604020202020204" pitchFamily="34" charset="0"/>
              <a:buNone/>
            </a:pPr>
            <a:r>
              <a:rPr lang="en-US" sz="1400" dirty="0">
                <a:solidFill>
                  <a:srgbClr val="3333C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		array[</a:t>
            </a:r>
            <a:r>
              <a:rPr lang="en-US" sz="1400" dirty="0" err="1">
                <a:solidFill>
                  <a:srgbClr val="3333C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i</a:t>
            </a:r>
            <a:r>
              <a:rPr lang="en-US" sz="1400" dirty="0">
                <a:solidFill>
                  <a:srgbClr val="3333C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] = </a:t>
            </a:r>
            <a:r>
              <a:rPr lang="en-US" sz="1400" dirty="0" err="1">
                <a:solidFill>
                  <a:srgbClr val="3333C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array_old</a:t>
            </a:r>
            <a:r>
              <a:rPr lang="en-US" sz="1400" dirty="0">
                <a:solidFill>
                  <a:srgbClr val="3333C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[</a:t>
            </a:r>
            <a:r>
              <a:rPr lang="en-US" sz="1400" dirty="0" err="1">
                <a:solidFill>
                  <a:srgbClr val="3333C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i</a:t>
            </a:r>
            <a:r>
              <a:rPr lang="en-US" sz="1400" dirty="0">
                <a:solidFill>
                  <a:srgbClr val="3333C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];</a:t>
            </a:r>
            <a:endParaRPr lang="en-US" sz="1400" dirty="0">
              <a:solidFill>
                <a:srgbClr val="3333CC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>
              <a:buFont typeface="Arial" panose="020B0604020202020204" pitchFamily="34" charset="0"/>
              <a:buNone/>
            </a:pPr>
            <a:r>
              <a:rPr lang="en-US" sz="1400" dirty="0">
                <a:solidFill>
                  <a:srgbClr val="3333C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	}</a:t>
            </a:r>
            <a:endParaRPr lang="en-US" sz="1400" dirty="0">
              <a:solidFill>
                <a:srgbClr val="3333CC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>
              <a:buFont typeface="Arial" panose="020B0604020202020204" pitchFamily="34" charset="0"/>
              <a:buNone/>
            </a:pPr>
            <a:endParaRPr lang="en-US" sz="14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>
              <a:buFont typeface="Arial" panose="020B0604020202020204" pitchFamily="34" charset="0"/>
              <a:buNone/>
            </a:pPr>
            <a:r>
              <a:rPr lang="en-US" sz="1400" dirty="0">
                <a:solidFill>
                  <a:srgbClr val="7030A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	delete[] </a:t>
            </a:r>
            <a:r>
              <a:rPr lang="en-US" sz="1400" dirty="0" err="1">
                <a:solidFill>
                  <a:srgbClr val="7030A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array_old</a:t>
            </a:r>
            <a:r>
              <a:rPr lang="en-US" sz="1400" dirty="0">
                <a:solidFill>
                  <a:srgbClr val="7030A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;</a:t>
            </a:r>
            <a:endParaRPr lang="en-US" sz="1400" dirty="0">
              <a:solidFill>
                <a:srgbClr val="7030A0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>
              <a:buFont typeface="Arial" panose="020B0604020202020204" pitchFamily="34" charset="0"/>
              <a:buNone/>
            </a:pPr>
            <a:r>
              <a:rPr 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}</a:t>
            </a:r>
            <a:endParaRPr lang="en-US" sz="14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>
              <a:buFont typeface="Arial" panose="020B0604020202020204" pitchFamily="34" charset="0"/>
              <a:buNone/>
            </a:pPr>
            <a:endParaRPr lang="en-US" sz="14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To calculate the total run time, add the entries:  </a:t>
            </a:r>
            <a:r>
              <a:rPr lang="en-CA" b="1" dirty="0">
                <a:latin typeface="Symbol" panose="05050102010706020507" charset="2"/>
                <a:cs typeface="Arial" panose="020B0604020202020204" pitchFamily="34" charset="0"/>
              </a:rPr>
              <a:t>Q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 + </a:t>
            </a:r>
            <a:r>
              <a:rPr lang="en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+ 1) = </a:t>
            </a:r>
            <a:r>
              <a:rPr lang="en-CA" b="1" dirty="0">
                <a:solidFill>
                  <a:srgbClr val="000000"/>
                </a:solidFill>
                <a:latin typeface="Symbol" panose="05050102010706020507" charset="2"/>
                <a:cs typeface="Arial" panose="020B0604020202020204" pitchFamily="34" charset="0"/>
              </a:rPr>
              <a:t>Q</a:t>
            </a:r>
            <a:r>
              <a:rPr lang="en-CA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CA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CA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sz="400" b="1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37892" name="TextBox 4"/>
          <p:cNvSpPr txBox="1">
            <a:spLocks noChangeArrowheads="1"/>
          </p:cNvSpPr>
          <p:nvPr/>
        </p:nvSpPr>
        <p:spPr bwMode="auto">
          <a:xfrm>
            <a:off x="6950075" y="2854325"/>
            <a:ext cx="646113" cy="3698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CA" b="1">
                <a:solidFill>
                  <a:srgbClr val="FF0000"/>
                </a:solidFill>
                <a:latin typeface="Symbol" panose="05050102010706020507" charset="2"/>
              </a:rPr>
              <a:t>Q</a:t>
            </a:r>
            <a:r>
              <a:rPr lang="en-CA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endParaRPr lang="en-CA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893" name="TextBox 7"/>
          <p:cNvSpPr txBox="1">
            <a:spLocks noChangeArrowheads="1"/>
          </p:cNvSpPr>
          <p:nvPr/>
        </p:nvSpPr>
        <p:spPr bwMode="auto">
          <a:xfrm>
            <a:off x="6948488" y="4427538"/>
            <a:ext cx="625475" cy="3698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CA" b="1">
                <a:solidFill>
                  <a:srgbClr val="3333CC"/>
                </a:solidFill>
                <a:latin typeface="Symbol" panose="05050102010706020507" charset="2"/>
              </a:rPr>
              <a:t>Q</a:t>
            </a:r>
            <a:r>
              <a:rPr lang="en-CA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CA" i="1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CA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CA">
              <a:solidFill>
                <a:srgbClr val="33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894" name="TextBox 11"/>
          <p:cNvSpPr txBox="1">
            <a:spLocks noChangeArrowheads="1"/>
          </p:cNvSpPr>
          <p:nvPr/>
        </p:nvSpPr>
        <p:spPr bwMode="auto">
          <a:xfrm>
            <a:off x="6948488" y="5219700"/>
            <a:ext cx="683200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CA" b="1" dirty="0">
                <a:solidFill>
                  <a:srgbClr val="7030A0"/>
                </a:solidFill>
                <a:latin typeface="Symbol" panose="05050102010706020507" charset="2"/>
              </a:rPr>
              <a:t>Q</a:t>
            </a:r>
            <a:r>
              <a:rPr lang="en-CA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 </a:t>
            </a:r>
            <a:endParaRPr lang="en-CA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Blocks in Sequence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915" name="Rectangle 3"/>
          <p:cNvSpPr>
            <a:spLocks noGrp="1"/>
          </p:cNvSpPr>
          <p:nvPr>
            <p:ph type="body" idx="4294967295"/>
          </p:nvPr>
        </p:nvSpPr>
        <p:spPr>
          <a:xfrm>
            <a:off x="457200" y="1196752"/>
            <a:ext cx="8229600" cy="4929411"/>
          </a:xfrm>
        </p:spPr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sz="1000" b="1" dirty="0">
                <a:latin typeface="Consolas" panose="020B0609020204030204" pitchFamily="49" charset="0"/>
                <a:cs typeface="Arial" panose="020B0604020202020204" pitchFamily="34" charset="0"/>
              </a:rPr>
              <a:t>template &lt;</a:t>
            </a:r>
            <a:r>
              <a:rPr lang="en-US" sz="1000" b="1" dirty="0" err="1">
                <a:latin typeface="Consolas" panose="020B0609020204030204" pitchFamily="49" charset="0"/>
                <a:cs typeface="Arial" panose="020B0604020202020204" pitchFamily="34" charset="0"/>
              </a:rPr>
              <a:t>int</a:t>
            </a:r>
            <a:r>
              <a:rPr lang="en-US" sz="1000" b="1" dirty="0">
                <a:latin typeface="Consolas" panose="020B0609020204030204" pitchFamily="49" charset="0"/>
                <a:cs typeface="Arial" panose="020B0604020202020204" pitchFamily="34" charset="0"/>
              </a:rPr>
              <a:t> M, </a:t>
            </a:r>
            <a:r>
              <a:rPr lang="en-US" sz="1000" b="1" dirty="0" err="1">
                <a:latin typeface="Consolas" panose="020B0609020204030204" pitchFamily="49" charset="0"/>
                <a:cs typeface="Arial" panose="020B0604020202020204" pitchFamily="34" charset="0"/>
              </a:rPr>
              <a:t>int</a:t>
            </a:r>
            <a:r>
              <a:rPr lang="en-US" sz="1000" b="1" dirty="0">
                <a:latin typeface="Consolas" panose="020B0609020204030204" pitchFamily="49" charset="0"/>
                <a:cs typeface="Arial" panose="020B0604020202020204" pitchFamily="34" charset="0"/>
              </a:rPr>
              <a:t> N&gt;</a:t>
            </a:r>
            <a:endParaRPr lang="en-US" sz="1000" b="1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000" b="1" dirty="0">
                <a:latin typeface="Consolas" panose="020B0609020204030204" pitchFamily="49" charset="0"/>
                <a:cs typeface="Arial" panose="020B0604020202020204" pitchFamily="34" charset="0"/>
              </a:rPr>
              <a:t>Matrix&lt;M, N&gt; &amp;Matrix&lt;M, N&gt;::operator= ( Matrix&lt;M, N&gt; </a:t>
            </a:r>
            <a:r>
              <a:rPr lang="en-US" sz="1000" b="1" dirty="0" err="1">
                <a:latin typeface="Consolas" panose="020B0609020204030204" pitchFamily="49" charset="0"/>
                <a:cs typeface="Arial" panose="020B0604020202020204" pitchFamily="34" charset="0"/>
              </a:rPr>
              <a:t>const</a:t>
            </a:r>
            <a:r>
              <a:rPr lang="en-US" sz="1000" b="1" dirty="0">
                <a:latin typeface="Consolas" panose="020B0609020204030204" pitchFamily="49" charset="0"/>
                <a:cs typeface="Arial" panose="020B0604020202020204" pitchFamily="34" charset="0"/>
              </a:rPr>
              <a:t> &amp;A ) {</a:t>
            </a:r>
            <a:endParaRPr lang="en-US" sz="1000" b="1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000" b="1" dirty="0">
                <a:latin typeface="Consolas" panose="020B0609020204030204" pitchFamily="49" charset="0"/>
                <a:cs typeface="Arial" panose="020B0604020202020204" pitchFamily="34" charset="0"/>
              </a:rPr>
              <a:t>	if ( &amp;A == this ) {</a:t>
            </a:r>
            <a:endParaRPr lang="en-US" sz="1000" b="1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000" b="1" dirty="0">
                <a:latin typeface="Consolas" panose="020B0609020204030204" pitchFamily="49" charset="0"/>
                <a:cs typeface="Arial" panose="020B0604020202020204" pitchFamily="34" charset="0"/>
              </a:rPr>
              <a:t>		return *this;</a:t>
            </a:r>
            <a:endParaRPr lang="en-US" sz="1000" b="1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000" b="1" dirty="0">
                <a:latin typeface="Consolas" panose="020B0609020204030204" pitchFamily="49" charset="0"/>
                <a:cs typeface="Arial" panose="020B0604020202020204" pitchFamily="34" charset="0"/>
              </a:rPr>
              <a:t>	}</a:t>
            </a:r>
            <a:endParaRPr lang="en-US" sz="1000" b="1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sz="1000" b="1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000" b="1" dirty="0">
                <a:latin typeface="Consolas" panose="020B0609020204030204" pitchFamily="49" charset="0"/>
                <a:cs typeface="Arial" panose="020B0604020202020204" pitchFamily="34" charset="0"/>
              </a:rPr>
              <a:t>	if ( capacity != </a:t>
            </a:r>
            <a:r>
              <a:rPr lang="en-US" sz="1000" b="1" dirty="0" err="1">
                <a:latin typeface="Consolas" panose="020B0609020204030204" pitchFamily="49" charset="0"/>
                <a:cs typeface="Arial" panose="020B0604020202020204" pitchFamily="34" charset="0"/>
              </a:rPr>
              <a:t>A.capacity</a:t>
            </a:r>
            <a:r>
              <a:rPr lang="en-US" sz="1000" b="1" dirty="0">
                <a:latin typeface="Consolas" panose="020B0609020204030204" pitchFamily="49" charset="0"/>
                <a:cs typeface="Arial" panose="020B0604020202020204" pitchFamily="34" charset="0"/>
              </a:rPr>
              <a:t> ) {</a:t>
            </a:r>
            <a:endParaRPr lang="en-US" sz="1000" b="1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000" b="1" dirty="0">
                <a:latin typeface="Consolas" panose="020B0609020204030204" pitchFamily="49" charset="0"/>
                <a:cs typeface="Arial" panose="020B0604020202020204" pitchFamily="34" charset="0"/>
              </a:rPr>
              <a:t>		delete [] </a:t>
            </a:r>
            <a:r>
              <a:rPr lang="en-US" sz="1000" b="1" dirty="0" err="1">
                <a:latin typeface="Consolas" panose="020B0609020204030204" pitchFamily="49" charset="0"/>
                <a:cs typeface="Arial" panose="020B0604020202020204" pitchFamily="34" charset="0"/>
              </a:rPr>
              <a:t>column_index</a:t>
            </a:r>
            <a:r>
              <a:rPr lang="en-US" sz="1000" b="1" dirty="0">
                <a:latin typeface="Consolas" panose="020B0609020204030204" pitchFamily="49" charset="0"/>
                <a:cs typeface="Arial" panose="020B0604020202020204" pitchFamily="34" charset="0"/>
              </a:rPr>
              <a:t>;</a:t>
            </a:r>
            <a:endParaRPr lang="en-US" sz="1000" b="1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000" b="1" dirty="0">
                <a:latin typeface="Consolas" panose="020B0609020204030204" pitchFamily="49" charset="0"/>
                <a:cs typeface="Arial" panose="020B0604020202020204" pitchFamily="34" charset="0"/>
              </a:rPr>
              <a:t>		delete [] </a:t>
            </a:r>
            <a:r>
              <a:rPr lang="en-US" sz="1000" b="1" dirty="0" err="1">
                <a:latin typeface="Consolas" panose="020B0609020204030204" pitchFamily="49" charset="0"/>
                <a:cs typeface="Arial" panose="020B0604020202020204" pitchFamily="34" charset="0"/>
              </a:rPr>
              <a:t>off_diagonal</a:t>
            </a:r>
            <a:r>
              <a:rPr lang="en-US" sz="1000" b="1" dirty="0">
                <a:latin typeface="Consolas" panose="020B0609020204030204" pitchFamily="49" charset="0"/>
                <a:cs typeface="Arial" panose="020B0604020202020204" pitchFamily="34" charset="0"/>
              </a:rPr>
              <a:t>;</a:t>
            </a:r>
            <a:endParaRPr lang="en-US" sz="1000" b="1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000" b="1" dirty="0">
                <a:latin typeface="Consolas" panose="020B0609020204030204" pitchFamily="49" charset="0"/>
                <a:cs typeface="Arial" panose="020B0604020202020204" pitchFamily="34" charset="0"/>
              </a:rPr>
              <a:t>		capacity = </a:t>
            </a:r>
            <a:r>
              <a:rPr lang="en-US" sz="1000" b="1" dirty="0" err="1">
                <a:latin typeface="Consolas" panose="020B0609020204030204" pitchFamily="49" charset="0"/>
                <a:cs typeface="Arial" panose="020B0604020202020204" pitchFamily="34" charset="0"/>
              </a:rPr>
              <a:t>A.capacity</a:t>
            </a:r>
            <a:r>
              <a:rPr lang="en-US" sz="1000" b="1" dirty="0">
                <a:latin typeface="Consolas" panose="020B0609020204030204" pitchFamily="49" charset="0"/>
                <a:cs typeface="Arial" panose="020B0604020202020204" pitchFamily="34" charset="0"/>
              </a:rPr>
              <a:t>;</a:t>
            </a:r>
            <a:endParaRPr lang="en-US" sz="1000" b="1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000" b="1" dirty="0">
                <a:latin typeface="Consolas" panose="020B0609020204030204" pitchFamily="49" charset="0"/>
                <a:cs typeface="Arial" panose="020B0604020202020204" pitchFamily="34" charset="0"/>
              </a:rPr>
              <a:t>		</a:t>
            </a:r>
            <a:r>
              <a:rPr lang="en-US" sz="1000" b="1" dirty="0" err="1">
                <a:latin typeface="Consolas" panose="020B0609020204030204" pitchFamily="49" charset="0"/>
                <a:cs typeface="Arial" panose="020B0604020202020204" pitchFamily="34" charset="0"/>
              </a:rPr>
              <a:t>column_index</a:t>
            </a:r>
            <a:r>
              <a:rPr lang="en-US" sz="1000" b="1" dirty="0">
                <a:latin typeface="Consolas" panose="020B0609020204030204" pitchFamily="49" charset="0"/>
                <a:cs typeface="Arial" panose="020B0604020202020204" pitchFamily="34" charset="0"/>
              </a:rPr>
              <a:t> = new </a:t>
            </a:r>
            <a:r>
              <a:rPr lang="en-US" sz="1000" b="1" dirty="0" err="1">
                <a:latin typeface="Consolas" panose="020B0609020204030204" pitchFamily="49" charset="0"/>
                <a:cs typeface="Arial" panose="020B0604020202020204" pitchFamily="34" charset="0"/>
              </a:rPr>
              <a:t>int</a:t>
            </a:r>
            <a:r>
              <a:rPr lang="en-US" sz="1000" b="1" dirty="0">
                <a:latin typeface="Consolas" panose="020B0609020204030204" pitchFamily="49" charset="0"/>
                <a:cs typeface="Arial" panose="020B0604020202020204" pitchFamily="34" charset="0"/>
              </a:rPr>
              <a:t>[capacity];</a:t>
            </a:r>
            <a:endParaRPr lang="en-US" sz="1000" b="1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000" b="1" dirty="0">
                <a:latin typeface="Consolas" panose="020B0609020204030204" pitchFamily="49" charset="0"/>
                <a:cs typeface="Arial" panose="020B0604020202020204" pitchFamily="34" charset="0"/>
              </a:rPr>
              <a:t>		</a:t>
            </a:r>
            <a:r>
              <a:rPr lang="en-US" sz="1000" b="1" dirty="0" err="1">
                <a:latin typeface="Consolas" panose="020B0609020204030204" pitchFamily="49" charset="0"/>
                <a:cs typeface="Arial" panose="020B0604020202020204" pitchFamily="34" charset="0"/>
              </a:rPr>
              <a:t>off_diagonal</a:t>
            </a:r>
            <a:r>
              <a:rPr lang="en-US" sz="1000" b="1" dirty="0">
                <a:latin typeface="Consolas" panose="020B0609020204030204" pitchFamily="49" charset="0"/>
                <a:cs typeface="Arial" panose="020B0604020202020204" pitchFamily="34" charset="0"/>
              </a:rPr>
              <a:t> = new double[capacity];</a:t>
            </a:r>
            <a:endParaRPr lang="en-US" sz="1000" b="1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000" b="1" dirty="0">
                <a:latin typeface="Consolas" panose="020B0609020204030204" pitchFamily="49" charset="0"/>
                <a:cs typeface="Arial" panose="020B0604020202020204" pitchFamily="34" charset="0"/>
              </a:rPr>
              <a:t>	}</a:t>
            </a:r>
            <a:endParaRPr lang="en-US" sz="1000" b="1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sz="1000" b="1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000" b="1" dirty="0">
                <a:latin typeface="Consolas" panose="020B0609020204030204" pitchFamily="49" charset="0"/>
                <a:cs typeface="Arial" panose="020B0604020202020204" pitchFamily="34" charset="0"/>
              </a:rPr>
              <a:t>	for ( </a:t>
            </a:r>
            <a:r>
              <a:rPr lang="en-US" sz="1000" b="1" dirty="0" err="1">
                <a:latin typeface="Consolas" panose="020B0609020204030204" pitchFamily="49" charset="0"/>
                <a:cs typeface="Arial" panose="020B0604020202020204" pitchFamily="34" charset="0"/>
              </a:rPr>
              <a:t>int</a:t>
            </a:r>
            <a:r>
              <a:rPr lang="en-US" sz="1000" b="1" dirty="0"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en-US" sz="1000" b="1" dirty="0" err="1">
                <a:latin typeface="Consolas" panose="020B0609020204030204" pitchFamily="49" charset="0"/>
                <a:cs typeface="Arial" panose="020B0604020202020204" pitchFamily="34" charset="0"/>
              </a:rPr>
              <a:t>i</a:t>
            </a:r>
            <a:r>
              <a:rPr lang="en-US" sz="1000" b="1" dirty="0">
                <a:latin typeface="Consolas" panose="020B0609020204030204" pitchFamily="49" charset="0"/>
                <a:cs typeface="Arial" panose="020B0604020202020204" pitchFamily="34" charset="0"/>
              </a:rPr>
              <a:t> = 0; </a:t>
            </a:r>
            <a:r>
              <a:rPr lang="en-US" sz="1000" b="1" dirty="0" err="1">
                <a:latin typeface="Consolas" panose="020B0609020204030204" pitchFamily="49" charset="0"/>
                <a:cs typeface="Arial" panose="020B0604020202020204" pitchFamily="34" charset="0"/>
              </a:rPr>
              <a:t>i</a:t>
            </a:r>
            <a:r>
              <a:rPr lang="en-US" sz="1000" b="1" dirty="0">
                <a:latin typeface="Consolas" panose="020B0609020204030204" pitchFamily="49" charset="0"/>
                <a:cs typeface="Arial" panose="020B0604020202020204" pitchFamily="34" charset="0"/>
              </a:rPr>
              <a:t> &lt; </a:t>
            </a:r>
            <a:r>
              <a:rPr lang="en-US" sz="1000" b="1" dirty="0" err="1">
                <a:latin typeface="Consolas" panose="020B0609020204030204" pitchFamily="49" charset="0"/>
                <a:cs typeface="Arial" panose="020B0604020202020204" pitchFamily="34" charset="0"/>
              </a:rPr>
              <a:t>minMN</a:t>
            </a:r>
            <a:r>
              <a:rPr lang="en-US" sz="1000" b="1" dirty="0">
                <a:latin typeface="Consolas" panose="020B0609020204030204" pitchFamily="49" charset="0"/>
                <a:cs typeface="Arial" panose="020B0604020202020204" pitchFamily="34" charset="0"/>
              </a:rPr>
              <a:t>; ++</a:t>
            </a:r>
            <a:r>
              <a:rPr lang="en-US" sz="1000" b="1" dirty="0" err="1">
                <a:latin typeface="Consolas" panose="020B0609020204030204" pitchFamily="49" charset="0"/>
                <a:cs typeface="Arial" panose="020B0604020202020204" pitchFamily="34" charset="0"/>
              </a:rPr>
              <a:t>i</a:t>
            </a:r>
            <a:r>
              <a:rPr lang="en-US" sz="1000" b="1" dirty="0">
                <a:latin typeface="Consolas" panose="020B0609020204030204" pitchFamily="49" charset="0"/>
                <a:cs typeface="Arial" panose="020B0604020202020204" pitchFamily="34" charset="0"/>
              </a:rPr>
              <a:t> ) {</a:t>
            </a:r>
            <a:endParaRPr lang="en-US" sz="1000" b="1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000" b="1" dirty="0">
                <a:latin typeface="Consolas" panose="020B0609020204030204" pitchFamily="49" charset="0"/>
                <a:cs typeface="Arial" panose="020B0604020202020204" pitchFamily="34" charset="0"/>
              </a:rPr>
              <a:t>		diagonal[</a:t>
            </a:r>
            <a:r>
              <a:rPr lang="en-US" sz="1000" b="1" dirty="0" err="1">
                <a:latin typeface="Consolas" panose="020B0609020204030204" pitchFamily="49" charset="0"/>
                <a:cs typeface="Arial" panose="020B0604020202020204" pitchFamily="34" charset="0"/>
              </a:rPr>
              <a:t>i</a:t>
            </a:r>
            <a:r>
              <a:rPr lang="en-US" sz="1000" b="1" dirty="0">
                <a:latin typeface="Consolas" panose="020B0609020204030204" pitchFamily="49" charset="0"/>
                <a:cs typeface="Arial" panose="020B0604020202020204" pitchFamily="34" charset="0"/>
              </a:rPr>
              <a:t>] = </a:t>
            </a:r>
            <a:r>
              <a:rPr lang="en-US" sz="1000" b="1" dirty="0" err="1">
                <a:latin typeface="Consolas" panose="020B0609020204030204" pitchFamily="49" charset="0"/>
                <a:cs typeface="Arial" panose="020B0604020202020204" pitchFamily="34" charset="0"/>
              </a:rPr>
              <a:t>A.diagonal</a:t>
            </a:r>
            <a:r>
              <a:rPr lang="en-US" sz="1000" b="1" dirty="0">
                <a:latin typeface="Consolas" panose="020B0609020204030204" pitchFamily="49" charset="0"/>
                <a:cs typeface="Arial" panose="020B0604020202020204" pitchFamily="34" charset="0"/>
              </a:rPr>
              <a:t>[</a:t>
            </a:r>
            <a:r>
              <a:rPr lang="en-US" sz="1000" b="1" dirty="0" err="1">
                <a:latin typeface="Consolas" panose="020B0609020204030204" pitchFamily="49" charset="0"/>
                <a:cs typeface="Arial" panose="020B0604020202020204" pitchFamily="34" charset="0"/>
              </a:rPr>
              <a:t>i</a:t>
            </a:r>
            <a:r>
              <a:rPr lang="en-US" sz="1000" b="1" dirty="0">
                <a:latin typeface="Consolas" panose="020B0609020204030204" pitchFamily="49" charset="0"/>
                <a:cs typeface="Arial" panose="020B0604020202020204" pitchFamily="34" charset="0"/>
              </a:rPr>
              <a:t>];</a:t>
            </a:r>
            <a:endParaRPr lang="en-US" sz="1000" b="1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000" b="1" dirty="0">
                <a:latin typeface="Consolas" panose="020B0609020204030204" pitchFamily="49" charset="0"/>
                <a:cs typeface="Arial" panose="020B0604020202020204" pitchFamily="34" charset="0"/>
              </a:rPr>
              <a:t>	}</a:t>
            </a:r>
            <a:endParaRPr lang="en-US" sz="1000" b="1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sz="1000" b="1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000" b="1" dirty="0">
                <a:latin typeface="Consolas" panose="020B0609020204030204" pitchFamily="49" charset="0"/>
                <a:cs typeface="Arial" panose="020B0604020202020204" pitchFamily="34" charset="0"/>
              </a:rPr>
              <a:t>	for ( </a:t>
            </a:r>
            <a:r>
              <a:rPr lang="en-US" sz="1000" b="1" dirty="0" err="1">
                <a:latin typeface="Consolas" panose="020B0609020204030204" pitchFamily="49" charset="0"/>
                <a:cs typeface="Arial" panose="020B0604020202020204" pitchFamily="34" charset="0"/>
              </a:rPr>
              <a:t>int</a:t>
            </a:r>
            <a:r>
              <a:rPr lang="en-US" sz="1000" b="1" dirty="0"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en-US" sz="1000" b="1" dirty="0" err="1">
                <a:latin typeface="Consolas" panose="020B0609020204030204" pitchFamily="49" charset="0"/>
                <a:cs typeface="Arial" panose="020B0604020202020204" pitchFamily="34" charset="0"/>
              </a:rPr>
              <a:t>i</a:t>
            </a:r>
            <a:r>
              <a:rPr lang="en-US" sz="1000" b="1" dirty="0">
                <a:latin typeface="Consolas" panose="020B0609020204030204" pitchFamily="49" charset="0"/>
                <a:cs typeface="Arial" panose="020B0604020202020204" pitchFamily="34" charset="0"/>
              </a:rPr>
              <a:t> = 0; </a:t>
            </a:r>
            <a:r>
              <a:rPr lang="en-US" sz="1000" b="1" dirty="0" err="1">
                <a:latin typeface="Consolas" panose="020B0609020204030204" pitchFamily="49" charset="0"/>
                <a:cs typeface="Arial" panose="020B0604020202020204" pitchFamily="34" charset="0"/>
              </a:rPr>
              <a:t>i</a:t>
            </a:r>
            <a:r>
              <a:rPr lang="en-US" sz="1000" b="1" dirty="0">
                <a:latin typeface="Consolas" panose="020B0609020204030204" pitchFamily="49" charset="0"/>
                <a:cs typeface="Arial" panose="020B0604020202020204" pitchFamily="34" charset="0"/>
              </a:rPr>
              <a:t> &lt;= M; ++</a:t>
            </a:r>
            <a:r>
              <a:rPr lang="en-US" sz="1000" b="1" dirty="0" err="1">
                <a:latin typeface="Consolas" panose="020B0609020204030204" pitchFamily="49" charset="0"/>
                <a:cs typeface="Arial" panose="020B0604020202020204" pitchFamily="34" charset="0"/>
              </a:rPr>
              <a:t>i</a:t>
            </a:r>
            <a:r>
              <a:rPr lang="en-US" sz="1000" b="1" dirty="0">
                <a:latin typeface="Consolas" panose="020B0609020204030204" pitchFamily="49" charset="0"/>
                <a:cs typeface="Arial" panose="020B0604020202020204" pitchFamily="34" charset="0"/>
              </a:rPr>
              <a:t> ) {</a:t>
            </a:r>
            <a:endParaRPr lang="en-US" sz="1000" b="1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000" b="1" dirty="0">
                <a:latin typeface="Consolas" panose="020B0609020204030204" pitchFamily="49" charset="0"/>
                <a:cs typeface="Arial" panose="020B0604020202020204" pitchFamily="34" charset="0"/>
              </a:rPr>
              <a:t>		</a:t>
            </a:r>
            <a:r>
              <a:rPr lang="en-US" sz="1000" b="1" dirty="0" err="1">
                <a:latin typeface="Consolas" panose="020B0609020204030204" pitchFamily="49" charset="0"/>
                <a:cs typeface="Arial" panose="020B0604020202020204" pitchFamily="34" charset="0"/>
              </a:rPr>
              <a:t>row_index</a:t>
            </a:r>
            <a:r>
              <a:rPr lang="en-US" sz="1000" b="1" dirty="0">
                <a:latin typeface="Consolas" panose="020B0609020204030204" pitchFamily="49" charset="0"/>
                <a:cs typeface="Arial" panose="020B0604020202020204" pitchFamily="34" charset="0"/>
              </a:rPr>
              <a:t>[</a:t>
            </a:r>
            <a:r>
              <a:rPr lang="en-US" sz="1000" b="1" dirty="0" err="1">
                <a:latin typeface="Consolas" panose="020B0609020204030204" pitchFamily="49" charset="0"/>
                <a:cs typeface="Arial" panose="020B0604020202020204" pitchFamily="34" charset="0"/>
              </a:rPr>
              <a:t>i</a:t>
            </a:r>
            <a:r>
              <a:rPr lang="en-US" sz="1000" b="1" dirty="0">
                <a:latin typeface="Consolas" panose="020B0609020204030204" pitchFamily="49" charset="0"/>
                <a:cs typeface="Arial" panose="020B0604020202020204" pitchFamily="34" charset="0"/>
              </a:rPr>
              <a:t>] = </a:t>
            </a:r>
            <a:r>
              <a:rPr lang="en-US" sz="1000" b="1" dirty="0" err="1">
                <a:latin typeface="Consolas" panose="020B0609020204030204" pitchFamily="49" charset="0"/>
                <a:cs typeface="Arial" panose="020B0604020202020204" pitchFamily="34" charset="0"/>
              </a:rPr>
              <a:t>A.row_index</a:t>
            </a:r>
            <a:r>
              <a:rPr lang="en-US" sz="1000" b="1" dirty="0">
                <a:latin typeface="Consolas" panose="020B0609020204030204" pitchFamily="49" charset="0"/>
                <a:cs typeface="Arial" panose="020B0604020202020204" pitchFamily="34" charset="0"/>
              </a:rPr>
              <a:t>[</a:t>
            </a:r>
            <a:r>
              <a:rPr lang="en-US" sz="1000" b="1" dirty="0" err="1">
                <a:latin typeface="Consolas" panose="020B0609020204030204" pitchFamily="49" charset="0"/>
                <a:cs typeface="Arial" panose="020B0604020202020204" pitchFamily="34" charset="0"/>
              </a:rPr>
              <a:t>i</a:t>
            </a:r>
            <a:r>
              <a:rPr lang="en-US" sz="1000" b="1" dirty="0">
                <a:latin typeface="Consolas" panose="020B0609020204030204" pitchFamily="49" charset="0"/>
                <a:cs typeface="Arial" panose="020B0604020202020204" pitchFamily="34" charset="0"/>
              </a:rPr>
              <a:t>];</a:t>
            </a:r>
            <a:endParaRPr lang="en-US" sz="1000" b="1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000" b="1" dirty="0">
                <a:latin typeface="Consolas" panose="020B0609020204030204" pitchFamily="49" charset="0"/>
                <a:cs typeface="Arial" panose="020B0604020202020204" pitchFamily="34" charset="0"/>
              </a:rPr>
              <a:t>	}</a:t>
            </a:r>
            <a:endParaRPr lang="en-US" sz="1000" b="1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sz="1000" b="1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000" b="1" dirty="0">
                <a:latin typeface="Consolas" panose="020B0609020204030204" pitchFamily="49" charset="0"/>
                <a:cs typeface="Arial" panose="020B0604020202020204" pitchFamily="34" charset="0"/>
              </a:rPr>
              <a:t>	for ( </a:t>
            </a:r>
            <a:r>
              <a:rPr lang="en-US" sz="1000" b="1" dirty="0" err="1">
                <a:latin typeface="Consolas" panose="020B0609020204030204" pitchFamily="49" charset="0"/>
                <a:cs typeface="Arial" panose="020B0604020202020204" pitchFamily="34" charset="0"/>
              </a:rPr>
              <a:t>int</a:t>
            </a:r>
            <a:r>
              <a:rPr lang="en-US" sz="1000" b="1" dirty="0"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en-US" sz="1000" b="1" dirty="0" err="1">
                <a:latin typeface="Consolas" panose="020B0609020204030204" pitchFamily="49" charset="0"/>
                <a:cs typeface="Arial" panose="020B0604020202020204" pitchFamily="34" charset="0"/>
              </a:rPr>
              <a:t>i</a:t>
            </a:r>
            <a:r>
              <a:rPr lang="en-US" sz="1000" b="1" dirty="0">
                <a:latin typeface="Consolas" panose="020B0609020204030204" pitchFamily="49" charset="0"/>
                <a:cs typeface="Arial" panose="020B0604020202020204" pitchFamily="34" charset="0"/>
              </a:rPr>
              <a:t> = 0; </a:t>
            </a:r>
            <a:r>
              <a:rPr lang="en-US" sz="1000" b="1" dirty="0" err="1">
                <a:latin typeface="Consolas" panose="020B0609020204030204" pitchFamily="49" charset="0"/>
                <a:cs typeface="Arial" panose="020B0604020202020204" pitchFamily="34" charset="0"/>
              </a:rPr>
              <a:t>i</a:t>
            </a:r>
            <a:r>
              <a:rPr lang="en-US" sz="1000" b="1" dirty="0">
                <a:latin typeface="Consolas" panose="020B0609020204030204" pitchFamily="49" charset="0"/>
                <a:cs typeface="Arial" panose="020B0604020202020204" pitchFamily="34" charset="0"/>
              </a:rPr>
              <a:t> &lt; </a:t>
            </a:r>
            <a:r>
              <a:rPr lang="en-US" sz="1000" b="1" dirty="0" err="1">
                <a:latin typeface="Consolas" panose="020B0609020204030204" pitchFamily="49" charset="0"/>
                <a:cs typeface="Arial" panose="020B0604020202020204" pitchFamily="34" charset="0"/>
              </a:rPr>
              <a:t>A.size</a:t>
            </a:r>
            <a:r>
              <a:rPr lang="en-US" sz="1000" b="1" dirty="0">
                <a:latin typeface="Consolas" panose="020B0609020204030204" pitchFamily="49" charset="0"/>
                <a:cs typeface="Arial" panose="020B0604020202020204" pitchFamily="34" charset="0"/>
              </a:rPr>
              <a:t>(); ++</a:t>
            </a:r>
            <a:r>
              <a:rPr lang="en-US" sz="1000" b="1" dirty="0" err="1">
                <a:latin typeface="Consolas" panose="020B0609020204030204" pitchFamily="49" charset="0"/>
                <a:cs typeface="Arial" panose="020B0604020202020204" pitchFamily="34" charset="0"/>
              </a:rPr>
              <a:t>i</a:t>
            </a:r>
            <a:r>
              <a:rPr lang="en-US" sz="1000" b="1" dirty="0">
                <a:latin typeface="Consolas" panose="020B0609020204030204" pitchFamily="49" charset="0"/>
                <a:cs typeface="Arial" panose="020B0604020202020204" pitchFamily="34" charset="0"/>
              </a:rPr>
              <a:t> ) {</a:t>
            </a:r>
            <a:endParaRPr lang="en-US" sz="1000" b="1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000" b="1" dirty="0">
                <a:latin typeface="Consolas" panose="020B0609020204030204" pitchFamily="49" charset="0"/>
                <a:cs typeface="Arial" panose="020B0604020202020204" pitchFamily="34" charset="0"/>
              </a:rPr>
              <a:t>		</a:t>
            </a:r>
            <a:r>
              <a:rPr lang="en-US" sz="1000" b="1" dirty="0" err="1">
                <a:latin typeface="Consolas" panose="020B0609020204030204" pitchFamily="49" charset="0"/>
                <a:cs typeface="Arial" panose="020B0604020202020204" pitchFamily="34" charset="0"/>
              </a:rPr>
              <a:t>column_index</a:t>
            </a:r>
            <a:r>
              <a:rPr lang="en-US" sz="1000" b="1" dirty="0">
                <a:latin typeface="Consolas" panose="020B0609020204030204" pitchFamily="49" charset="0"/>
                <a:cs typeface="Arial" panose="020B0604020202020204" pitchFamily="34" charset="0"/>
              </a:rPr>
              <a:t>[</a:t>
            </a:r>
            <a:r>
              <a:rPr lang="en-US" sz="1000" b="1" dirty="0" err="1">
                <a:latin typeface="Consolas" panose="020B0609020204030204" pitchFamily="49" charset="0"/>
                <a:cs typeface="Arial" panose="020B0604020202020204" pitchFamily="34" charset="0"/>
              </a:rPr>
              <a:t>i</a:t>
            </a:r>
            <a:r>
              <a:rPr lang="en-US" sz="1000" b="1" dirty="0">
                <a:latin typeface="Consolas" panose="020B0609020204030204" pitchFamily="49" charset="0"/>
                <a:cs typeface="Arial" panose="020B0604020202020204" pitchFamily="34" charset="0"/>
              </a:rPr>
              <a:t>] = </a:t>
            </a:r>
            <a:r>
              <a:rPr lang="en-US" sz="1000" b="1" dirty="0" err="1">
                <a:latin typeface="Consolas" panose="020B0609020204030204" pitchFamily="49" charset="0"/>
                <a:cs typeface="Arial" panose="020B0604020202020204" pitchFamily="34" charset="0"/>
              </a:rPr>
              <a:t>A.column_index</a:t>
            </a:r>
            <a:r>
              <a:rPr lang="en-US" sz="1000" b="1" dirty="0">
                <a:latin typeface="Consolas" panose="020B0609020204030204" pitchFamily="49" charset="0"/>
                <a:cs typeface="Arial" panose="020B0604020202020204" pitchFamily="34" charset="0"/>
              </a:rPr>
              <a:t>[</a:t>
            </a:r>
            <a:r>
              <a:rPr lang="en-US" sz="1000" b="1" dirty="0" err="1">
                <a:latin typeface="Consolas" panose="020B0609020204030204" pitchFamily="49" charset="0"/>
                <a:cs typeface="Arial" panose="020B0604020202020204" pitchFamily="34" charset="0"/>
              </a:rPr>
              <a:t>i</a:t>
            </a:r>
            <a:r>
              <a:rPr lang="en-US" sz="1000" b="1" dirty="0">
                <a:latin typeface="Consolas" panose="020B0609020204030204" pitchFamily="49" charset="0"/>
                <a:cs typeface="Arial" panose="020B0604020202020204" pitchFamily="34" charset="0"/>
              </a:rPr>
              <a:t>];</a:t>
            </a:r>
            <a:endParaRPr lang="en-US" sz="1000" b="1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000" b="1" dirty="0">
                <a:latin typeface="Consolas" panose="020B0609020204030204" pitchFamily="49" charset="0"/>
                <a:cs typeface="Arial" panose="020B0604020202020204" pitchFamily="34" charset="0"/>
              </a:rPr>
              <a:t>		</a:t>
            </a:r>
            <a:r>
              <a:rPr lang="en-US" sz="1000" b="1" dirty="0" err="1">
                <a:latin typeface="Consolas" panose="020B0609020204030204" pitchFamily="49" charset="0"/>
                <a:cs typeface="Arial" panose="020B0604020202020204" pitchFamily="34" charset="0"/>
              </a:rPr>
              <a:t>off_diagonal</a:t>
            </a:r>
            <a:r>
              <a:rPr lang="en-US" sz="1000" b="1" dirty="0">
                <a:latin typeface="Consolas" panose="020B0609020204030204" pitchFamily="49" charset="0"/>
                <a:cs typeface="Arial" panose="020B0604020202020204" pitchFamily="34" charset="0"/>
              </a:rPr>
              <a:t>[</a:t>
            </a:r>
            <a:r>
              <a:rPr lang="en-US" sz="1000" b="1" dirty="0" err="1">
                <a:latin typeface="Consolas" panose="020B0609020204030204" pitchFamily="49" charset="0"/>
                <a:cs typeface="Arial" panose="020B0604020202020204" pitchFamily="34" charset="0"/>
              </a:rPr>
              <a:t>i</a:t>
            </a:r>
            <a:r>
              <a:rPr lang="en-US" sz="1000" b="1" dirty="0">
                <a:latin typeface="Consolas" panose="020B0609020204030204" pitchFamily="49" charset="0"/>
                <a:cs typeface="Arial" panose="020B0604020202020204" pitchFamily="34" charset="0"/>
              </a:rPr>
              <a:t>] = </a:t>
            </a:r>
            <a:r>
              <a:rPr lang="en-US" sz="1000" b="1" dirty="0" err="1">
                <a:latin typeface="Consolas" panose="020B0609020204030204" pitchFamily="49" charset="0"/>
                <a:cs typeface="Arial" panose="020B0604020202020204" pitchFamily="34" charset="0"/>
              </a:rPr>
              <a:t>A.off_diagonal</a:t>
            </a:r>
            <a:r>
              <a:rPr lang="en-US" sz="1000" b="1" dirty="0">
                <a:latin typeface="Consolas" panose="020B0609020204030204" pitchFamily="49" charset="0"/>
                <a:cs typeface="Arial" panose="020B0604020202020204" pitchFamily="34" charset="0"/>
              </a:rPr>
              <a:t>[</a:t>
            </a:r>
            <a:r>
              <a:rPr lang="en-US" sz="1000" b="1" dirty="0" err="1">
                <a:latin typeface="Consolas" panose="020B0609020204030204" pitchFamily="49" charset="0"/>
                <a:cs typeface="Arial" panose="020B0604020202020204" pitchFamily="34" charset="0"/>
              </a:rPr>
              <a:t>i</a:t>
            </a:r>
            <a:r>
              <a:rPr lang="en-US" sz="1000" b="1" dirty="0">
                <a:latin typeface="Consolas" panose="020B0609020204030204" pitchFamily="49" charset="0"/>
                <a:cs typeface="Arial" panose="020B0604020202020204" pitchFamily="34" charset="0"/>
              </a:rPr>
              <a:t>];</a:t>
            </a:r>
            <a:endParaRPr lang="en-US" sz="1000" b="1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000" b="1" dirty="0">
                <a:latin typeface="Consolas" panose="020B0609020204030204" pitchFamily="49" charset="0"/>
                <a:cs typeface="Arial" panose="020B0604020202020204" pitchFamily="34" charset="0"/>
              </a:rPr>
              <a:t>	}</a:t>
            </a:r>
            <a:endParaRPr lang="en-US" sz="1000" b="1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sz="1000" b="1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000" b="1" dirty="0">
                <a:latin typeface="Consolas" panose="020B0609020204030204" pitchFamily="49" charset="0"/>
                <a:cs typeface="Arial" panose="020B0604020202020204" pitchFamily="34" charset="0"/>
              </a:rPr>
              <a:t>	return *this;</a:t>
            </a:r>
            <a:endParaRPr lang="en-US" sz="1000" b="1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000" b="1" dirty="0">
                <a:latin typeface="Consolas" panose="020B0609020204030204" pitchFamily="49" charset="0"/>
                <a:cs typeface="Arial" panose="020B0604020202020204" pitchFamily="34" charset="0"/>
              </a:rPr>
              <a:t>}</a:t>
            </a:r>
            <a:endParaRPr lang="en-US" sz="400" b="1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38916" name="TextBox 4"/>
          <p:cNvSpPr txBox="1">
            <a:spLocks noChangeArrowheads="1"/>
          </p:cNvSpPr>
          <p:nvPr/>
        </p:nvSpPr>
        <p:spPr bwMode="auto">
          <a:xfrm>
            <a:off x="4248942" y="1659207"/>
            <a:ext cx="646113" cy="3698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CA" b="1" dirty="0">
                <a:latin typeface="Symbol" panose="05050102010706020507" charset="2"/>
              </a:rPr>
              <a:t>Q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endParaRPr lang="en-C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917" name="TextBox 5"/>
          <p:cNvSpPr txBox="1">
            <a:spLocks noChangeArrowheads="1"/>
          </p:cNvSpPr>
          <p:nvPr/>
        </p:nvSpPr>
        <p:spPr bwMode="auto">
          <a:xfrm>
            <a:off x="4252612" y="3017584"/>
            <a:ext cx="646113" cy="3698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CA" b="1" dirty="0">
                <a:latin typeface="Symbol" panose="05050102010706020507" charset="2"/>
              </a:rPr>
              <a:t>Q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endParaRPr lang="en-C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918" name="TextBox 6"/>
          <p:cNvSpPr txBox="1">
            <a:spLocks noChangeArrowheads="1"/>
          </p:cNvSpPr>
          <p:nvPr/>
        </p:nvSpPr>
        <p:spPr bwMode="auto">
          <a:xfrm>
            <a:off x="3817140" y="3834036"/>
            <a:ext cx="1509713" cy="3698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CA" b="1" dirty="0">
                <a:latin typeface="Symbol" panose="05050102010706020507" charset="2"/>
              </a:rPr>
              <a:t>Q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(min(</a:t>
            </a:r>
            <a:r>
              <a:rPr lang="en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endParaRPr lang="en-C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919" name="TextBox 7"/>
          <p:cNvSpPr txBox="1">
            <a:spLocks noChangeArrowheads="1"/>
          </p:cNvSpPr>
          <p:nvPr/>
        </p:nvSpPr>
        <p:spPr bwMode="auto">
          <a:xfrm>
            <a:off x="4259262" y="5399434"/>
            <a:ext cx="625475" cy="3698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CA" b="1" dirty="0">
                <a:latin typeface="Symbol" panose="05050102010706020507" charset="2"/>
              </a:rPr>
              <a:t>Q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C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920" name="TextBox 8"/>
          <p:cNvSpPr txBox="1">
            <a:spLocks noChangeArrowheads="1"/>
          </p:cNvSpPr>
          <p:nvPr/>
        </p:nvSpPr>
        <p:spPr bwMode="auto">
          <a:xfrm>
            <a:off x="4248942" y="6126163"/>
            <a:ext cx="646113" cy="3698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CA" b="1" dirty="0">
                <a:latin typeface="Symbol" panose="05050102010706020507" charset="2"/>
              </a:rPr>
              <a:t>Q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endParaRPr lang="en-C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921" name="TextBox 9"/>
          <p:cNvSpPr txBox="1">
            <a:spLocks noChangeArrowheads="1"/>
          </p:cNvSpPr>
          <p:nvPr/>
        </p:nvSpPr>
        <p:spPr bwMode="auto">
          <a:xfrm>
            <a:off x="4221160" y="4568490"/>
            <a:ext cx="701675" cy="3698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CA" b="1" dirty="0">
                <a:latin typeface="Symbol" panose="05050102010706020507" charset="2"/>
              </a:rPr>
              <a:t>Q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C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922" name="TextBox 10"/>
          <p:cNvSpPr txBox="1">
            <a:spLocks noChangeArrowheads="1"/>
          </p:cNvSpPr>
          <p:nvPr/>
        </p:nvSpPr>
        <p:spPr bwMode="auto">
          <a:xfrm>
            <a:off x="5397822" y="1561082"/>
            <a:ext cx="3422650" cy="6461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CA" b="1" dirty="0">
                <a:latin typeface="Symbol" panose="05050102010706020507" charset="2"/>
              </a:rPr>
              <a:t>Q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 + 1 + min(</a:t>
            </a:r>
            <a:r>
              <a:rPr lang="en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</a:t>
            </a:r>
            <a:r>
              <a:rPr lang="en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+ 1)</a:t>
            </a:r>
            <a:endParaRPr lang="en-C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= </a:t>
            </a:r>
            <a:r>
              <a:rPr lang="en-CA" b="1" dirty="0">
                <a:latin typeface="Symbol" panose="05050102010706020507" charset="2"/>
              </a:rPr>
              <a:t>Q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C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923" name="TextBox 12"/>
          <p:cNvSpPr txBox="1">
            <a:spLocks noChangeArrowheads="1"/>
          </p:cNvSpPr>
          <p:nvPr/>
        </p:nvSpPr>
        <p:spPr bwMode="auto">
          <a:xfrm>
            <a:off x="5397822" y="2207194"/>
            <a:ext cx="3669050" cy="120032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Note that 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min(</a:t>
            </a:r>
            <a:r>
              <a:rPr lang="en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≤ </a:t>
            </a:r>
            <a:r>
              <a:rPr lang="en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cannot say anything about </a:t>
            </a:r>
            <a:r>
              <a:rPr lang="en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dirty="0"/>
              <a:t> and </a:t>
            </a:r>
            <a:r>
              <a:rPr lang="en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zh-CN" dirty="0"/>
              <a:t>As a convention, we keep both.</a:t>
            </a:r>
            <a:endParaRPr lang="en-C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22" grpId="0"/>
      <p:bldP spid="38923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Blocks in Sequence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939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Other examples: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Run three blocks of code which are </a:t>
            </a:r>
            <a:r>
              <a:rPr lang="en-CA" b="1" dirty="0">
                <a:latin typeface="Symbol" panose="05050102010706020507" charset="2"/>
                <a:cs typeface="Arial" panose="020B0604020202020204" pitchFamily="34" charset="0"/>
              </a:rPr>
              <a:t>Q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CA" b="1" dirty="0">
                <a:latin typeface="Symbol" panose="05050102010706020507" charset="2"/>
                <a:cs typeface="Arial" panose="020B0604020202020204" pitchFamily="34" charset="0"/>
              </a:rPr>
              <a:t>Q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CA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and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CA" b="1" dirty="0">
                <a:latin typeface="Symbol" panose="05050102010706020507" charset="2"/>
                <a:cs typeface="Arial" panose="020B0604020202020204" pitchFamily="34" charset="0"/>
              </a:rPr>
              <a:t>Q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C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	Total run time </a:t>
            </a:r>
            <a:r>
              <a:rPr lang="en-CA" b="1" dirty="0">
                <a:latin typeface="Symbol" panose="05050102010706020507" charset="2"/>
                <a:cs typeface="Arial" panose="020B0604020202020204" pitchFamily="34" charset="0"/>
              </a:rPr>
              <a:t>Q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 + </a:t>
            </a:r>
            <a:r>
              <a:rPr lang="en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CA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n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CA" b="1" dirty="0">
                <a:latin typeface="Symbol" panose="05050102010706020507" charset="2"/>
                <a:cs typeface="Arial" panose="020B0604020202020204" pitchFamily="34" charset="0"/>
              </a:rPr>
              <a:t>Q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CA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C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Run two blocks of code which are </a:t>
            </a:r>
            <a:r>
              <a:rPr lang="en-CA" b="1" dirty="0">
                <a:latin typeface="Symbol" panose="05050102010706020507" charset="2"/>
                <a:cs typeface="Arial" panose="020B0604020202020204" pitchFamily="34" charset="0"/>
              </a:rPr>
              <a:t>Q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ln(</a:t>
            </a:r>
            <a:r>
              <a:rPr lang="en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and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CA" b="1" dirty="0">
                <a:latin typeface="Symbol" panose="05050102010706020507" charset="2"/>
                <a:cs typeface="Arial" panose="020B0604020202020204" pitchFamily="34" charset="0"/>
              </a:rPr>
              <a:t>Q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CA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1.5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C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	Total run time </a:t>
            </a:r>
            <a:r>
              <a:rPr lang="en-CA" b="1" dirty="0">
                <a:latin typeface="Symbol" panose="05050102010706020507" charset="2"/>
                <a:cs typeface="Arial" panose="020B0604020202020204" pitchFamily="34" charset="0"/>
              </a:rPr>
              <a:t>Q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ln(</a:t>
            </a:r>
            <a:r>
              <a:rPr lang="en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</a:t>
            </a:r>
            <a:r>
              <a:rPr lang="en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CA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1.5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CA" b="1" dirty="0">
                <a:latin typeface="Symbol" panose="05050102010706020507" charset="2"/>
                <a:cs typeface="Arial" panose="020B0604020202020204" pitchFamily="34" charset="0"/>
              </a:rPr>
              <a:t>Q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CA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1.5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Recall this linear ordering from the previous topic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 considering a sum, take the dominant term</a:t>
            </a: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9940" name="Picture 5" descr="ff1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857375" y="4076700"/>
            <a:ext cx="5819775" cy="1655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Blocks in Sequence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491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 if we have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both big O and big Theta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the leading term is big-</a:t>
            </a:r>
            <a:r>
              <a:rPr lang="en-US" b="1" dirty="0">
                <a:latin typeface="Symbol" panose="05050102010706020507" charset="2"/>
                <a:cs typeface="Arial" panose="020B0604020202020204" pitchFamily="34" charset="0"/>
              </a:rPr>
              <a:t>Q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then the result must be big-</a:t>
            </a:r>
            <a:r>
              <a:rPr lang="en-US" b="1" dirty="0">
                <a:latin typeface="Symbol" panose="05050102010706020507" charset="2"/>
                <a:cs typeface="Arial" panose="020B0604020202020204" pitchFamily="34" charset="0"/>
              </a:rPr>
              <a:t>Q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otherwise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the leading term is big-</a:t>
            </a:r>
            <a:r>
              <a:rPr 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we can say the result is big-</a:t>
            </a:r>
            <a:r>
              <a:rPr 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For example,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r>
              <a:rPr 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O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 + </a:t>
            </a:r>
            <a:r>
              <a:rPr 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O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baseline="30000" dirty="0">
                <a:latin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 + </a:t>
            </a:r>
            <a:r>
              <a:rPr 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O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baseline="30000" dirty="0">
                <a:latin typeface="Times New Roman" panose="02020603050405020304" pitchFamily="18" charset="0"/>
                <a:cs typeface="Arial" panose="020B0604020202020204" pitchFamily="34" charset="0"/>
              </a:rPr>
              <a:t>4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 = </a:t>
            </a:r>
            <a:r>
              <a:rPr 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O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 +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 n</a:t>
            </a:r>
            <a:r>
              <a:rPr lang="en-US" baseline="30000" dirty="0">
                <a:latin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 + 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baseline="30000" dirty="0">
                <a:latin typeface="Times New Roman" panose="02020603050405020304" pitchFamily="18" charset="0"/>
                <a:cs typeface="Arial" panose="020B0604020202020204" pitchFamily="34" charset="0"/>
              </a:rPr>
              <a:t>4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 = </a:t>
            </a:r>
            <a:r>
              <a:rPr 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O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baseline="30000" dirty="0">
                <a:latin typeface="Times New Roman" panose="02020603050405020304" pitchFamily="18" charset="0"/>
                <a:cs typeface="Arial" panose="020B0604020202020204" pitchFamily="34" charset="0"/>
              </a:rPr>
              <a:t>4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</a:t>
            </a:r>
            <a:endParaRPr 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lvl="1">
              <a:buFont typeface="Arial" panose="020B0604020202020204" pitchFamily="34" charset="0"/>
              <a:buNone/>
            </a:pP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		</a:t>
            </a:r>
            <a:r>
              <a:rPr 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O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 + </a:t>
            </a:r>
            <a:r>
              <a:rPr lang="en-US" b="1" dirty="0">
                <a:latin typeface="Symbol" panose="05050102010706020507" charset="2"/>
                <a:cs typeface="Arial" panose="020B0604020202020204" pitchFamily="34" charset="0"/>
              </a:rPr>
              <a:t>Q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baseline="30000" dirty="0">
                <a:latin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 = </a:t>
            </a:r>
            <a:r>
              <a:rPr lang="en-US" b="1" dirty="0">
                <a:latin typeface="Symbol" panose="05050102010706020507" charset="2"/>
                <a:cs typeface="Arial" panose="020B0604020202020204" pitchFamily="34" charset="0"/>
              </a:rPr>
              <a:t>Q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baseline="30000" dirty="0">
                <a:latin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</a:t>
            </a:r>
            <a:endParaRPr 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lvl="1">
              <a:buFont typeface="Arial" panose="020B0604020202020204" pitchFamily="34" charset="0"/>
              <a:buNone/>
            </a:pP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		</a:t>
            </a:r>
            <a:r>
              <a:rPr 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O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baseline="30000" dirty="0">
                <a:latin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 + </a:t>
            </a:r>
            <a:r>
              <a:rPr lang="en-US" b="1" dirty="0">
                <a:latin typeface="Symbol" panose="05050102010706020507" charset="2"/>
                <a:cs typeface="Arial" panose="020B0604020202020204" pitchFamily="34" charset="0"/>
              </a:rPr>
              <a:t>Q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 = </a:t>
            </a:r>
            <a:r>
              <a:rPr 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O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baseline="30000" dirty="0">
                <a:latin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</a:t>
            </a:r>
            <a:endParaRPr 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lvl="1">
              <a:buFont typeface="Arial" panose="020B0604020202020204" pitchFamily="34" charset="0"/>
              <a:buNone/>
            </a:pP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		</a:t>
            </a:r>
            <a:r>
              <a:rPr 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O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baseline="30000" dirty="0">
                <a:latin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 + </a:t>
            </a:r>
            <a:r>
              <a:rPr lang="en-US" b="1" dirty="0">
                <a:latin typeface="Symbol" panose="05050102010706020507" charset="2"/>
                <a:cs typeface="Arial" panose="020B0604020202020204" pitchFamily="34" charset="0"/>
              </a:rPr>
              <a:t>Q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baseline="30000" dirty="0">
                <a:latin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 = </a:t>
            </a:r>
            <a:r>
              <a:rPr lang="en-US" b="1" dirty="0">
                <a:latin typeface="Symbol" panose="05050102010706020507" charset="2"/>
                <a:cs typeface="Arial" panose="020B0604020202020204" pitchFamily="34" charset="0"/>
              </a:rPr>
              <a:t>Q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baseline="30000" dirty="0">
                <a:latin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</a:t>
            </a:r>
            <a:endParaRPr 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Control Statements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963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Next, we will look at the following control statements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These are statements which potentially alter the execution of instructions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Conditional statements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b="1" dirty="0">
                <a:latin typeface="Consolas" panose="020B0609020204030204" pitchFamily="49" charset="0"/>
                <a:cs typeface="Arial" panose="020B0604020202020204" pitchFamily="34" charset="0"/>
              </a:rPr>
              <a:t>if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b="1" dirty="0">
                <a:latin typeface="Consolas" panose="020B0609020204030204" pitchFamily="49" charset="0"/>
                <a:cs typeface="Arial" panose="020B0604020202020204" pitchFamily="34" charset="0"/>
              </a:rPr>
              <a:t>switch</a:t>
            </a:r>
            <a:endParaRPr lang="en-US" b="1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Condition-controlled loops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b="1" dirty="0">
                <a:latin typeface="Consolas" panose="020B0609020204030204" pitchFamily="49" charset="0"/>
                <a:cs typeface="Arial" panose="020B0604020202020204" pitchFamily="34" charset="0"/>
              </a:rPr>
              <a:t>for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b="1" dirty="0">
                <a:latin typeface="Consolas" panose="020B0609020204030204" pitchFamily="49" charset="0"/>
                <a:cs typeface="Arial" panose="020B0604020202020204" pitchFamily="34" charset="0"/>
              </a:rPr>
              <a:t>while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b="1" dirty="0">
                <a:latin typeface="Consolas" panose="020B0609020204030204" pitchFamily="49" charset="0"/>
                <a:cs typeface="Arial" panose="020B0604020202020204" pitchFamily="34" charset="0"/>
              </a:rPr>
              <a:t>do-while</a:t>
            </a:r>
            <a:endParaRPr lang="en-US" b="1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Count-controlled loops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b="1" dirty="0">
                <a:latin typeface="Consolas" panose="020B0609020204030204" pitchFamily="49" charset="0"/>
                <a:cs typeface="Arial" panose="020B0604020202020204" pitchFamily="34" charset="0"/>
              </a:rPr>
              <a:t>for </a:t>
            </a:r>
            <a:r>
              <a:rPr lang="en-US" b="1" dirty="0" err="1">
                <a:latin typeface="Consolas" panose="020B0609020204030204" pitchFamily="49" charset="0"/>
                <a:cs typeface="Arial" panose="020B0604020202020204" pitchFamily="34" charset="0"/>
              </a:rPr>
              <a:t>i</a:t>
            </a:r>
            <a:r>
              <a:rPr lang="en-US" b="1" dirty="0">
                <a:latin typeface="Consolas" panose="020B0609020204030204" pitchFamily="49" charset="0"/>
                <a:cs typeface="Arial" panose="020B0604020202020204" pitchFamily="34" charset="0"/>
              </a:rPr>
              <a:t> from 1 to 10 do ... end do;       # Maple</a:t>
            </a:r>
            <a:endParaRPr lang="en-US" b="1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Collection-controlled loops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CA" b="1" dirty="0">
                <a:latin typeface="Consolas" panose="020B0609020204030204" pitchFamily="49" charset="0"/>
                <a:cs typeface="Arial" panose="020B0604020202020204" pitchFamily="34" charset="0"/>
              </a:rPr>
              <a:t>foreach ( int </a:t>
            </a:r>
            <a:r>
              <a:rPr lang="en-CA" b="1" dirty="0" err="1">
                <a:latin typeface="Consolas" panose="020B0609020204030204" pitchFamily="49" charset="0"/>
                <a:cs typeface="Arial" panose="020B0604020202020204" pitchFamily="34" charset="0"/>
              </a:rPr>
              <a:t>i</a:t>
            </a:r>
            <a:r>
              <a:rPr lang="en-CA" b="1" dirty="0">
                <a:latin typeface="Consolas" panose="020B0609020204030204" pitchFamily="49" charset="0"/>
                <a:cs typeface="Arial" panose="020B0604020202020204" pitchFamily="34" charset="0"/>
              </a:rPr>
              <a:t> in array ) { ... }</a:t>
            </a:r>
            <a:r>
              <a:rPr lang="en-US" b="1" dirty="0">
                <a:latin typeface="Consolas" panose="020B0609020204030204" pitchFamily="49" charset="0"/>
                <a:cs typeface="Arial" panose="020B0604020202020204" pitchFamily="34" charset="0"/>
              </a:rPr>
              <a:t>      // C#</a:t>
            </a:r>
            <a:endParaRPr lang="en-US" b="1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>
              <a:buFont typeface="Arial" panose="020B0604020202020204" pitchFamily="34" charset="0"/>
              <a:buNone/>
            </a:pPr>
            <a:endParaRPr lang="en-US" sz="1800" b="1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>
              <a:buFont typeface="Arial" panose="020B0604020202020204" pitchFamily="34" charset="0"/>
              <a:buNone/>
            </a:pPr>
            <a:endParaRPr lang="en-US" sz="1800" b="1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Control Statements</a:t>
            </a:r>
            <a:endParaRPr lang="en-US"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987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Given any collection of nested control statements, it is always necessary to work inside out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Determine the run times of the inner-most statements and work your way out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buNone/>
            </a:pPr>
            <a:r>
              <a:rPr lang="en-US" altLang="zh-CN" b="1" dirty="0">
                <a:latin typeface="Courier New" panose="02070309020205020404" charset="0"/>
                <a:cs typeface="Arial" panose="020B0604020202020204" pitchFamily="34" charset="0"/>
              </a:rPr>
              <a:t>for(</a:t>
            </a:r>
            <a:r>
              <a:rPr lang="en-US" altLang="zh-CN" b="1" dirty="0" err="1">
                <a:latin typeface="Courier New" panose="02070309020205020404" charset="0"/>
                <a:cs typeface="Arial" panose="020B0604020202020204" pitchFamily="34" charset="0"/>
              </a:rPr>
              <a:t>i</a:t>
            </a:r>
            <a:r>
              <a:rPr lang="en-US" altLang="zh-CN" b="1" dirty="0">
                <a:latin typeface="Courier New" panose="02070309020205020404" charset="0"/>
                <a:cs typeface="Arial" panose="020B0604020202020204" pitchFamily="34" charset="0"/>
              </a:rPr>
              <a:t>=0; </a:t>
            </a:r>
            <a:r>
              <a:rPr lang="en-US" altLang="zh-CN" b="1" dirty="0" err="1">
                <a:latin typeface="Courier New" panose="02070309020205020404" charset="0"/>
                <a:cs typeface="Arial" panose="020B0604020202020204" pitchFamily="34" charset="0"/>
              </a:rPr>
              <a:t>i</a:t>
            </a:r>
            <a:r>
              <a:rPr lang="en-US" altLang="zh-CN" b="1" dirty="0">
                <a:latin typeface="Courier New" panose="02070309020205020404" charset="0"/>
                <a:cs typeface="Arial" panose="020B0604020202020204" pitchFamily="34" charset="0"/>
              </a:rPr>
              <a:t>&lt;n; </a:t>
            </a:r>
            <a:r>
              <a:rPr lang="en-US" altLang="zh-CN" b="1" dirty="0" err="1">
                <a:latin typeface="Courier New" panose="02070309020205020404" charset="0"/>
                <a:cs typeface="Arial" panose="020B0604020202020204" pitchFamily="34" charset="0"/>
              </a:rPr>
              <a:t>i</a:t>
            </a:r>
            <a:r>
              <a:rPr lang="en-US" altLang="zh-CN" b="1" dirty="0">
                <a:latin typeface="Courier New" panose="02070309020205020404" charset="0"/>
                <a:cs typeface="Arial" panose="020B0604020202020204" pitchFamily="34" charset="0"/>
              </a:rPr>
              <a:t>++) {</a:t>
            </a:r>
            <a:endParaRPr lang="en-US" altLang="zh-CN" b="1" dirty="0">
              <a:latin typeface="Courier New" panose="02070309020205020404" charset="0"/>
              <a:cs typeface="Arial" panose="020B0604020202020204" pitchFamily="34" charset="0"/>
            </a:endParaRPr>
          </a:p>
          <a:p>
            <a:pPr lvl="2">
              <a:buNone/>
            </a:pPr>
            <a:r>
              <a:rPr lang="en-US" altLang="zh-CN" b="1" dirty="0">
                <a:latin typeface="Courier New" panose="02070309020205020404" charset="0"/>
                <a:cs typeface="Arial" panose="020B0604020202020204" pitchFamily="34" charset="0"/>
              </a:rPr>
              <a:t>    // do something...</a:t>
            </a:r>
            <a:endParaRPr lang="en-US" altLang="zh-CN" b="1" dirty="0">
              <a:latin typeface="Courier New" panose="02070309020205020404" charset="0"/>
              <a:cs typeface="Arial" panose="020B0604020202020204" pitchFamily="34" charset="0"/>
            </a:endParaRPr>
          </a:p>
          <a:p>
            <a:pPr lvl="2">
              <a:buNone/>
            </a:pPr>
            <a:r>
              <a:rPr lang="en-US" altLang="zh-CN" b="1" dirty="0">
                <a:latin typeface="Courier New" panose="02070309020205020404" charset="0"/>
                <a:cs typeface="Arial" panose="020B0604020202020204" pitchFamily="34" charset="0"/>
              </a:rPr>
              <a:t>    for(j=0; j&lt;m; </a:t>
            </a:r>
            <a:r>
              <a:rPr lang="en-US" altLang="zh-CN" b="1" dirty="0" err="1">
                <a:latin typeface="Courier New" panose="02070309020205020404" charset="0"/>
                <a:cs typeface="Arial" panose="020B0604020202020204" pitchFamily="34" charset="0"/>
              </a:rPr>
              <a:t>j++</a:t>
            </a:r>
            <a:r>
              <a:rPr lang="en-US" altLang="zh-CN" b="1" dirty="0">
                <a:latin typeface="Courier New" panose="02070309020205020404" charset="0"/>
                <a:cs typeface="Arial" panose="020B0604020202020204" pitchFamily="34" charset="0"/>
              </a:rPr>
              <a:t>) {</a:t>
            </a:r>
            <a:endParaRPr lang="en-US" altLang="zh-CN" b="1" dirty="0">
              <a:latin typeface="Courier New" panose="02070309020205020404" charset="0"/>
              <a:cs typeface="Arial" panose="020B0604020202020204" pitchFamily="34" charset="0"/>
            </a:endParaRPr>
          </a:p>
          <a:p>
            <a:pPr lvl="2">
              <a:buNone/>
            </a:pPr>
            <a:r>
              <a:rPr lang="en-US" altLang="zh-CN" b="1" dirty="0">
                <a:latin typeface="Courier New" panose="02070309020205020404" charset="0"/>
                <a:cs typeface="Arial" panose="020B0604020202020204" pitchFamily="34" charset="0"/>
              </a:rPr>
              <a:t>        // do something else...</a:t>
            </a:r>
            <a:endParaRPr lang="en-US" altLang="zh-CN" b="1" dirty="0">
              <a:latin typeface="Courier New" panose="02070309020205020404" charset="0"/>
              <a:cs typeface="Arial" panose="020B0604020202020204" pitchFamily="34" charset="0"/>
            </a:endParaRPr>
          </a:p>
          <a:p>
            <a:pPr lvl="2">
              <a:buNone/>
            </a:pPr>
            <a:r>
              <a:rPr lang="en-US" altLang="zh-CN" b="1" dirty="0">
                <a:latin typeface="Courier New" panose="02070309020205020404" charset="0"/>
                <a:cs typeface="Arial" panose="020B0604020202020204" pitchFamily="34" charset="0"/>
              </a:rPr>
              <a:t>    }</a:t>
            </a:r>
            <a:endParaRPr lang="en-US" altLang="zh-CN" b="1" dirty="0">
              <a:latin typeface="Courier New" panose="02070309020205020404" charset="0"/>
              <a:cs typeface="Arial" panose="020B0604020202020204" pitchFamily="34" charset="0"/>
            </a:endParaRPr>
          </a:p>
          <a:p>
            <a:pPr lvl="2">
              <a:buNone/>
            </a:pPr>
            <a:r>
              <a:rPr lang="en-US" altLang="zh-CN" b="1" dirty="0">
                <a:latin typeface="Courier New" panose="02070309020205020404" charset="0"/>
                <a:cs typeface="Arial" panose="020B0604020202020204" pitchFamily="34" charset="0"/>
              </a:rPr>
              <a:t>}</a:t>
            </a:r>
            <a:endParaRPr lang="en-US" altLang="zh-CN" b="1" dirty="0">
              <a:latin typeface="Courier New" panose="0207030902020502040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Control Statements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011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Given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buFont typeface="Arial" panose="020B0604020202020204" pitchFamily="34" charset="0"/>
              <a:buNone/>
            </a:pPr>
            <a:r>
              <a:rPr lang="en-US" b="1" dirty="0">
                <a:latin typeface="Courier New" panose="02070309020205020404" charset="0"/>
                <a:cs typeface="Arial" panose="020B0604020202020204" pitchFamily="34" charset="0"/>
              </a:rPr>
              <a:t>if ( </a:t>
            </a:r>
            <a:r>
              <a:rPr lang="en-US" b="1" i="1" dirty="0">
                <a:latin typeface="Courier New" panose="02070309020205020404" charset="0"/>
                <a:cs typeface="Arial" panose="020B0604020202020204" pitchFamily="34" charset="0"/>
              </a:rPr>
              <a:t>condition</a:t>
            </a:r>
            <a:r>
              <a:rPr lang="en-US" b="1" dirty="0">
                <a:latin typeface="Courier New" panose="02070309020205020404" charset="0"/>
                <a:cs typeface="Arial" panose="020B0604020202020204" pitchFamily="34" charset="0"/>
              </a:rPr>
              <a:t> ) {</a:t>
            </a:r>
            <a:endParaRPr lang="en-US" b="1" dirty="0">
              <a:latin typeface="Courier New" panose="02070309020205020404" charset="0"/>
              <a:cs typeface="Arial" panose="020B0604020202020204" pitchFamily="34" charset="0"/>
            </a:endParaRPr>
          </a:p>
          <a:p>
            <a:pPr lvl="2">
              <a:buFont typeface="Arial" panose="020B0604020202020204" pitchFamily="34" charset="0"/>
              <a:buNone/>
            </a:pPr>
            <a:r>
              <a:rPr lang="en-US" b="1" dirty="0">
                <a:latin typeface="Courier New" panose="02070309020205020404" charset="0"/>
                <a:cs typeface="Arial" panose="020B0604020202020204" pitchFamily="34" charset="0"/>
              </a:rPr>
              <a:t>    // true body</a:t>
            </a:r>
            <a:endParaRPr lang="en-US" b="1" dirty="0">
              <a:latin typeface="Courier New" panose="02070309020205020404" charset="0"/>
              <a:cs typeface="Arial" panose="020B0604020202020204" pitchFamily="34" charset="0"/>
            </a:endParaRPr>
          </a:p>
          <a:p>
            <a:pPr lvl="2">
              <a:buFont typeface="Arial" panose="020B0604020202020204" pitchFamily="34" charset="0"/>
              <a:buNone/>
            </a:pPr>
            <a:r>
              <a:rPr lang="en-US" b="1" dirty="0">
                <a:latin typeface="Courier New" panose="02070309020205020404" charset="0"/>
                <a:cs typeface="Arial" panose="020B0604020202020204" pitchFamily="34" charset="0"/>
              </a:rPr>
              <a:t>} else {</a:t>
            </a:r>
            <a:endParaRPr lang="en-US" b="1" dirty="0">
              <a:latin typeface="Courier New" panose="02070309020205020404" charset="0"/>
              <a:cs typeface="Arial" panose="020B0604020202020204" pitchFamily="34" charset="0"/>
            </a:endParaRPr>
          </a:p>
          <a:p>
            <a:pPr lvl="2">
              <a:buFont typeface="Arial" panose="020B0604020202020204" pitchFamily="34" charset="0"/>
              <a:buNone/>
            </a:pPr>
            <a:r>
              <a:rPr lang="en-US" b="1" dirty="0">
                <a:latin typeface="Courier New" panose="02070309020205020404" charset="0"/>
                <a:cs typeface="Arial" panose="020B0604020202020204" pitchFamily="34" charset="0"/>
              </a:rPr>
              <a:t>    // false body</a:t>
            </a:r>
            <a:endParaRPr lang="en-US" b="1" dirty="0">
              <a:latin typeface="Courier New" panose="02070309020205020404" charset="0"/>
              <a:cs typeface="Arial" panose="020B0604020202020204" pitchFamily="34" charset="0"/>
            </a:endParaRPr>
          </a:p>
          <a:p>
            <a:pPr lvl="2">
              <a:buFont typeface="Arial" panose="020B0604020202020204" pitchFamily="34" charset="0"/>
              <a:buNone/>
            </a:pPr>
            <a:r>
              <a:rPr lang="en-US" b="1" dirty="0">
                <a:latin typeface="Courier New" panose="02070309020205020404" charset="0"/>
                <a:cs typeface="Arial" panose="020B0604020202020204" pitchFamily="34" charset="0"/>
              </a:rPr>
              <a:t>}</a:t>
            </a:r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The run time of a conditional statement is: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run time of the condition (the test), plus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run time of the body which is run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In most cases, the run time of the condition is </a:t>
            </a:r>
            <a:r>
              <a:rPr lang="en-US" b="1" dirty="0">
                <a:latin typeface="Symbol" panose="05050102010706020507" charset="2"/>
                <a:cs typeface="Arial" panose="020B0604020202020204" pitchFamily="34" charset="0"/>
              </a:rPr>
              <a:t>Q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(1)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Control Statements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035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some cases, it is easy to determine which statement must be run: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		int factorial ( int n ) {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			if ( n == 0 ) {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				return 1;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			} else {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				return n * factorial ( n – 1 );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			}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		}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Control Statements</a:t>
            </a:r>
            <a:endParaRPr lang="en-US"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059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others, it is less obvious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Find the maximum entry in an array: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Arial" panose="020B0604020202020204" pitchFamily="34" charset="0"/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find_max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*array,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n ) {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		    max = array[0];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		    for (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= 1;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&lt; n; ++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) {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		        if ( array[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] &gt; max ) {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		            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max = array[</a:t>
            </a:r>
            <a:r>
              <a:rPr lang="en-US" sz="16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];</a:t>
            </a:r>
            <a:endParaRPr lang="en-US" sz="1600" b="1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		        }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		    }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		    return max;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		}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Control Statements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083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If we had information about the distribution of the entries of the array, we may be able to determine it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the list is sorted (ascending) it will always be run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the list is sorted (descending) it will never be run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the list is randomly distributed, then??? We don’t know.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Control Statements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Conditional</a:t>
            </a:r>
            <a:endParaRPr lang="en-US" altLang="zh-CN" sz="2400" b="1" dirty="0">
              <a:latin typeface="Courier New" panose="02070309020205020404" charset="0"/>
            </a:endParaRPr>
          </a:p>
          <a:p>
            <a:pPr>
              <a:buFontTx/>
              <a:buNone/>
            </a:pPr>
            <a:r>
              <a:rPr lang="en-US" altLang="zh-CN" sz="2400" b="1" dirty="0">
                <a:latin typeface="Courier New" panose="02070309020205020404" charset="0"/>
              </a:rPr>
              <a:t>	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if C then S1 else S2</a:t>
            </a:r>
            <a:endParaRPr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Tx/>
              <a:buNone/>
            </a:pPr>
            <a:endParaRPr lang="en-US" altLang="zh-CN" sz="2400" baseline="-25000" dirty="0"/>
          </a:p>
          <a:p>
            <a:r>
              <a:rPr lang="en-US" altLang="zh-CN" dirty="0"/>
              <a:t>Suppose you are doing a big O analysis</a:t>
            </a:r>
            <a:endParaRPr lang="en-US" altLang="zh-CN" dirty="0"/>
          </a:p>
          <a:p>
            <a:pPr lvl="1">
              <a:buFontTx/>
              <a:buNone/>
            </a:pPr>
            <a:r>
              <a:rPr lang="en-US" altLang="zh-CN" dirty="0"/>
              <a:t>Time(C) + Max(Time(S1),Time(S2)) or</a:t>
            </a:r>
            <a:endParaRPr lang="en-US" altLang="zh-CN" dirty="0"/>
          </a:p>
          <a:p>
            <a:pPr lvl="1">
              <a:buFontTx/>
              <a:buNone/>
            </a:pPr>
            <a:r>
              <a:rPr lang="en-US" altLang="zh-CN" dirty="0"/>
              <a:t>Time(C)+Time(S1)+Time(S2)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?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>
                <a:latin typeface="Arial" panose="020B0604020202020204" pitchFamily="34" charset="0"/>
                <a:cs typeface="Arial" panose="020B0604020202020204" pitchFamily="34" charset="0"/>
              </a:rPr>
              <a:t>Conditional Statements</a:t>
            </a:r>
            <a:endParaRPr lang="en-CA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CA">
                <a:latin typeface="Arial" panose="020B0604020202020204" pitchFamily="34" charset="0"/>
                <a:cs typeface="Arial" panose="020B0604020202020204" pitchFamily="34" charset="0"/>
              </a:rPr>
              <a:t>	Consider this example</a:t>
            </a:r>
            <a:endParaRPr lang="en-CA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CA" sz="140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>
              <a:buFont typeface="Arial" panose="020B0604020202020204" pitchFamily="34" charset="0"/>
              <a:buNone/>
            </a:pPr>
            <a:r>
              <a:rPr lang="en-CA" sz="1400">
                <a:latin typeface="Consolas" panose="020B0609020204030204" pitchFamily="49" charset="0"/>
                <a:cs typeface="Arial" panose="020B0604020202020204" pitchFamily="34" charset="0"/>
              </a:rPr>
              <a:t>void Disjoint_sets::clear() {</a:t>
            </a:r>
            <a:endParaRPr lang="en-CA" sz="140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>
              <a:buFont typeface="Arial" panose="020B0604020202020204" pitchFamily="34" charset="0"/>
              <a:buNone/>
            </a:pPr>
            <a:r>
              <a:rPr lang="en-CA" sz="1400">
                <a:latin typeface="Consolas" panose="020B0609020204030204" pitchFamily="49" charset="0"/>
                <a:cs typeface="Arial" panose="020B0604020202020204" pitchFamily="34" charset="0"/>
              </a:rPr>
              <a:t>    </a:t>
            </a:r>
            <a:r>
              <a:rPr lang="en-CA" sz="140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if ( sets == n ) {</a:t>
            </a:r>
            <a:endParaRPr lang="en-CA" sz="1400">
              <a:solidFill>
                <a:srgbClr val="FF0000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>
              <a:buFont typeface="Arial" panose="020B0604020202020204" pitchFamily="34" charset="0"/>
              <a:buNone/>
            </a:pPr>
            <a:r>
              <a:rPr lang="en-CA" sz="140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      return;</a:t>
            </a:r>
            <a:endParaRPr lang="en-CA" sz="1400">
              <a:solidFill>
                <a:srgbClr val="FF0000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>
              <a:buFont typeface="Arial" panose="020B0604020202020204" pitchFamily="34" charset="0"/>
              <a:buNone/>
            </a:pPr>
            <a:r>
              <a:rPr lang="en-CA" sz="140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  }</a:t>
            </a:r>
            <a:endParaRPr lang="en-CA" sz="1400">
              <a:solidFill>
                <a:srgbClr val="FF0000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>
              <a:buFont typeface="Arial" panose="020B0604020202020204" pitchFamily="34" charset="0"/>
              <a:buNone/>
            </a:pPr>
            <a:endParaRPr lang="en-CA" sz="140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>
              <a:buFont typeface="Arial" panose="020B0604020202020204" pitchFamily="34" charset="0"/>
              <a:buNone/>
            </a:pPr>
            <a:r>
              <a:rPr lang="en-CA" sz="1400">
                <a:solidFill>
                  <a:srgbClr val="00B0F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  max_height = 0;</a:t>
            </a:r>
            <a:endParaRPr lang="en-CA" sz="1400">
              <a:solidFill>
                <a:srgbClr val="00B0F0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>
              <a:buFont typeface="Arial" panose="020B0604020202020204" pitchFamily="34" charset="0"/>
              <a:buNone/>
            </a:pPr>
            <a:r>
              <a:rPr lang="en-CA" sz="1400">
                <a:solidFill>
                  <a:srgbClr val="00B0F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  num_disjoint_sets = n;</a:t>
            </a:r>
            <a:endParaRPr lang="en-CA" sz="1400">
              <a:solidFill>
                <a:srgbClr val="00B0F0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>
              <a:buFont typeface="Arial" panose="020B0604020202020204" pitchFamily="34" charset="0"/>
              <a:buNone/>
            </a:pPr>
            <a:endParaRPr lang="en-CA" sz="1400">
              <a:solidFill>
                <a:srgbClr val="7030A0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>
              <a:buFont typeface="Arial" panose="020B0604020202020204" pitchFamily="34" charset="0"/>
              <a:buNone/>
            </a:pPr>
            <a:r>
              <a:rPr lang="en-CA" sz="1400">
                <a:solidFill>
                  <a:srgbClr val="7030A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  for ( int i = 0; i &lt; n; ++i ) {</a:t>
            </a:r>
            <a:endParaRPr lang="en-CA" sz="1400">
              <a:solidFill>
                <a:srgbClr val="7030A0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>
              <a:buFont typeface="Arial" panose="020B0604020202020204" pitchFamily="34" charset="0"/>
              <a:buNone/>
            </a:pPr>
            <a:r>
              <a:rPr lang="en-CA" sz="1400">
                <a:solidFill>
                  <a:srgbClr val="7030A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      </a:t>
            </a:r>
            <a:r>
              <a:rPr lang="en-CA" sz="1400">
                <a:solidFill>
                  <a:srgbClr val="00206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parent[i] = i;</a:t>
            </a:r>
            <a:endParaRPr lang="en-CA" sz="1400">
              <a:solidFill>
                <a:srgbClr val="002060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>
              <a:buFont typeface="Arial" panose="020B0604020202020204" pitchFamily="34" charset="0"/>
              <a:buNone/>
            </a:pPr>
            <a:r>
              <a:rPr lang="en-CA" sz="1400">
                <a:solidFill>
                  <a:srgbClr val="00206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      tree_height[i] = 0;</a:t>
            </a:r>
            <a:endParaRPr lang="en-CA" sz="1400">
              <a:solidFill>
                <a:srgbClr val="002060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>
              <a:buFont typeface="Arial" panose="020B0604020202020204" pitchFamily="34" charset="0"/>
              <a:buNone/>
            </a:pPr>
            <a:r>
              <a:rPr lang="en-CA" sz="1400">
                <a:solidFill>
                  <a:srgbClr val="7030A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  }</a:t>
            </a:r>
            <a:endParaRPr lang="en-CA" sz="1400">
              <a:solidFill>
                <a:srgbClr val="7030A0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>
              <a:buFont typeface="Arial" panose="020B0604020202020204" pitchFamily="34" charset="0"/>
              <a:buNone/>
            </a:pPr>
            <a:r>
              <a:rPr lang="en-CA" sz="1400">
                <a:latin typeface="Consolas" panose="020B0609020204030204" pitchFamily="49" charset="0"/>
                <a:cs typeface="Arial" panose="020B0604020202020204" pitchFamily="34" charset="0"/>
              </a:rPr>
              <a:t>} </a:t>
            </a:r>
            <a:endParaRPr lang="en-CA" sz="140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1029" name="TextBox 4"/>
          <p:cNvSpPr txBox="1">
            <a:spLocks noChangeArrowheads="1"/>
          </p:cNvSpPr>
          <p:nvPr/>
        </p:nvSpPr>
        <p:spPr bwMode="auto">
          <a:xfrm>
            <a:off x="5643563" y="4487863"/>
            <a:ext cx="646112" cy="3698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CA" b="1">
                <a:solidFill>
                  <a:srgbClr val="7030A0"/>
                </a:solidFill>
                <a:latin typeface="Symbol" panose="05050102010706020507" charset="2"/>
              </a:rPr>
              <a:t>Q</a:t>
            </a:r>
            <a:r>
              <a:rPr lang="en-CA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CA" i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CA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CA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0" name="TextBox 4"/>
          <p:cNvSpPr txBox="1">
            <a:spLocks noChangeArrowheads="1"/>
          </p:cNvSpPr>
          <p:nvPr/>
        </p:nvSpPr>
        <p:spPr bwMode="auto">
          <a:xfrm>
            <a:off x="5643563" y="3714750"/>
            <a:ext cx="646112" cy="3698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CA" b="1">
                <a:solidFill>
                  <a:srgbClr val="00B0F0"/>
                </a:solidFill>
                <a:latin typeface="Symbol" panose="05050102010706020507" charset="2"/>
              </a:rPr>
              <a:t>Q</a:t>
            </a:r>
            <a:r>
              <a:rPr lang="en-CA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endParaRPr lang="en-CA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1" name="TextBox 4"/>
          <p:cNvSpPr txBox="1">
            <a:spLocks noChangeArrowheads="1"/>
          </p:cNvSpPr>
          <p:nvPr/>
        </p:nvSpPr>
        <p:spPr bwMode="auto">
          <a:xfrm>
            <a:off x="5643563" y="2643188"/>
            <a:ext cx="646112" cy="3698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CA" b="1">
                <a:solidFill>
                  <a:srgbClr val="FF0000"/>
                </a:solidFill>
                <a:latin typeface="Symbol" panose="05050102010706020507" charset="2"/>
              </a:rPr>
              <a:t>Q</a:t>
            </a:r>
            <a:r>
              <a:rPr lang="en-CA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endParaRPr lang="en-CA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5265738" y="5357813"/>
          <a:ext cx="2992437" cy="78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7" name="Equation" r:id="rId1" imgW="1739900" imgH="457200" progId="Equation.3">
                  <p:embed/>
                </p:oleObj>
              </mc:Choice>
              <mc:Fallback>
                <p:oleObj name="Equation" r:id="rId1" imgW="1739900" imgH="457200" progId="Equation.3">
                  <p:embed/>
                  <p:pic>
                    <p:nvPicPr>
                      <p:cNvPr id="0" name="图片 133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5738" y="5357813"/>
                        <a:ext cx="2992437" cy="785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Condition-controlled Loops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107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The C++ for loop is a condition controlled statement: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800" dirty="0">
                <a:latin typeface="Consolas" panose="020B0609020204030204" pitchFamily="49" charset="0"/>
                <a:cs typeface="Arial" panose="020B0604020202020204" pitchFamily="34" charset="0"/>
              </a:rPr>
              <a:t>	</a:t>
            </a:r>
            <a:r>
              <a:rPr lang="en-US" sz="1800" b="1" dirty="0">
                <a:latin typeface="Consolas" panose="020B0609020204030204" pitchFamily="49" charset="0"/>
                <a:cs typeface="Arial" panose="020B0604020202020204" pitchFamily="34" charset="0"/>
              </a:rPr>
              <a:t>	</a:t>
            </a:r>
            <a:r>
              <a:rPr lang="en-US" sz="1800" dirty="0">
                <a:latin typeface="Consolas" panose="020B0609020204030204" pitchFamily="49" charset="0"/>
                <a:cs typeface="Arial" panose="020B0604020202020204" pitchFamily="34" charset="0"/>
              </a:rPr>
              <a:t>for ( int </a:t>
            </a:r>
            <a:r>
              <a:rPr lang="en-US" sz="1800" dirty="0" err="1">
                <a:latin typeface="Consolas" panose="020B0609020204030204" pitchFamily="49" charset="0"/>
                <a:cs typeface="Arial" panose="020B0604020202020204" pitchFamily="34" charset="0"/>
              </a:rPr>
              <a:t>i</a:t>
            </a:r>
            <a:r>
              <a:rPr lang="en-US" sz="1800" dirty="0">
                <a:latin typeface="Consolas" panose="020B0609020204030204" pitchFamily="49" charset="0"/>
                <a:cs typeface="Arial" panose="020B0604020202020204" pitchFamily="34" charset="0"/>
              </a:rPr>
              <a:t> = 0; </a:t>
            </a:r>
            <a:r>
              <a:rPr lang="en-US" sz="1800" dirty="0" err="1">
                <a:latin typeface="Consolas" panose="020B0609020204030204" pitchFamily="49" charset="0"/>
                <a:cs typeface="Arial" panose="020B0604020202020204" pitchFamily="34" charset="0"/>
              </a:rPr>
              <a:t>i</a:t>
            </a:r>
            <a:r>
              <a:rPr lang="en-US" sz="1800" dirty="0">
                <a:latin typeface="Consolas" panose="020B0609020204030204" pitchFamily="49" charset="0"/>
                <a:cs typeface="Arial" panose="020B0604020202020204" pitchFamily="34" charset="0"/>
              </a:rPr>
              <a:t> &lt; N; ++</a:t>
            </a:r>
            <a:r>
              <a:rPr lang="en-US" sz="1800" dirty="0" err="1">
                <a:latin typeface="Consolas" panose="020B0609020204030204" pitchFamily="49" charset="0"/>
                <a:cs typeface="Arial" panose="020B0604020202020204" pitchFamily="34" charset="0"/>
              </a:rPr>
              <a:t>i</a:t>
            </a:r>
            <a:r>
              <a:rPr lang="en-US" sz="1800" dirty="0">
                <a:latin typeface="Consolas" panose="020B0609020204030204" pitchFamily="49" charset="0"/>
                <a:cs typeface="Arial" panose="020B0604020202020204" pitchFamily="34" charset="0"/>
              </a:rPr>
              <a:t> ) {</a:t>
            </a:r>
            <a:endParaRPr lang="en-US" sz="18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800" dirty="0">
                <a:latin typeface="Consolas" panose="020B0609020204030204" pitchFamily="49" charset="0"/>
                <a:cs typeface="Arial" panose="020B0604020202020204" pitchFamily="34" charset="0"/>
              </a:rPr>
              <a:t>			// ...</a:t>
            </a:r>
            <a:endParaRPr lang="en-US" sz="18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800" dirty="0">
                <a:latin typeface="Consolas" panose="020B0609020204030204" pitchFamily="49" charset="0"/>
                <a:cs typeface="Arial" panose="020B0604020202020204" pitchFamily="34" charset="0"/>
              </a:rPr>
              <a:t>		}</a:t>
            </a:r>
            <a:endParaRPr lang="en-US" sz="18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is identical to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800" dirty="0">
                <a:latin typeface="Consolas" panose="020B0609020204030204" pitchFamily="49" charset="0"/>
                <a:cs typeface="Arial" panose="020B0604020202020204" pitchFamily="34" charset="0"/>
              </a:rPr>
              <a:t>		int </a:t>
            </a:r>
            <a:r>
              <a:rPr lang="en-US" sz="1800" dirty="0" err="1">
                <a:latin typeface="Consolas" panose="020B0609020204030204" pitchFamily="49" charset="0"/>
                <a:cs typeface="Arial" panose="020B0604020202020204" pitchFamily="34" charset="0"/>
              </a:rPr>
              <a:t>i</a:t>
            </a:r>
            <a:r>
              <a:rPr lang="en-US" sz="1800" dirty="0">
                <a:latin typeface="Consolas" panose="020B0609020204030204" pitchFamily="49" charset="0"/>
                <a:cs typeface="Arial" panose="020B0604020202020204" pitchFamily="34" charset="0"/>
              </a:rPr>
              <a:t> = 0;			// initialization</a:t>
            </a:r>
            <a:endParaRPr lang="en-US" sz="18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800" dirty="0">
                <a:latin typeface="Consolas" panose="020B0609020204030204" pitchFamily="49" charset="0"/>
                <a:cs typeface="Arial" panose="020B0604020202020204" pitchFamily="34" charset="0"/>
              </a:rPr>
              <a:t>		while ( </a:t>
            </a:r>
            <a:r>
              <a:rPr lang="en-US" sz="1800" dirty="0" err="1">
                <a:latin typeface="Consolas" panose="020B0609020204030204" pitchFamily="49" charset="0"/>
                <a:cs typeface="Arial" panose="020B0604020202020204" pitchFamily="34" charset="0"/>
              </a:rPr>
              <a:t>i</a:t>
            </a:r>
            <a:r>
              <a:rPr lang="en-US" sz="1800" dirty="0">
                <a:latin typeface="Consolas" panose="020B0609020204030204" pitchFamily="49" charset="0"/>
                <a:cs typeface="Arial" panose="020B0604020202020204" pitchFamily="34" charset="0"/>
              </a:rPr>
              <a:t> &lt; N ) {		// condition</a:t>
            </a:r>
            <a:endParaRPr lang="en-US" sz="18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800" dirty="0">
                <a:latin typeface="Consolas" panose="020B0609020204030204" pitchFamily="49" charset="0"/>
                <a:cs typeface="Arial" panose="020B0604020202020204" pitchFamily="34" charset="0"/>
              </a:rPr>
              <a:t>		    // ...</a:t>
            </a:r>
            <a:endParaRPr lang="en-US" sz="18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800" dirty="0">
                <a:latin typeface="Consolas" panose="020B0609020204030204" pitchFamily="49" charset="0"/>
                <a:cs typeface="Arial" panose="020B0604020202020204" pitchFamily="34" charset="0"/>
              </a:rPr>
              <a:t>		    ++</a:t>
            </a:r>
            <a:r>
              <a:rPr lang="en-US" sz="1800" dirty="0" err="1">
                <a:latin typeface="Consolas" panose="020B0609020204030204" pitchFamily="49" charset="0"/>
                <a:cs typeface="Arial" panose="020B0604020202020204" pitchFamily="34" charset="0"/>
              </a:rPr>
              <a:t>i</a:t>
            </a:r>
            <a:r>
              <a:rPr lang="en-US" sz="1800" dirty="0">
                <a:latin typeface="Consolas" panose="020B0609020204030204" pitchFamily="49" charset="0"/>
                <a:cs typeface="Arial" panose="020B0604020202020204" pitchFamily="34" charset="0"/>
              </a:rPr>
              <a:t>;			// increment</a:t>
            </a:r>
            <a:endParaRPr lang="en-US" sz="18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800" dirty="0">
                <a:latin typeface="Consolas" panose="020B0609020204030204" pitchFamily="49" charset="0"/>
                <a:cs typeface="Arial" panose="020B0604020202020204" pitchFamily="34" charset="0"/>
              </a:rPr>
              <a:t>		}</a:t>
            </a:r>
            <a:endParaRPr lang="en-US" sz="18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Condition-controlled Loops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131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	The initialization, condition, and increment usually are single statements running in </a:t>
            </a:r>
            <a:r>
              <a:rPr lang="en-US" b="1">
                <a:latin typeface="Symbol" panose="05050102010706020507" charset="2"/>
                <a:cs typeface="Arial" panose="020B0604020202020204" pitchFamily="34" charset="0"/>
              </a:rPr>
              <a:t>Q</a:t>
            </a:r>
            <a:r>
              <a:rPr lang="en-US">
                <a:latin typeface="Times New Roman" panose="02020603050405020304" pitchFamily="18" charset="0"/>
                <a:cs typeface="Arial" panose="020B0604020202020204" pitchFamily="34" charset="0"/>
              </a:rPr>
              <a:t>(1)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sz="180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800">
                <a:latin typeface="Consolas" panose="020B0609020204030204" pitchFamily="49" charset="0"/>
                <a:cs typeface="Arial" panose="020B0604020202020204" pitchFamily="34" charset="0"/>
              </a:rPr>
              <a:t>	</a:t>
            </a:r>
            <a:r>
              <a:rPr lang="en-US" sz="1800" b="1">
                <a:latin typeface="Consolas" panose="020B0609020204030204" pitchFamily="49" charset="0"/>
                <a:cs typeface="Arial" panose="020B0604020202020204" pitchFamily="34" charset="0"/>
              </a:rPr>
              <a:t>	</a:t>
            </a:r>
            <a:r>
              <a:rPr lang="en-US" sz="1800">
                <a:latin typeface="Consolas" panose="020B0609020204030204" pitchFamily="49" charset="0"/>
                <a:cs typeface="Arial" panose="020B0604020202020204" pitchFamily="34" charset="0"/>
              </a:rPr>
              <a:t>for ( int i = 0; i &lt; N; ++i ) {</a:t>
            </a:r>
            <a:endParaRPr lang="en-US" sz="180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800">
                <a:latin typeface="Consolas" panose="020B0609020204030204" pitchFamily="49" charset="0"/>
                <a:cs typeface="Arial" panose="020B0604020202020204" pitchFamily="34" charset="0"/>
              </a:rPr>
              <a:t>			// ...</a:t>
            </a:r>
            <a:endParaRPr lang="en-US" sz="180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800">
                <a:latin typeface="Consolas" panose="020B0609020204030204" pitchFamily="49" charset="0"/>
                <a:cs typeface="Arial" panose="020B0604020202020204" pitchFamily="34" charset="0"/>
              </a:rPr>
              <a:t>		}</a:t>
            </a:r>
            <a:endParaRPr lang="en-US" sz="180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en-US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Condition-controlled Loops</a:t>
            </a:r>
            <a:endParaRPr lang="en-US"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179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If the body does not depend on the variable (in this example, </a:t>
            </a:r>
            <a:r>
              <a:rPr lang="en-US" sz="1800" b="1" dirty="0" err="1">
                <a:latin typeface="Courier New" panose="02070309020205020404" charset="0"/>
                <a:cs typeface="Arial" panose="020B0604020202020204" pitchFamily="34" charset="0"/>
              </a:rPr>
              <a:t>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), then the run time of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600" b="1" dirty="0">
                <a:latin typeface="Courier New" panose="02070309020205020404" charset="0"/>
                <a:cs typeface="Arial" panose="020B0604020202020204" pitchFamily="34" charset="0"/>
              </a:rPr>
              <a:t>     for ( int </a:t>
            </a:r>
            <a:r>
              <a:rPr lang="en-US" sz="1600" b="1" dirty="0" err="1">
                <a:latin typeface="Courier New" panose="02070309020205020404" charset="0"/>
                <a:cs typeface="Arial" panose="020B0604020202020204" pitchFamily="34" charset="0"/>
              </a:rPr>
              <a:t>i</a:t>
            </a:r>
            <a:r>
              <a:rPr lang="en-US" sz="1600" b="1" dirty="0">
                <a:latin typeface="Courier New" panose="02070309020205020404" charset="0"/>
                <a:cs typeface="Arial" panose="020B0604020202020204" pitchFamily="34" charset="0"/>
              </a:rPr>
              <a:t> = 0; </a:t>
            </a:r>
            <a:r>
              <a:rPr lang="en-US" sz="1600" b="1" dirty="0" err="1">
                <a:latin typeface="Courier New" panose="02070309020205020404" charset="0"/>
                <a:cs typeface="Arial" panose="020B0604020202020204" pitchFamily="34" charset="0"/>
              </a:rPr>
              <a:t>i</a:t>
            </a:r>
            <a:r>
              <a:rPr lang="en-US" sz="1600" b="1" dirty="0">
                <a:latin typeface="Courier New" panose="02070309020205020404" charset="0"/>
                <a:cs typeface="Arial" panose="020B0604020202020204" pitchFamily="34" charset="0"/>
              </a:rPr>
              <a:t> &lt; n; ++</a:t>
            </a:r>
            <a:r>
              <a:rPr lang="en-US" sz="1600" b="1" dirty="0" err="1">
                <a:latin typeface="Courier New" panose="02070309020205020404" charset="0"/>
                <a:cs typeface="Arial" panose="020B0604020202020204" pitchFamily="34" charset="0"/>
              </a:rPr>
              <a:t>i</a:t>
            </a:r>
            <a:r>
              <a:rPr lang="en-US" sz="1600" b="1" dirty="0">
                <a:latin typeface="Courier New" panose="02070309020205020404" charset="0"/>
                <a:cs typeface="Arial" panose="020B0604020202020204" pitchFamily="34" charset="0"/>
              </a:rPr>
              <a:t> ) {</a:t>
            </a:r>
            <a:endParaRPr lang="en-US" sz="1600" b="1" dirty="0">
              <a:latin typeface="Courier New" panose="0207030902020502040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600" b="1" dirty="0">
                <a:latin typeface="Courier New" panose="02070309020205020404" charset="0"/>
                <a:cs typeface="Arial" panose="020B0604020202020204" pitchFamily="34" charset="0"/>
              </a:rPr>
              <a:t>         // code which is Theta(f(n))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600" b="1" dirty="0">
                <a:latin typeface="Courier New" panose="02070309020205020404" charset="0"/>
                <a:cs typeface="Arial" panose="020B0604020202020204" pitchFamily="34" charset="0"/>
              </a:rPr>
              <a:t>     }</a:t>
            </a:r>
            <a:endParaRPr lang="en-US" sz="1600" b="1" dirty="0">
              <a:latin typeface="Courier New" panose="0207030902020502040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is </a:t>
            </a:r>
            <a:r>
              <a:rPr lang="en-US" b="1" dirty="0">
                <a:latin typeface="Symbol" panose="05050102010706020507" charset="2"/>
                <a:cs typeface="Arial" panose="020B0604020202020204" pitchFamily="34" charset="0"/>
              </a:rPr>
              <a:t>Q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 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f(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If the body is </a:t>
            </a:r>
            <a:r>
              <a:rPr 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O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(f(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then the run time of the loop is </a:t>
            </a:r>
            <a:r>
              <a:rPr 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O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 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f(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))</a:t>
            </a:r>
            <a:endParaRPr 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Condition-controlled Loops</a:t>
            </a:r>
            <a:endParaRPr lang="en-US"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203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For example,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400" b="1" dirty="0">
                <a:latin typeface="Courier New" panose="02070309020205020404" charset="0"/>
                <a:cs typeface="Arial" panose="020B0604020202020204" pitchFamily="34" charset="0"/>
              </a:rPr>
              <a:t>     </a:t>
            </a:r>
            <a:r>
              <a:rPr lang="en-US" sz="1400" b="1" dirty="0" err="1">
                <a:latin typeface="Courier New" panose="02070309020205020404" charset="0"/>
                <a:cs typeface="Arial" panose="020B0604020202020204" pitchFamily="34" charset="0"/>
              </a:rPr>
              <a:t>int</a:t>
            </a:r>
            <a:r>
              <a:rPr lang="en-US" sz="1400" b="1" dirty="0">
                <a:latin typeface="Courier New" panose="02070309020205020404" charset="0"/>
                <a:cs typeface="Arial" panose="020B0604020202020204" pitchFamily="34" charset="0"/>
              </a:rPr>
              <a:t> sum = 0; </a:t>
            </a:r>
            <a:endParaRPr lang="en-US" sz="1400" b="1" dirty="0">
              <a:latin typeface="Courier New" panose="0207030902020502040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400" b="1" dirty="0">
                <a:latin typeface="Courier New" panose="02070309020205020404" charset="0"/>
                <a:cs typeface="Arial" panose="020B0604020202020204" pitchFamily="34" charset="0"/>
              </a:rPr>
              <a:t>     for ( </a:t>
            </a:r>
            <a:r>
              <a:rPr lang="en-US" sz="1400" b="1" dirty="0" err="1">
                <a:latin typeface="Courier New" panose="02070309020205020404" charset="0"/>
                <a:cs typeface="Arial" panose="020B0604020202020204" pitchFamily="34" charset="0"/>
              </a:rPr>
              <a:t>int</a:t>
            </a:r>
            <a:r>
              <a:rPr lang="en-US" sz="1400" b="1" dirty="0">
                <a:latin typeface="Courier New" panose="0207030902020502040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Courier New" panose="02070309020205020404" charset="0"/>
                <a:cs typeface="Arial" panose="020B0604020202020204" pitchFamily="34" charset="0"/>
              </a:rPr>
              <a:t>i</a:t>
            </a:r>
            <a:r>
              <a:rPr lang="en-US" sz="1400" b="1" dirty="0">
                <a:latin typeface="Courier New" panose="02070309020205020404" charset="0"/>
                <a:cs typeface="Arial" panose="020B0604020202020204" pitchFamily="34" charset="0"/>
              </a:rPr>
              <a:t> = 0; </a:t>
            </a:r>
            <a:r>
              <a:rPr lang="en-US" sz="1400" b="1" dirty="0" err="1">
                <a:latin typeface="Courier New" panose="02070309020205020404" charset="0"/>
                <a:cs typeface="Arial" panose="020B0604020202020204" pitchFamily="34" charset="0"/>
              </a:rPr>
              <a:t>i</a:t>
            </a:r>
            <a:r>
              <a:rPr lang="en-US" sz="1400" b="1" dirty="0">
                <a:latin typeface="Courier New" panose="02070309020205020404" charset="0"/>
                <a:cs typeface="Arial" panose="020B0604020202020204" pitchFamily="34" charset="0"/>
              </a:rPr>
              <a:t> &lt; n; ++</a:t>
            </a:r>
            <a:r>
              <a:rPr lang="en-US" sz="1400" b="1" dirty="0" err="1">
                <a:latin typeface="Courier New" panose="02070309020205020404" charset="0"/>
                <a:cs typeface="Arial" panose="020B0604020202020204" pitchFamily="34" charset="0"/>
              </a:rPr>
              <a:t>i</a:t>
            </a:r>
            <a:r>
              <a:rPr lang="en-US" sz="1400" b="1" dirty="0">
                <a:latin typeface="Courier New" panose="02070309020205020404" charset="0"/>
                <a:cs typeface="Arial" panose="020B0604020202020204" pitchFamily="34" charset="0"/>
              </a:rPr>
              <a:t> ) {</a:t>
            </a:r>
            <a:endParaRPr lang="en-US" sz="1400" b="1" dirty="0">
              <a:latin typeface="Courier New" panose="0207030902020502040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400" b="1" dirty="0">
                <a:latin typeface="Courier New" panose="02070309020205020404" charset="0"/>
                <a:cs typeface="Arial" panose="020B0604020202020204" pitchFamily="34" charset="0"/>
              </a:rPr>
              <a:t>         sum += 1;     // Theta(</a:t>
            </a:r>
            <a:r>
              <a:rPr lang="en-US" sz="1400" b="1" dirty="0">
                <a:solidFill>
                  <a:srgbClr val="FF0000"/>
                </a:solidFill>
                <a:latin typeface="Courier New" panose="02070309020205020404" charset="0"/>
                <a:cs typeface="Arial" panose="020B0604020202020204" pitchFamily="34" charset="0"/>
              </a:rPr>
              <a:t>1</a:t>
            </a:r>
            <a:r>
              <a:rPr lang="en-US" sz="1400" b="1" dirty="0">
                <a:latin typeface="Courier New" panose="02070309020205020404" charset="0"/>
                <a:cs typeface="Arial" panose="020B0604020202020204" pitchFamily="34" charset="0"/>
              </a:rPr>
              <a:t>)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400" b="1" dirty="0">
                <a:latin typeface="Courier New" panose="02070309020205020404" charset="0"/>
                <a:cs typeface="Arial" panose="020B0604020202020204" pitchFamily="34" charset="0"/>
              </a:rPr>
              <a:t>     }</a:t>
            </a:r>
            <a:endParaRPr lang="en-US" sz="1400" b="1" dirty="0">
              <a:latin typeface="Courier New" panose="0207030902020502040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This code has run time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b="1" dirty="0">
                <a:latin typeface="Symbol" panose="05050102010706020507" charset="2"/>
                <a:cs typeface="Arial" panose="020B0604020202020204" pitchFamily="34" charset="0"/>
              </a:rPr>
              <a:t>		Q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n·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 = </a:t>
            </a:r>
            <a:r>
              <a:rPr lang="en-US" b="1" dirty="0">
                <a:latin typeface="Symbol" panose="05050102010706020507" charset="2"/>
                <a:cs typeface="Arial" panose="020B0604020202020204" pitchFamily="34" charset="0"/>
              </a:rPr>
              <a:t>Q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</a:t>
            </a:r>
            <a:endParaRPr 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Condition-controlled Loops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227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Another example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400" b="1" dirty="0">
                <a:latin typeface="Courier New" panose="02070309020205020404" charset="0"/>
                <a:cs typeface="Arial" panose="020B0604020202020204" pitchFamily="34" charset="0"/>
              </a:rPr>
              <a:t>       </a:t>
            </a:r>
            <a:r>
              <a:rPr lang="en-US" sz="1400" b="1" dirty="0" err="1">
                <a:latin typeface="Courier New" panose="02070309020205020404" charset="0"/>
                <a:cs typeface="Arial" panose="020B0604020202020204" pitchFamily="34" charset="0"/>
              </a:rPr>
              <a:t>int</a:t>
            </a:r>
            <a:r>
              <a:rPr lang="en-US" sz="1400" b="1" dirty="0">
                <a:latin typeface="Courier New" panose="02070309020205020404" charset="0"/>
                <a:cs typeface="Arial" panose="020B0604020202020204" pitchFamily="34" charset="0"/>
              </a:rPr>
              <a:t> sum = 0; </a:t>
            </a:r>
            <a:endParaRPr lang="en-US" sz="1400" b="1" dirty="0">
              <a:latin typeface="Courier New" panose="0207030902020502040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400" b="1" dirty="0">
                <a:latin typeface="Courier New" panose="02070309020205020404" charset="0"/>
                <a:cs typeface="Arial" panose="020B0604020202020204" pitchFamily="34" charset="0"/>
              </a:rPr>
              <a:t>       for ( </a:t>
            </a:r>
            <a:r>
              <a:rPr lang="en-US" sz="1400" b="1" dirty="0" err="1">
                <a:latin typeface="Courier New" panose="02070309020205020404" charset="0"/>
                <a:cs typeface="Arial" panose="020B0604020202020204" pitchFamily="34" charset="0"/>
              </a:rPr>
              <a:t>int</a:t>
            </a:r>
            <a:r>
              <a:rPr lang="en-US" sz="1400" b="1" dirty="0">
                <a:latin typeface="Courier New" panose="0207030902020502040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Courier New" panose="02070309020205020404" charset="0"/>
                <a:cs typeface="Arial" panose="020B0604020202020204" pitchFamily="34" charset="0"/>
              </a:rPr>
              <a:t>i</a:t>
            </a:r>
            <a:r>
              <a:rPr lang="en-US" sz="1400" b="1" dirty="0">
                <a:latin typeface="Courier New" panose="02070309020205020404" charset="0"/>
                <a:cs typeface="Arial" panose="020B0604020202020204" pitchFamily="34" charset="0"/>
              </a:rPr>
              <a:t> = 0; </a:t>
            </a:r>
            <a:r>
              <a:rPr lang="en-US" sz="1400" b="1" dirty="0" err="1">
                <a:latin typeface="Courier New" panose="02070309020205020404" charset="0"/>
                <a:cs typeface="Arial" panose="020B0604020202020204" pitchFamily="34" charset="0"/>
              </a:rPr>
              <a:t>i</a:t>
            </a:r>
            <a:r>
              <a:rPr lang="en-US" sz="1400" b="1" dirty="0">
                <a:latin typeface="Courier New" panose="02070309020205020404" charset="0"/>
                <a:cs typeface="Arial" panose="020B0604020202020204" pitchFamily="34" charset="0"/>
              </a:rPr>
              <a:t> &lt; </a:t>
            </a:r>
            <a:r>
              <a:rPr lang="en-US" sz="1400" b="1" dirty="0">
                <a:solidFill>
                  <a:srgbClr val="FF0000"/>
                </a:solidFill>
                <a:latin typeface="Courier New" panose="02070309020205020404" charset="0"/>
                <a:cs typeface="Arial" panose="020B0604020202020204" pitchFamily="34" charset="0"/>
              </a:rPr>
              <a:t>n</a:t>
            </a:r>
            <a:r>
              <a:rPr lang="en-US" sz="1400" b="1" dirty="0">
                <a:latin typeface="Courier New" panose="02070309020205020404" charset="0"/>
                <a:cs typeface="Arial" panose="020B0604020202020204" pitchFamily="34" charset="0"/>
              </a:rPr>
              <a:t>; ++</a:t>
            </a:r>
            <a:r>
              <a:rPr lang="en-US" sz="1400" b="1" dirty="0" err="1">
                <a:latin typeface="Courier New" panose="02070309020205020404" charset="0"/>
                <a:cs typeface="Arial" panose="020B0604020202020204" pitchFamily="34" charset="0"/>
              </a:rPr>
              <a:t>i</a:t>
            </a:r>
            <a:r>
              <a:rPr lang="en-US" sz="1400" b="1" dirty="0">
                <a:latin typeface="Courier New" panose="02070309020205020404" charset="0"/>
                <a:cs typeface="Arial" panose="020B0604020202020204" pitchFamily="34" charset="0"/>
              </a:rPr>
              <a:t> ) { </a:t>
            </a:r>
            <a:endParaRPr lang="en-US" sz="1400" b="1" dirty="0">
              <a:latin typeface="Courier New" panose="0207030902020502040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400" b="1" dirty="0">
                <a:latin typeface="Courier New" panose="02070309020205020404" charset="0"/>
                <a:cs typeface="Arial" panose="020B0604020202020204" pitchFamily="34" charset="0"/>
              </a:rPr>
              <a:t>           for ( </a:t>
            </a:r>
            <a:r>
              <a:rPr lang="en-US" sz="1400" b="1" dirty="0" err="1">
                <a:latin typeface="Courier New" panose="02070309020205020404" charset="0"/>
                <a:cs typeface="Arial" panose="020B0604020202020204" pitchFamily="34" charset="0"/>
              </a:rPr>
              <a:t>int</a:t>
            </a:r>
            <a:r>
              <a:rPr lang="en-US" sz="1400" b="1" dirty="0">
                <a:latin typeface="Courier New" panose="02070309020205020404" charset="0"/>
                <a:cs typeface="Arial" panose="020B0604020202020204" pitchFamily="34" charset="0"/>
              </a:rPr>
              <a:t> j = 0; j &lt; n; ++j ) {</a:t>
            </a:r>
            <a:endParaRPr lang="en-US" sz="1400" b="1" dirty="0">
              <a:latin typeface="Courier New" panose="0207030902020502040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400" b="1" dirty="0">
                <a:latin typeface="Courier New" panose="02070309020205020404" charset="0"/>
                <a:cs typeface="Arial" panose="020B0604020202020204" pitchFamily="34" charset="0"/>
              </a:rPr>
              <a:t>               sum += 1;     // Theta(1)</a:t>
            </a:r>
            <a:endParaRPr lang="en-US" sz="1400" b="1" dirty="0">
              <a:latin typeface="Courier New" panose="0207030902020502040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400" b="1" dirty="0">
                <a:latin typeface="Courier New" panose="02070309020205020404" charset="0"/>
                <a:cs typeface="Arial" panose="020B0604020202020204" pitchFamily="34" charset="0"/>
              </a:rPr>
              <a:t>           }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400" b="1" dirty="0">
                <a:latin typeface="Courier New" panose="02070309020205020404" charset="0"/>
                <a:cs typeface="Arial" panose="020B0604020202020204" pitchFamily="34" charset="0"/>
              </a:rPr>
              <a:t>       }</a:t>
            </a:r>
            <a:endParaRPr lang="en-US" sz="1400" b="1" dirty="0">
              <a:latin typeface="Courier New" panose="0207030902020502040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The previous example showed that the inner loop is </a:t>
            </a:r>
            <a:r>
              <a:rPr lang="en-US" b="1" dirty="0">
                <a:latin typeface="Symbol" panose="05050102010706020507" charset="2"/>
                <a:cs typeface="Arial" panose="020B0604020202020204" pitchFamily="34" charset="0"/>
              </a:rPr>
              <a:t>Q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thus the outer loop is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b="1" dirty="0">
                <a:latin typeface="Symbol" panose="05050102010706020507" charset="2"/>
                <a:cs typeface="Arial" panose="020B0604020202020204" pitchFamily="34" charset="0"/>
              </a:rPr>
              <a:t>		Q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i="1" dirty="0" err="1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 err="1">
                <a:latin typeface="Times New Roman" panose="02020603050405020304" pitchFamily="18" charset="0"/>
                <a:cs typeface="Arial" panose="020B0604020202020204" pitchFamily="34" charset="0"/>
              </a:rPr>
              <a:t>·</a:t>
            </a:r>
            <a:r>
              <a:rPr lang="en-US" i="1" dirty="0" err="1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 = </a:t>
            </a:r>
            <a:r>
              <a:rPr lang="en-US" b="1" dirty="0">
                <a:latin typeface="Symbol" panose="05050102010706020507" charset="2"/>
                <a:cs typeface="Arial" panose="020B0604020202020204" pitchFamily="34" charset="0"/>
              </a:rPr>
              <a:t>Q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baseline="30000" dirty="0">
                <a:latin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</a:t>
            </a:r>
            <a:endParaRPr 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Analysis of Repetition Statements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251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Suppose with each loop, we use a linear search an array of size 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400" b="1" dirty="0">
                <a:latin typeface="Courier New" panose="02070309020205020404" charset="0"/>
                <a:cs typeface="Arial" panose="020B0604020202020204" pitchFamily="34" charset="0"/>
              </a:rPr>
              <a:t>       for ( </a:t>
            </a:r>
            <a:r>
              <a:rPr lang="en-US" sz="1400" b="1" dirty="0" err="1">
                <a:latin typeface="Courier New" panose="02070309020205020404" charset="0"/>
                <a:cs typeface="Arial" panose="020B0604020202020204" pitchFamily="34" charset="0"/>
              </a:rPr>
              <a:t>int</a:t>
            </a:r>
            <a:r>
              <a:rPr lang="en-US" sz="1400" b="1" dirty="0">
                <a:latin typeface="Courier New" panose="0207030902020502040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Courier New" panose="02070309020205020404" charset="0"/>
                <a:cs typeface="Arial" panose="020B0604020202020204" pitchFamily="34" charset="0"/>
              </a:rPr>
              <a:t>i</a:t>
            </a:r>
            <a:r>
              <a:rPr lang="en-US" sz="1400" b="1" dirty="0">
                <a:latin typeface="Courier New" panose="02070309020205020404" charset="0"/>
                <a:cs typeface="Arial" panose="020B0604020202020204" pitchFamily="34" charset="0"/>
              </a:rPr>
              <a:t> = 0; </a:t>
            </a:r>
            <a:r>
              <a:rPr lang="en-US" sz="1400" b="1" dirty="0" err="1">
                <a:latin typeface="Courier New" panose="02070309020205020404" charset="0"/>
                <a:cs typeface="Arial" panose="020B0604020202020204" pitchFamily="34" charset="0"/>
              </a:rPr>
              <a:t>i</a:t>
            </a:r>
            <a:r>
              <a:rPr lang="en-US" sz="1400" b="1" dirty="0">
                <a:latin typeface="Courier New" panose="02070309020205020404" charset="0"/>
                <a:cs typeface="Arial" panose="020B0604020202020204" pitchFamily="34" charset="0"/>
              </a:rPr>
              <a:t> &lt; </a:t>
            </a:r>
            <a:r>
              <a:rPr lang="en-US" sz="1400" b="1" dirty="0">
                <a:solidFill>
                  <a:srgbClr val="FF0000"/>
                </a:solidFill>
                <a:latin typeface="Courier New" panose="02070309020205020404" charset="0"/>
                <a:cs typeface="Arial" panose="020B0604020202020204" pitchFamily="34" charset="0"/>
              </a:rPr>
              <a:t>n</a:t>
            </a:r>
            <a:r>
              <a:rPr lang="en-US" sz="1400" b="1" dirty="0">
                <a:latin typeface="Courier New" panose="02070309020205020404" charset="0"/>
                <a:cs typeface="Arial" panose="020B0604020202020204" pitchFamily="34" charset="0"/>
              </a:rPr>
              <a:t>; ++</a:t>
            </a:r>
            <a:r>
              <a:rPr lang="en-US" sz="1400" b="1" dirty="0" err="1">
                <a:latin typeface="Courier New" panose="02070309020205020404" charset="0"/>
                <a:cs typeface="Arial" panose="020B0604020202020204" pitchFamily="34" charset="0"/>
              </a:rPr>
              <a:t>i</a:t>
            </a:r>
            <a:r>
              <a:rPr lang="en-US" sz="1400" b="1" dirty="0">
                <a:latin typeface="Courier New" panose="02070309020205020404" charset="0"/>
                <a:cs typeface="Arial" panose="020B0604020202020204" pitchFamily="34" charset="0"/>
              </a:rPr>
              <a:t> ) { </a:t>
            </a:r>
            <a:endParaRPr lang="en-US" sz="1400" b="1" dirty="0">
              <a:latin typeface="Courier New" panose="0207030902020502040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400" b="1" dirty="0">
                <a:latin typeface="Courier New" panose="02070309020205020404" charset="0"/>
                <a:cs typeface="Arial" panose="020B0604020202020204" pitchFamily="34" charset="0"/>
              </a:rPr>
              <a:t>		    // search through an array of size m</a:t>
            </a:r>
            <a:endParaRPr lang="en-US" sz="1400" b="1" dirty="0">
              <a:latin typeface="Courier New" panose="0207030902020502040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400" b="1" dirty="0">
                <a:latin typeface="Courier New" panose="02070309020205020404" charset="0"/>
                <a:cs typeface="Arial" panose="020B0604020202020204" pitchFamily="34" charset="0"/>
              </a:rPr>
              <a:t>		    // O( m );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400" b="1" dirty="0">
                <a:latin typeface="Courier New" panose="02070309020205020404" charset="0"/>
                <a:cs typeface="Arial" panose="020B0604020202020204" pitchFamily="34" charset="0"/>
              </a:rPr>
              <a:t>       }</a:t>
            </a:r>
            <a:endParaRPr lang="en-US" sz="1400" b="1" dirty="0">
              <a:latin typeface="Courier New" panose="0207030902020502040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The inner loop is </a:t>
            </a:r>
            <a:r>
              <a:rPr 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O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thus the outer loop is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		 </a:t>
            </a:r>
            <a:r>
              <a:rPr 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O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Condition-controlled Loops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76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Another example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400" b="1" dirty="0">
                <a:latin typeface="Courier New" panose="02070309020205020404" charset="0"/>
                <a:cs typeface="Arial" panose="020B0604020202020204" pitchFamily="34" charset="0"/>
              </a:rPr>
              <a:t>	    </a:t>
            </a:r>
            <a:r>
              <a:rPr lang="en-US" sz="1400" b="1" dirty="0" err="1">
                <a:latin typeface="Courier New" panose="02070309020205020404" charset="0"/>
                <a:cs typeface="Arial" panose="020B0604020202020204" pitchFamily="34" charset="0"/>
              </a:rPr>
              <a:t>int</a:t>
            </a:r>
            <a:r>
              <a:rPr lang="en-US" sz="1400" b="1" dirty="0">
                <a:latin typeface="Courier New" panose="02070309020205020404" charset="0"/>
                <a:cs typeface="Arial" panose="020B0604020202020204" pitchFamily="34" charset="0"/>
              </a:rPr>
              <a:t> sum = 0; </a:t>
            </a:r>
            <a:endParaRPr lang="en-US" sz="1400" b="1" dirty="0">
              <a:latin typeface="Courier New" panose="0207030902020502040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400" b="1" dirty="0">
                <a:latin typeface="Courier New" panose="02070309020205020404" charset="0"/>
                <a:cs typeface="Arial" panose="020B0604020202020204" pitchFamily="34" charset="0"/>
              </a:rPr>
              <a:t>	    for ( </a:t>
            </a:r>
            <a:r>
              <a:rPr lang="en-US" sz="1400" b="1" dirty="0" err="1">
                <a:latin typeface="Courier New" panose="02070309020205020404" charset="0"/>
                <a:cs typeface="Arial" panose="020B0604020202020204" pitchFamily="34" charset="0"/>
              </a:rPr>
              <a:t>int</a:t>
            </a:r>
            <a:r>
              <a:rPr lang="en-US" sz="1400" b="1" dirty="0">
                <a:latin typeface="Courier New" panose="0207030902020502040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Courier New" panose="02070309020205020404" charset="0"/>
                <a:cs typeface="Arial" panose="020B0604020202020204" pitchFamily="34" charset="0"/>
              </a:rPr>
              <a:t>i</a:t>
            </a:r>
            <a:r>
              <a:rPr lang="en-US" sz="1400" b="1" dirty="0">
                <a:latin typeface="Courier New" panose="02070309020205020404" charset="0"/>
                <a:cs typeface="Arial" panose="020B0604020202020204" pitchFamily="34" charset="0"/>
              </a:rPr>
              <a:t> = 0; </a:t>
            </a:r>
            <a:r>
              <a:rPr lang="en-US" sz="1400" b="1" dirty="0" err="1">
                <a:latin typeface="Courier New" panose="02070309020205020404" charset="0"/>
                <a:cs typeface="Arial" panose="020B0604020202020204" pitchFamily="34" charset="0"/>
              </a:rPr>
              <a:t>i</a:t>
            </a:r>
            <a:r>
              <a:rPr lang="en-US" sz="1400" b="1" dirty="0">
                <a:latin typeface="Courier New" panose="02070309020205020404" charset="0"/>
                <a:cs typeface="Arial" panose="020B0604020202020204" pitchFamily="34" charset="0"/>
              </a:rPr>
              <a:t> &lt; n; ++</a:t>
            </a:r>
            <a:r>
              <a:rPr lang="en-US" sz="1400" b="1" dirty="0" err="1">
                <a:latin typeface="Courier New" panose="02070309020205020404" charset="0"/>
                <a:cs typeface="Arial" panose="020B0604020202020204" pitchFamily="34" charset="0"/>
              </a:rPr>
              <a:t>i</a:t>
            </a:r>
            <a:r>
              <a:rPr lang="en-US" sz="1400" b="1" dirty="0">
                <a:latin typeface="Courier New" panose="02070309020205020404" charset="0"/>
                <a:cs typeface="Arial" panose="020B0604020202020204" pitchFamily="34" charset="0"/>
              </a:rPr>
              <a:t> ) {</a:t>
            </a:r>
            <a:endParaRPr lang="en-US" sz="1400" b="1" dirty="0">
              <a:latin typeface="Courier New" panose="0207030902020502040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400" b="1" dirty="0">
                <a:latin typeface="Courier New" panose="02070309020205020404" charset="0"/>
                <a:cs typeface="Arial" panose="020B0604020202020204" pitchFamily="34" charset="0"/>
              </a:rPr>
              <a:t>	        for ( </a:t>
            </a:r>
            <a:r>
              <a:rPr lang="en-US" sz="1400" b="1" dirty="0" err="1">
                <a:latin typeface="Courier New" panose="02070309020205020404" charset="0"/>
                <a:cs typeface="Arial" panose="020B0604020202020204" pitchFamily="34" charset="0"/>
              </a:rPr>
              <a:t>int</a:t>
            </a:r>
            <a:r>
              <a:rPr lang="en-US" sz="1400" b="1" dirty="0">
                <a:latin typeface="Courier New" panose="02070309020205020404" charset="0"/>
                <a:cs typeface="Arial" panose="020B0604020202020204" pitchFamily="34" charset="0"/>
              </a:rPr>
              <a:t> j = 0; j &lt; </a:t>
            </a:r>
            <a:r>
              <a:rPr lang="en-US" sz="1400" b="1" dirty="0" err="1">
                <a:solidFill>
                  <a:srgbClr val="FF0000"/>
                </a:solidFill>
                <a:latin typeface="Courier New" panose="02070309020205020404" charset="0"/>
                <a:cs typeface="Arial" panose="020B0604020202020204" pitchFamily="34" charset="0"/>
              </a:rPr>
              <a:t>i</a:t>
            </a:r>
            <a:r>
              <a:rPr lang="en-US" sz="1400" b="1" dirty="0">
                <a:latin typeface="Courier New" panose="02070309020205020404" charset="0"/>
                <a:cs typeface="Arial" panose="020B0604020202020204" pitchFamily="34" charset="0"/>
              </a:rPr>
              <a:t>; ++j ) {</a:t>
            </a:r>
            <a:endParaRPr lang="en-US" sz="1400" b="1" dirty="0">
              <a:latin typeface="Courier New" panose="0207030902020502040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400" b="1" dirty="0">
                <a:latin typeface="Courier New" panose="02070309020205020404" charset="0"/>
                <a:cs typeface="Arial" panose="020B0604020202020204" pitchFamily="34" charset="0"/>
              </a:rPr>
              <a:t>	            sum += </a:t>
            </a:r>
            <a:r>
              <a:rPr lang="en-US" sz="1400" b="1" dirty="0" err="1">
                <a:latin typeface="Courier New" panose="02070309020205020404" charset="0"/>
                <a:cs typeface="Arial" panose="020B0604020202020204" pitchFamily="34" charset="0"/>
              </a:rPr>
              <a:t>i</a:t>
            </a:r>
            <a:r>
              <a:rPr lang="en-US" sz="1400" b="1" dirty="0">
                <a:latin typeface="Courier New" panose="02070309020205020404" charset="0"/>
                <a:cs typeface="Arial" panose="020B0604020202020204" pitchFamily="34" charset="0"/>
              </a:rPr>
              <a:t> + j;</a:t>
            </a:r>
            <a:endParaRPr lang="en-US" sz="1400" b="1" dirty="0">
              <a:latin typeface="Courier New" panose="0207030902020502040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400" b="1" dirty="0">
                <a:latin typeface="Courier New" panose="02070309020205020404" charset="0"/>
                <a:cs typeface="Arial" panose="020B0604020202020204" pitchFamily="34" charset="0"/>
              </a:rPr>
              <a:t>	        }</a:t>
            </a:r>
            <a:endParaRPr lang="en-US" sz="1400" b="1" dirty="0">
              <a:latin typeface="Courier New" panose="0207030902020502040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400" b="1" dirty="0">
                <a:latin typeface="Courier New" panose="02070309020205020404" charset="0"/>
                <a:cs typeface="Arial" panose="020B0604020202020204" pitchFamily="34" charset="0"/>
              </a:rPr>
              <a:t>	    }</a:t>
            </a:r>
            <a:endParaRPr lang="en-US" sz="1400" b="1" dirty="0">
              <a:latin typeface="Courier New" panose="0207030902020502040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The inner loop is </a:t>
            </a:r>
            <a:r>
              <a:rPr lang="en-US" b="1" dirty="0">
                <a:latin typeface="Symbol" panose="05050102010706020507" charset="2"/>
                <a:cs typeface="Arial" panose="020B0604020202020204" pitchFamily="34" charset="0"/>
              </a:rPr>
              <a:t>Q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i="1" dirty="0" err="1">
                <a:latin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hence the outer is</a:t>
            </a:r>
            <a:endParaRPr 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3074" name="Object 4"/>
          <p:cNvGraphicFramePr>
            <a:graphicFrameLocks noChangeAspect="1"/>
          </p:cNvGraphicFramePr>
          <p:nvPr/>
        </p:nvGraphicFramePr>
        <p:xfrm>
          <a:off x="2608263" y="4653136"/>
          <a:ext cx="3927475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1" name="Equation" r:id="rId1" imgW="46024800" imgH="10972800" progId="Equation.3">
                  <p:embed/>
                </p:oleObj>
              </mc:Choice>
              <mc:Fallback>
                <p:oleObj name="Equation" r:id="rId1" imgW="46024800" imgH="10972800" progId="Equation.3">
                  <p:embed/>
                  <p:pic>
                    <p:nvPicPr>
                      <p:cNvPr id="0" name="图片 143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8263" y="4653136"/>
                        <a:ext cx="3927475" cy="9398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Analysis of Repetition Statements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275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Final example: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		   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sum = 0; 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		     for (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= 0;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&lt; n; ++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) {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		         for (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j = 0; j &lt;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 ++j ) {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		             for (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k = 0; k &lt; j; ++k ) {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		                 sum +=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+ j + k;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		             }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		         }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		     }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From inside to out: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r>
              <a:rPr lang="en-US" b="1" dirty="0">
                <a:latin typeface="Symbol" panose="05050102010706020507" charset="2"/>
                <a:cs typeface="Arial" panose="020B0604020202020204" pitchFamily="34" charset="0"/>
              </a:rPr>
              <a:t>Q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(1)</a:t>
            </a:r>
            <a:endParaRPr 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lvl="1"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r>
              <a:rPr lang="en-US" b="1" dirty="0">
                <a:latin typeface="Symbol" panose="05050102010706020507" charset="2"/>
                <a:cs typeface="Arial" panose="020B0604020202020204" pitchFamily="34" charset="0"/>
              </a:rPr>
              <a:t>Q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j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</a:t>
            </a:r>
            <a:endParaRPr 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lvl="1">
              <a:buFont typeface="Symbol" panose="05050102010706020507" charset="2"/>
              <a:buNone/>
            </a:pPr>
            <a:r>
              <a:rPr lang="en-US" b="1" dirty="0">
                <a:latin typeface="Symbol" panose="05050102010706020507" charset="2"/>
                <a:cs typeface="Arial" panose="020B0604020202020204" pitchFamily="34" charset="0"/>
              </a:rPr>
              <a:t>		Q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en-US" baseline="30000" dirty="0">
                <a:latin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</a:t>
            </a:r>
            <a:endParaRPr 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lvl="1">
              <a:buFont typeface="Arial" panose="020B0604020202020204" pitchFamily="34" charset="0"/>
              <a:buNone/>
            </a:pPr>
            <a:r>
              <a:rPr lang="en-US" b="1" dirty="0">
                <a:latin typeface="Symbol" panose="05050102010706020507" charset="2"/>
                <a:cs typeface="Arial" panose="020B0604020202020204" pitchFamily="34" charset="0"/>
              </a:rPr>
              <a:t>		Q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baseline="30000" dirty="0">
                <a:latin typeface="Times New Roman" panose="02020603050405020304" pitchFamily="18" charset="0"/>
                <a:cs typeface="Arial" panose="020B0604020202020204" pitchFamily="34" charset="0"/>
              </a:rPr>
              <a:t>3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</a:t>
            </a:r>
            <a:endParaRPr 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Control Statements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299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Switch statements appear to be nested if statements: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sz="1800" b="1">
              <a:latin typeface="Courier New" panose="0207030902020502040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800" b="1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800">
                <a:latin typeface="Consolas" panose="020B0609020204030204" pitchFamily="49" charset="0"/>
                <a:cs typeface="Consolas" panose="020B0609020204030204" pitchFamily="49" charset="0"/>
              </a:rPr>
              <a:t>switch( i ) {</a:t>
            </a:r>
            <a:endParaRPr lang="en-US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800">
                <a:latin typeface="Consolas" panose="020B0609020204030204" pitchFamily="49" charset="0"/>
                <a:cs typeface="Consolas" panose="020B0609020204030204" pitchFamily="49" charset="0"/>
              </a:rPr>
              <a:t>		case 1:   </a:t>
            </a:r>
            <a:r>
              <a:rPr lang="en-US" sz="180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/* do stuff */ </a:t>
            </a:r>
            <a:r>
              <a:rPr lang="en-US" sz="1800">
                <a:latin typeface="Consolas" panose="020B0609020204030204" pitchFamily="49" charset="0"/>
                <a:cs typeface="Consolas" panose="020B0609020204030204" pitchFamily="49" charset="0"/>
              </a:rPr>
              <a:t>break;</a:t>
            </a:r>
            <a:endParaRPr lang="en-US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800">
                <a:latin typeface="Consolas" panose="020B0609020204030204" pitchFamily="49" charset="0"/>
                <a:cs typeface="Consolas" panose="020B0609020204030204" pitchFamily="49" charset="0"/>
              </a:rPr>
              <a:t>		case 2:   </a:t>
            </a:r>
            <a:r>
              <a:rPr lang="en-US" sz="180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/* do other stuff */ </a:t>
            </a:r>
            <a:r>
              <a:rPr lang="en-US" sz="1800">
                <a:latin typeface="Consolas" panose="020B0609020204030204" pitchFamily="49" charset="0"/>
                <a:cs typeface="Consolas" panose="020B0609020204030204" pitchFamily="49" charset="0"/>
              </a:rPr>
              <a:t>break;</a:t>
            </a:r>
            <a:endParaRPr lang="en-US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800">
                <a:latin typeface="Consolas" panose="020B0609020204030204" pitchFamily="49" charset="0"/>
                <a:cs typeface="Consolas" panose="020B0609020204030204" pitchFamily="49" charset="0"/>
              </a:rPr>
              <a:t>		case 3:   </a:t>
            </a:r>
            <a:r>
              <a:rPr lang="en-US" sz="180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/* do even more stuff */ </a:t>
            </a:r>
            <a:r>
              <a:rPr lang="en-US" sz="1800">
                <a:latin typeface="Consolas" panose="020B0609020204030204" pitchFamily="49" charset="0"/>
                <a:cs typeface="Consolas" panose="020B0609020204030204" pitchFamily="49" charset="0"/>
              </a:rPr>
              <a:t>break;</a:t>
            </a:r>
            <a:endParaRPr lang="en-US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800">
                <a:latin typeface="Consolas" panose="020B0609020204030204" pitchFamily="49" charset="0"/>
                <a:cs typeface="Consolas" panose="020B0609020204030204" pitchFamily="49" charset="0"/>
              </a:rPr>
              <a:t>		case 4:   </a:t>
            </a:r>
            <a:r>
              <a:rPr lang="en-US" sz="180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/* well, do stuff */ </a:t>
            </a:r>
            <a:r>
              <a:rPr lang="en-US" sz="1800">
                <a:latin typeface="Consolas" panose="020B0609020204030204" pitchFamily="49" charset="0"/>
                <a:cs typeface="Consolas" panose="020B0609020204030204" pitchFamily="49" charset="0"/>
              </a:rPr>
              <a:t>break;</a:t>
            </a:r>
            <a:endParaRPr lang="en-US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800">
                <a:latin typeface="Consolas" panose="020B0609020204030204" pitchFamily="49" charset="0"/>
                <a:cs typeface="Consolas" panose="020B0609020204030204" pitchFamily="49" charset="0"/>
              </a:rPr>
              <a:t>		case 5:   </a:t>
            </a:r>
            <a:r>
              <a:rPr lang="en-US" sz="180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/* tired yet? */ </a:t>
            </a:r>
            <a:r>
              <a:rPr lang="en-US" sz="1800">
                <a:latin typeface="Consolas" panose="020B0609020204030204" pitchFamily="49" charset="0"/>
                <a:cs typeface="Consolas" panose="020B0609020204030204" pitchFamily="49" charset="0"/>
              </a:rPr>
              <a:t>break;</a:t>
            </a:r>
            <a:endParaRPr lang="en-US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800">
                <a:latin typeface="Consolas" panose="020B0609020204030204" pitchFamily="49" charset="0"/>
                <a:cs typeface="Consolas" panose="020B0609020204030204" pitchFamily="49" charset="0"/>
              </a:rPr>
              <a:t>		default:  </a:t>
            </a:r>
            <a:r>
              <a:rPr lang="en-US" sz="180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/* do default stuff */</a:t>
            </a:r>
            <a:endParaRPr lang="en-US" sz="1800">
              <a:solidFill>
                <a:srgbClr val="00B0F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800">
                <a:latin typeface="Consolas" panose="020B0609020204030204" pitchFamily="49" charset="0"/>
                <a:cs typeface="Consolas" panose="020B0609020204030204" pitchFamily="49" charset="0"/>
              </a:rPr>
              <a:t>	}</a:t>
            </a:r>
            <a:endParaRPr lang="en-US" sz="18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</p:cSld>
  <p:clrMapOvr>
    <a:masterClrMapping/>
  </p:clrMapOvr>
  <p:transition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Control Statements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323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	Thus, a switch statement would appear to run in </a:t>
            </a:r>
            <a:r>
              <a:rPr lang="en-US" b="1">
                <a:latin typeface="Times New Roman" panose="02020603050405020304" pitchFamily="18" charset="0"/>
                <a:cs typeface="Arial" panose="020B0604020202020204" pitchFamily="34" charset="0"/>
              </a:rPr>
              <a:t>O</a:t>
            </a:r>
            <a:r>
              <a:rPr lang="en-US"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i="1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>
                <a:latin typeface="Times New Roman" panose="02020603050405020304" pitchFamily="18" charset="0"/>
                <a:cs typeface="Arial" panose="020B0604020202020204" pitchFamily="34" charset="0"/>
              </a:rPr>
              <a:t>)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time where </a:t>
            </a:r>
            <a:r>
              <a:rPr lang="en-US" i="1">
                <a:latin typeface="Times New Roman" panose="02020603050405020304" pitchFamily="18" charset="0"/>
                <a:cs typeface="Arial" panose="020B0604020202020204" pitchFamily="34" charset="0"/>
              </a:rPr>
              <a:t>n 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is the number of cases, the same as nested if statements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Why then not use: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sz="1800">
              <a:latin typeface="Courier New" panose="0207030902020502040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800">
                <a:latin typeface="Consolas" panose="020B0609020204030204" pitchFamily="49" charset="0"/>
                <a:cs typeface="Consolas" panose="020B0609020204030204" pitchFamily="49" charset="0"/>
              </a:rPr>
              <a:t>		if ( i == 1 ) { </a:t>
            </a:r>
            <a:r>
              <a:rPr lang="en-US" sz="180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/* do stuff */ </a:t>
            </a:r>
            <a:r>
              <a:rPr lang="en-US" sz="180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800">
                <a:latin typeface="Consolas" panose="020B0609020204030204" pitchFamily="49" charset="0"/>
                <a:cs typeface="Consolas" panose="020B0609020204030204" pitchFamily="49" charset="0"/>
              </a:rPr>
              <a:t>		else if ( i == 2 ) { </a:t>
            </a:r>
            <a:r>
              <a:rPr lang="en-US" sz="180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/* do other stuff */ </a:t>
            </a:r>
            <a:r>
              <a:rPr lang="en-US" sz="180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800">
                <a:latin typeface="Consolas" panose="020B0609020204030204" pitchFamily="49" charset="0"/>
                <a:cs typeface="Consolas" panose="020B0609020204030204" pitchFamily="49" charset="0"/>
              </a:rPr>
              <a:t>		else if ( i == 3 ) { </a:t>
            </a:r>
            <a:r>
              <a:rPr lang="en-US" sz="180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/* do even more stuff *</a:t>
            </a:r>
            <a:r>
              <a:rPr lang="en-US" sz="180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US" sz="1800">
                <a:latin typeface="Consolas" panose="020B0609020204030204" pitchFamily="49" charset="0"/>
                <a:cs typeface="Consolas" panose="020B0609020204030204" pitchFamily="49" charset="0"/>
              </a:rPr>
              <a:t> }</a:t>
            </a:r>
            <a:endParaRPr lang="en-US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800">
                <a:latin typeface="Consolas" panose="020B0609020204030204" pitchFamily="49" charset="0"/>
                <a:cs typeface="Consolas" panose="020B0609020204030204" pitchFamily="49" charset="0"/>
              </a:rPr>
              <a:t>		else if ( i == 4 ) { </a:t>
            </a:r>
            <a:r>
              <a:rPr lang="en-US" sz="180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/* well, do stuff */ </a:t>
            </a:r>
            <a:r>
              <a:rPr lang="en-US" sz="180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800">
                <a:latin typeface="Consolas" panose="020B0609020204030204" pitchFamily="49" charset="0"/>
                <a:cs typeface="Consolas" panose="020B0609020204030204" pitchFamily="49" charset="0"/>
              </a:rPr>
              <a:t>		else if ( i == 5 ) { </a:t>
            </a:r>
            <a:r>
              <a:rPr lang="en-US" sz="180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/* tired yet? */ </a:t>
            </a:r>
            <a:r>
              <a:rPr lang="en-US" sz="180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18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800">
                <a:latin typeface="Consolas" panose="020B0609020204030204" pitchFamily="49" charset="0"/>
                <a:cs typeface="Consolas" panose="020B0609020204030204" pitchFamily="49" charset="0"/>
              </a:rPr>
              <a:t>		else { </a:t>
            </a:r>
            <a:r>
              <a:rPr lang="en-US" sz="180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/* do default stuff */ </a:t>
            </a:r>
            <a:r>
              <a:rPr lang="en-US" sz="180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18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</p:cSld>
  <p:clrMapOvr>
    <a:masterClrMapping/>
  </p:clrMapOvr>
  <p:transition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Control Statements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347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Question: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Arial" panose="020B0604020202020204" pitchFamily="34" charset="0"/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Why would you introduce something into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Arial" panose="020B0604020202020204" pitchFamily="34" charset="0"/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programming language which is redundant?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	There are reasons for this: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your name is Larry Wall and you are creating the Perl (</a:t>
            </a:r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not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PERL) programming language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you are introducing software engineering constructs, for example, classes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Control Statements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371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	However, switch statements were included in the original C language...  why?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	First, you may recall that the cases must be actual values, either: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integers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characters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	For example, you cannot have a case with a variable, e.g.,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Arial" panose="020B0604020202020204" pitchFamily="34" charset="0"/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1600" b="1">
                <a:solidFill>
                  <a:srgbClr val="FF0000"/>
                </a:solidFill>
                <a:latin typeface="Courier New" panose="02070309020205020404" charset="0"/>
                <a:cs typeface="Arial" panose="020B0604020202020204" pitchFamily="34" charset="0"/>
              </a:rPr>
              <a:t>case n: /* do something */ break;  //bad</a:t>
            </a:r>
            <a:endParaRPr lang="en-US" sz="1600" b="1">
              <a:solidFill>
                <a:srgbClr val="FF0000"/>
              </a:solidFill>
              <a:latin typeface="Courier New" panose="0207030902020502040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Control Statements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395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	The compiler looks at the different cases and calculates an appropriate jump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	For example, assume: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the cases are 0, 1, 2, 3, 4, 5, 6, 7, 8, 9, 10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each case requires a maximum of 24 bytes (for example, six instructions)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	Then the compiler simply makes a jump size based on the variable, jumping ahead either 0, 24, 48, 72, ..., or 240 instructions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14" name="Picture 2" descr="z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5188718" y="2997671"/>
            <a:ext cx="3487738" cy="309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4515" name="Rectang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Functions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516" name="Rectangle 4"/>
          <p:cNvSpPr>
            <a:spLocks noGrp="1"/>
          </p:cNvSpPr>
          <p:nvPr>
            <p:ph type="body" idx="4294967295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function (or subroutine) is code which has been separated out: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repeated operations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e.g., mathematical functions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group related tasks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e.g., initialization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None/>
            </a:pP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1" indent="-342900">
              <a:buNone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Functions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539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Because a subroutine (function) can be called from anywhere, we must: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prepare the appropriate environment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deal with arguments (parameters)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jump to the subroutine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execute the subroutine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deal with the return value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clean up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1" indent="-342900">
              <a:buNone/>
            </a:pPr>
            <a:r>
              <a:rPr lang="en-US" altLang="zh-CN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We will assume that the overhead required to make a function call and to return is </a:t>
            </a:r>
            <a:r>
              <a:rPr lang="en-US" altLang="zh-CN" sz="2000" b="1" dirty="0">
                <a:solidFill>
                  <a:prstClr val="black"/>
                </a:solidFill>
                <a:latin typeface="Symbol" panose="05050102010706020507" charset="2"/>
                <a:cs typeface="Arial" panose="020B0604020202020204" pitchFamily="34" charset="0"/>
              </a:rPr>
              <a:t>Q</a:t>
            </a:r>
            <a:r>
              <a:rPr lang="en-US" altLang="zh-CN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(1).</a:t>
            </a:r>
            <a:endParaRPr lang="en-US" altLang="zh-CN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Functions</a:t>
            </a:r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563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Fortunately, this is such a common task that all modern processors have instructions that perform most of these steps in one instruction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Thus, we will assume that the overhead required to make a function call and to return is </a:t>
            </a:r>
            <a:r>
              <a:rPr lang="en-US" b="1" dirty="0">
                <a:latin typeface="Symbol" panose="05050102010706020507" charset="2"/>
                <a:cs typeface="Arial" panose="020B0604020202020204" pitchFamily="34" charset="0"/>
              </a:rPr>
              <a:t>Q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(1)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will discuss this later (stacks/ECE 222)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Functions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587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Because any function requires the overhead of a function call and return, we will always assume that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r>
              <a:rPr lang="en-US">
                <a:latin typeface="Times New Roman" panose="02020603050405020304" pitchFamily="18" charset="0"/>
                <a:cs typeface="Arial" panose="020B0604020202020204" pitchFamily="34" charset="0"/>
              </a:rPr>
              <a:t>T</a:t>
            </a:r>
            <a:r>
              <a:rPr lang="en-US" baseline="-25000">
                <a:latin typeface="Times New Roman" panose="02020603050405020304" pitchFamily="18" charset="0"/>
                <a:cs typeface="Arial" panose="020B0604020202020204" pitchFamily="34" charset="0"/>
              </a:rPr>
              <a:t>f</a:t>
            </a:r>
            <a:r>
              <a:rPr lang="en-US">
                <a:latin typeface="Times New Roman" panose="02020603050405020304" pitchFamily="18" charset="0"/>
                <a:cs typeface="Arial" panose="020B0604020202020204" pitchFamily="34" charset="0"/>
              </a:rPr>
              <a:t> = </a:t>
            </a:r>
            <a:r>
              <a:rPr lang="en-US">
                <a:latin typeface="Symbol" panose="05050102010706020507" charset="2"/>
                <a:cs typeface="Arial" panose="020B0604020202020204" pitchFamily="34" charset="0"/>
              </a:rPr>
              <a:t>W</a:t>
            </a:r>
            <a:r>
              <a:rPr lang="en-US">
                <a:latin typeface="Times New Roman" panose="02020603050405020304" pitchFamily="18" charset="0"/>
                <a:cs typeface="Arial" panose="020B0604020202020204" pitchFamily="34" charset="0"/>
              </a:rPr>
              <a:t>(1)</a:t>
            </a:r>
            <a:endParaRPr lang="en-US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	That is, it is impossible for any function call to have a zero run time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Functions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611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Given a function 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f(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(the run time of which depends on 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 we will associate the run time of 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f(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by some function </a:t>
            </a:r>
            <a:r>
              <a:rPr lang="en-US" dirty="0" err="1">
                <a:latin typeface="Times New Roman" panose="02020603050405020304" pitchFamily="18" charset="0"/>
                <a:cs typeface="Arial" panose="020B0604020202020204" pitchFamily="34" charset="0"/>
              </a:rPr>
              <a:t>T</a:t>
            </a:r>
            <a:r>
              <a:rPr lang="en-US" baseline="-25000" dirty="0" err="1">
                <a:latin typeface="Times New Roman" panose="02020603050405020304" pitchFamily="18" charset="0"/>
                <a:cs typeface="Arial" panose="020B0604020202020204" pitchFamily="34" charset="0"/>
              </a:rPr>
              <a:t>f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</a:t>
            </a:r>
            <a:endParaRPr 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may write this as 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T(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</a:t>
            </a:r>
            <a:endParaRPr 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includes the time required to both call and return from the function</a:t>
            </a:r>
            <a:endParaRPr 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Functions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635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Consider this function: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200" b="1" dirty="0">
                <a:latin typeface="Courier New" panose="02070309020205020404" charset="0"/>
                <a:cs typeface="Arial" panose="020B0604020202020204" pitchFamily="34" charset="0"/>
              </a:rPr>
              <a:t>		</a:t>
            </a:r>
            <a:r>
              <a:rPr 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void </a:t>
            </a:r>
            <a:r>
              <a:rPr lang="en-US" sz="1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Disjoint_sets</a:t>
            </a:r>
            <a:r>
              <a:rPr 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en-US" sz="1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set_union</a:t>
            </a:r>
            <a:r>
              <a:rPr 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( int m, int n ) {</a:t>
            </a:r>
            <a:endParaRPr lang="en-US" sz="12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			</a:t>
            </a: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 = find( m );</a:t>
            </a:r>
            <a:endParaRPr lang="en-US" sz="1200" b="1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n = find( n );</a:t>
            </a:r>
            <a:endParaRPr lang="en-US" sz="1200" b="1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sz="12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if ( m == n ) {</a:t>
            </a:r>
            <a:endParaRPr lang="en-US" sz="1200" b="1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	return;</a:t>
            </a:r>
            <a:endParaRPr lang="en-US" sz="1200" b="1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}</a:t>
            </a:r>
            <a:endParaRPr lang="en-US" sz="1200" b="1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sz="1200" b="1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--</a:t>
            </a:r>
            <a:r>
              <a:rPr lang="en-US" sz="12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num_disjoint_sets</a:t>
            </a:r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sz="1200" b="1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sz="1200" b="1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if ( </a:t>
            </a:r>
            <a:r>
              <a:rPr lang="en-US" sz="12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tree_height</a:t>
            </a:r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[m] &gt;= </a:t>
            </a:r>
            <a:r>
              <a:rPr lang="en-US" sz="12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tree_height</a:t>
            </a:r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[n] ) {</a:t>
            </a:r>
            <a:endParaRPr lang="en-US" sz="1200" b="1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    parent[n] = m;</a:t>
            </a:r>
            <a:endParaRPr lang="en-US" sz="1200" b="1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sz="1200" b="1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    if ( </a:t>
            </a:r>
            <a:r>
              <a:rPr lang="en-US" sz="12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tree_height</a:t>
            </a:r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[m] == </a:t>
            </a:r>
            <a:r>
              <a:rPr lang="en-US" sz="12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tree_height</a:t>
            </a:r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[n] ) {</a:t>
            </a:r>
            <a:endParaRPr lang="en-US" sz="1200" b="1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        ++( </a:t>
            </a:r>
            <a:r>
              <a:rPr lang="en-US" sz="12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tree_height</a:t>
            </a:r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[m] );</a:t>
            </a:r>
            <a:endParaRPr lang="en-US" sz="1200" b="1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        </a:t>
            </a:r>
            <a:r>
              <a:rPr lang="en-US" sz="12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max_height</a:t>
            </a:r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std::max( </a:t>
            </a:r>
            <a:r>
              <a:rPr lang="en-US" sz="12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max_height</a:t>
            </a:r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2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tree_height</a:t>
            </a:r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[m] );</a:t>
            </a:r>
            <a:endParaRPr lang="en-US" sz="1200" b="1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    }</a:t>
            </a:r>
            <a:endParaRPr lang="en-US" sz="1200" b="1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} else {</a:t>
            </a:r>
            <a:endParaRPr lang="en-US" sz="1200" b="1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    parent[m] = n;</a:t>
            </a:r>
            <a:endParaRPr lang="en-US" sz="1200" b="1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}</a:t>
            </a:r>
            <a:endParaRPr lang="en-US" sz="1200" b="1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		} </a:t>
            </a:r>
            <a:endParaRPr lang="en-US" sz="12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9636" name="TextBox 4"/>
          <p:cNvSpPr txBox="1">
            <a:spLocks noChangeArrowheads="1"/>
          </p:cNvSpPr>
          <p:nvPr/>
        </p:nvSpPr>
        <p:spPr bwMode="auto">
          <a:xfrm>
            <a:off x="7454900" y="4714875"/>
            <a:ext cx="646113" cy="3698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CA" b="1">
                <a:solidFill>
                  <a:srgbClr val="FF0000"/>
                </a:solidFill>
                <a:latin typeface="Symbol" panose="05050102010706020507" charset="2"/>
              </a:rPr>
              <a:t>Q</a:t>
            </a:r>
            <a:r>
              <a:rPr lang="en-CA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endParaRPr lang="en-CA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637" name="TextBox 4"/>
          <p:cNvSpPr txBox="1">
            <a:spLocks noChangeArrowheads="1"/>
          </p:cNvSpPr>
          <p:nvPr/>
        </p:nvSpPr>
        <p:spPr bwMode="auto">
          <a:xfrm>
            <a:off x="5572125" y="2286000"/>
            <a:ext cx="688975" cy="3698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CA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2T</a:t>
            </a:r>
            <a:r>
              <a:rPr lang="en-CA" baseline="-2500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</a:t>
            </a:r>
            <a:endParaRPr lang="en-CA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638" name="TextBox 5"/>
          <p:cNvSpPr txBox="1">
            <a:spLocks noChangeArrowheads="1"/>
          </p:cNvSpPr>
          <p:nvPr/>
        </p:nvSpPr>
        <p:spPr bwMode="auto">
          <a:xfrm>
            <a:off x="6084168" y="1600200"/>
            <a:ext cx="2287588" cy="3698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CA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CA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set_union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CA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2T</a:t>
            </a:r>
            <a:r>
              <a:rPr lang="en-CA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</a:t>
            </a:r>
            <a:r>
              <a:rPr lang="en-CA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CA" b="1" dirty="0">
                <a:solidFill>
                  <a:srgbClr val="FF0000"/>
                </a:solidFill>
                <a:latin typeface="Symbol" panose="05050102010706020507" charset="2"/>
              </a:rPr>
              <a:t>Q</a:t>
            </a:r>
            <a:r>
              <a:rPr lang="en-CA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endParaRPr lang="en-CA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2209800" y="2071688"/>
            <a:ext cx="1714500" cy="785812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8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Recursive Functions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659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function is relatively simple (and boring) if it simply performs operations and calls other functions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Most interesting functions designed to solve problems usually end up calling themselves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Such a function is said to be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recursive</a:t>
            </a:r>
            <a:endParaRPr 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Recursive Functions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01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As an example, we could implement the factorial function recursively: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sz="1800" b="1" dirty="0">
              <a:latin typeface="Courier New" panose="0207030902020502040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		int factorial( int n ) {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		    if ( n &lt;= 1 ) {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		        return 1;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		    } else {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		        return n * factorial( n – 1 );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		    }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		}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4098" name="Object 4"/>
          <p:cNvGraphicFramePr>
            <a:graphicFrameLocks noChangeAspect="1"/>
          </p:cNvGraphicFramePr>
          <p:nvPr/>
        </p:nvGraphicFramePr>
        <p:xfrm>
          <a:off x="6227763" y="3212976"/>
          <a:ext cx="633412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8" name="Equation" r:id="rId1" imgW="317500" imgH="203200" progId="Equation.DSMT4">
                  <p:embed/>
                </p:oleObj>
              </mc:Choice>
              <mc:Fallback>
                <p:oleObj name="Equation" r:id="rId1" imgW="317500" imgH="203200" progId="Equation.DSMT4">
                  <p:embed/>
                  <p:pic>
                    <p:nvPicPr>
                      <p:cNvPr id="0" name="图片 153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7763" y="3212976"/>
                        <a:ext cx="633412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9" name="Object 6"/>
          <p:cNvGraphicFramePr>
            <a:graphicFrameLocks noChangeAspect="1"/>
          </p:cNvGraphicFramePr>
          <p:nvPr/>
        </p:nvGraphicFramePr>
        <p:xfrm>
          <a:off x="6247779" y="3789363"/>
          <a:ext cx="1852613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9" name="Equation" r:id="rId3" imgW="927100" imgH="228600" progId="Equation.DSMT4">
                  <p:embed/>
                </p:oleObj>
              </mc:Choice>
              <mc:Fallback>
                <p:oleObj name="Equation" r:id="rId3" imgW="927100" imgH="228600" progId="Equation.DSMT4">
                  <p:embed/>
                  <p:pic>
                    <p:nvPicPr>
                      <p:cNvPr id="0" name="图片 153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7779" y="3789363"/>
                        <a:ext cx="1852613" cy="455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Recursive Functions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683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analysis of the run time of this function yields a recurrence relation: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		T</a:t>
            </a:r>
            <a:r>
              <a:rPr lang="en-US" baseline="-25000" dirty="0">
                <a:latin typeface="Times New Roman" panose="02020603050405020304" pitchFamily="18" charset="0"/>
                <a:cs typeface="Arial" panose="020B0604020202020204" pitchFamily="34" charset="0"/>
              </a:rPr>
              <a:t>!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 = T</a:t>
            </a:r>
            <a:r>
              <a:rPr lang="en-US" baseline="-25000" dirty="0">
                <a:latin typeface="Times New Roman" panose="02020603050405020304" pitchFamily="18" charset="0"/>
                <a:cs typeface="Arial" panose="020B0604020202020204" pitchFamily="34" charset="0"/>
              </a:rPr>
              <a:t>!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 1) + </a:t>
            </a:r>
            <a:r>
              <a:rPr lang="en-US" b="1" dirty="0">
                <a:latin typeface="Symbol" panose="05050102010706020507" charset="2"/>
                <a:cs typeface="Arial" panose="020B0604020202020204" pitchFamily="34" charset="0"/>
              </a:rPr>
              <a:t>Q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(1)         T</a:t>
            </a:r>
            <a:r>
              <a:rPr lang="en-US" baseline="-25000" dirty="0">
                <a:latin typeface="Times New Roman" panose="02020603050405020304" pitchFamily="18" charset="0"/>
                <a:cs typeface="Arial" panose="020B0604020202020204" pitchFamily="34" charset="0"/>
              </a:rPr>
              <a:t>!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(1) = </a:t>
            </a:r>
            <a:r>
              <a:rPr lang="en-US" b="1" dirty="0">
                <a:latin typeface="Symbol" panose="05050102010706020507" charset="2"/>
                <a:cs typeface="Arial" panose="020B0604020202020204" pitchFamily="34" charset="0"/>
              </a:rPr>
              <a:t>Q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(1)</a:t>
            </a:r>
            <a:endParaRPr 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This recurrence relation has Landau symbols…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Replace each Landau symbol with a representative function: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Arial" panose="020B0604020202020204" pitchFamily="34" charset="0"/>
              <a:buNone/>
            </a:pPr>
            <a:r>
              <a:rPr lang="en-US" sz="2000" dirty="0">
                <a:latin typeface="Times New Roman" panose="02020603050405020304" pitchFamily="18" charset="0"/>
                <a:cs typeface="Arial" panose="020B0604020202020204" pitchFamily="34" charset="0"/>
              </a:rPr>
              <a:t>		T</a:t>
            </a:r>
            <a:r>
              <a:rPr lang="en-US" sz="2000" baseline="-25000" dirty="0">
                <a:latin typeface="Times New Roman" panose="02020603050405020304" pitchFamily="18" charset="0"/>
                <a:cs typeface="Arial" panose="020B0604020202020204" pitchFamily="34" charset="0"/>
              </a:rPr>
              <a:t>!</a:t>
            </a:r>
            <a:r>
              <a:rPr lang="en-US" sz="2000" dirty="0"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sz="2000" dirty="0">
                <a:latin typeface="Times New Roman" panose="02020603050405020304" pitchFamily="18" charset="0"/>
                <a:cs typeface="Arial" panose="020B0604020202020204" pitchFamily="34" charset="0"/>
              </a:rPr>
              <a:t>) = T</a:t>
            </a:r>
            <a:r>
              <a:rPr lang="en-US" sz="2000" baseline="-25000" dirty="0">
                <a:latin typeface="Times New Roman" panose="02020603050405020304" pitchFamily="18" charset="0"/>
                <a:cs typeface="Arial" panose="020B0604020202020204" pitchFamily="34" charset="0"/>
              </a:rPr>
              <a:t>!</a:t>
            </a:r>
            <a:r>
              <a:rPr lang="en-US" sz="2000" dirty="0"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sz="2000" dirty="0"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sz="2000" dirty="0">
                <a:latin typeface="Times New Roman" panose="02020603050405020304" pitchFamily="18" charset="0"/>
                <a:cs typeface="Arial" panose="020B0604020202020204" pitchFamily="34" charset="0"/>
              </a:rPr>
              <a:t> 1) + 1         T</a:t>
            </a:r>
            <a:r>
              <a:rPr lang="en-US" sz="2000" baseline="-25000" dirty="0">
                <a:latin typeface="Times New Roman" panose="02020603050405020304" pitchFamily="18" charset="0"/>
                <a:cs typeface="Arial" panose="020B0604020202020204" pitchFamily="34" charset="0"/>
              </a:rPr>
              <a:t>!</a:t>
            </a:r>
            <a:r>
              <a:rPr lang="en-US" sz="2000" dirty="0">
                <a:latin typeface="Times New Roman" panose="02020603050405020304" pitchFamily="18" charset="0"/>
                <a:cs typeface="Arial" panose="020B0604020202020204" pitchFamily="34" charset="0"/>
              </a:rPr>
              <a:t>(1) = 1</a:t>
            </a:r>
            <a:endParaRPr lang="en-US" sz="2000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Then it is easy to prove that </a:t>
            </a:r>
            <a:r>
              <a:rPr lang="en-US" altLang="zh-CN" sz="2000" dirty="0">
                <a:latin typeface="Times New Roman" panose="02020603050405020304" pitchFamily="18" charset="0"/>
                <a:cs typeface="Arial" panose="020B0604020202020204" pitchFamily="34" charset="0"/>
              </a:rPr>
              <a:t>T</a:t>
            </a:r>
            <a:r>
              <a:rPr lang="en-US" altLang="zh-CN" sz="2000" baseline="-25000" dirty="0">
                <a:latin typeface="Times New Roman" panose="02020603050405020304" pitchFamily="18" charset="0"/>
                <a:cs typeface="Arial" panose="020B0604020202020204" pitchFamily="34" charset="0"/>
              </a:rPr>
              <a:t>!</a:t>
            </a:r>
            <a:r>
              <a:rPr lang="en-US" altLang="zh-CN" sz="2000" dirty="0"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altLang="zh-CN" sz="2000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altLang="zh-CN" sz="2000" dirty="0">
                <a:latin typeface="Times New Roman" panose="02020603050405020304" pitchFamily="18" charset="0"/>
                <a:cs typeface="Arial" panose="020B0604020202020204" pitchFamily="34" charset="0"/>
              </a:rPr>
              <a:t>) = </a:t>
            </a:r>
            <a:r>
              <a:rPr lang="en-US" altLang="zh-CN" sz="2000" b="1" dirty="0">
                <a:latin typeface="Symbol" panose="05050102010706020507" charset="2"/>
                <a:cs typeface="Arial" panose="020B0604020202020204" pitchFamily="34" charset="0"/>
              </a:rPr>
              <a:t>Q</a:t>
            </a:r>
            <a:r>
              <a:rPr lang="en-US" altLang="zh-CN" sz="2000" dirty="0"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altLang="zh-CN" sz="2000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altLang="zh-CN" sz="2000" dirty="0">
                <a:latin typeface="Times New Roman" panose="02020603050405020304" pitchFamily="18" charset="0"/>
                <a:cs typeface="Arial" panose="020B0604020202020204" pitchFamily="34" charset="0"/>
              </a:rPr>
              <a:t>)</a:t>
            </a:r>
            <a:endParaRPr lang="en-US" altLang="zh-CN" sz="2000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Recursive Functions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2515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Suppose we want to sort a array of 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items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We could: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go through the list and find the largest item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swap the last entry in the list with that largest item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then, go on and sort the rest of the array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This is called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selection sort</a:t>
            </a:r>
            <a:endParaRPr 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Recursive Functions</a:t>
            </a:r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827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sz="1200" b="1">
                <a:latin typeface="Courier New" panose="02070309020205020404" charset="0"/>
                <a:cs typeface="Arial" panose="020B0604020202020204" pitchFamily="34" charset="0"/>
              </a:rPr>
              <a:t>void sort( int * array, int n ) {</a:t>
            </a:r>
            <a:endParaRPr lang="en-US" sz="1200" b="1">
              <a:latin typeface="Courier New" panose="0207030902020502040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200" b="1">
                <a:latin typeface="Courier New" panose="02070309020205020404" charset="0"/>
                <a:cs typeface="Arial" panose="020B0604020202020204" pitchFamily="34" charset="0"/>
              </a:rPr>
              <a:t>    if ( n &lt;= 1 ) {</a:t>
            </a:r>
            <a:endParaRPr lang="en-US" sz="1200" b="1">
              <a:latin typeface="Courier New" panose="0207030902020502040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200" b="1">
                <a:latin typeface="Courier New" panose="02070309020205020404" charset="0"/>
                <a:cs typeface="Arial" panose="020B0604020202020204" pitchFamily="34" charset="0"/>
              </a:rPr>
              <a:t>        return;                        // special case:  0 or 1 items are always sorted</a:t>
            </a:r>
            <a:endParaRPr lang="en-US" sz="1200" b="1">
              <a:latin typeface="Courier New" panose="0207030902020502040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200" b="1">
                <a:latin typeface="Courier New" panose="02070309020205020404" charset="0"/>
                <a:cs typeface="Arial" panose="020B0604020202020204" pitchFamily="34" charset="0"/>
              </a:rPr>
              <a:t>    }</a:t>
            </a:r>
            <a:endParaRPr lang="en-US" sz="1200" b="1">
              <a:latin typeface="Courier New" panose="0207030902020502040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sz="1200" b="1">
              <a:latin typeface="Courier New" panose="0207030902020502040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200" b="1">
                <a:latin typeface="Courier New" panose="02070309020205020404" charset="0"/>
                <a:cs typeface="Arial" panose="020B0604020202020204" pitchFamily="34" charset="0"/>
              </a:rPr>
              <a:t>    int posn = 0;                      // assume the first entry is the smallest</a:t>
            </a:r>
            <a:endParaRPr lang="en-US" sz="1200" b="1">
              <a:latin typeface="Courier New" panose="0207030902020502040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200" b="1">
                <a:latin typeface="Courier New" panose="02070309020205020404" charset="0"/>
                <a:cs typeface="Arial" panose="020B0604020202020204" pitchFamily="34" charset="0"/>
              </a:rPr>
              <a:t>    int max = array[posn];</a:t>
            </a:r>
            <a:endParaRPr lang="en-US" sz="1200" b="1">
              <a:latin typeface="Courier New" panose="0207030902020502040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sz="1200" b="1">
              <a:latin typeface="Courier New" panose="0207030902020502040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200" b="1">
                <a:latin typeface="Courier New" panose="02070309020205020404" charset="0"/>
                <a:cs typeface="Arial" panose="020B0604020202020204" pitchFamily="34" charset="0"/>
              </a:rPr>
              <a:t>    for ( int i = 1; i &lt; n; ++i ) {    // search through the remaining entries</a:t>
            </a:r>
            <a:endParaRPr lang="en-US" sz="1200" b="1">
              <a:latin typeface="Courier New" panose="0207030902020502040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200" b="1">
                <a:latin typeface="Courier New" panose="02070309020205020404" charset="0"/>
                <a:cs typeface="Arial" panose="020B0604020202020204" pitchFamily="34" charset="0"/>
              </a:rPr>
              <a:t>        if ( array[i] &gt; max ) {        // if a larger one is found</a:t>
            </a:r>
            <a:endParaRPr lang="en-US" sz="1200" b="1">
              <a:latin typeface="Courier New" panose="0207030902020502040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200" b="1">
                <a:latin typeface="Courier New" panose="02070309020205020404" charset="0"/>
                <a:cs typeface="Arial" panose="020B0604020202020204" pitchFamily="34" charset="0"/>
              </a:rPr>
              <a:t>            posn = i;                  // update both the position and value</a:t>
            </a:r>
            <a:endParaRPr lang="en-US" sz="1200" b="1">
              <a:latin typeface="Courier New" panose="0207030902020502040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200" b="1">
                <a:latin typeface="Courier New" panose="02070309020205020404" charset="0"/>
                <a:cs typeface="Arial" panose="020B0604020202020204" pitchFamily="34" charset="0"/>
              </a:rPr>
              <a:t>            max = array[posn];</a:t>
            </a:r>
            <a:endParaRPr lang="en-US" sz="1200" b="1">
              <a:latin typeface="Courier New" panose="0207030902020502040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200" b="1">
                <a:latin typeface="Courier New" panose="02070309020205020404" charset="0"/>
                <a:cs typeface="Arial" panose="020B0604020202020204" pitchFamily="34" charset="0"/>
              </a:rPr>
              <a:t>        }</a:t>
            </a:r>
            <a:endParaRPr lang="en-US" sz="1200" b="1">
              <a:latin typeface="Courier New" panose="0207030902020502040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200" b="1">
                <a:latin typeface="Courier New" panose="02070309020205020404" charset="0"/>
                <a:cs typeface="Arial" panose="020B0604020202020204" pitchFamily="34" charset="0"/>
              </a:rPr>
              <a:t>    }</a:t>
            </a:r>
            <a:endParaRPr lang="en-US" sz="1200" b="1">
              <a:latin typeface="Courier New" panose="0207030902020502040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sz="1200" b="1">
              <a:latin typeface="Courier New" panose="0207030902020502040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200" b="1">
                <a:latin typeface="Courier New" panose="02070309020205020404" charset="0"/>
                <a:cs typeface="Arial" panose="020B0604020202020204" pitchFamily="34" charset="0"/>
              </a:rPr>
              <a:t>    int tmp = array[n - 1];            // swap the largest entry with the last</a:t>
            </a:r>
            <a:endParaRPr lang="en-US" sz="1200" b="1">
              <a:latin typeface="Courier New" panose="0207030902020502040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200" b="1">
                <a:latin typeface="Courier New" panose="02070309020205020404" charset="0"/>
                <a:cs typeface="Arial" panose="020B0604020202020204" pitchFamily="34" charset="0"/>
              </a:rPr>
              <a:t>    array[n - 1] = array[posn];</a:t>
            </a:r>
            <a:endParaRPr lang="en-US" sz="1200" b="1">
              <a:latin typeface="Courier New" panose="0207030902020502040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200" b="1">
                <a:latin typeface="Courier New" panose="02070309020205020404" charset="0"/>
                <a:cs typeface="Arial" panose="020B0604020202020204" pitchFamily="34" charset="0"/>
              </a:rPr>
              <a:t>    array[posn] = tmp;</a:t>
            </a:r>
            <a:endParaRPr lang="en-US" sz="1200" b="1">
              <a:latin typeface="Courier New" panose="0207030902020502040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sz="1200" b="1">
              <a:latin typeface="Courier New" panose="0207030902020502040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200" b="1">
                <a:latin typeface="Courier New" panose="02070309020205020404" charset="0"/>
                <a:cs typeface="Arial" panose="020B0604020202020204" pitchFamily="34" charset="0"/>
              </a:rPr>
              <a:t>    sort( array, n </a:t>
            </a:r>
            <a:r>
              <a:rPr lang="en-US" sz="1200" b="1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US" sz="1200" b="1">
                <a:latin typeface="Courier New" panose="02070309020205020404" charset="0"/>
                <a:cs typeface="Arial" panose="020B0604020202020204" pitchFamily="34" charset="0"/>
              </a:rPr>
              <a:t> 1 );              // sort everything else</a:t>
            </a:r>
            <a:endParaRPr lang="en-US" sz="1200" b="1">
              <a:latin typeface="Courier New" panose="0207030902020502040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200" b="1">
                <a:latin typeface="Courier New" panose="02070309020205020404" charset="0"/>
                <a:cs typeface="Arial" panose="020B0604020202020204" pitchFamily="34" charset="0"/>
              </a:rPr>
              <a:t>}</a:t>
            </a:r>
            <a:endParaRPr lang="en-US" b="1">
              <a:latin typeface="Courier New" panose="0207030902020502040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Recursive Functions</a:t>
            </a:r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851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could call this function as follows: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b="1" dirty="0">
              <a:latin typeface="Courier New" panose="0207030902020502040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array[7] = {5, 8, 3, 6, 2, 4, 7};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	sort( array, 7 );   // sort an array of seven items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78852" name="Picture 4" descr="s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594100" y="3230563"/>
            <a:ext cx="1392238" cy="2840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Recursive Functions</a:t>
            </a:r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9875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first call finds the largest element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9876" name="Picture 4" descr="s7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594100" y="3224213"/>
            <a:ext cx="1392238" cy="2862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898" name="Picture 2" descr="s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594100" y="3222625"/>
            <a:ext cx="1392238" cy="287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0899" name="Rectang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Recursive Functions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900" name="Rectangle 4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next call finds the 2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nd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-largest element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22" name="Picture 2" descr="s5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594100" y="3224213"/>
            <a:ext cx="1392238" cy="2862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1923" name="Rectang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Recursive Functions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924" name="Rectangle 4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third finds the 3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rd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-largest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946" name="Picture 2" descr="s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594100" y="3224213"/>
            <a:ext cx="1392238" cy="2862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2947" name="Rectang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Recursive Functions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948" name="Rectangle 4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And the 4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970" name="Picture 2" descr="s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594100" y="3222625"/>
            <a:ext cx="1392238" cy="287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3971" name="Rectang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Recursive Functions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972" name="Rectangle 4"/>
          <p:cNvSpPr>
            <a:spLocks noGrp="1"/>
          </p:cNvSpPr>
          <p:nvPr>
            <p:ph type="body" idx="4294967295"/>
          </p:nvPr>
        </p:nvSpPr>
        <p:spPr>
          <a:xfrm>
            <a:off x="457200" y="1652788"/>
            <a:ext cx="8229600" cy="4525963"/>
          </a:xfrm>
        </p:spPr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And the 5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994" name="Picture 2" descr="s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594100" y="3222625"/>
            <a:ext cx="1392238" cy="287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4995" name="Rectang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Recursive Functions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4996" name="Rectangle 4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Finally the 6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018" name="Picture 2" descr="s1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594100" y="3222625"/>
            <a:ext cx="1392238" cy="2868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6019" name="Rectang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Recursive Functions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020" name="Rectangle 4"/>
          <p:cNvSpPr>
            <a:spLocks noGrp="1"/>
          </p:cNvSpPr>
          <p:nvPr>
            <p:ph type="body" idx="4294967295"/>
          </p:nvPr>
        </p:nvSpPr>
        <p:spPr>
          <a:xfrm>
            <a:off x="457200" y="1652788"/>
            <a:ext cx="8229600" cy="4525963"/>
          </a:xfrm>
        </p:spPr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And the array is sorted: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Recursive Functions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7043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Analyzing the function, we get: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7044" name="Picture 4" descr="algor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522288" y="2205757"/>
            <a:ext cx="81724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Recursive Functions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8067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Thus, replacing each Landau symbol with a representative, we are required to solve the recurrence relation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T(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 = T(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 1) + 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        T(1) = 1</a:t>
            </a:r>
            <a:endParaRPr 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The easy way to solve this is with Maple: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sz="1600" b="1" dirty="0">
                <a:latin typeface="Courier New" panose="02070309020205020404" charset="0"/>
                <a:cs typeface="Arial" panose="020B0604020202020204" pitchFamily="34" charset="0"/>
              </a:rPr>
              <a:t>&gt;</a:t>
            </a:r>
            <a:r>
              <a:rPr lang="en-US" sz="1600" b="1" dirty="0">
                <a:solidFill>
                  <a:srgbClr val="D20000"/>
                </a:solidFill>
                <a:latin typeface="Courier New" panose="02070309020205020404" charset="0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D20000"/>
                </a:solidFill>
                <a:latin typeface="Courier New" panose="02070309020205020404" charset="0"/>
                <a:cs typeface="Arial" panose="020B0604020202020204" pitchFamily="34" charset="0"/>
              </a:rPr>
              <a:t>rsolve</a:t>
            </a:r>
            <a:r>
              <a:rPr lang="en-US" sz="1600" b="1" dirty="0">
                <a:solidFill>
                  <a:srgbClr val="D20000"/>
                </a:solidFill>
                <a:latin typeface="Courier New" panose="02070309020205020404" charset="0"/>
                <a:cs typeface="Arial" panose="020B0604020202020204" pitchFamily="34" charset="0"/>
              </a:rPr>
              <a:t>( {T(n) = T(n </a:t>
            </a:r>
            <a:r>
              <a:rPr lang="en-US" sz="1600" b="1" dirty="0">
                <a:solidFill>
                  <a:srgbClr val="D2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US" sz="1600" b="1" dirty="0">
                <a:solidFill>
                  <a:srgbClr val="D20000"/>
                </a:solidFill>
                <a:latin typeface="Courier New" panose="02070309020205020404" charset="0"/>
                <a:cs typeface="Arial" panose="020B0604020202020204" pitchFamily="34" charset="0"/>
              </a:rPr>
              <a:t> 1) + n, T(1) = 1}, T(n) );</a:t>
            </a:r>
            <a:endParaRPr lang="en-US" sz="2400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sz="1600" b="1" dirty="0">
              <a:latin typeface="Courier New" panose="0207030902020502040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sz="1600" b="1" dirty="0">
              <a:latin typeface="Courier New" panose="0207030902020502040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sz="1600" b="1" dirty="0">
              <a:latin typeface="Courier New" panose="0207030902020502040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sz="1600" b="1" dirty="0">
                <a:latin typeface="Courier New" panose="02070309020205020404" charset="0"/>
                <a:cs typeface="Arial" panose="020B0604020202020204" pitchFamily="34" charset="0"/>
              </a:rPr>
              <a:t>&gt;</a:t>
            </a:r>
            <a:r>
              <a:rPr lang="en-US" sz="1600" b="1" dirty="0">
                <a:solidFill>
                  <a:srgbClr val="D20000"/>
                </a:solidFill>
                <a:latin typeface="Courier New" panose="02070309020205020404" charset="0"/>
                <a:cs typeface="Arial" panose="020B0604020202020204" pitchFamily="34" charset="0"/>
              </a:rPr>
              <a:t> expand( % );</a:t>
            </a:r>
            <a:endParaRPr lang="en-US" sz="2400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sz="1600" b="1" dirty="0">
              <a:latin typeface="Courier New" panose="02070309020205020404" charset="0"/>
              <a:cs typeface="Arial" panose="020B0604020202020204" pitchFamily="34" charset="0"/>
            </a:endParaRPr>
          </a:p>
        </p:txBody>
      </p:sp>
      <p:pic>
        <p:nvPicPr>
          <p:cNvPr id="88068" name="Picture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916238" y="3933825"/>
            <a:ext cx="2808287" cy="75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8069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08400" y="5197475"/>
            <a:ext cx="1212850" cy="75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Recursive Functions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48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Consequently, the sorting routine has the run time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			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T(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 = </a:t>
            </a:r>
            <a:r>
              <a:rPr lang="en-US" b="1" dirty="0">
                <a:latin typeface="Symbol" panose="05050102010706020507" charset="2"/>
                <a:cs typeface="Arial" panose="020B0604020202020204" pitchFamily="34" charset="0"/>
              </a:rPr>
              <a:t>Q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baseline="30000" dirty="0">
                <a:latin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</a:t>
            </a:r>
            <a:endParaRPr 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To see this by hand, consider the following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146" name="Object 4"/>
          <p:cNvGraphicFramePr>
            <a:graphicFrameLocks noChangeAspect="1"/>
          </p:cNvGraphicFramePr>
          <p:nvPr/>
        </p:nvGraphicFramePr>
        <p:xfrm>
          <a:off x="1763713" y="3357563"/>
          <a:ext cx="5802312" cy="331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9" name="Equation" r:id="rId1" imgW="2844800" imgH="1625600" progId="Equation.3">
                  <p:embed/>
                </p:oleObj>
              </mc:Choice>
              <mc:Fallback>
                <p:oleObj name="Equation" r:id="rId1" imgW="2844800" imgH="1625600" progId="Equation.3">
                  <p:embed/>
                  <p:pic>
                    <p:nvPicPr>
                      <p:cNvPr id="0" name="图片 163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3357563"/>
                        <a:ext cx="5802312" cy="331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Recursive Functions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9091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Now consider binary search of a sorted list: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Check the middle entry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we do not find it, check either the left- or right-hand side, as appropriate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Thus, 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T(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 = T((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 1)/2) + </a:t>
            </a:r>
            <a:r>
              <a:rPr lang="en-US" b="1" dirty="0">
                <a:latin typeface="Symbol" panose="05050102010706020507" charset="2"/>
                <a:cs typeface="Arial" panose="020B0604020202020204" pitchFamily="34" charset="0"/>
              </a:rPr>
              <a:t>Q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(1)</a:t>
            </a:r>
            <a:endParaRPr 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	Also, if </a:t>
            </a:r>
            <a:r>
              <a:rPr lang="en-US" altLang="zh-CN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cs typeface="Arial" panose="020B0604020202020204" pitchFamily="34" charset="0"/>
              </a:rPr>
              <a:t> = 1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, then </a:t>
            </a:r>
            <a:r>
              <a:rPr lang="en-US" altLang="zh-CN" dirty="0">
                <a:latin typeface="Times New Roman" panose="02020603050405020304" pitchFamily="18" charset="0"/>
                <a:cs typeface="Arial" panose="020B0604020202020204" pitchFamily="34" charset="0"/>
              </a:rPr>
              <a:t>T(1) = </a:t>
            </a:r>
            <a:r>
              <a:rPr lang="en-US" altLang="zh-CN" b="1" dirty="0">
                <a:latin typeface="Symbol" panose="05050102010706020507" charset="2"/>
                <a:cs typeface="Arial" panose="020B0604020202020204" pitchFamily="34" charset="0"/>
              </a:rPr>
              <a:t>Q</a:t>
            </a:r>
            <a:r>
              <a:rPr lang="en-US" altLang="zh-CN" dirty="0">
                <a:latin typeface="Times New Roman" panose="02020603050405020304" pitchFamily="18" charset="0"/>
                <a:cs typeface="Arial" panose="020B0604020202020204" pitchFamily="34" charset="0"/>
              </a:rPr>
              <a:t>(1)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Recursive Functions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72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Thus we have to solve: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Assume 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 = 2</a:t>
            </a:r>
            <a:r>
              <a:rPr lang="en-US" i="1" baseline="30000" dirty="0">
                <a:latin typeface="Times New Roman" panose="02020603050405020304" pitchFamily="18" charset="0"/>
                <a:cs typeface="Arial" panose="020B0604020202020204" pitchFamily="34" charset="0"/>
              </a:rPr>
              <a:t>k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 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where 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k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is an integer</a:t>
            </a:r>
            <a:endParaRPr 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Then 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 1)/2 = (2</a:t>
            </a:r>
            <a:r>
              <a:rPr lang="en-US" i="1" baseline="30000" dirty="0">
                <a:latin typeface="Times New Roman" panose="02020603050405020304" pitchFamily="18" charset="0"/>
                <a:cs typeface="Arial" panose="020B0604020202020204" pitchFamily="34" charset="0"/>
              </a:rPr>
              <a:t>k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 1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 1)/2 = 2</a:t>
            </a:r>
            <a:r>
              <a:rPr lang="en-US" i="1" baseline="30000" dirty="0">
                <a:latin typeface="Times New Roman" panose="02020603050405020304" pitchFamily="18" charset="0"/>
                <a:cs typeface="Arial" panose="020B0604020202020204" pitchFamily="34" charset="0"/>
              </a:rPr>
              <a:t>k</a:t>
            </a:r>
            <a:r>
              <a:rPr lang="en-US" baseline="30000" dirty="0"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US" baseline="30000" dirty="0">
                <a:latin typeface="Times New Roman" panose="02020603050405020304" pitchFamily="18" charset="0"/>
                <a:cs typeface="Arial" panose="020B0604020202020204" pitchFamily="34" charset="0"/>
              </a:rPr>
              <a:t> 1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 1</a:t>
            </a:r>
            <a:endParaRPr 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7170" name="Object 4"/>
          <p:cNvGraphicFramePr>
            <a:graphicFrameLocks noChangeAspect="1"/>
          </p:cNvGraphicFramePr>
          <p:nvPr/>
        </p:nvGraphicFramePr>
        <p:xfrm>
          <a:off x="2555875" y="1897955"/>
          <a:ext cx="3600450" cy="1243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3" name="Equation" r:id="rId1" imgW="1765300" imgH="609600" progId="Equation.3">
                  <p:embed/>
                </p:oleObj>
              </mc:Choice>
              <mc:Fallback>
                <p:oleObj name="Equation" r:id="rId1" imgW="1765300" imgH="609600" progId="Equation.3">
                  <p:embed/>
                  <p:pic>
                    <p:nvPicPr>
                      <p:cNvPr id="0" name="图片 174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1897955"/>
                        <a:ext cx="3600450" cy="1243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Recursive Functions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96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Thus, we can write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194" name="Object 4"/>
          <p:cNvGraphicFramePr>
            <a:graphicFrameLocks noChangeAspect="1"/>
          </p:cNvGraphicFramePr>
          <p:nvPr/>
        </p:nvGraphicFramePr>
        <p:xfrm>
          <a:off x="2484438" y="2276475"/>
          <a:ext cx="3705225" cy="4040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7" name="Equation" r:id="rId1" imgW="1816100" imgH="1981200" progId="Equation.3">
                  <p:embed/>
                </p:oleObj>
              </mc:Choice>
              <mc:Fallback>
                <p:oleObj name="Equation" r:id="rId1" imgW="1816100" imgH="1981200" progId="Equation.3">
                  <p:embed/>
                  <p:pic>
                    <p:nvPicPr>
                      <p:cNvPr id="0" name="图片 184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2276475"/>
                        <a:ext cx="3705225" cy="4040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Recursive Functions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20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Notice the pattern with one more step: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9218" name="Object 4"/>
          <p:cNvGraphicFramePr>
            <a:graphicFrameLocks noChangeAspect="1"/>
          </p:cNvGraphicFramePr>
          <p:nvPr/>
        </p:nvGraphicFramePr>
        <p:xfrm>
          <a:off x="2700338" y="2492375"/>
          <a:ext cx="3032125" cy="297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1" name="Equation" r:id="rId1" imgW="1485900" imgH="1460500" progId="Equation.3">
                  <p:embed/>
                </p:oleObj>
              </mc:Choice>
              <mc:Fallback>
                <p:oleObj name="Equation" r:id="rId1" imgW="1485900" imgH="1460500" progId="Equation.3">
                  <p:embed/>
                  <p:pic>
                    <p:nvPicPr>
                      <p:cNvPr id="0" name="图片 194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2492375"/>
                        <a:ext cx="3032125" cy="2979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Recursive Functions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44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Thus, in general, we may deduce that after 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k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 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steps: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because 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T(1) = 1</a:t>
            </a:r>
            <a:endParaRPr lang="en-US" sz="1800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10242" name="Object 4"/>
          <p:cNvGraphicFramePr>
            <a:graphicFrameLocks noChangeAspect="1"/>
          </p:cNvGraphicFramePr>
          <p:nvPr/>
        </p:nvGraphicFramePr>
        <p:xfrm>
          <a:off x="2484438" y="2420938"/>
          <a:ext cx="3602037" cy="1477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5" name="Equation" r:id="rId1" imgW="1765300" imgH="723900" progId="Equation.3">
                  <p:embed/>
                </p:oleObj>
              </mc:Choice>
              <mc:Fallback>
                <p:oleObj name="Equation" r:id="rId1" imgW="1765300" imgH="723900" progId="Equation.3">
                  <p:embed/>
                  <p:pic>
                    <p:nvPicPr>
                      <p:cNvPr id="0" name="图片 204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2420938"/>
                        <a:ext cx="3602037" cy="1477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9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Recursive Functions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270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Thus, 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T(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 = 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k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but 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2</a:t>
            </a:r>
            <a:r>
              <a:rPr lang="en-US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1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Therefore 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k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 = </a:t>
            </a:r>
            <a:r>
              <a:rPr lang="en-US" dirty="0" err="1">
                <a:latin typeface="Times New Roman" panose="02020603050405020304" pitchFamily="18" charset="0"/>
                <a:cs typeface="Arial" panose="020B0604020202020204" pitchFamily="34" charset="0"/>
              </a:rPr>
              <a:t>lg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 + 1)</a:t>
            </a:r>
            <a:endParaRPr 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Recall that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dirty="0">
                <a:latin typeface="Symbol" panose="05050102010706020507" charset="2"/>
                <a:cs typeface="Times New Roman" panose="02020603050405020304" pitchFamily="18" charset="0"/>
              </a:rPr>
              <a:t>Q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if                        for 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Thus, 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T(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 = </a:t>
            </a:r>
            <a:r>
              <a:rPr lang="en-US" b="1" dirty="0">
                <a:latin typeface="Symbol" panose="05050102010706020507" charset="2"/>
                <a:cs typeface="Arial" panose="020B0604020202020204" pitchFamily="34" charset="0"/>
              </a:rPr>
              <a:t>Q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cs typeface="Arial" panose="020B0604020202020204" pitchFamily="34" charset="0"/>
              </a:rPr>
              <a:t>lg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 + 1)) = </a:t>
            </a:r>
            <a:r>
              <a:rPr lang="en-US" b="1" dirty="0">
                <a:latin typeface="Symbol" panose="05050102010706020507" charset="2"/>
                <a:cs typeface="Arial" panose="020B0604020202020204" pitchFamily="34" charset="0"/>
              </a:rPr>
              <a:t>Q 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(ln(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))</a:t>
            </a:r>
            <a:endParaRPr 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11266" name="Object 4"/>
          <p:cNvGraphicFramePr>
            <a:graphicFrameLocks noChangeAspect="1"/>
          </p:cNvGraphicFramePr>
          <p:nvPr/>
        </p:nvGraphicFramePr>
        <p:xfrm>
          <a:off x="1403350" y="3265488"/>
          <a:ext cx="6184900" cy="1387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5" name="Equation" r:id="rId1" imgW="3619500" imgH="812800" progId="Equation.DSMT4">
                  <p:embed/>
                </p:oleObj>
              </mc:Choice>
              <mc:Fallback>
                <p:oleObj name="Equation" r:id="rId1" imgW="3619500" imgH="812800" progId="Equation.DSMT4">
                  <p:embed/>
                  <p:pic>
                    <p:nvPicPr>
                      <p:cNvPr id="0" name="图片 215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3265488"/>
                        <a:ext cx="6184900" cy="1387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7" name="Object 5"/>
          <p:cNvGraphicFramePr>
            <a:graphicFrameLocks noChangeAspect="1"/>
          </p:cNvGraphicFramePr>
          <p:nvPr/>
        </p:nvGraphicFramePr>
        <p:xfrm>
          <a:off x="3934618" y="2581592"/>
          <a:ext cx="1433513" cy="80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6" name="Equation" r:id="rId3" imgW="838200" imgH="469900" progId="Equation.DSMT4">
                  <p:embed/>
                </p:oleObj>
              </mc:Choice>
              <mc:Fallback>
                <p:oleObj name="Equation" r:id="rId3" imgW="838200" imgH="469900" progId="Equation.DSMT4">
                  <p:embed/>
                  <p:pic>
                    <p:nvPicPr>
                      <p:cNvPr id="0" name="图片 215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4618" y="2581592"/>
                        <a:ext cx="1433513" cy="801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8" name="Object 6"/>
          <p:cNvGraphicFramePr>
            <a:graphicFrameLocks noChangeAspect="1"/>
          </p:cNvGraphicFramePr>
          <p:nvPr/>
        </p:nvGraphicFramePr>
        <p:xfrm>
          <a:off x="5855493" y="2809875"/>
          <a:ext cx="1020763" cy="303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7" name="Equation" r:id="rId5" imgW="596900" imgH="177800" progId="Equation.DSMT4">
                  <p:embed/>
                </p:oleObj>
              </mc:Choice>
              <mc:Fallback>
                <p:oleObj name="Equation" r:id="rId5" imgW="596900" imgH="177800" progId="Equation.DSMT4">
                  <p:embed/>
                  <p:pic>
                    <p:nvPicPr>
                      <p:cNvPr id="0" name="图片 215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5493" y="2809875"/>
                        <a:ext cx="1020763" cy="303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</a:t>
            </a:r>
            <a:endParaRPr lang="en-US" dirty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Justification for analysis</a:t>
            </a:r>
            <a:endParaRPr lang="en-US" dirty="0"/>
          </a:p>
          <a:p>
            <a:r>
              <a:rPr lang="en-US" dirty="0"/>
              <a:t>Landau symbols</a:t>
            </a:r>
            <a:endParaRPr lang="en-US" dirty="0"/>
          </a:p>
          <a:p>
            <a:r>
              <a:rPr lang="en-US" altLang="zh-CN" dirty="0"/>
              <a:t>Run time of programs</a:t>
            </a:r>
            <a:endParaRPr lang="en-US" altLang="zh-CN" dirty="0"/>
          </a:p>
          <a:p>
            <a:r>
              <a:rPr lang="en-US" altLang="zh-CN" dirty="0">
                <a:solidFill>
                  <a:srgbClr val="FF0000"/>
                </a:solidFill>
              </a:rPr>
              <a:t>Best-, worst-, and average-case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Cases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1139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When determining the run time of an algorithm, because the data may not be deterministic, we may be interested in: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Best-case run time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Average-case run time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Worst-case run time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In many cases, these will be significantly different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Cases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163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Searching a list linearly is simple enough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We will count the number of comparisons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Best case: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first element is the one we’re looking for: </a:t>
            </a:r>
            <a:r>
              <a:rPr 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O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(1)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Worst case: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last element is the one we’re looking for, or it is not in the list: </a:t>
            </a:r>
            <a:r>
              <a:rPr 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O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</a:t>
            </a:r>
            <a:endParaRPr 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Average case?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need some information about the list...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Cases</a:t>
            </a:r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92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Assume the item we are looking for is in the list and equally likely distributed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If the list is of size 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then there is a 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1/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chance of it being in the </a:t>
            </a:r>
            <a:r>
              <a:rPr lang="en-US" i="1" dirty="0" err="1">
                <a:latin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location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Thus, we sum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which is </a:t>
            </a:r>
            <a:r>
              <a:rPr 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O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</a:t>
            </a:r>
            <a:endParaRPr 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12290" name="Object 4"/>
          <p:cNvGraphicFramePr>
            <a:graphicFrameLocks noChangeAspect="1"/>
          </p:cNvGraphicFramePr>
          <p:nvPr/>
        </p:nvGraphicFramePr>
        <p:xfrm>
          <a:off x="3059832" y="4077072"/>
          <a:ext cx="3609256" cy="10308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3" name="Equation" r:id="rId1" imgW="1688465" imgH="482600" progId="Equation.3">
                  <p:embed/>
                </p:oleObj>
              </mc:Choice>
              <mc:Fallback>
                <p:oleObj name="Equation" r:id="rId1" imgW="1688465" imgH="482600" progId="Equation.3">
                  <p:embed/>
                  <p:pic>
                    <p:nvPicPr>
                      <p:cNvPr id="0" name="图片 225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832" y="4077072"/>
                        <a:ext cx="3609256" cy="103083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Cases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316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Suppose we have a different distribution: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there is a 50% chance that the element is the first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 each subsequent element, the probability is reduced by ½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We could write: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which is </a:t>
            </a:r>
            <a:r>
              <a:rPr lang="en-US" altLang="zh-CN" b="1" dirty="0">
                <a:latin typeface="Times New Roman" panose="02020603050405020304" pitchFamily="18" charset="0"/>
                <a:cs typeface="Arial" panose="020B0604020202020204" pitchFamily="34" charset="0"/>
              </a:rPr>
              <a:t>O</a:t>
            </a:r>
            <a:r>
              <a:rPr lang="en-US" altLang="zh-CN" dirty="0">
                <a:latin typeface="Times New Roman" panose="02020603050405020304" pitchFamily="18" charset="0"/>
                <a:cs typeface="Arial" panose="020B0604020202020204" pitchFamily="34" charset="0"/>
              </a:rPr>
              <a:t>(1)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3314" name="Object 4"/>
          <p:cNvGraphicFramePr>
            <a:graphicFrameLocks noChangeAspect="1"/>
          </p:cNvGraphicFramePr>
          <p:nvPr/>
        </p:nvGraphicFramePr>
        <p:xfrm>
          <a:off x="3276601" y="3573016"/>
          <a:ext cx="2663551" cy="10998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7" name="Equation" r:id="rId1" imgW="1167765" imgH="482600" progId="Equation.3">
                  <p:embed/>
                </p:oleObj>
              </mc:Choice>
              <mc:Fallback>
                <p:oleObj name="Equation" r:id="rId1" imgW="1167765" imgH="482600" progId="Equation.3">
                  <p:embed/>
                  <p:pic>
                    <p:nvPicPr>
                      <p:cNvPr id="0" name="图片 235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1" y="3573016"/>
                        <a:ext cx="2663551" cy="109988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/>
          <p:cNvSpPr/>
          <p:nvPr/>
        </p:nvSpPr>
        <p:spPr>
          <a:xfrm>
            <a:off x="5655972" y="3892123"/>
            <a:ext cx="356188" cy="4616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2400" dirty="0"/>
              <a:t>2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Cases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/>
          </a:bodyPr>
          <a:lstStyle/>
          <a:p>
            <a:r>
              <a:rPr lang="en-US" altLang="zh-CN" dirty="0"/>
              <a:t>Best-case run time</a:t>
            </a:r>
            <a:endParaRPr lang="en-US" altLang="zh-CN" dirty="0"/>
          </a:p>
          <a:p>
            <a:pPr lvl="1"/>
            <a:r>
              <a:rPr lang="en-US" altLang="zh-CN" dirty="0"/>
              <a:t>Not so useful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en-US" altLang="zh-CN" dirty="0"/>
              <a:t>Average-case run time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Need to choose a distribution over input instances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Average-case analysis may tell us more about the choice of distributions than about the algorithm itself.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en-US" altLang="zh-CN" dirty="0"/>
              <a:t>Worst-case run time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Most widely used to capture efficiency in practice.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Draconian view, but hard to find effective alternative. </a:t>
            </a:r>
            <a:endParaRPr lang="en-US" altLang="zh-CN" dirty="0"/>
          </a:p>
          <a:p>
            <a:pPr lvl="1"/>
            <a:r>
              <a:rPr lang="en-US" altLang="zh-CN" dirty="0"/>
              <a:t>Exceptions: some worst-case exponential-time algorithms are widely used because the worst-case instances seem to be rare.</a:t>
            </a:r>
            <a:endParaRPr lang="en-US" altLang="zh-CN" dirty="0"/>
          </a:p>
          <a:p>
            <a:pPr lvl="2"/>
            <a:r>
              <a:rPr lang="en-US" altLang="zh-CN" dirty="0"/>
              <a:t>E.g., the simplex algorithm</a:t>
            </a:r>
            <a:endParaRPr lang="en-US" altLang="zh-CN" dirty="0"/>
          </a:p>
          <a:p>
            <a:pPr lvl="1"/>
            <a:endParaRPr lang="zh-CN" altLang="en-US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Cases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4211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Previously, we had an example where we were looking for the number of times a particular assignment statement was executed: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find_max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* array,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n ) {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     max = array[0];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     for (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= 1;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&lt; n; ++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) {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if ( array[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] &gt; max ) {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max = array[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];</a:t>
            </a:r>
            <a:endParaRPr lang="en-US" sz="16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}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     }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     return max;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 }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Cases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5235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example is taken from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Preiss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best case was once (first element is largest)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worst case was 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times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For the average case, we must consider: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 is the probability that the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baseline="30000" dirty="0" err="1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object is the largest of the first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objects?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Cases</a:t>
            </a:r>
            <a:endParaRPr lang="en-US"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340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consider this question, we must assume that elements in the array are evenly distributed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Thus, given a sub-list of size 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k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the probability that any one element is the largest is 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1/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k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Thus, given a value </a:t>
            </a:r>
            <a:r>
              <a:rPr lang="en-US" i="1" dirty="0" err="1">
                <a:latin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there are </a:t>
            </a:r>
            <a:r>
              <a:rPr lang="en-US" i="1" dirty="0" err="1">
                <a:latin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 + 1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objects, hence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4338" name="Object 4"/>
          <p:cNvGraphicFramePr>
            <a:graphicFrameLocks noChangeAspect="1"/>
          </p:cNvGraphicFramePr>
          <p:nvPr/>
        </p:nvGraphicFramePr>
        <p:xfrm>
          <a:off x="3347864" y="4293096"/>
          <a:ext cx="2808312" cy="1123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1" name="Equation" r:id="rId1" imgW="1206500" imgH="482600" progId="Equation.3">
                  <p:embed/>
                </p:oleObj>
              </mc:Choice>
              <mc:Fallback>
                <p:oleObj name="Equation" r:id="rId1" imgW="1206500" imgH="482600" progId="Equation.3">
                  <p:embed/>
                  <p:pic>
                    <p:nvPicPr>
                      <p:cNvPr id="0" name="图片 245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7864" y="4293096"/>
                        <a:ext cx="2808312" cy="1123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Cases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6259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can approximate the sum by an integral – what is the area under: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9798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3561293"/>
            <a:ext cx="8658225" cy="2486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Cases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7283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can approximate this by the 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1/(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 + 1)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integrated from 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0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to 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endParaRPr 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29696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3573016"/>
            <a:ext cx="8658225" cy="2486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Cases</a:t>
            </a:r>
            <a:endParaRPr lang="en-US"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364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From calculus: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How about the error?  Our approximation would be useless if the error was </a:t>
            </a:r>
            <a:r>
              <a:rPr 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O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</a:t>
            </a:r>
            <a:endParaRPr 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15362" name="Object 4"/>
          <p:cNvGraphicFramePr>
            <a:graphicFrameLocks noChangeAspect="1"/>
          </p:cNvGraphicFramePr>
          <p:nvPr/>
        </p:nvGraphicFramePr>
        <p:xfrm>
          <a:off x="1493838" y="2168525"/>
          <a:ext cx="6780212" cy="919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5" name="Equation" r:id="rId1" imgW="76504800" imgH="10363200" progId="Equation.DSMT4">
                  <p:embed/>
                </p:oleObj>
              </mc:Choice>
              <mc:Fallback>
                <p:oleObj name="Equation" r:id="rId1" imgW="76504800" imgH="10363200" progId="Equation.DSMT4">
                  <p:embed/>
                  <p:pic>
                    <p:nvPicPr>
                      <p:cNvPr id="0" name="图片 2560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3838" y="2168525"/>
                        <a:ext cx="6780212" cy="919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Cases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307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Consider the following image which highlights the errors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errors can be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fit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into the box 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[0, 1]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 [0, 1]</a:t>
            </a:r>
            <a:endParaRPr 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29901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3573017"/>
            <a:ext cx="8658225" cy="2486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" name="Straight Arrow Connector 2"/>
          <p:cNvCxnSpPr/>
          <p:nvPr/>
        </p:nvCxnSpPr>
        <p:spPr>
          <a:xfrm flipH="1">
            <a:off x="1115616" y="4941168"/>
            <a:ext cx="576064" cy="0"/>
          </a:xfrm>
          <a:prstGeom prst="straightConnector1">
            <a:avLst/>
          </a:prstGeom>
          <a:ln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>
            <a:off x="1115616" y="5192361"/>
            <a:ext cx="1368152" cy="0"/>
          </a:xfrm>
          <a:prstGeom prst="straightConnector1">
            <a:avLst/>
          </a:prstGeom>
          <a:ln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H="1">
            <a:off x="1115616" y="5324654"/>
            <a:ext cx="2016224" cy="0"/>
          </a:xfrm>
          <a:prstGeom prst="straightConnector1">
            <a:avLst/>
          </a:prstGeom>
          <a:ln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>
            <a:off x="1115616" y="5433501"/>
            <a:ext cx="2808312" cy="0"/>
          </a:xfrm>
          <a:prstGeom prst="straightConnector1">
            <a:avLst/>
          </a:prstGeom>
          <a:ln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1115616" y="5472010"/>
            <a:ext cx="3465016" cy="0"/>
          </a:xfrm>
          <a:prstGeom prst="straightConnector1">
            <a:avLst/>
          </a:prstGeom>
          <a:ln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1" name="Rectang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Cases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332" name="Rectangle 4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Consequently, the error must be 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&lt; 1</a:t>
            </a:r>
            <a:endParaRPr 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In fact, it converges to </a:t>
            </a:r>
            <a:r>
              <a:rPr lang="en-US" dirty="0">
                <a:latin typeface="Symbol" panose="05050102010706020507" charset="2"/>
                <a:cs typeface="Arial" panose="020B0604020202020204" pitchFamily="34" charset="0"/>
              </a:rPr>
              <a:t>g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 ≈ 0.57721566490 </a:t>
            </a:r>
            <a:endParaRPr 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Therefore, the error is </a:t>
            </a:r>
            <a:r>
              <a:rPr lang="en-US" b="1" dirty="0">
                <a:latin typeface="Symbol" panose="05050102010706020507" charset="2"/>
                <a:cs typeface="Arial" panose="020B0604020202020204" pitchFamily="34" charset="0"/>
              </a:rPr>
              <a:t>Q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(1)</a:t>
            </a:r>
            <a:endParaRPr 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300034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59" r="19956"/>
          <a:stretch>
            <a:fillRect/>
          </a:stretch>
        </p:blipFill>
        <p:spPr bwMode="auto">
          <a:xfrm>
            <a:off x="5004048" y="3316996"/>
            <a:ext cx="3915853" cy="33788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Cases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355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Thus, the number of times that the assignment statement will be executed, assuming an even distribution is </a:t>
            </a:r>
            <a:r>
              <a:rPr 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O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cs typeface="Arial" panose="020B0604020202020204" pitchFamily="34" charset="0"/>
              </a:rPr>
              <a:t>ln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))</a:t>
            </a:r>
            <a:endParaRPr 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Cases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364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en-US" sz="2400" dirty="0"/>
              <a:t>	</a:t>
            </a:r>
            <a:r>
              <a:rPr lang="en-US" dirty="0"/>
              <a:t>Thus, the total run of:</a:t>
            </a:r>
            <a:endParaRPr lang="en-US" dirty="0"/>
          </a:p>
          <a:p>
            <a:pPr>
              <a:buFont typeface="Arial" panose="020B0604020202020204" pitchFamily="34" charset="0"/>
              <a:buNone/>
              <a:defRPr/>
            </a:pP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find_max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(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*array,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n ) {</a:t>
            </a: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  max = array[0];</a:t>
            </a: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None/>
              <a:defRPr/>
            </a:pP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  for (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= 1;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&lt; n; ++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) {</a:t>
            </a: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if ( array[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] &gt; max ) {</a:t>
            </a: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</a:t>
            </a:r>
            <a:r>
              <a:rPr lang="en-US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max = array[</a:t>
            </a:r>
            <a:r>
              <a:rPr lang="en-US" sz="12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];</a:t>
            </a:r>
            <a:endParaRPr lang="en-US" sz="12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}</a:t>
            </a: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  }</a:t>
            </a: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None/>
              <a:defRPr/>
            </a:pP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  return max;</a:t>
            </a: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}</a:t>
            </a: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None/>
              <a:defRPr/>
            </a:pPr>
            <a:endParaRPr lang="en-US" dirty="0"/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dirty="0"/>
              <a:t>	is </a:t>
            </a:r>
            <a:endParaRPr lang="en-US" sz="1050" b="1" dirty="0">
              <a:latin typeface="Courier New" panose="02070309020205020404" charset="0"/>
            </a:endParaRPr>
          </a:p>
          <a:p>
            <a:pPr>
              <a:buFont typeface="Arial" panose="020B0604020202020204" pitchFamily="34" charset="0"/>
              <a:buNone/>
              <a:defRPr/>
            </a:pPr>
            <a:endParaRPr lang="en-US" sz="1050" dirty="0"/>
          </a:p>
        </p:txBody>
      </p:sp>
      <p:graphicFrame>
        <p:nvGraphicFramePr>
          <p:cNvPr id="16386" name="Object 4"/>
          <p:cNvGraphicFramePr>
            <a:graphicFrameLocks noChangeAspect="1"/>
          </p:cNvGraphicFramePr>
          <p:nvPr/>
        </p:nvGraphicFramePr>
        <p:xfrm>
          <a:off x="1397000" y="4797425"/>
          <a:ext cx="5557838" cy="890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9" name="Equation" r:id="rId1" imgW="68580000" imgH="10972800" progId="Equation.DSMT4">
                  <p:embed/>
                </p:oleObj>
              </mc:Choice>
              <mc:Fallback>
                <p:oleObj name="Equation" r:id="rId1" imgW="68580000" imgH="10972800" progId="Equation.DSMT4">
                  <p:embed/>
                  <p:pic>
                    <p:nvPicPr>
                      <p:cNvPr id="0" name="图片 266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7000" y="4797425"/>
                        <a:ext cx="5557838" cy="890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endParaRPr lang="en-US" dirty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Justification for analysis</a:t>
            </a:r>
            <a:endParaRPr lang="en-US"/>
          </a:p>
          <a:p>
            <a:r>
              <a:rPr lang="en-US"/>
              <a:t>Landau symbols</a:t>
            </a:r>
            <a:endParaRPr lang="en-US"/>
          </a:p>
          <a:p>
            <a:pPr lvl="1"/>
            <a:r>
              <a:rPr lang="en-US" altLang="zh-CN" b="1">
                <a:latin typeface="Times New Roman" panose="02020603050405020304" pitchFamily="18" charset="0"/>
                <a:cs typeface="Arial" panose="020B0604020202020204" pitchFamily="34" charset="0"/>
              </a:rPr>
              <a:t>o  O</a:t>
            </a:r>
            <a:r>
              <a:rPr lang="en-US" altLang="zh-CN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>
                <a:latin typeface="Symbol" panose="05050102010706020507" charset="2"/>
                <a:cs typeface="Arial" panose="020B0604020202020204" pitchFamily="34" charset="0"/>
              </a:rPr>
              <a:t> Q  W  w</a:t>
            </a:r>
            <a:endParaRPr lang="en-US"/>
          </a:p>
          <a:p>
            <a:r>
              <a:rPr lang="en-US" altLang="zh-CN"/>
              <a:t>Run time of programs</a:t>
            </a:r>
            <a:endParaRPr lang="en-US" altLang="zh-CN"/>
          </a:p>
          <a:p>
            <a:pPr lvl="1"/>
            <a:r>
              <a:rPr lang="en-CA" altLang="zh-CN">
                <a:latin typeface="Arial" panose="020B0604020202020204" pitchFamily="34" charset="0"/>
                <a:cs typeface="Arial" panose="020B0604020202020204" pitchFamily="34" charset="0"/>
              </a:rPr>
              <a:t>Basic operations</a:t>
            </a:r>
            <a:endParaRPr lang="en-CA" altLang="zh-CN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CA" altLang="zh-CN">
                <a:latin typeface="Arial" panose="020B0604020202020204" pitchFamily="34" charset="0"/>
                <a:cs typeface="Arial" panose="020B0604020202020204" pitchFamily="34" charset="0"/>
              </a:rPr>
              <a:t>Control statements</a:t>
            </a:r>
            <a:endParaRPr lang="en-CA" altLang="zh-CN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CA" altLang="zh-CN">
                <a:latin typeface="Arial" panose="020B0604020202020204" pitchFamily="34" charset="0"/>
                <a:cs typeface="Arial" panose="020B0604020202020204" pitchFamily="34" charset="0"/>
              </a:rPr>
              <a:t>Conditional-controlled loops</a:t>
            </a:r>
            <a:endParaRPr lang="en-CA" altLang="zh-CN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CA" altLang="zh-CN">
                <a:latin typeface="Arial" panose="020B0604020202020204" pitchFamily="34" charset="0"/>
                <a:cs typeface="Arial" panose="020B0604020202020204" pitchFamily="34" charset="0"/>
              </a:rPr>
              <a:t>Functions</a:t>
            </a:r>
            <a:endParaRPr lang="en-CA" altLang="zh-CN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CA" altLang="zh-CN">
                <a:latin typeface="Arial" panose="020B0604020202020204" pitchFamily="34" charset="0"/>
                <a:cs typeface="Arial" panose="020B0604020202020204" pitchFamily="34" charset="0"/>
              </a:rPr>
              <a:t>Recursive functions</a:t>
            </a:r>
            <a:endParaRPr lang="en-US" altLang="zh-CN"/>
          </a:p>
          <a:p>
            <a:r>
              <a:rPr lang="en-US" altLang="zh-CN"/>
              <a:t>Best-, worst-, and average-case</a:t>
            </a:r>
            <a:endParaRPr lang="en-US" altLang="zh-CN"/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29257</Words>
  <Application>WPS 演示</Application>
  <PresentationFormat>全屏显示(4:3)</PresentationFormat>
  <Paragraphs>1315</Paragraphs>
  <Slides>126</Slides>
  <Notes>112</Notes>
  <HiddenSlides>41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48</vt:i4>
      </vt:variant>
      <vt:variant>
        <vt:lpstr>幻灯片标题</vt:lpstr>
      </vt:variant>
      <vt:variant>
        <vt:i4>126</vt:i4>
      </vt:variant>
    </vt:vector>
  </HeadingPairs>
  <TitlesOfParts>
    <vt:vector size="187" baseType="lpstr">
      <vt:lpstr>Arial</vt:lpstr>
      <vt:lpstr>宋体</vt:lpstr>
      <vt:lpstr>Wingdings</vt:lpstr>
      <vt:lpstr>Calibri</vt:lpstr>
      <vt:lpstr>Times New Roman</vt:lpstr>
      <vt:lpstr>Arial</vt:lpstr>
      <vt:lpstr>Courier New</vt:lpstr>
      <vt:lpstr>Symbol</vt:lpstr>
      <vt:lpstr>微软雅黑</vt:lpstr>
      <vt:lpstr>Arial Unicode MS</vt:lpstr>
      <vt:lpstr>Cambria Math</vt:lpstr>
      <vt:lpstr>Consolas</vt:lpstr>
      <vt:lpstr>Custom Design</vt:lpstr>
      <vt:lpstr>Excel.Chart.8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Excel.Chart.8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Excel.Chart.8</vt:lpstr>
      <vt:lpstr>Equation.3</vt:lpstr>
      <vt:lpstr>Equation.3</vt:lpstr>
      <vt:lpstr>Equation.3</vt:lpstr>
      <vt:lpstr>Equation.3</vt:lpstr>
      <vt:lpstr>Equation.DSMT4</vt:lpstr>
      <vt:lpstr>Equation.DSMT4</vt:lpstr>
      <vt:lpstr>Equation.3</vt:lpstr>
      <vt:lpstr>Equation.3</vt:lpstr>
      <vt:lpstr>Equation.3</vt:lpstr>
      <vt:lpstr>Equation.3</vt:lpstr>
      <vt:lpstr>Excel.Chart.8</vt:lpstr>
      <vt:lpstr>Equation.3</vt:lpstr>
      <vt:lpstr>Equation.DSMT4</vt:lpstr>
      <vt:lpstr>Equation.DSMT4</vt:lpstr>
      <vt:lpstr>Equation.DSMT4</vt:lpstr>
      <vt:lpstr>Equation.3</vt:lpstr>
      <vt:lpstr>Equation.3</vt:lpstr>
      <vt:lpstr>Equation.3</vt:lpstr>
      <vt:lpstr>Equation.DSMT4</vt:lpstr>
      <vt:lpstr>Equation.DSMT4</vt:lpstr>
      <vt:lpstr>Equation.3</vt:lpstr>
      <vt:lpstr>Equation.3</vt:lpstr>
      <vt:lpstr>Equation.DSMT4</vt:lpstr>
      <vt:lpstr>Equation.DSMT4</vt:lpstr>
      <vt:lpstr>Equation.3</vt:lpstr>
      <vt:lpstr>Algorithm Analysis</vt:lpstr>
      <vt:lpstr>Outline</vt:lpstr>
      <vt:lpstr>Comparing algorithms</vt:lpstr>
      <vt:lpstr>Example</vt:lpstr>
      <vt:lpstr>Implementation</vt:lpstr>
      <vt:lpstr>Empirical comparison</vt:lpstr>
      <vt:lpstr>Empirical comparison</vt:lpstr>
      <vt:lpstr>Empirical comparison</vt:lpstr>
      <vt:lpstr>Empirical comparison</vt:lpstr>
      <vt:lpstr>PowerPoint 演示文稿</vt:lpstr>
      <vt:lpstr>Analytical comparison</vt:lpstr>
      <vt:lpstr>Asymptotic Analysis</vt:lpstr>
      <vt:lpstr>Asymptotic Analysis</vt:lpstr>
      <vt:lpstr>Outline</vt:lpstr>
      <vt:lpstr>Quadratic Growth</vt:lpstr>
      <vt:lpstr>Quadratic Growth</vt:lpstr>
      <vt:lpstr>Quadratic Growth</vt:lpstr>
      <vt:lpstr>Polynomial Growth</vt:lpstr>
      <vt:lpstr>Polynomial Growth</vt:lpstr>
      <vt:lpstr>Polynomial Growth</vt:lpstr>
      <vt:lpstr>Weak ordering</vt:lpstr>
      <vt:lpstr>Weak ordering</vt:lpstr>
      <vt:lpstr>Some Assumptions</vt:lpstr>
      <vt:lpstr>Landau Symbols</vt:lpstr>
      <vt:lpstr>Landau Symbols</vt:lpstr>
      <vt:lpstr>Landau Symbols</vt:lpstr>
      <vt:lpstr>Landau Symbols</vt:lpstr>
      <vt:lpstr>Landau Symbols</vt:lpstr>
      <vt:lpstr>Landau Symbols</vt:lpstr>
      <vt:lpstr>Landau Symbols</vt:lpstr>
      <vt:lpstr>Landau Symbols</vt:lpstr>
      <vt:lpstr>Landau Symbols</vt:lpstr>
      <vt:lpstr>Big-Q as an Equivalence Relation</vt:lpstr>
      <vt:lpstr>Big-Q as an Equivalence Relation</vt:lpstr>
      <vt:lpstr>Big-Q as an Equivalence Relation</vt:lpstr>
      <vt:lpstr>Big-Q as an Equivalence Relation</vt:lpstr>
      <vt:lpstr>Empirical comparison</vt:lpstr>
      <vt:lpstr>Empirical comparison plot</vt:lpstr>
      <vt:lpstr>Logarithms and Exponentials</vt:lpstr>
      <vt:lpstr>Logarithms and Exponentials</vt:lpstr>
      <vt:lpstr>Little-o as a Weak Ordering</vt:lpstr>
      <vt:lpstr>Little-o as a Weak Ordering</vt:lpstr>
      <vt:lpstr>Little-o as a Weak Ordering</vt:lpstr>
      <vt:lpstr>Little-o as a Weak Ordering</vt:lpstr>
      <vt:lpstr>Outline</vt:lpstr>
      <vt:lpstr>Algorithms Analysis</vt:lpstr>
      <vt:lpstr>Algorithms Analysis</vt:lpstr>
      <vt:lpstr>Algorithms Analysis</vt:lpstr>
      <vt:lpstr>Machine Instructions</vt:lpstr>
      <vt:lpstr>Machine Instructions</vt:lpstr>
      <vt:lpstr>Machine Instructions</vt:lpstr>
      <vt:lpstr>Machine Instructions</vt:lpstr>
      <vt:lpstr>Operators</vt:lpstr>
      <vt:lpstr>Operators</vt:lpstr>
      <vt:lpstr>Blocks of Operations</vt:lpstr>
      <vt:lpstr>Blocks of Operations</vt:lpstr>
      <vt:lpstr>Blocks in Sequence</vt:lpstr>
      <vt:lpstr>Blocks in Sequence</vt:lpstr>
      <vt:lpstr>Blocks in Sequence</vt:lpstr>
      <vt:lpstr>Blocks in Sequence</vt:lpstr>
      <vt:lpstr>Control Statements</vt:lpstr>
      <vt:lpstr>Control Statements</vt:lpstr>
      <vt:lpstr>Control Statements</vt:lpstr>
      <vt:lpstr>Control Statements</vt:lpstr>
      <vt:lpstr>Control Statements</vt:lpstr>
      <vt:lpstr>Control Statements</vt:lpstr>
      <vt:lpstr>Control Statements</vt:lpstr>
      <vt:lpstr>Conditional Statements</vt:lpstr>
      <vt:lpstr>Condition-controlled Loops</vt:lpstr>
      <vt:lpstr>Condition-controlled Loops</vt:lpstr>
      <vt:lpstr>Condition-controlled Loops</vt:lpstr>
      <vt:lpstr>Condition-controlled Loops</vt:lpstr>
      <vt:lpstr>Condition-controlled Loops</vt:lpstr>
      <vt:lpstr>Analysis of Repetition Statements</vt:lpstr>
      <vt:lpstr>Condition-controlled Loops</vt:lpstr>
      <vt:lpstr>Analysis of Repetition Statements</vt:lpstr>
      <vt:lpstr>Control Statements</vt:lpstr>
      <vt:lpstr>Control Statements</vt:lpstr>
      <vt:lpstr>Control Statements</vt:lpstr>
      <vt:lpstr>Control Statements</vt:lpstr>
      <vt:lpstr>Control Statements</vt:lpstr>
      <vt:lpstr>Functions</vt:lpstr>
      <vt:lpstr>Functions</vt:lpstr>
      <vt:lpstr>Functions</vt:lpstr>
      <vt:lpstr>Functions</vt:lpstr>
      <vt:lpstr>Functions</vt:lpstr>
      <vt:lpstr>Functions</vt:lpstr>
      <vt:lpstr>Recursive Functions</vt:lpstr>
      <vt:lpstr>Recursive Functions</vt:lpstr>
      <vt:lpstr>Recursive Functions</vt:lpstr>
      <vt:lpstr>Recursive Functions</vt:lpstr>
      <vt:lpstr>Recursive Functions</vt:lpstr>
      <vt:lpstr>Recursive Functions</vt:lpstr>
      <vt:lpstr>Recursive Functions</vt:lpstr>
      <vt:lpstr>Recursive Functions</vt:lpstr>
      <vt:lpstr>Recursive Functions</vt:lpstr>
      <vt:lpstr>Recursive Functions</vt:lpstr>
      <vt:lpstr>Recursive Functions</vt:lpstr>
      <vt:lpstr>Recursive Functions</vt:lpstr>
      <vt:lpstr>Recursive Functions</vt:lpstr>
      <vt:lpstr>Recursive Functions</vt:lpstr>
      <vt:lpstr>Recursive Functions</vt:lpstr>
      <vt:lpstr>Recursive Functions</vt:lpstr>
      <vt:lpstr>Recursive Functions</vt:lpstr>
      <vt:lpstr>Recursive Functions</vt:lpstr>
      <vt:lpstr>Recursive Functions</vt:lpstr>
      <vt:lpstr>Recursive Functions</vt:lpstr>
      <vt:lpstr>Recursive Functions</vt:lpstr>
      <vt:lpstr>Recursive Functions</vt:lpstr>
      <vt:lpstr>Outline</vt:lpstr>
      <vt:lpstr>Cases</vt:lpstr>
      <vt:lpstr>Cases</vt:lpstr>
      <vt:lpstr>Cases</vt:lpstr>
      <vt:lpstr>Cases</vt:lpstr>
      <vt:lpstr>Cases</vt:lpstr>
      <vt:lpstr>Cases</vt:lpstr>
      <vt:lpstr>Cases</vt:lpstr>
      <vt:lpstr>Cases</vt:lpstr>
      <vt:lpstr>Cases</vt:lpstr>
      <vt:lpstr>Cases</vt:lpstr>
      <vt:lpstr>Cases</vt:lpstr>
      <vt:lpstr>Cases</vt:lpstr>
      <vt:lpstr>Cases</vt:lpstr>
      <vt:lpstr>Cases</vt:lpstr>
      <vt:lpstr>Cases</vt:lpstr>
      <vt:lpstr>Summary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ECE 250 Algorithms and Data Structures</dc:title>
  <dc:creator>dwharder</dc:creator>
  <cp:lastModifiedBy>熊章智</cp:lastModifiedBy>
  <cp:revision>1425</cp:revision>
  <dcterms:created xsi:type="dcterms:W3CDTF">2009-09-11T23:00:00Z</dcterms:created>
  <dcterms:modified xsi:type="dcterms:W3CDTF">2024-09-25T07:52:24Z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42DF27663BE74FE0B775BA5CF8D57EFB</vt:lpwstr>
  </property>
  <property fmtid="{D5CDD505-2E9C-101B-9397-08002B2CF9AE}" pid="3" name="KSOProductBuildVer">
    <vt:lpwstr>2052-11.8.2.12089</vt:lpwstr>
  </property>
</Properties>
</file>