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if" ContentType="image/ti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399" r:id="rId2"/>
    <p:sldId id="376" r:id="rId3"/>
    <p:sldId id="377" r:id="rId4"/>
    <p:sldId id="380" r:id="rId5"/>
    <p:sldId id="381" r:id="rId6"/>
    <p:sldId id="396" r:id="rId7"/>
    <p:sldId id="397" r:id="rId8"/>
    <p:sldId id="398" r:id="rId9"/>
    <p:sldId id="257" r:id="rId10"/>
    <p:sldId id="258" r:id="rId11"/>
    <p:sldId id="259" r:id="rId12"/>
    <p:sldId id="260" r:id="rId13"/>
    <p:sldId id="261" r:id="rId14"/>
    <p:sldId id="262" r:id="rId15"/>
    <p:sldId id="263" r:id="rId16"/>
    <p:sldId id="264" r:id="rId17"/>
    <p:sldId id="265" r:id="rId18"/>
    <p:sldId id="266" r:id="rId19"/>
    <p:sldId id="267" r:id="rId20"/>
    <p:sldId id="400"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449492" rtl="0" fontAlgn="auto" latinLnBrk="0" hangingPunct="0">
      <a:lnSpc>
        <a:spcPct val="130000"/>
      </a:lnSpc>
      <a:spcBef>
        <a:spcPts val="0"/>
      </a:spcBef>
      <a:spcAft>
        <a:spcPts val="0"/>
      </a:spcAft>
      <a:buClr>
        <a:srgbClr val="000000"/>
      </a:buClr>
      <a:buSzTx/>
      <a:buFont typeface="Lucida Sans"/>
      <a:buNone/>
      <a:tabLst>
        <a:tab pos="1066800" algn="l"/>
      </a:tabLst>
      <a:defRPr kumimoji="0" sz="1600" b="0" i="0" u="none" strike="noStrike" cap="none" spc="0" normalizeH="0" baseline="0">
        <a:ln>
          <a:noFill/>
        </a:ln>
        <a:solidFill>
          <a:srgbClr val="8D3124"/>
        </a:solidFill>
        <a:effectLst/>
        <a:uFillTx/>
        <a:latin typeface="+mn-lt"/>
        <a:ea typeface="+mn-ea"/>
        <a:cs typeface="+mn-cs"/>
        <a:sym typeface="Lucida Sans"/>
      </a:defRPr>
    </a:lvl1pPr>
    <a:lvl2pPr marL="0" marR="0" indent="342900" algn="ctr" defTabSz="1449492" rtl="0" fontAlgn="auto" latinLnBrk="0" hangingPunct="0">
      <a:lnSpc>
        <a:spcPct val="130000"/>
      </a:lnSpc>
      <a:spcBef>
        <a:spcPts val="0"/>
      </a:spcBef>
      <a:spcAft>
        <a:spcPts val="0"/>
      </a:spcAft>
      <a:buClr>
        <a:srgbClr val="000000"/>
      </a:buClr>
      <a:buSzTx/>
      <a:buFont typeface="Lucida Sans"/>
      <a:buNone/>
      <a:tabLst>
        <a:tab pos="1066800" algn="l"/>
      </a:tabLst>
      <a:defRPr kumimoji="0" sz="1600" b="0" i="0" u="none" strike="noStrike" cap="none" spc="0" normalizeH="0" baseline="0">
        <a:ln>
          <a:noFill/>
        </a:ln>
        <a:solidFill>
          <a:srgbClr val="8D3124"/>
        </a:solidFill>
        <a:effectLst/>
        <a:uFillTx/>
        <a:latin typeface="+mn-lt"/>
        <a:ea typeface="+mn-ea"/>
        <a:cs typeface="+mn-cs"/>
        <a:sym typeface="Lucida Sans"/>
      </a:defRPr>
    </a:lvl2pPr>
    <a:lvl3pPr marL="0" marR="0" indent="685800" algn="ctr" defTabSz="1449492" rtl="0" fontAlgn="auto" latinLnBrk="0" hangingPunct="0">
      <a:lnSpc>
        <a:spcPct val="130000"/>
      </a:lnSpc>
      <a:spcBef>
        <a:spcPts val="0"/>
      </a:spcBef>
      <a:spcAft>
        <a:spcPts val="0"/>
      </a:spcAft>
      <a:buClr>
        <a:srgbClr val="000000"/>
      </a:buClr>
      <a:buSzTx/>
      <a:buFont typeface="Lucida Sans"/>
      <a:buNone/>
      <a:tabLst>
        <a:tab pos="1066800" algn="l"/>
      </a:tabLst>
      <a:defRPr kumimoji="0" sz="1600" b="0" i="0" u="none" strike="noStrike" cap="none" spc="0" normalizeH="0" baseline="0">
        <a:ln>
          <a:noFill/>
        </a:ln>
        <a:solidFill>
          <a:srgbClr val="8D3124"/>
        </a:solidFill>
        <a:effectLst/>
        <a:uFillTx/>
        <a:latin typeface="+mn-lt"/>
        <a:ea typeface="+mn-ea"/>
        <a:cs typeface="+mn-cs"/>
        <a:sym typeface="Lucida Sans"/>
      </a:defRPr>
    </a:lvl3pPr>
    <a:lvl4pPr marL="0" marR="0" indent="1028700" algn="ctr" defTabSz="1449492" rtl="0" fontAlgn="auto" latinLnBrk="0" hangingPunct="0">
      <a:lnSpc>
        <a:spcPct val="130000"/>
      </a:lnSpc>
      <a:spcBef>
        <a:spcPts val="0"/>
      </a:spcBef>
      <a:spcAft>
        <a:spcPts val="0"/>
      </a:spcAft>
      <a:buClr>
        <a:srgbClr val="000000"/>
      </a:buClr>
      <a:buSzTx/>
      <a:buFont typeface="Lucida Sans"/>
      <a:buNone/>
      <a:tabLst>
        <a:tab pos="1066800" algn="l"/>
      </a:tabLst>
      <a:defRPr kumimoji="0" sz="1600" b="0" i="0" u="none" strike="noStrike" cap="none" spc="0" normalizeH="0" baseline="0">
        <a:ln>
          <a:noFill/>
        </a:ln>
        <a:solidFill>
          <a:srgbClr val="8D3124"/>
        </a:solidFill>
        <a:effectLst/>
        <a:uFillTx/>
        <a:latin typeface="+mn-lt"/>
        <a:ea typeface="+mn-ea"/>
        <a:cs typeface="+mn-cs"/>
        <a:sym typeface="Lucida Sans"/>
      </a:defRPr>
    </a:lvl4pPr>
    <a:lvl5pPr marL="0" marR="0" indent="1371600" algn="ctr" defTabSz="1449492" rtl="0" fontAlgn="auto" latinLnBrk="0" hangingPunct="0">
      <a:lnSpc>
        <a:spcPct val="130000"/>
      </a:lnSpc>
      <a:spcBef>
        <a:spcPts val="0"/>
      </a:spcBef>
      <a:spcAft>
        <a:spcPts val="0"/>
      </a:spcAft>
      <a:buClr>
        <a:srgbClr val="000000"/>
      </a:buClr>
      <a:buSzTx/>
      <a:buFont typeface="Lucida Sans"/>
      <a:buNone/>
      <a:tabLst>
        <a:tab pos="1066800" algn="l"/>
      </a:tabLst>
      <a:defRPr kumimoji="0" sz="1600" b="0" i="0" u="none" strike="noStrike" cap="none" spc="0" normalizeH="0" baseline="0">
        <a:ln>
          <a:noFill/>
        </a:ln>
        <a:solidFill>
          <a:srgbClr val="8D3124"/>
        </a:solidFill>
        <a:effectLst/>
        <a:uFillTx/>
        <a:latin typeface="+mn-lt"/>
        <a:ea typeface="+mn-ea"/>
        <a:cs typeface="+mn-cs"/>
        <a:sym typeface="Lucida Sans"/>
      </a:defRPr>
    </a:lvl5pPr>
    <a:lvl6pPr marL="0" marR="0" indent="1714500" algn="ctr" defTabSz="1449492" rtl="0" fontAlgn="auto" latinLnBrk="0" hangingPunct="0">
      <a:lnSpc>
        <a:spcPct val="130000"/>
      </a:lnSpc>
      <a:spcBef>
        <a:spcPts val="0"/>
      </a:spcBef>
      <a:spcAft>
        <a:spcPts val="0"/>
      </a:spcAft>
      <a:buClr>
        <a:srgbClr val="000000"/>
      </a:buClr>
      <a:buSzTx/>
      <a:buFont typeface="Lucida Sans"/>
      <a:buNone/>
      <a:tabLst>
        <a:tab pos="1066800" algn="l"/>
      </a:tabLst>
      <a:defRPr kumimoji="0" sz="1600" b="0" i="0" u="none" strike="noStrike" cap="none" spc="0" normalizeH="0" baseline="0">
        <a:ln>
          <a:noFill/>
        </a:ln>
        <a:solidFill>
          <a:srgbClr val="8D3124"/>
        </a:solidFill>
        <a:effectLst/>
        <a:uFillTx/>
        <a:latin typeface="+mn-lt"/>
        <a:ea typeface="+mn-ea"/>
        <a:cs typeface="+mn-cs"/>
        <a:sym typeface="Lucida Sans"/>
      </a:defRPr>
    </a:lvl6pPr>
    <a:lvl7pPr marL="0" marR="0" indent="2057400" algn="ctr" defTabSz="1449492" rtl="0" fontAlgn="auto" latinLnBrk="0" hangingPunct="0">
      <a:lnSpc>
        <a:spcPct val="130000"/>
      </a:lnSpc>
      <a:spcBef>
        <a:spcPts val="0"/>
      </a:spcBef>
      <a:spcAft>
        <a:spcPts val="0"/>
      </a:spcAft>
      <a:buClr>
        <a:srgbClr val="000000"/>
      </a:buClr>
      <a:buSzTx/>
      <a:buFont typeface="Lucida Sans"/>
      <a:buNone/>
      <a:tabLst>
        <a:tab pos="1066800" algn="l"/>
      </a:tabLst>
      <a:defRPr kumimoji="0" sz="1600" b="0" i="0" u="none" strike="noStrike" cap="none" spc="0" normalizeH="0" baseline="0">
        <a:ln>
          <a:noFill/>
        </a:ln>
        <a:solidFill>
          <a:srgbClr val="8D3124"/>
        </a:solidFill>
        <a:effectLst/>
        <a:uFillTx/>
        <a:latin typeface="+mn-lt"/>
        <a:ea typeface="+mn-ea"/>
        <a:cs typeface="+mn-cs"/>
        <a:sym typeface="Lucida Sans"/>
      </a:defRPr>
    </a:lvl7pPr>
    <a:lvl8pPr marL="0" marR="0" indent="2400300" algn="ctr" defTabSz="1449492" rtl="0" fontAlgn="auto" latinLnBrk="0" hangingPunct="0">
      <a:lnSpc>
        <a:spcPct val="130000"/>
      </a:lnSpc>
      <a:spcBef>
        <a:spcPts val="0"/>
      </a:spcBef>
      <a:spcAft>
        <a:spcPts val="0"/>
      </a:spcAft>
      <a:buClr>
        <a:srgbClr val="000000"/>
      </a:buClr>
      <a:buSzTx/>
      <a:buFont typeface="Lucida Sans"/>
      <a:buNone/>
      <a:tabLst>
        <a:tab pos="1066800" algn="l"/>
      </a:tabLst>
      <a:defRPr kumimoji="0" sz="1600" b="0" i="0" u="none" strike="noStrike" cap="none" spc="0" normalizeH="0" baseline="0">
        <a:ln>
          <a:noFill/>
        </a:ln>
        <a:solidFill>
          <a:srgbClr val="8D3124"/>
        </a:solidFill>
        <a:effectLst/>
        <a:uFillTx/>
        <a:latin typeface="+mn-lt"/>
        <a:ea typeface="+mn-ea"/>
        <a:cs typeface="+mn-cs"/>
        <a:sym typeface="Lucida Sans"/>
      </a:defRPr>
    </a:lvl8pPr>
    <a:lvl9pPr marL="0" marR="0" indent="2743200" algn="ctr" defTabSz="1449492" rtl="0" fontAlgn="auto" latinLnBrk="0" hangingPunct="0">
      <a:lnSpc>
        <a:spcPct val="130000"/>
      </a:lnSpc>
      <a:spcBef>
        <a:spcPts val="0"/>
      </a:spcBef>
      <a:spcAft>
        <a:spcPts val="0"/>
      </a:spcAft>
      <a:buClr>
        <a:srgbClr val="000000"/>
      </a:buClr>
      <a:buSzTx/>
      <a:buFont typeface="Lucida Sans"/>
      <a:buNone/>
      <a:tabLst>
        <a:tab pos="1066800" algn="l"/>
      </a:tabLst>
      <a:defRPr kumimoji="0" sz="1600" b="0" i="0" u="none" strike="noStrike" cap="none" spc="0" normalizeH="0" baseline="0">
        <a:ln>
          <a:noFill/>
        </a:ln>
        <a:solidFill>
          <a:srgbClr val="8D3124"/>
        </a:solidFill>
        <a:effectLst/>
        <a:uFillTx/>
        <a:latin typeface="+mn-lt"/>
        <a:ea typeface="+mn-ea"/>
        <a:cs typeface="+mn-cs"/>
        <a:sym typeface="Lucida San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Ref idx="minor">
          <a:srgbClr val="000000"/>
        </a:fontRef>
        <a:srgbClr val="000000"/>
      </a:tcTxStyle>
      <a:tcStyle>
        <a:tcBdr>
          <a:left>
            <a:ln w="12700" cap="flat">
              <a:solidFill>
                <a:srgbClr val="E7EAEB"/>
              </a:solidFill>
              <a:prstDash val="solid"/>
              <a:miter lim="400000"/>
            </a:ln>
          </a:left>
          <a:right>
            <a:ln w="12700" cap="flat">
              <a:solidFill>
                <a:srgbClr val="E7EAEB"/>
              </a:solidFill>
              <a:prstDash val="solid"/>
              <a:miter lim="400000"/>
            </a:ln>
          </a:right>
          <a:top>
            <a:ln w="12700" cap="flat">
              <a:solidFill>
                <a:srgbClr val="E7EAEB"/>
              </a:solidFill>
              <a:prstDash val="solid"/>
              <a:miter lim="400000"/>
            </a:ln>
          </a:top>
          <a:bottom>
            <a:ln w="12700" cap="flat">
              <a:solidFill>
                <a:srgbClr val="E7EAEB"/>
              </a:solidFill>
              <a:prstDash val="solid"/>
              <a:miter lim="400000"/>
            </a:ln>
          </a:bottom>
          <a:insideH>
            <a:ln w="12700" cap="flat">
              <a:solidFill>
                <a:srgbClr val="E7EAEB"/>
              </a:solidFill>
              <a:prstDash val="solid"/>
              <a:miter lim="400000"/>
            </a:ln>
          </a:insideH>
          <a:insideV>
            <a:ln w="12700" cap="flat">
              <a:solidFill>
                <a:srgbClr val="E7EAEB"/>
              </a:solidFill>
              <a:prstDash val="solid"/>
              <a:miter lim="400000"/>
            </a:ln>
          </a:insideV>
        </a:tcBdr>
        <a:fill>
          <a:solidFill>
            <a:srgbClr val="FFFFFF"/>
          </a:solidFill>
        </a:fill>
      </a:tcStyle>
    </a:wholeTbl>
    <a:band2H>
      <a:tcTxStyle/>
      <a:tcStyle>
        <a:tcBdr/>
        <a:fill>
          <a:solidFill>
            <a:srgbClr val="EFF1F3"/>
          </a:solidFill>
        </a:fill>
      </a:tcStyle>
    </a:band2H>
    <a:firstCol>
      <a:tcTxStyle b="off" i="off">
        <a:fontRef idx="minor">
          <a:srgbClr val="FFFFFF"/>
        </a:fontRef>
        <a:srgbClr val="FFFFFF"/>
      </a:tcTxStyle>
      <a:tcStyle>
        <a:tcBdr>
          <a:left>
            <a:ln w="28575" cap="flat">
              <a:noFill/>
              <a:miter lim="400000"/>
            </a:ln>
          </a:left>
          <a:right>
            <a:ln w="12700" cap="flat">
              <a:solidFill>
                <a:srgbClr val="E7EAEB"/>
              </a:solidFill>
              <a:prstDash val="solid"/>
              <a:miter lim="400000"/>
            </a:ln>
          </a:right>
          <a:top>
            <a:ln w="12700" cap="flat">
              <a:solidFill>
                <a:srgbClr val="E7EAEB"/>
              </a:solidFill>
              <a:prstDash val="solid"/>
              <a:miter lim="400000"/>
            </a:ln>
          </a:top>
          <a:bottom>
            <a:ln w="12700" cap="flat">
              <a:solidFill>
                <a:srgbClr val="E7EAEB"/>
              </a:solidFill>
              <a:prstDash val="solid"/>
              <a:miter lim="400000"/>
            </a:ln>
          </a:bottom>
          <a:insideH>
            <a:ln w="12700" cap="flat">
              <a:solidFill>
                <a:srgbClr val="E7EAEB"/>
              </a:solidFill>
              <a:prstDash val="solid"/>
              <a:miter lim="400000"/>
            </a:ln>
          </a:insideH>
          <a:insideV>
            <a:ln w="12700" cap="flat">
              <a:solidFill>
                <a:srgbClr val="E7EAEB"/>
              </a:solidFill>
              <a:prstDash val="solid"/>
              <a:miter lim="400000"/>
            </a:ln>
          </a:insideV>
        </a:tcBdr>
        <a:fill>
          <a:solidFill>
            <a:srgbClr val="5E5E5E"/>
          </a:solidFill>
        </a:fill>
      </a:tcStyle>
    </a:firstCol>
    <a:lastRow>
      <a:tcTxStyle b="off" i="on">
        <a:font>
          <a:latin typeface="Times"/>
          <a:ea typeface="Times"/>
          <a:cs typeface="Times"/>
        </a:font>
        <a:srgbClr val="0048AA"/>
      </a:tcTxStyle>
      <a:tcStyle>
        <a:tcBdr>
          <a:left>
            <a:ln w="12700" cap="flat">
              <a:noFill/>
              <a:miter lim="400000"/>
            </a:ln>
          </a:left>
          <a:right>
            <a:ln w="12700" cap="flat">
              <a:noFill/>
              <a:miter lim="400000"/>
            </a:ln>
          </a:right>
          <a:top>
            <a:ln w="12700" cap="flat">
              <a:noFill/>
              <a:miter lim="400000"/>
            </a:ln>
          </a:top>
          <a:bottom>
            <a:ln w="28575" cap="flat">
              <a:noFill/>
              <a:miter lim="400000"/>
            </a:ln>
          </a:bottom>
          <a:insideH>
            <a:ln w="12700" cap="flat">
              <a:noFill/>
              <a:miter lim="400000"/>
            </a:ln>
          </a:insideH>
          <a:insideV>
            <a:ln w="12700" cap="flat">
              <a:noFill/>
              <a:miter lim="400000"/>
            </a:ln>
          </a:insideV>
        </a:tcBdr>
        <a:fill>
          <a:solidFill>
            <a:srgbClr val="E7EAEB"/>
          </a:solidFill>
        </a:fill>
      </a:tcStyle>
    </a:lastRow>
    <a:firstRow>
      <a:tcTxStyle b="off" i="off">
        <a:fontRef idx="minor">
          <a:srgbClr val="FFFFFF"/>
        </a:fontRef>
        <a:srgbClr val="FFFFFF"/>
      </a:tcTxStyle>
      <a:tcStyle>
        <a:tcBdr>
          <a:left>
            <a:ln w="12700" cap="flat">
              <a:solidFill>
                <a:srgbClr val="E7EAEB"/>
              </a:solidFill>
              <a:prstDash val="solid"/>
              <a:miter lim="400000"/>
            </a:ln>
          </a:left>
          <a:right>
            <a:ln w="12700" cap="flat">
              <a:solidFill>
                <a:srgbClr val="E7EAEB"/>
              </a:solidFill>
              <a:prstDash val="solid"/>
              <a:miter lim="400000"/>
            </a:ln>
          </a:right>
          <a:top>
            <a:ln w="28575" cap="flat">
              <a:noFill/>
              <a:miter lim="400000"/>
            </a:ln>
          </a:top>
          <a:bottom>
            <a:ln w="12700" cap="flat">
              <a:solidFill>
                <a:srgbClr val="E7EAEB"/>
              </a:solidFill>
              <a:prstDash val="solid"/>
              <a:miter lim="400000"/>
            </a:ln>
          </a:bottom>
          <a:insideH>
            <a:ln w="12700" cap="flat">
              <a:solidFill>
                <a:srgbClr val="E7EAEB"/>
              </a:solidFill>
              <a:prstDash val="solid"/>
              <a:miter lim="400000"/>
            </a:ln>
          </a:insideH>
          <a:insideV>
            <a:ln w="12700" cap="flat">
              <a:solidFill>
                <a:srgbClr val="E7EAEB"/>
              </a:solidFill>
              <a:prstDash val="solid"/>
              <a:miter lim="400000"/>
            </a:ln>
          </a:insideV>
        </a:tcBdr>
        <a:fill>
          <a:solidFill>
            <a:srgbClr val="5E5E5E"/>
          </a:solidFill>
        </a:fill>
      </a:tcStyle>
    </a:firstRow>
  </a:tblStyle>
  <a:tblStyle styleId="{C7B018BB-80A7-4F77-B60F-C8B233D01FF8}" styleName="">
    <a:tblBg/>
    <a:wholeTbl>
      <a:tcTxStyle>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0"/>
    <p:restoredTop sz="66327"/>
  </p:normalViewPr>
  <p:slideViewPr>
    <p:cSldViewPr snapToGrid="0" snapToObjects="1">
      <p:cViewPr varScale="1">
        <p:scale>
          <a:sx n="58" d="100"/>
          <a:sy n="58" d="100"/>
        </p:scale>
        <p:origin x="305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8" name="Shape 78"/>
          <p:cNvSpPr>
            <a:spLocks noGrp="1" noRot="1" noChangeAspect="1"/>
          </p:cNvSpPr>
          <p:nvPr>
            <p:ph type="sldImg"/>
          </p:nvPr>
        </p:nvSpPr>
        <p:spPr>
          <a:xfrm>
            <a:off x="1143000" y="685800"/>
            <a:ext cx="4572000" cy="3429000"/>
          </a:xfrm>
          <a:prstGeom prst="rect">
            <a:avLst/>
          </a:prstGeom>
        </p:spPr>
        <p:txBody>
          <a:bodyPr/>
          <a:lstStyle/>
          <a:p>
            <a:endParaRPr/>
          </a:p>
        </p:txBody>
      </p:sp>
      <p:sp>
        <p:nvSpPr>
          <p:cNvPr id="79" name="Shape 7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1600">
        <a:latin typeface="Lucida Grande"/>
        <a:ea typeface="Lucida Grande"/>
        <a:cs typeface="Lucida Grande"/>
        <a:sym typeface="Lucida Grande"/>
      </a:defRPr>
    </a:lvl1pPr>
    <a:lvl2pPr indent="228600" defTabSz="457200" latinLnBrk="0">
      <a:defRPr sz="1600">
        <a:latin typeface="Lucida Grande"/>
        <a:ea typeface="Lucida Grande"/>
        <a:cs typeface="Lucida Grande"/>
        <a:sym typeface="Lucida Grande"/>
      </a:defRPr>
    </a:lvl2pPr>
    <a:lvl3pPr indent="457200" defTabSz="457200" latinLnBrk="0">
      <a:defRPr sz="1600">
        <a:latin typeface="Lucida Grande"/>
        <a:ea typeface="Lucida Grande"/>
        <a:cs typeface="Lucida Grande"/>
        <a:sym typeface="Lucida Grande"/>
      </a:defRPr>
    </a:lvl3pPr>
    <a:lvl4pPr indent="685800" defTabSz="457200" latinLnBrk="0">
      <a:defRPr sz="1600">
        <a:latin typeface="Lucida Grande"/>
        <a:ea typeface="Lucida Grande"/>
        <a:cs typeface="Lucida Grande"/>
        <a:sym typeface="Lucida Grande"/>
      </a:defRPr>
    </a:lvl4pPr>
    <a:lvl5pPr indent="914400" defTabSz="457200" latinLnBrk="0">
      <a:defRPr sz="1600">
        <a:latin typeface="Lucida Grande"/>
        <a:ea typeface="Lucida Grande"/>
        <a:cs typeface="Lucida Grande"/>
        <a:sym typeface="Lucida Grande"/>
      </a:defRPr>
    </a:lvl5pPr>
    <a:lvl6pPr indent="1143000" defTabSz="457200" latinLnBrk="0">
      <a:defRPr sz="1600">
        <a:latin typeface="Lucida Grande"/>
        <a:ea typeface="Lucida Grande"/>
        <a:cs typeface="Lucida Grande"/>
        <a:sym typeface="Lucida Grande"/>
      </a:defRPr>
    </a:lvl6pPr>
    <a:lvl7pPr indent="1371600" defTabSz="457200" latinLnBrk="0">
      <a:defRPr sz="1600">
        <a:latin typeface="Lucida Grande"/>
        <a:ea typeface="Lucida Grande"/>
        <a:cs typeface="Lucida Grande"/>
        <a:sym typeface="Lucida Grande"/>
      </a:defRPr>
    </a:lvl7pPr>
    <a:lvl8pPr indent="1600200" defTabSz="457200" latinLnBrk="0">
      <a:defRPr sz="1600">
        <a:latin typeface="Lucida Grande"/>
        <a:ea typeface="Lucida Grande"/>
        <a:cs typeface="Lucida Grande"/>
        <a:sym typeface="Lucida Grande"/>
      </a:defRPr>
    </a:lvl8pPr>
    <a:lvl9pPr indent="1828800" defTabSz="457200" latinLnBrk="0">
      <a:defRPr sz="16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projecteuclid.org/handle/euclid.bams"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http://</a:t>
            </a:r>
            <a:r>
              <a:rPr lang="en-US" dirty="0" err="1"/>
              <a:t>www.cs.princeton.edu</a:t>
            </a:r>
            <a:r>
              <a:rPr lang="en-US" dirty="0"/>
              <a:t>/~</a:t>
            </a:r>
            <a:r>
              <a:rPr lang="en-US" dirty="0" err="1"/>
              <a:t>wayne</a:t>
            </a:r>
            <a:r>
              <a:rPr lang="en-US" dirty="0"/>
              <a:t>/</a:t>
            </a:r>
            <a:r>
              <a:rPr lang="en-US" dirty="0" err="1"/>
              <a:t>kleinberg-tardos</a:t>
            </a:r>
            <a:r>
              <a:rPr lang="en-US" dirty="0"/>
              <a:t> and </a:t>
            </a:r>
            <a:r>
              <a:rPr lang="en-CA" altLang="zh-CN" sz="1600" dirty="0">
                <a:solidFill>
                  <a:srgbClr val="000000"/>
                </a:solidFill>
                <a:latin typeface="Arial"/>
                <a:ea typeface="Lucida Grande"/>
                <a:cs typeface="Lucida Grande"/>
                <a:sym typeface="Lucida Grande"/>
              </a:rPr>
              <a:t>https://</a:t>
            </a:r>
            <a:r>
              <a:rPr lang="en-CA" altLang="zh-CN" sz="1600" dirty="0" err="1">
                <a:solidFill>
                  <a:srgbClr val="000000"/>
                </a:solidFill>
                <a:latin typeface="Arial"/>
                <a:ea typeface="Lucida Grande"/>
                <a:cs typeface="Lucida Grande"/>
                <a:sym typeface="Lucida Grande"/>
              </a:rPr>
              <a:t>ece.uwaterloo.ca</a:t>
            </a:r>
            <a:r>
              <a:rPr lang="en-CA" altLang="zh-CN" sz="1600" dirty="0">
                <a:solidFill>
                  <a:srgbClr val="000000"/>
                </a:solidFill>
                <a:latin typeface="Arial"/>
                <a:ea typeface="Lucida Grande"/>
                <a:cs typeface="Lucida Grande"/>
                <a:sym typeface="Lucida Grande"/>
              </a:rPr>
              <a:t>/~</a:t>
            </a:r>
            <a:r>
              <a:rPr lang="en-CA" altLang="zh-CN" sz="1600" dirty="0" err="1">
                <a:solidFill>
                  <a:srgbClr val="000000"/>
                </a:solidFill>
                <a:latin typeface="Arial"/>
                <a:ea typeface="Lucida Grande"/>
                <a:cs typeface="Lucida Grande"/>
                <a:sym typeface="Lucida Grande"/>
              </a:rPr>
              <a:t>dwharder</a:t>
            </a:r>
            <a:r>
              <a:rPr lang="en-CA" altLang="zh-CN" sz="1600" dirty="0">
                <a:solidFill>
                  <a:srgbClr val="000000"/>
                </a:solidFill>
                <a:latin typeface="Arial"/>
                <a:ea typeface="Lucida Grande"/>
                <a:cs typeface="Lucida Grande"/>
                <a:sym typeface="Lucida Grande"/>
              </a:rPr>
              <a:t>/</a:t>
            </a:r>
            <a:r>
              <a:rPr lang="en-CA" altLang="zh-CN" sz="1600" dirty="0" err="1">
                <a:solidFill>
                  <a:srgbClr val="000000"/>
                </a:solidFill>
                <a:latin typeface="Arial"/>
                <a:ea typeface="Lucida Grande"/>
                <a:cs typeface="Lucida Grande"/>
                <a:sym typeface="Lucida Grande"/>
              </a:rPr>
              <a:t>aads</a:t>
            </a:r>
            <a:r>
              <a:rPr lang="en-CA" altLang="zh-CN" sz="1600" dirty="0">
                <a:solidFill>
                  <a:srgbClr val="000000"/>
                </a:solidFill>
                <a:latin typeface="Arial"/>
                <a:ea typeface="Lucida Grande"/>
                <a:cs typeface="Lucida Grande"/>
                <a:sym typeface="Lucida Grande"/>
              </a:rPr>
              <a:t>/</a:t>
            </a:r>
            <a:r>
              <a:rPr lang="en-CA" altLang="zh-CN" sz="1600" dirty="0" err="1">
                <a:solidFill>
                  <a:srgbClr val="000000"/>
                </a:solidFill>
                <a:latin typeface="Arial"/>
                <a:ea typeface="Lucida Grande"/>
                <a:cs typeface="Lucida Grande"/>
                <a:sym typeface="Lucida Grande"/>
              </a:rPr>
              <a:t>Lecture_materials</a:t>
            </a:r>
            <a:r>
              <a:rPr lang="en-CA" altLang="zh-CN" sz="1600" dirty="0">
                <a:solidFill>
                  <a:srgbClr val="000000"/>
                </a:solidFill>
                <a:latin typeface="Arial"/>
                <a:ea typeface="Lucida Grande"/>
                <a:cs typeface="Lucida Grande"/>
                <a:sym typeface="Lucida Grande"/>
              </a:rPr>
              <a:t>/</a:t>
            </a:r>
            <a:endParaRPr lang="en-US" dirty="0"/>
          </a:p>
        </p:txBody>
      </p:sp>
    </p:spTree>
    <p:extLst>
      <p:ext uri="{BB962C8B-B14F-4D97-AF65-F5344CB8AC3E}">
        <p14:creationId xmlns:p14="http://schemas.microsoft.com/office/powerpoint/2010/main" val="1016497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1138D63B-C62D-4B12-A785-49F74D721A2E}" type="slidenum">
              <a:rPr lang="en-CA" smtClean="0"/>
              <a:pPr>
                <a:defRPr/>
              </a:pPr>
              <a:t>2</a:t>
            </a:fld>
            <a:endParaRPr lang="en-CA"/>
          </a:p>
        </p:txBody>
      </p:sp>
    </p:spTree>
    <p:extLst>
      <p:ext uri="{BB962C8B-B14F-4D97-AF65-F5344CB8AC3E}">
        <p14:creationId xmlns:p14="http://schemas.microsoft.com/office/powerpoint/2010/main" val="24246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A1112815-EA8D-4D44-BFF0-33E32667921F}" type="slidenum">
              <a:rPr lang="en-CA" smtClean="0"/>
              <a:pPr>
                <a:defRPr/>
              </a:pPr>
              <a:t>3</a:t>
            </a:fld>
            <a:endParaRPr lang="en-CA"/>
          </a:p>
        </p:txBody>
      </p:sp>
    </p:spTree>
    <p:extLst>
      <p:ext uri="{BB962C8B-B14F-4D97-AF65-F5344CB8AC3E}">
        <p14:creationId xmlns:p14="http://schemas.microsoft.com/office/powerpoint/2010/main" val="2005379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F16E13F-DE09-4513-8C6F-44168DA3F494}" type="slidenum">
              <a:rPr lang="en-CA" smtClean="0"/>
              <a:pPr>
                <a:defRPr/>
              </a:pPr>
              <a:t>4</a:t>
            </a:fld>
            <a:endParaRPr lang="en-CA"/>
          </a:p>
        </p:txBody>
      </p:sp>
    </p:spTree>
    <p:extLst>
      <p:ext uri="{BB962C8B-B14F-4D97-AF65-F5344CB8AC3E}">
        <p14:creationId xmlns:p14="http://schemas.microsoft.com/office/powerpoint/2010/main" val="2715817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3EDAF76-DFA4-466A-9123-9B30707E2F5F}" type="slidenum">
              <a:rPr lang="en-CA" smtClean="0"/>
              <a:pPr>
                <a:defRPr/>
              </a:pPr>
              <a:t>5</a:t>
            </a:fld>
            <a:endParaRPr lang="en-CA"/>
          </a:p>
        </p:txBody>
      </p:sp>
    </p:spTree>
    <p:extLst>
      <p:ext uri="{BB962C8B-B14F-4D97-AF65-F5344CB8AC3E}">
        <p14:creationId xmlns:p14="http://schemas.microsoft.com/office/powerpoint/2010/main" val="962733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0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CCACE1B4-FD22-4C0F-992F-7BD69FCF1404}" type="slidenum">
              <a:rPr lang="en-CA" smtClean="0"/>
              <a:pPr>
                <a:defRPr/>
              </a:pPr>
              <a:t>6</a:t>
            </a:fld>
            <a:endParaRPr lang="en-CA"/>
          </a:p>
        </p:txBody>
      </p:sp>
    </p:spTree>
    <p:extLst>
      <p:ext uri="{BB962C8B-B14F-4D97-AF65-F5344CB8AC3E}">
        <p14:creationId xmlns:p14="http://schemas.microsoft.com/office/powerpoint/2010/main" val="4101874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83EDAF76-DFA4-466A-9123-9B30707E2F5F}" type="slidenum">
              <a:rPr lang="en-CA" smtClean="0"/>
              <a:pPr>
                <a:defRPr/>
              </a:pPr>
              <a:t>7</a:t>
            </a:fld>
            <a:endParaRPr lang="en-CA"/>
          </a:p>
        </p:txBody>
      </p:sp>
    </p:spTree>
    <p:extLst>
      <p:ext uri="{BB962C8B-B14F-4D97-AF65-F5344CB8AC3E}">
        <p14:creationId xmlns:p14="http://schemas.microsoft.com/office/powerpoint/2010/main" val="707361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77BC515-1217-40CF-ABDD-023D96D5664A}" type="slidenum">
              <a:rPr lang="en-CA" smtClean="0"/>
              <a:pPr>
                <a:defRPr/>
              </a:pPr>
              <a:t>8</a:t>
            </a:fld>
            <a:endParaRPr lang="en-CA"/>
          </a:p>
        </p:txBody>
      </p:sp>
    </p:spTree>
    <p:extLst>
      <p:ext uri="{BB962C8B-B14F-4D97-AF65-F5344CB8AC3E}">
        <p14:creationId xmlns:p14="http://schemas.microsoft.com/office/powerpoint/2010/main" val="2326826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Shape 98"/>
          <p:cNvSpPr>
            <a:spLocks noGrp="1" noRot="1" noChangeAspect="1"/>
          </p:cNvSpPr>
          <p:nvPr>
            <p:ph type="sldImg"/>
          </p:nvPr>
        </p:nvSpPr>
        <p:spPr>
          <a:prstGeom prst="rect">
            <a:avLst/>
          </a:prstGeom>
        </p:spPr>
        <p:txBody>
          <a:bodyPr/>
          <a:lstStyle/>
          <a:p>
            <a:endParaRPr/>
          </a:p>
        </p:txBody>
      </p:sp>
      <p:sp>
        <p:nvSpPr>
          <p:cNvPr id="99" name="Shape 99"/>
          <p:cNvSpPr>
            <a:spLocks noGrp="1"/>
          </p:cNvSpPr>
          <p:nvPr>
            <p:ph type="body" sz="quarter" idx="1"/>
          </p:nvPr>
        </p:nvSpPr>
        <p:spPr>
          <a:prstGeom prst="rect">
            <a:avLst/>
          </a:prstGeom>
        </p:spPr>
        <p:txBody>
          <a:bodyPr/>
          <a:lstStyle/>
          <a:p>
            <a:pPr>
              <a:buClr>
                <a:srgbClr val="000000"/>
              </a:buClr>
              <a:buFont typeface="Lucida Sans"/>
            </a:pPr>
            <a:r>
              <a:t>overlapping subproblem = subproblem whose results can be reused several times.</a:t>
            </a:r>
          </a:p>
          <a:p>
            <a:pPr>
              <a:buClr>
                <a:srgbClr val="000000"/>
              </a:buClr>
              <a:buFont typeface="Lucida Sans"/>
            </a:pPr>
            <a:endParaRPr/>
          </a:p>
          <a:p>
            <a:pPr>
              <a:buClr>
                <a:srgbClr val="000000"/>
              </a:buClr>
              <a:buFont typeface="Lucida Sans"/>
            </a:pPr>
            <a:r>
              <a:t>DP can improve running time from exponential to polynomial; from n^2 to n; or from n! to 2^n.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hape 108"/>
          <p:cNvSpPr>
            <a:spLocks noGrp="1" noRot="1" noChangeAspect="1"/>
          </p:cNvSpPr>
          <p:nvPr>
            <p:ph type="sldImg"/>
          </p:nvPr>
        </p:nvSpPr>
        <p:spPr>
          <a:prstGeom prst="rect">
            <a:avLst/>
          </a:prstGeom>
        </p:spPr>
        <p:txBody>
          <a:bodyPr/>
          <a:lstStyle/>
          <a:p>
            <a:endParaRPr/>
          </a:p>
        </p:txBody>
      </p:sp>
      <p:sp>
        <p:nvSpPr>
          <p:cNvPr id="109" name="Shape 109"/>
          <p:cNvSpPr>
            <a:spLocks noGrp="1"/>
          </p:cNvSpPr>
          <p:nvPr>
            <p:ph type="body" sz="quarter" idx="1"/>
          </p:nvPr>
        </p:nvSpPr>
        <p:spPr>
          <a:prstGeom prst="rect">
            <a:avLst/>
          </a:prstGeom>
        </p:spPr>
        <p:txBody>
          <a:bodyPr/>
          <a:lstStyle/>
          <a:p>
            <a:pPr>
              <a:buClr>
                <a:srgbClr val="000000"/>
              </a:buClr>
              <a:buFont typeface="Lucida Sans"/>
            </a:pPr>
            <a:r>
              <a:t>[wayne s18] try to use it pejoratively, e.g., dynamic smell emanating from locker room. :) </a:t>
            </a:r>
          </a:p>
          <a:p>
            <a:pPr>
              <a:buClr>
                <a:srgbClr val="000000"/>
              </a:buClr>
              <a:buFont typeface="Lucida Sans"/>
            </a:pPr>
            <a:r>
              <a:t>It also has a very interesting property as an adjective, and that is its impossible to use the word, dynamic, in a pejorative sense. Try thinking of some combination that will possibly give it a pejorative meaning. Its impossible. Thus, I thought dynamic programming was a good name. It was something not even a Congressman could object to.</a:t>
            </a:r>
          </a:p>
          <a:p>
            <a:pPr>
              <a:buClr>
                <a:srgbClr val="000000"/>
              </a:buClr>
              <a:buFont typeface="Lucida Sans"/>
            </a:pPr>
            <a:endParaRPr/>
          </a:p>
          <a:p>
            <a:pPr>
              <a:buClr>
                <a:srgbClr val="000000"/>
              </a:buClr>
              <a:buFont typeface="Lucida Sans"/>
            </a:pPr>
            <a:r>
              <a:t>Secretary of Defense = Charles Wilson</a:t>
            </a:r>
          </a:p>
          <a:p>
            <a:pPr>
              <a:buClr>
                <a:srgbClr val="000000"/>
              </a:buClr>
              <a:buFont typeface="Lucida Sans"/>
            </a:pPr>
            <a:r>
              <a:t>Bellman was at RAND working for Air Force</a:t>
            </a:r>
          </a:p>
          <a:p>
            <a:pPr>
              <a:buClr>
                <a:srgbClr val="000000"/>
              </a:buClr>
              <a:buFont typeface="Lucida Sans"/>
            </a:pPr>
            <a:endParaRPr/>
          </a:p>
          <a:p>
            <a:pPr>
              <a:buClr>
                <a:srgbClr val="000000"/>
              </a:buClr>
              <a:buFont typeface="Lucida Sans"/>
            </a:pPr>
            <a:r>
              <a:t>The theory of dynamic programming. </a:t>
            </a:r>
            <a:r>
              <a:rPr>
                <a:hlinkClick r:id="rId3"/>
              </a:rPr>
              <a:t>Bull. Amer. Math. Soc.</a:t>
            </a:r>
            <a:r>
              <a:t> Volume 60, Number 6 (1954), 503-515.</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Shape 196"/>
          <p:cNvSpPr>
            <a:spLocks noGrp="1" noRot="1" noChangeAspect="1"/>
          </p:cNvSpPr>
          <p:nvPr>
            <p:ph type="sldImg"/>
          </p:nvPr>
        </p:nvSpPr>
        <p:spPr>
          <a:prstGeom prst="rect">
            <a:avLst/>
          </a:prstGeom>
        </p:spPr>
        <p:txBody>
          <a:bodyPr/>
          <a:lstStyle/>
          <a:p>
            <a:endParaRPr/>
          </a:p>
        </p:txBody>
      </p:sp>
      <p:sp>
        <p:nvSpPr>
          <p:cNvPr id="197" name="Shape 197"/>
          <p:cNvSpPr>
            <a:spLocks noGrp="1"/>
          </p:cNvSpPr>
          <p:nvPr>
            <p:ph type="body" sz="quarter" idx="1"/>
          </p:nvPr>
        </p:nvSpPr>
        <p:spPr>
          <a:prstGeom prst="rect">
            <a:avLst/>
          </a:prstGeom>
        </p:spPr>
        <p:txBody>
          <a:bodyPr/>
          <a:lstStyle/>
          <a:p>
            <a:r>
              <a:t>https://www.ciriscience.org/why-train-certify-CIRI-K-12.php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Shape 284"/>
          <p:cNvSpPr>
            <a:spLocks noGrp="1" noRot="1" noChangeAspect="1"/>
          </p:cNvSpPr>
          <p:nvPr>
            <p:ph type="sldImg"/>
          </p:nvPr>
        </p:nvSpPr>
        <p:spPr>
          <a:prstGeom prst="rect">
            <a:avLst/>
          </a:prstGeom>
        </p:spPr>
        <p:txBody>
          <a:bodyPr/>
          <a:lstStyle/>
          <a:p>
            <a:endParaRPr/>
          </a:p>
        </p:txBody>
      </p:sp>
      <p:sp>
        <p:nvSpPr>
          <p:cNvPr id="285" name="Shape 285"/>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Shape 296"/>
          <p:cNvSpPr>
            <a:spLocks noGrp="1" noRot="1" noChangeAspect="1"/>
          </p:cNvSpPr>
          <p:nvPr>
            <p:ph type="sldImg"/>
          </p:nvPr>
        </p:nvSpPr>
        <p:spPr>
          <a:prstGeom prst="rect">
            <a:avLst/>
          </a:prstGeom>
        </p:spPr>
        <p:txBody>
          <a:bodyPr/>
          <a:lstStyle/>
          <a:p>
            <a:endParaRPr/>
          </a:p>
        </p:txBody>
      </p:sp>
      <p:sp>
        <p:nvSpPr>
          <p:cNvPr id="297" name="Shape 297"/>
          <p:cNvSpPr>
            <a:spLocks noGrp="1"/>
          </p:cNvSpPr>
          <p:nvPr>
            <p:ph type="body" sz="quarter" idx="1"/>
          </p:nvPr>
        </p:nvSpPr>
        <p:spPr>
          <a:prstGeom prst="rect">
            <a:avLst/>
          </a:prstGeom>
        </p:spPr>
        <p:txBody>
          <a:bodyPr/>
          <a:lstStyle/>
          <a:p>
            <a:r>
              <a:rPr dirty="0"/>
              <a:t>This is sometimes known as the “dynamic programming equation” or “Bellman equation.”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Shape 313"/>
          <p:cNvSpPr>
            <a:spLocks noGrp="1" noRot="1" noChangeAspect="1"/>
          </p:cNvSpPr>
          <p:nvPr>
            <p:ph type="sldImg"/>
          </p:nvPr>
        </p:nvSpPr>
        <p:spPr>
          <a:prstGeom prst="rect">
            <a:avLst/>
          </a:prstGeom>
        </p:spPr>
        <p:txBody>
          <a:bodyPr/>
          <a:lstStyle/>
          <a:p>
            <a:endParaRPr/>
          </a:p>
        </p:txBody>
      </p:sp>
      <p:sp>
        <p:nvSpPr>
          <p:cNvPr id="314" name="Shape 314"/>
          <p:cNvSpPr>
            <a:spLocks noGrp="1"/>
          </p:cNvSpPr>
          <p:nvPr>
            <p:ph type="body" sz="quarter" idx="1"/>
          </p:nvPr>
        </p:nvSpPr>
        <p:spPr>
          <a:prstGeom prst="rect">
            <a:avLst/>
          </a:prstGeom>
        </p:spPr>
        <p:txBody>
          <a:bodyPr/>
          <a:lstStyle/>
          <a:p>
            <a:pPr>
              <a:buClr>
                <a:srgbClr val="000000"/>
              </a:buClr>
              <a:buFont typeface="Lucida Sans"/>
            </a:pPr>
            <a:r>
              <a:rPr dirty="0"/>
              <a:t>Worst case occurs when p[j] = j - 1 for each j</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extLst>
      <p:ext uri="{BB962C8B-B14F-4D97-AF65-F5344CB8AC3E}">
        <p14:creationId xmlns:p14="http://schemas.microsoft.com/office/powerpoint/2010/main" val="1705772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Shape 388"/>
          <p:cNvSpPr>
            <a:spLocks noGrp="1" noRot="1" noChangeAspect="1"/>
          </p:cNvSpPr>
          <p:nvPr>
            <p:ph type="sldImg"/>
          </p:nvPr>
        </p:nvSpPr>
        <p:spPr>
          <a:prstGeom prst="rect">
            <a:avLst/>
          </a:prstGeom>
        </p:spPr>
        <p:txBody>
          <a:bodyPr/>
          <a:lstStyle/>
          <a:p>
            <a:endParaRPr/>
          </a:p>
        </p:txBody>
      </p:sp>
      <p:sp>
        <p:nvSpPr>
          <p:cNvPr id="389" name="Shape 389"/>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Shape 397"/>
          <p:cNvSpPr>
            <a:spLocks noGrp="1" noRot="1" noChangeAspect="1"/>
          </p:cNvSpPr>
          <p:nvPr>
            <p:ph type="sldImg"/>
          </p:nvPr>
        </p:nvSpPr>
        <p:spPr>
          <a:prstGeom prst="rect">
            <a:avLst/>
          </a:prstGeom>
        </p:spPr>
        <p:txBody>
          <a:bodyPr/>
          <a:lstStyle/>
          <a:p>
            <a:endParaRPr/>
          </a:p>
        </p:txBody>
      </p:sp>
      <p:sp>
        <p:nvSpPr>
          <p:cNvPr id="398" name="Shape 398"/>
          <p:cNvSpPr>
            <a:spLocks noGrp="1"/>
          </p:cNvSpPr>
          <p:nvPr>
            <p:ph type="body" sz="quarter" idx="1"/>
          </p:nvPr>
        </p:nvSpPr>
        <p:spPr>
          <a:prstGeom prst="rect">
            <a:avLst/>
          </a:prstGeom>
        </p:spPr>
        <p:txBody>
          <a:bodyPr/>
          <a:lstStyle/>
          <a:p>
            <a:pPr>
              <a:buClr>
                <a:srgbClr val="000000"/>
              </a:buClr>
              <a:buFont typeface="Lucida Sans"/>
            </a:pPr>
            <a:r>
              <a:rPr dirty="0"/>
              <a:t>[</a:t>
            </a:r>
            <a:r>
              <a:rPr dirty="0" err="1"/>
              <a:t>wayne</a:t>
            </a:r>
            <a:r>
              <a:rPr dirty="0"/>
              <a:t> s18] implicit assumption that can do union operation in constant time on the set of jobs.</a:t>
            </a:r>
          </a:p>
          <a:p>
            <a:pPr>
              <a:buClr>
                <a:srgbClr val="000000"/>
              </a:buClr>
              <a:buFont typeface="Lucida Sans"/>
            </a:pPr>
            <a:endParaRPr dirty="0"/>
          </a:p>
          <a:p>
            <a:pPr>
              <a:buClr>
                <a:srgbClr val="000000"/>
              </a:buClr>
              <a:buFont typeface="Lucida Sans"/>
            </a:pPr>
            <a:r>
              <a:rPr dirty="0"/>
              <a:t>[</a:t>
            </a:r>
            <a:r>
              <a:rPr dirty="0" err="1"/>
              <a:t>wayne</a:t>
            </a:r>
            <a:r>
              <a:rPr dirty="0"/>
              <a:t> s13] could use a proof</a:t>
            </a:r>
          </a:p>
          <a:p>
            <a:pPr>
              <a:buClr>
                <a:srgbClr val="000000"/>
              </a:buClr>
              <a:buFont typeface="Lucida Sans"/>
            </a:pPr>
            <a:r>
              <a:rPr dirty="0"/>
              <a:t>. </a:t>
            </a:r>
          </a:p>
          <a:p>
            <a:pPr>
              <a:buClr>
                <a:srgbClr val="000000"/>
              </a:buClr>
              <a:buFont typeface="Lucida Sans"/>
            </a:pPr>
            <a:r>
              <a:rPr dirty="0"/>
              <a:t>Note: maintaining predecessor indices doesn’t work that well here because if </a:t>
            </a:r>
            <a:r>
              <a:rPr dirty="0" err="1"/>
              <a:t>pred</a:t>
            </a:r>
            <a:r>
              <a:rPr dirty="0"/>
              <a:t>[j] = j-1, it may be that OPT does not take j but it also may be that OPT takes job and job j-1 is compatible </a:t>
            </a:r>
            <a:r>
              <a:rPr dirty="0" err="1"/>
              <a:t>ith</a:t>
            </a:r>
            <a:r>
              <a:rPr dirty="0"/>
              <a:t> job j.</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Shape 409"/>
          <p:cNvSpPr>
            <a:spLocks noGrp="1" noRot="1" noChangeAspect="1"/>
          </p:cNvSpPr>
          <p:nvPr>
            <p:ph type="sldImg"/>
          </p:nvPr>
        </p:nvSpPr>
        <p:spPr>
          <a:prstGeom prst="rect">
            <a:avLst/>
          </a:prstGeom>
        </p:spPr>
        <p:txBody>
          <a:bodyPr/>
          <a:lstStyle/>
          <a:p>
            <a:endParaRPr/>
          </a:p>
        </p:txBody>
      </p:sp>
      <p:sp>
        <p:nvSpPr>
          <p:cNvPr id="410" name="Shape 410"/>
          <p:cNvSpPr>
            <a:spLocks noGrp="1"/>
          </p:cNvSpPr>
          <p:nvPr>
            <p:ph type="body" sz="quarter" idx="1"/>
          </p:nvPr>
        </p:nvSpPr>
        <p:spPr>
          <a:prstGeom prst="rect">
            <a:avLst/>
          </a:prstGeom>
        </p:spPr>
        <p:txBody>
          <a:bodyPr/>
          <a:lstStyle/>
          <a:p>
            <a:r>
              <a:t>[wayne s18] should we make connection to solving longest path problem in a DAG? In this case, DAG = interval graph, weight of edge v-&gt;w = value of job v and topological order = order of nodes in increasing order of finish time or start time. Could reduce number of edges in DAG by adding 0-weight edges from v to v+1 (corresponding to not doing job j).</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 name="Shape 425"/>
          <p:cNvSpPr>
            <a:spLocks noGrp="1" noRot="1" noChangeAspect="1"/>
          </p:cNvSpPr>
          <p:nvPr>
            <p:ph type="sldImg"/>
          </p:nvPr>
        </p:nvSpPr>
        <p:spPr>
          <a:prstGeom prst="rect">
            <a:avLst/>
          </a:prstGeom>
        </p:spPr>
        <p:txBody>
          <a:bodyPr/>
          <a:lstStyle/>
          <a:p>
            <a:endParaRPr/>
          </a:p>
        </p:txBody>
      </p:sp>
      <p:sp>
        <p:nvSpPr>
          <p:cNvPr id="426" name="Shape 426"/>
          <p:cNvSpPr>
            <a:spLocks noGrp="1"/>
          </p:cNvSpPr>
          <p:nvPr>
            <p:ph type="body" sz="quarter" idx="1"/>
          </p:nvPr>
        </p:nvSpPr>
        <p:spPr>
          <a:prstGeom prst="rect">
            <a:avLst/>
          </a:prstGeom>
        </p:spPr>
        <p:txBody>
          <a:bodyPr/>
          <a:lstStyle>
            <a:lvl1pPr>
              <a:buClr>
                <a:srgbClr val="000000"/>
              </a:buClr>
              <a:buFont typeface="Lucida Sans"/>
            </a:lvl1pPr>
          </a:lstStyle>
          <a:p>
            <a:r>
              <a:t>Note: shouldn’t paint house D blue even though blue paint is cheapest.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 name="Shape 437"/>
          <p:cNvSpPr>
            <a:spLocks noGrp="1" noRot="1" noChangeAspect="1"/>
          </p:cNvSpPr>
          <p:nvPr>
            <p:ph type="sldImg"/>
          </p:nvPr>
        </p:nvSpPr>
        <p:spPr>
          <a:prstGeom prst="rect">
            <a:avLst/>
          </a:prstGeom>
        </p:spPr>
        <p:txBody>
          <a:bodyPr/>
          <a:lstStyle/>
          <a:p>
            <a:endParaRPr/>
          </a:p>
        </p:txBody>
      </p:sp>
      <p:sp>
        <p:nvSpPr>
          <p:cNvPr id="438" name="Shape 438"/>
          <p:cNvSpPr>
            <a:spLocks noGrp="1"/>
          </p:cNvSpPr>
          <p:nvPr>
            <p:ph type="body" sz="quarter" idx="1"/>
          </p:nvPr>
        </p:nvSpPr>
        <p:spPr>
          <a:prstGeom prst="rect">
            <a:avLst/>
          </a:prstGeom>
        </p:spPr>
        <p:txBody>
          <a:bodyPr/>
          <a:lstStyle>
            <a:lvl1pPr>
              <a:buClr>
                <a:srgbClr val="000000"/>
              </a:buClr>
              <a:buFont typeface="Lucida Sans"/>
            </a:lvl1pPr>
          </a:lstStyle>
          <a:p>
            <a:r>
              <a:t>assumes houses are indexed 1 to n</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Shape 465"/>
          <p:cNvSpPr>
            <a:spLocks noGrp="1" noRot="1" noChangeAspect="1"/>
          </p:cNvSpPr>
          <p:nvPr>
            <p:ph type="sldImg"/>
          </p:nvPr>
        </p:nvSpPr>
        <p:spPr>
          <a:prstGeom prst="rect">
            <a:avLst/>
          </a:prstGeom>
        </p:spPr>
        <p:txBody>
          <a:bodyPr/>
          <a:lstStyle/>
          <a:p>
            <a:endParaRPr/>
          </a:p>
        </p:txBody>
      </p:sp>
      <p:sp>
        <p:nvSpPr>
          <p:cNvPr id="466" name="Shape 466"/>
          <p:cNvSpPr>
            <a:spLocks noGrp="1"/>
          </p:cNvSpPr>
          <p:nvPr>
            <p:ph type="body" sz="quarter" idx="1"/>
          </p:nvPr>
        </p:nvSpPr>
        <p:spPr>
          <a:prstGeom prst="rect">
            <a:avLst/>
          </a:prstGeom>
        </p:spPr>
        <p:txBody>
          <a:bodyPr/>
          <a:lstStyle/>
          <a:p>
            <a:pPr>
              <a:buClr>
                <a:srgbClr val="000000"/>
              </a:buClr>
              <a:buFont typeface="Lucida Sans"/>
            </a:pPr>
            <a:r>
              <a:rPr dirty="0"/>
              <a:t>A professor at Brown wanted to solve the 2D version for a pattern matching problem in digital images. Maximum sum subarray was a maximum likelihood estimator of a certain kind of pattern. Algorithm for 2D version of problem too slow, so simplified to 1D. O(n^3) algorithm still too slow, so asked Michael </a:t>
            </a:r>
            <a:r>
              <a:rPr dirty="0" err="1"/>
              <a:t>Shamos</a:t>
            </a:r>
            <a:r>
              <a:rPr dirty="0"/>
              <a:t>, who overnight designed O(n log n) algorithm. Bentley and </a:t>
            </a:r>
            <a:r>
              <a:rPr dirty="0" err="1"/>
              <a:t>Shamos</a:t>
            </a:r>
            <a:r>
              <a:rPr dirty="0"/>
              <a:t> thought it was optimal until they described problem to CMU statistician, who designed O(n) algorithm within a minute.</a:t>
            </a:r>
          </a:p>
          <a:p>
            <a:pPr>
              <a:buClr>
                <a:srgbClr val="000000"/>
              </a:buClr>
              <a:buFont typeface="Lucida Sans"/>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Shape 477"/>
          <p:cNvSpPr>
            <a:spLocks noGrp="1" noRot="1" noChangeAspect="1"/>
          </p:cNvSpPr>
          <p:nvPr>
            <p:ph type="sldImg"/>
          </p:nvPr>
        </p:nvSpPr>
        <p:spPr>
          <a:prstGeom prst="rect">
            <a:avLst/>
          </a:prstGeom>
        </p:spPr>
        <p:txBody>
          <a:bodyPr/>
          <a:lstStyle/>
          <a:p>
            <a:endParaRPr/>
          </a:p>
        </p:txBody>
      </p:sp>
      <p:sp>
        <p:nvSpPr>
          <p:cNvPr id="478" name="Shape 478"/>
          <p:cNvSpPr>
            <a:spLocks noGrp="1"/>
          </p:cNvSpPr>
          <p:nvPr>
            <p:ph type="body" sz="quarter" idx="1"/>
          </p:nvPr>
        </p:nvSpPr>
        <p:spPr>
          <a:prstGeom prst="rect">
            <a:avLst/>
          </a:prstGeom>
        </p:spPr>
        <p:txBody>
          <a:bodyPr/>
          <a:lstStyle/>
          <a:p>
            <a:pPr>
              <a:buClr>
                <a:srgbClr val="000000"/>
              </a:buClr>
              <a:buFont typeface="Lucida Sans"/>
            </a:pPr>
            <a:r>
              <a:rPr dirty="0"/>
              <a:t>Example: the values might be normalized </a:t>
            </a:r>
            <a:r>
              <a:rPr dirty="0" err="1"/>
              <a:t>brightnesses</a:t>
            </a:r>
            <a:r>
              <a:rPr dirty="0"/>
              <a:t> in a digital image.</a:t>
            </a:r>
          </a:p>
          <a:p>
            <a:pPr>
              <a:buClr>
                <a:srgbClr val="000000"/>
              </a:buClr>
              <a:buFont typeface="Lucida Sans"/>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Shape 499"/>
          <p:cNvSpPr>
            <a:spLocks noGrp="1" noRot="1" noChangeAspect="1"/>
          </p:cNvSpPr>
          <p:nvPr>
            <p:ph type="sldImg"/>
          </p:nvPr>
        </p:nvSpPr>
        <p:spPr>
          <a:prstGeom prst="rect">
            <a:avLst/>
          </a:prstGeom>
        </p:spPr>
        <p:txBody>
          <a:bodyPr/>
          <a:lstStyle/>
          <a:p>
            <a:endParaRPr/>
          </a:p>
        </p:txBody>
      </p:sp>
      <p:sp>
        <p:nvSpPr>
          <p:cNvPr id="500" name="Shape 500"/>
          <p:cNvSpPr>
            <a:spLocks noGrp="1"/>
          </p:cNvSpPr>
          <p:nvPr>
            <p:ph type="body" sz="quarter" idx="1"/>
          </p:nvPr>
        </p:nvSpPr>
        <p:spPr>
          <a:prstGeom prst="rect">
            <a:avLst/>
          </a:prstGeom>
        </p:spPr>
        <p:txBody>
          <a:bodyPr/>
          <a:lstStyle/>
          <a:p>
            <a:pPr>
              <a:buClr>
                <a:srgbClr val="000000"/>
              </a:buClr>
              <a:buFont typeface="Lucida Sans"/>
            </a:pPr>
            <a:r>
              <a:rPr dirty="0"/>
              <a:t>Easy lower bound of Omega(n^2).</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Shape 535"/>
          <p:cNvSpPr>
            <a:spLocks noGrp="1" noRot="1" noChangeAspect="1"/>
          </p:cNvSpPr>
          <p:nvPr>
            <p:ph type="sldImg"/>
          </p:nvPr>
        </p:nvSpPr>
        <p:spPr>
          <a:prstGeom prst="rect">
            <a:avLst/>
          </a:prstGeom>
        </p:spPr>
        <p:txBody>
          <a:bodyPr/>
          <a:lstStyle/>
          <a:p>
            <a:endParaRPr/>
          </a:p>
        </p:txBody>
      </p:sp>
      <p:sp>
        <p:nvSpPr>
          <p:cNvPr id="536" name="Shape 536"/>
          <p:cNvSpPr>
            <a:spLocks noGrp="1"/>
          </p:cNvSpPr>
          <p:nvPr>
            <p:ph type="body" sz="quarter" idx="1"/>
          </p:nvPr>
        </p:nvSpPr>
        <p:spPr>
          <a:prstGeom prst="rect">
            <a:avLst/>
          </a:prstGeom>
        </p:spPr>
        <p:txBody>
          <a:bodyPr/>
          <a:lstStyle/>
          <a:p>
            <a:pPr>
              <a:buClr>
                <a:srgbClr val="000000"/>
              </a:buClr>
              <a:buFont typeface="Lucida Sans"/>
            </a:pPr>
            <a:r>
              <a:rPr dirty="0"/>
              <a:t>the term "regression" stems from the work of Sir Francis Galton (1822-1911), a famous geneticist, who studied the heights of fathers and their sons. He found that offspring of a parent of larger than average height tended to be smaller than their parents, and offspring of parents of smaller than average size tended to be larger than their parents. "regression toward mediocrity".</a:t>
            </a:r>
          </a:p>
          <a:p>
            <a:pPr>
              <a:buClr>
                <a:srgbClr val="000000"/>
              </a:buClr>
              <a:buFont typeface="Lucida Sans"/>
            </a:pPr>
            <a:endParaRPr dirty="0"/>
          </a:p>
          <a:p>
            <a:pPr>
              <a:buClr>
                <a:srgbClr val="000000"/>
              </a:buClr>
              <a:buFont typeface="Lucida Sans"/>
            </a:pPr>
            <a:r>
              <a:rPr dirty="0"/>
              <a:t>Gauss (1809-1811) used Gaussian elimination to solve multiple linear regression</a:t>
            </a:r>
          </a:p>
          <a:p>
            <a:pPr>
              <a:buClr>
                <a:srgbClr val="000000"/>
              </a:buClr>
              <a:buFont typeface="Lucida Sans"/>
            </a:pPr>
            <a:r>
              <a:rPr dirty="0"/>
              <a:t>Gauss-Markov theorem (least squares estimates are uniformly minimum variance estimates (UMVUE) among all linear unbiased estimates)</a:t>
            </a:r>
          </a:p>
          <a:p>
            <a:pPr>
              <a:buClr>
                <a:srgbClr val="000000"/>
              </a:buClr>
              <a:buFont typeface="Lucida Sans"/>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 name="Shape 631"/>
          <p:cNvSpPr>
            <a:spLocks noGrp="1" noRot="1" noChangeAspect="1"/>
          </p:cNvSpPr>
          <p:nvPr>
            <p:ph type="sldImg"/>
          </p:nvPr>
        </p:nvSpPr>
        <p:spPr>
          <a:prstGeom prst="rect">
            <a:avLst/>
          </a:prstGeom>
        </p:spPr>
        <p:txBody>
          <a:bodyPr/>
          <a:lstStyle/>
          <a:p>
            <a:endParaRPr/>
          </a:p>
        </p:txBody>
      </p:sp>
      <p:sp>
        <p:nvSpPr>
          <p:cNvPr id="632" name="Shape 632"/>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 name="Shape 649"/>
          <p:cNvSpPr>
            <a:spLocks noGrp="1" noRot="1" noChangeAspect="1"/>
          </p:cNvSpPr>
          <p:nvPr>
            <p:ph type="sldImg"/>
          </p:nvPr>
        </p:nvSpPr>
        <p:spPr>
          <a:prstGeom prst="rect">
            <a:avLst/>
          </a:prstGeom>
        </p:spPr>
        <p:txBody>
          <a:bodyPr/>
          <a:lstStyle/>
          <a:p>
            <a:endParaRPr/>
          </a:p>
        </p:txBody>
      </p:sp>
      <p:sp>
        <p:nvSpPr>
          <p:cNvPr id="650" name="Shape 650"/>
          <p:cNvSpPr>
            <a:spLocks noGrp="1"/>
          </p:cNvSpPr>
          <p:nvPr>
            <p:ph type="body" sz="quarter" idx="1"/>
          </p:nvPr>
        </p:nvSpPr>
        <p:spPr>
          <a:prstGeom prst="rect">
            <a:avLst/>
          </a:prstGeom>
        </p:spPr>
        <p:txBody>
          <a:bodyPr/>
          <a:lstStyle/>
          <a:p>
            <a:pPr>
              <a:buClr>
                <a:srgbClr val="000000"/>
              </a:buClr>
              <a:buFont typeface="Lucida Sans"/>
            </a:pPr>
            <a:r>
              <a:t>Compute cumulative sums, as in maximum rectangle problem.</a:t>
            </a:r>
          </a:p>
          <a:p>
            <a:pPr>
              <a:buClr>
                <a:srgbClr val="000000"/>
              </a:buClr>
              <a:buFont typeface="Lucida Sans"/>
            </a:pPr>
            <a:endParaRPr/>
          </a:p>
          <a:p>
            <a:pPr>
              <a:buClr>
                <a:srgbClr val="000000"/>
              </a:buClr>
              <a:buFont typeface="Lucida Sans"/>
            </a:pPr>
            <a:r>
              <a:t>a_{ij} \; = \; \frac{n \sum_k x_ky_k - (\sum_k x_k)(\sum_k y_k)}{n \sum_k x_k^2 - (\sum_k x_k)^2}, \quad b_{ij} \; = \; \frac{\sum_k y_k - a_{ij} \sum_k x_k}{n}</a:t>
            </a:r>
          </a:p>
          <a:p>
            <a:pPr>
              <a:buClr>
                <a:srgbClr val="000000"/>
              </a:buClr>
              <a:buFont typeface="Lucida Sans"/>
            </a:pPr>
            <a:endParaRPr/>
          </a:p>
          <a:p>
            <a:pPr>
              <a:buClr>
                <a:srgbClr val="000000"/>
              </a:buClr>
              <a:buFont typeface="Lucida Sans"/>
            </a:pPr>
            <a:r>
              <a:t>\sum_{k=1}^i x_k, \quad \sum_{k=1}^i y_k, \quad</a:t>
            </a:r>
          </a:p>
          <a:p>
            <a:pPr>
              <a:buClr>
                <a:srgbClr val="000000"/>
              </a:buClr>
              <a:buFont typeface="Lucida Sans"/>
            </a:pPr>
            <a:r>
              <a:t>\sum_{k=1}^i x_k^2, \quad \sum_{k=1}^i x_k y_k</a:t>
            </a:r>
          </a:p>
          <a:p>
            <a:pPr>
              <a:buClr>
                <a:srgbClr val="000000"/>
              </a:buClr>
              <a:buFont typeface="Lucida Sans"/>
            </a:pPr>
            <a:endParaRPr/>
          </a:p>
          <a:p>
            <a:pPr>
              <a:buClr>
                <a:srgbClr val="000000"/>
              </a:buClr>
              <a:buFont typeface="Lucida Sans"/>
            </a:pPr>
            <a:endParaRPr/>
          </a:p>
          <a:p>
            <a:pPr>
              <a:buClr>
                <a:srgbClr val="000000"/>
              </a:buClr>
              <a:buFont typeface="Lucida Sans"/>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 name="Shape 668"/>
          <p:cNvSpPr>
            <a:spLocks noGrp="1" noRot="1" noChangeAspect="1"/>
          </p:cNvSpPr>
          <p:nvPr>
            <p:ph type="sldImg"/>
          </p:nvPr>
        </p:nvSpPr>
        <p:spPr>
          <a:prstGeom prst="rect">
            <a:avLst/>
          </a:prstGeom>
        </p:spPr>
        <p:txBody>
          <a:bodyPr/>
          <a:lstStyle/>
          <a:p>
            <a:endParaRPr/>
          </a:p>
        </p:txBody>
      </p:sp>
      <p:sp>
        <p:nvSpPr>
          <p:cNvPr id="669" name="Shape 669"/>
          <p:cNvSpPr>
            <a:spLocks noGrp="1"/>
          </p:cNvSpPr>
          <p:nvPr>
            <p:ph type="body" sz="quarter" idx="1"/>
          </p:nvPr>
        </p:nvSpPr>
        <p:spPr>
          <a:prstGeom prst="rect">
            <a:avLst/>
          </a:prstGeom>
        </p:spPr>
        <p:txBody>
          <a:bodyPr/>
          <a:lstStyle/>
          <a:p>
            <a:pPr>
              <a:buClr>
                <a:srgbClr val="000000"/>
              </a:buClr>
              <a:buFont typeface="Lucida Sans"/>
            </a:pPr>
            <a:r>
              <a:t>We really just need the wi values to be integral.</a:t>
            </a:r>
          </a:p>
          <a:p>
            <a:pPr>
              <a:buClr>
                <a:srgbClr val="000000"/>
              </a:buClr>
              <a:buFont typeface="Lucida Sans"/>
            </a:pPr>
            <a:r>
              <a:t>https://commons.wikimedia.org/wiki/File:Knapsack.svg</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 name="Shape 681"/>
          <p:cNvSpPr>
            <a:spLocks noGrp="1" noRot="1" noChangeAspect="1"/>
          </p:cNvSpPr>
          <p:nvPr>
            <p:ph type="sldImg"/>
          </p:nvPr>
        </p:nvSpPr>
        <p:spPr>
          <a:prstGeom prst="rect">
            <a:avLst/>
          </a:prstGeom>
        </p:spPr>
        <p:txBody>
          <a:bodyPr/>
          <a:lstStyle/>
          <a:p>
            <a:endParaRPr/>
          </a:p>
        </p:txBody>
      </p:sp>
      <p:sp>
        <p:nvSpPr>
          <p:cNvPr id="682" name="Shape 682"/>
          <p:cNvSpPr>
            <a:spLocks noGrp="1"/>
          </p:cNvSpPr>
          <p:nvPr>
            <p:ph type="body" sz="quarter" idx="1"/>
          </p:nvPr>
        </p:nvSpPr>
        <p:spPr>
          <a:prstGeom prst="rect">
            <a:avLst/>
          </a:prstGeom>
        </p:spPr>
        <p:txBody>
          <a:bodyPr/>
          <a:lstStyle/>
          <a:p>
            <a:pPr>
              <a:buClr>
                <a:srgbClr val="000000"/>
              </a:buClr>
              <a:buFont typeface="Lucida Sans"/>
            </a:pPr>
            <a:r>
              <a:t>greedy by value would take { 5, 2, 1}</a:t>
            </a:r>
          </a:p>
          <a:p>
            <a:pPr>
              <a:buClr>
                <a:srgbClr val="000000"/>
              </a:buClr>
              <a:buFont typeface="Lucida Sans"/>
            </a:pPr>
            <a:r>
              <a:t>greedy by weight would take { 1, 2, 3} </a:t>
            </a:r>
          </a:p>
          <a:p>
            <a:pPr>
              <a:buClr>
                <a:srgbClr val="000000"/>
              </a:buClr>
              <a:buFont typeface="Lucida Sans"/>
            </a:pPr>
            <a:r>
              <a:t>greedy by ratio would take { 5, 2, 1}</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 name="Shape 689"/>
          <p:cNvSpPr>
            <a:spLocks noGrp="1" noRot="1" noChangeAspect="1"/>
          </p:cNvSpPr>
          <p:nvPr>
            <p:ph type="sldImg"/>
          </p:nvPr>
        </p:nvSpPr>
        <p:spPr>
          <a:prstGeom prst="rect">
            <a:avLst/>
          </a:prstGeom>
        </p:spPr>
        <p:txBody>
          <a:bodyPr/>
          <a:lstStyle/>
          <a:p>
            <a:endParaRPr/>
          </a:p>
        </p:txBody>
      </p:sp>
      <p:sp>
        <p:nvSpPr>
          <p:cNvPr id="690" name="Shape 690"/>
          <p:cNvSpPr>
            <a:spLocks noGrp="1"/>
          </p:cNvSpPr>
          <p:nvPr>
            <p:ph type="body" sz="quarter" idx="1"/>
          </p:nvPr>
        </p:nvSpPr>
        <p:spPr>
          <a:prstGeom prst="rect">
            <a:avLst/>
          </a:prstGeom>
        </p:spPr>
        <p:txBody>
          <a:bodyPr/>
          <a:lstStyle>
            <a:lvl1pPr>
              <a:buClr>
                <a:srgbClr val="000000"/>
              </a:buClr>
              <a:buFont typeface="Lucida Sans"/>
            </a:lvl1pPr>
          </a:lstStyle>
          <a:p>
            <a:r>
              <a:t>OPT(i, v) = min weight of a knapsack for which we can obtain a solution of value ≥ v using a subset of items 1,..., i.</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2" name="Shape 712"/>
          <p:cNvSpPr>
            <a:spLocks noGrp="1" noRot="1" noChangeAspect="1"/>
          </p:cNvSpPr>
          <p:nvPr>
            <p:ph type="sldImg"/>
          </p:nvPr>
        </p:nvSpPr>
        <p:spPr>
          <a:prstGeom prst="rect">
            <a:avLst/>
          </a:prstGeom>
        </p:spPr>
        <p:txBody>
          <a:bodyPr/>
          <a:lstStyle/>
          <a:p>
            <a:endParaRPr/>
          </a:p>
        </p:txBody>
      </p:sp>
      <p:sp>
        <p:nvSpPr>
          <p:cNvPr id="713" name="Shape 713"/>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2" name="Shape 742"/>
          <p:cNvSpPr>
            <a:spLocks noGrp="1" noRot="1" noChangeAspect="1"/>
          </p:cNvSpPr>
          <p:nvPr>
            <p:ph type="sldImg"/>
          </p:nvPr>
        </p:nvSpPr>
        <p:spPr>
          <a:prstGeom prst="rect">
            <a:avLst/>
          </a:prstGeom>
        </p:spPr>
        <p:txBody>
          <a:bodyPr/>
          <a:lstStyle/>
          <a:p>
            <a:endParaRPr/>
          </a:p>
        </p:txBody>
      </p:sp>
      <p:sp>
        <p:nvSpPr>
          <p:cNvPr id="743" name="Shape 743"/>
          <p:cNvSpPr>
            <a:spLocks noGrp="1"/>
          </p:cNvSpPr>
          <p:nvPr>
            <p:ph type="body" sz="quarter" idx="1"/>
          </p:nvPr>
        </p:nvSpPr>
        <p:spPr>
          <a:prstGeom prst="rect">
            <a:avLst/>
          </a:prstGeom>
        </p:spPr>
        <p:txBody>
          <a:bodyPr/>
          <a:lstStyle/>
          <a:p>
            <a:pPr>
              <a:buClr>
                <a:srgbClr val="000000"/>
              </a:buClr>
              <a:buFont typeface="Lucida Sans"/>
            </a:pPr>
            <a:r>
              <a:t>OPT:  { 4, 3 }</a:t>
            </a:r>
          </a:p>
          <a:p>
            <a:pPr>
              <a:buClr>
                <a:srgbClr val="000000"/>
              </a:buClr>
              <a:buFont typeface="Lucida Sans"/>
            </a:pPr>
            <a:r>
              <a:t>value = 22 + 18 = 40</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 name="Shape 766"/>
          <p:cNvSpPr>
            <a:spLocks noGrp="1" noRot="1" noChangeAspect="1"/>
          </p:cNvSpPr>
          <p:nvPr>
            <p:ph type="sldImg"/>
          </p:nvPr>
        </p:nvSpPr>
        <p:spPr>
          <a:prstGeom prst="rect">
            <a:avLst/>
          </a:prstGeom>
        </p:spPr>
        <p:txBody>
          <a:bodyPr/>
          <a:lstStyle/>
          <a:p>
            <a:endParaRPr/>
          </a:p>
        </p:txBody>
      </p:sp>
      <p:sp>
        <p:nvSpPr>
          <p:cNvPr id="767" name="Shape 767"/>
          <p:cNvSpPr>
            <a:spLocks noGrp="1"/>
          </p:cNvSpPr>
          <p:nvPr>
            <p:ph type="body" sz="quarter" idx="1"/>
          </p:nvPr>
        </p:nvSpPr>
        <p:spPr>
          <a:prstGeom prst="rect">
            <a:avLst/>
          </a:prstGeom>
        </p:spPr>
        <p:txBody>
          <a:bodyPr/>
          <a:lstStyle/>
          <a:p>
            <a:pPr>
              <a:buClr>
                <a:srgbClr val="000000"/>
              </a:buClr>
              <a:buFont typeface="Lucida Sans"/>
            </a:pPr>
            <a:r>
              <a:t>pseudo-polynomial time: running time is polynomial in the running time if the numeric values are encoded in unary.</a:t>
            </a:r>
          </a:p>
          <a:p>
            <a:pPr>
              <a:buClr>
                <a:srgbClr val="000000"/>
              </a:buClr>
              <a:buFont typeface="Lucida Sans"/>
            </a:pPr>
            <a:endParaRPr/>
          </a:p>
          <a:p>
            <a:pPr>
              <a:buClr>
                <a:srgbClr val="000000"/>
              </a:buClr>
              <a:buFont typeface="Lucida Sans"/>
            </a:pPr>
            <a:r>
              <a:t>There exists a poly-time algorithm that produces a feasible solution that has value within 1% of optimum.  [ Section 11.8 ]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 name="Shape 794"/>
          <p:cNvSpPr>
            <a:spLocks noGrp="1" noRot="1" noChangeAspect="1"/>
          </p:cNvSpPr>
          <p:nvPr>
            <p:ph type="sldImg"/>
          </p:nvPr>
        </p:nvSpPr>
        <p:spPr>
          <a:prstGeom prst="rect">
            <a:avLst/>
          </a:prstGeom>
        </p:spPr>
        <p:txBody>
          <a:bodyPr/>
          <a:lstStyle/>
          <a:p>
            <a:endParaRPr/>
          </a:p>
        </p:txBody>
      </p:sp>
      <p:sp>
        <p:nvSpPr>
          <p:cNvPr id="795" name="Shape 795"/>
          <p:cNvSpPr>
            <a:spLocks noGrp="1"/>
          </p:cNvSpPr>
          <p:nvPr>
            <p:ph type="body" sz="quarter" idx="1"/>
          </p:nvPr>
        </p:nvSpPr>
        <p:spPr>
          <a:prstGeom prst="rect">
            <a:avLst/>
          </a:prstGeom>
        </p:spPr>
        <p:txBody>
          <a:bodyPr/>
          <a:lstStyle/>
          <a:p>
            <a:pPr>
              <a:buClr>
                <a:srgbClr val="000000"/>
              </a:buClr>
              <a:buFont typeface="Lucida Sans"/>
            </a:pPr>
            <a:r>
              <a:rPr dirty="0"/>
              <a:t>[</a:t>
            </a:r>
            <a:r>
              <a:rPr dirty="0" err="1"/>
              <a:t>wayne</a:t>
            </a:r>
            <a:r>
              <a:rPr dirty="0"/>
              <a:t> s18] simplify by making c_1 = 1 so solution always exists?</a:t>
            </a:r>
          </a:p>
          <a:p>
            <a:pPr>
              <a:buClr>
                <a:srgbClr val="000000"/>
              </a:buClr>
              <a:buFont typeface="Lucida Sans"/>
            </a:pPr>
            <a:endParaRPr dirty="0"/>
          </a:p>
          <a:p>
            <a:pPr>
              <a:buClr>
                <a:srgbClr val="000000"/>
              </a:buClr>
              <a:buFont typeface="Lucida Sans"/>
            </a:pPr>
            <a:r>
              <a:rPr dirty="0"/>
              <a:t>Note: problem is (weakly) NP-hard.</a:t>
            </a:r>
          </a:p>
          <a:p>
            <a:pPr>
              <a:buClr>
                <a:srgbClr val="000000"/>
              </a:buClr>
              <a:buFont typeface="Lucida Sans"/>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 name="Shape 804"/>
          <p:cNvSpPr>
            <a:spLocks noGrp="1" noRot="1" noChangeAspect="1"/>
          </p:cNvSpPr>
          <p:nvPr>
            <p:ph type="sldImg"/>
          </p:nvPr>
        </p:nvSpPr>
        <p:spPr>
          <a:prstGeom prst="rect">
            <a:avLst/>
          </a:prstGeom>
        </p:spPr>
        <p:txBody>
          <a:bodyPr/>
          <a:lstStyle/>
          <a:p>
            <a:endParaRPr/>
          </a:p>
        </p:txBody>
      </p:sp>
      <p:sp>
        <p:nvSpPr>
          <p:cNvPr id="805" name="Shape 805"/>
          <p:cNvSpPr>
            <a:spLocks noGrp="1"/>
          </p:cNvSpPr>
          <p:nvPr>
            <p:ph type="body" sz="quarter" idx="1"/>
          </p:nvPr>
        </p:nvSpPr>
        <p:spPr>
          <a:prstGeom prst="rect">
            <a:avLst/>
          </a:prstGeom>
        </p:spPr>
        <p:txBody>
          <a:bodyPr/>
          <a:lstStyle/>
          <a:p>
            <a:pPr>
              <a:buClr>
                <a:srgbClr val="000000"/>
              </a:buClr>
              <a:buFont typeface="Lucida Sans"/>
            </a:pPr>
            <a:r>
              <a:t>Solution to original problem can be computed from subproblems (e.g., original problem is a subproblem!)</a:t>
            </a:r>
          </a:p>
          <a:p>
            <a:pPr>
              <a:buClr>
                <a:srgbClr val="000000"/>
              </a:buClr>
              <a:buFont typeface="Lucida Sans"/>
            </a:pPr>
            <a:endParaRPr/>
          </a:p>
          <a:p>
            <a:pPr>
              <a:buClr>
                <a:srgbClr val="000000"/>
              </a:buClr>
              <a:buFont typeface="Lucida Sans"/>
            </a:pPr>
            <a:r>
              <a:t>Typically, only a polynomial number of subproblems (but not the case for knapsack problem or TSP)</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Section">
    <p:spTree>
      <p:nvGrpSpPr>
        <p:cNvPr id="1" name=""/>
        <p:cNvGrpSpPr/>
        <p:nvPr/>
      </p:nvGrpSpPr>
      <p:grpSpPr>
        <a:xfrm>
          <a:off x="0" y="0"/>
          <a:ext cx="0" cy="0"/>
          <a:chOff x="0" y="0"/>
          <a:chExt cx="0" cy="0"/>
        </a:xfrm>
      </p:grpSpPr>
      <p:pic>
        <p:nvPicPr>
          <p:cNvPr id="28" name="KleinbergTardosCover.pdf" descr="KleinbergTardosCover.pdf"/>
          <p:cNvPicPr>
            <a:picLocks noChangeAspect="1"/>
          </p:cNvPicPr>
          <p:nvPr/>
        </p:nvPicPr>
        <p:blipFill>
          <a:blip r:embed="rId2">
            <a:alphaModFix amt="50000"/>
          </a:blip>
          <a:srcRect l="1755" t="7594" r="1755" b="7594"/>
          <a:stretch>
            <a:fillRect/>
          </a:stretch>
        </p:blipFill>
        <p:spPr>
          <a:xfrm>
            <a:off x="655880" y="1764307"/>
            <a:ext cx="4445201" cy="5056414"/>
          </a:xfrm>
          <a:prstGeom prst="rect">
            <a:avLst/>
          </a:prstGeom>
          <a:ln w="12700">
            <a:miter lim="400000"/>
          </a:ln>
        </p:spPr>
      </p:pic>
      <p:pic>
        <p:nvPicPr>
          <p:cNvPr id="29" name="Aw_COLOR_web_logo.png" descr="Aw_COLOR_web_logo.png"/>
          <p:cNvPicPr>
            <a:picLocks noChangeAspect="1"/>
          </p:cNvPicPr>
          <p:nvPr/>
        </p:nvPicPr>
        <p:blipFill>
          <a:blip r:embed="rId3">
            <a:alphaModFix amt="33000"/>
          </a:blip>
          <a:stretch>
            <a:fillRect/>
          </a:stretch>
        </p:blipFill>
        <p:spPr>
          <a:xfrm>
            <a:off x="4164381" y="1892300"/>
            <a:ext cx="737819" cy="812800"/>
          </a:xfrm>
          <a:prstGeom prst="rect">
            <a:avLst/>
          </a:prstGeom>
          <a:ln w="12700">
            <a:miter lim="400000"/>
          </a:ln>
        </p:spPr>
      </p:pic>
      <p:sp>
        <p:nvSpPr>
          <p:cNvPr id="30" name="线条"/>
          <p:cNvSpPr/>
          <p:nvPr/>
        </p:nvSpPr>
        <p:spPr>
          <a:xfrm>
            <a:off x="5778500" y="2349500"/>
            <a:ext cx="6515101" cy="1"/>
          </a:xfrm>
          <a:prstGeom prst="line">
            <a:avLst/>
          </a:prstGeom>
          <a:ln w="25400">
            <a:solidFill>
              <a:srgbClr val="000000"/>
            </a:solidFill>
            <a:miter lim="400000"/>
          </a:ln>
        </p:spPr>
        <p:txBody>
          <a:bodyPr lIns="50800" tIns="50800" rIns="50800" bIns="50800" anchor="ctr"/>
          <a:lstStyle/>
          <a:p>
            <a:pPr algn="l" defTabSz="457200">
              <a:lnSpc>
                <a:spcPct val="100000"/>
              </a:lnSpc>
              <a:buClrTx/>
              <a:buFontTx/>
              <a:tabLst/>
              <a:defRPr sz="1200">
                <a:solidFill>
                  <a:srgbClr val="000000"/>
                </a:solidFill>
              </a:defRPr>
            </a:pPr>
            <a:endParaRPr/>
          </a:p>
        </p:txBody>
      </p:sp>
      <p:sp>
        <p:nvSpPr>
          <p:cNvPr id="31" name="标题文本"/>
          <p:cNvSpPr txBox="1">
            <a:spLocks noGrp="1"/>
          </p:cNvSpPr>
          <p:nvPr>
            <p:ph type="title"/>
          </p:nvPr>
        </p:nvSpPr>
        <p:spPr>
          <a:xfrm>
            <a:off x="5778500" y="1638300"/>
            <a:ext cx="6908800" cy="698500"/>
          </a:xfrm>
          <a:prstGeom prst="rect">
            <a:avLst/>
          </a:prstGeom>
        </p:spPr>
        <p:txBody>
          <a:bodyPr lIns="50800" tIns="50800" rIns="50800" bIns="50800" anchor="t"/>
          <a:lstStyle>
            <a:lvl1pPr>
              <a:lnSpc>
                <a:spcPts val="4300"/>
              </a:lnSpc>
              <a:defRPr sz="3600" b="1" cap="small" spc="144">
                <a:latin typeface="Helvetica"/>
                <a:ea typeface="Helvetica"/>
                <a:cs typeface="Helvetica"/>
                <a:sym typeface="Helvetica"/>
              </a:defRPr>
            </a:lvl1pPr>
          </a:lstStyle>
          <a:p>
            <a:r>
              <a:t>标题文本</a:t>
            </a:r>
          </a:p>
        </p:txBody>
      </p:sp>
      <p:sp>
        <p:nvSpPr>
          <p:cNvPr id="32" name="正文级别 1…"/>
          <p:cNvSpPr txBox="1">
            <a:spLocks noGrp="1"/>
          </p:cNvSpPr>
          <p:nvPr>
            <p:ph type="body" sz="half" idx="1"/>
          </p:nvPr>
        </p:nvSpPr>
        <p:spPr>
          <a:xfrm>
            <a:off x="5778500" y="2540000"/>
            <a:ext cx="6921500" cy="5715000"/>
          </a:xfrm>
          <a:prstGeom prst="rect">
            <a:avLst/>
          </a:prstGeom>
        </p:spPr>
        <p:txBody>
          <a:bodyPr lIns="50800" tIns="50800" rIns="50800" bIns="50800"/>
          <a:lstStyle>
            <a:lvl1pPr marL="317500" indent="-317500">
              <a:lnSpc>
                <a:spcPts val="5000"/>
              </a:lnSpc>
              <a:buSzPct val="100000"/>
              <a:buFont typeface="Lucida Grande"/>
              <a:buChar char="‣"/>
              <a:defRPr sz="3000" i="1">
                <a:solidFill>
                  <a:srgbClr val="000000"/>
                </a:solidFill>
                <a:latin typeface="Helvetica"/>
                <a:ea typeface="Helvetica"/>
                <a:cs typeface="Helvetica"/>
                <a:sym typeface="Helvetica"/>
              </a:defRPr>
            </a:lvl1pPr>
            <a:lvl2pPr marL="317500" indent="-317500">
              <a:lnSpc>
                <a:spcPts val="5000"/>
              </a:lnSpc>
              <a:buSzPct val="100000"/>
              <a:buFont typeface="Lucida Grande"/>
              <a:buChar char="‣"/>
              <a:defRPr sz="3000" i="1">
                <a:solidFill>
                  <a:srgbClr val="D5D5D5"/>
                </a:solidFill>
                <a:latin typeface="Helvetica"/>
                <a:ea typeface="Helvetica"/>
                <a:cs typeface="Helvetica"/>
                <a:sym typeface="Helvetica"/>
              </a:defRPr>
            </a:lvl2pPr>
            <a:lvl3pPr marL="317500">
              <a:lnSpc>
                <a:spcPts val="5000"/>
              </a:lnSpc>
              <a:buFont typeface="Lucida Grande"/>
              <a:buChar char="‣"/>
              <a:defRPr sz="3000" i="1">
                <a:latin typeface="Helvetica"/>
                <a:ea typeface="Helvetica"/>
                <a:cs typeface="Helvetica"/>
                <a:sym typeface="Helvetica"/>
              </a:defRPr>
            </a:lvl3pPr>
            <a:lvl4pPr marL="317500" indent="-317500">
              <a:lnSpc>
                <a:spcPts val="5000"/>
              </a:lnSpc>
              <a:buSzPct val="100000"/>
              <a:buFont typeface="Lucida Grande"/>
              <a:buChar char="‣"/>
              <a:defRPr sz="3000" i="1">
                <a:solidFill>
                  <a:srgbClr val="D5D5D5"/>
                </a:solidFill>
                <a:latin typeface="Helvetica"/>
                <a:ea typeface="Helvetica"/>
                <a:cs typeface="Helvetica"/>
                <a:sym typeface="Helvetica"/>
              </a:defRPr>
            </a:lvl4pPr>
            <a:lvl5pPr marL="317500" indent="-317500">
              <a:lnSpc>
                <a:spcPts val="5000"/>
              </a:lnSpc>
              <a:buSzPct val="100000"/>
              <a:buFont typeface="Lucida Grande"/>
              <a:buChar char="‣"/>
              <a:defRPr sz="3000" i="1">
                <a:latin typeface="Helvetica"/>
                <a:ea typeface="Helvetica"/>
                <a:cs typeface="Helvetica"/>
                <a:sym typeface="Helvetica"/>
              </a:defRPr>
            </a:lvl5pPr>
          </a:lstStyle>
          <a:p>
            <a:r>
              <a:t>正文级别 1</a:t>
            </a:r>
          </a:p>
          <a:p>
            <a:pPr lvl="1"/>
            <a:r>
              <a:t>正文级别 2</a:t>
            </a:r>
          </a:p>
          <a:p>
            <a:pPr lvl="2"/>
            <a:r>
              <a:t>正文级别 3</a:t>
            </a:r>
          </a:p>
          <a:p>
            <a:pPr lvl="3"/>
            <a:r>
              <a:t>正文级别 4</a:t>
            </a:r>
          </a:p>
          <a:p>
            <a:pPr lvl="4"/>
            <a:r>
              <a:t>正文级别 5</a:t>
            </a:r>
          </a:p>
        </p:txBody>
      </p:sp>
      <p:sp>
        <p:nvSpPr>
          <p:cNvPr id="33" name="Section 6.x"/>
          <p:cNvSpPr txBox="1">
            <a:spLocks noGrp="1"/>
          </p:cNvSpPr>
          <p:nvPr>
            <p:ph type="body" sz="quarter" idx="13"/>
          </p:nvPr>
        </p:nvSpPr>
        <p:spPr>
          <a:xfrm>
            <a:off x="655989" y="6890672"/>
            <a:ext cx="4445289" cy="368301"/>
          </a:xfrm>
          <a:prstGeom prst="rect">
            <a:avLst/>
          </a:prstGeom>
        </p:spPr>
        <p:txBody>
          <a:bodyPr lIns="50800" tIns="50800" rIns="50800" bIns="50800" anchor="ctr">
            <a:spAutoFit/>
          </a:bodyPr>
          <a:lstStyle>
            <a:lvl1pPr algn="ctr" defTabSz="1449492">
              <a:lnSpc>
                <a:spcPct val="130000"/>
              </a:lnSpc>
              <a:buClr>
                <a:srgbClr val="000000"/>
              </a:buClr>
              <a:buFont typeface="Lucida Sans"/>
              <a:tabLst>
                <a:tab pos="1066800" algn="l"/>
              </a:tabLst>
              <a:defRPr sz="1800" b="1" cap="small">
                <a:solidFill>
                  <a:srgbClr val="606060"/>
                </a:solidFill>
                <a:latin typeface="Lucida Grande"/>
                <a:ea typeface="Lucida Grande"/>
                <a:cs typeface="Lucida Grande"/>
                <a:sym typeface="Lucida Grande"/>
              </a:defRPr>
            </a:lvl1pPr>
          </a:lstStyle>
          <a:p>
            <a:r>
              <a:t>Section 6.x</a:t>
            </a:r>
          </a:p>
        </p:txBody>
      </p:sp>
      <p:sp>
        <p:nvSpPr>
          <p:cNvPr id="34" name="幻灯片编号"/>
          <p:cNvSpPr txBox="1">
            <a:spLocks noGrp="1"/>
          </p:cNvSpPr>
          <p:nvPr>
            <p:ph type="sldNum" sz="quarter" idx="2"/>
          </p:nvPr>
        </p:nvSpPr>
        <p:spPr>
          <a:xfrm>
            <a:off x="6330813" y="9271000"/>
            <a:ext cx="343174" cy="355600"/>
          </a:xfrm>
          <a:prstGeom prst="rect">
            <a:avLst/>
          </a:prstGeom>
        </p:spPr>
        <p:txBody>
          <a:bodyPr/>
          <a:lstStyle>
            <a:lvl1pPr>
              <a:lnSpc>
                <a:spcPts val="2100"/>
              </a:lnSpc>
              <a:defRPr sz="1800"/>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ody">
    <p:spTree>
      <p:nvGrpSpPr>
        <p:cNvPr id="1" name=""/>
        <p:cNvGrpSpPr/>
        <p:nvPr/>
      </p:nvGrpSpPr>
      <p:grpSpPr>
        <a:xfrm>
          <a:off x="0" y="0"/>
          <a:ext cx="0" cy="0"/>
          <a:chOff x="0" y="0"/>
          <a:chExt cx="0" cy="0"/>
        </a:xfrm>
      </p:grpSpPr>
      <p:sp>
        <p:nvSpPr>
          <p:cNvPr id="41" name="标题文本"/>
          <p:cNvSpPr txBox="1">
            <a:spLocks noGrp="1"/>
          </p:cNvSpPr>
          <p:nvPr>
            <p:ph type="title"/>
          </p:nvPr>
        </p:nvSpPr>
        <p:spPr>
          <a:prstGeom prst="rect">
            <a:avLst/>
          </a:prstGeom>
        </p:spPr>
        <p:txBody>
          <a:bodyPr/>
          <a:lstStyle/>
          <a:p>
            <a:r>
              <a:t>标题文本</a:t>
            </a:r>
          </a:p>
        </p:txBody>
      </p:sp>
      <p:sp>
        <p:nvSpPr>
          <p:cNvPr id="42" name="正文级别 1…"/>
          <p:cNvSpPr txBox="1">
            <a:spLocks noGrp="1"/>
          </p:cNvSpPr>
          <p:nvPr>
            <p:ph type="body" idx="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43"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50" name="幻灯片编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Quiz">
    <p:bg>
      <p:bgPr>
        <a:solidFill>
          <a:srgbClr val="FBE8E5"/>
        </a:solidFill>
        <a:effectLst/>
      </p:bgPr>
    </p:bg>
    <p:spTree>
      <p:nvGrpSpPr>
        <p:cNvPr id="1" name=""/>
        <p:cNvGrpSpPr/>
        <p:nvPr/>
      </p:nvGrpSpPr>
      <p:grpSpPr>
        <a:xfrm>
          <a:off x="0" y="0"/>
          <a:ext cx="0" cy="0"/>
          <a:chOff x="0" y="0"/>
          <a:chExt cx="0" cy="0"/>
        </a:xfrm>
      </p:grpSpPr>
      <p:sp>
        <p:nvSpPr>
          <p:cNvPr id="57" name="线条"/>
          <p:cNvSpPr/>
          <p:nvPr/>
        </p:nvSpPr>
        <p:spPr>
          <a:xfrm flipV="1">
            <a:off x="825500" y="990492"/>
            <a:ext cx="11366500" cy="108"/>
          </a:xfrm>
          <a:prstGeom prst="line">
            <a:avLst/>
          </a:prstGeom>
          <a:ln w="12700">
            <a:solidFill>
              <a:srgbClr val="000000"/>
            </a:solidFill>
          </a:ln>
        </p:spPr>
        <p:txBody>
          <a:bodyPr lIns="0" tIns="0" rIns="0" bIns="0"/>
          <a:lstStyle/>
          <a:p>
            <a:pPr algn="l" defTabSz="457200">
              <a:lnSpc>
                <a:spcPct val="100000"/>
              </a:lnSpc>
              <a:buClrTx/>
              <a:buFontTx/>
              <a:tabLst/>
              <a:defRPr sz="1200">
                <a:solidFill>
                  <a:srgbClr val="000000"/>
                </a:solidFill>
              </a:defRPr>
            </a:pPr>
            <a:endParaRPr/>
          </a:p>
        </p:txBody>
      </p:sp>
      <p:sp>
        <p:nvSpPr>
          <p:cNvPr id="58" name="标题文本"/>
          <p:cNvSpPr txBox="1">
            <a:spLocks noGrp="1"/>
          </p:cNvSpPr>
          <p:nvPr>
            <p:ph type="title"/>
          </p:nvPr>
        </p:nvSpPr>
        <p:spPr>
          <a:prstGeom prst="rect">
            <a:avLst/>
          </a:prstGeom>
        </p:spPr>
        <p:txBody>
          <a:bodyPr/>
          <a:lstStyle>
            <a:lvl1pPr marL="58702" marR="58702" defTabSz="1295400">
              <a:lnSpc>
                <a:spcPct val="100000"/>
              </a:lnSpc>
              <a:tabLst/>
              <a:defRPr>
                <a:uFill>
                  <a:solidFill>
                    <a:srgbClr val="000000"/>
                  </a:solidFill>
                </a:uFill>
              </a:defRPr>
            </a:lvl1pPr>
          </a:lstStyle>
          <a:p>
            <a:r>
              <a:t>标题文本</a:t>
            </a:r>
          </a:p>
        </p:txBody>
      </p:sp>
      <p:sp>
        <p:nvSpPr>
          <p:cNvPr id="59" name="正文级别 1…"/>
          <p:cNvSpPr txBox="1">
            <a:spLocks noGrp="1"/>
          </p:cNvSpPr>
          <p:nvPr>
            <p:ph type="body" idx="1"/>
          </p:nvPr>
        </p:nvSpPr>
        <p:spPr>
          <a:xfrm>
            <a:off x="812800" y="1270000"/>
            <a:ext cx="11379200" cy="8128000"/>
          </a:xfrm>
          <a:prstGeom prst="rect">
            <a:avLst/>
          </a:prstGeom>
        </p:spPr>
        <p:txBody>
          <a:bodyPr/>
          <a:lstStyle>
            <a:lvl1pPr marL="58702" marR="58702" defTabSz="1295400">
              <a:lnSpc>
                <a:spcPts val="3900"/>
              </a:lnSpc>
              <a:tabLst/>
              <a:defRPr>
                <a:solidFill>
                  <a:srgbClr val="000000"/>
                </a:solidFill>
                <a:uFill>
                  <a:solidFill>
                    <a:srgbClr val="000000"/>
                  </a:solidFill>
                </a:uFill>
              </a:defRPr>
            </a:lvl1pPr>
            <a:lvl2pPr marL="1066800" marR="58702" indent="-647700" defTabSz="1295400">
              <a:lnSpc>
                <a:spcPts val="3900"/>
              </a:lnSpc>
              <a:spcBef>
                <a:spcPts val="1300"/>
              </a:spcBef>
              <a:buSzPct val="100000"/>
              <a:buFontTx/>
              <a:buAutoNum type="alphaUcPeriod"/>
              <a:tabLst/>
              <a:defRPr b="1">
                <a:solidFill>
                  <a:srgbClr val="005493"/>
                </a:solidFill>
                <a:uFill>
                  <a:solidFill>
                    <a:srgbClr val="005493"/>
                  </a:solidFill>
                </a:uFill>
                <a:latin typeface="Lucida Grande"/>
                <a:ea typeface="Lucida Grande"/>
                <a:cs typeface="Lucida Grande"/>
                <a:sym typeface="Lucida Grande"/>
              </a:defRPr>
            </a:lvl2pPr>
            <a:lvl3pPr marL="1003300" marR="58702" indent="-368300" defTabSz="1295400">
              <a:lnSpc>
                <a:spcPts val="3900"/>
              </a:lnSpc>
              <a:buFontTx/>
              <a:buChar char="–"/>
              <a:tabLst/>
              <a:defRPr>
                <a:uFill>
                  <a:solidFill>
                    <a:srgbClr val="000000"/>
                  </a:solidFill>
                </a:uFill>
              </a:defRPr>
            </a:lvl3pPr>
            <a:lvl4pPr marL="1003300" marR="58702" indent="-368300" defTabSz="1295400">
              <a:lnSpc>
                <a:spcPts val="3900"/>
              </a:lnSpc>
              <a:buSzPct val="100000"/>
              <a:buChar char="–"/>
              <a:tabLst/>
              <a:defRPr>
                <a:uFill>
                  <a:solidFill>
                    <a:srgbClr val="000000"/>
                  </a:solidFill>
                </a:uFill>
              </a:defRPr>
            </a:lvl4pPr>
            <a:lvl5pPr marL="1003300" marR="58702" indent="-368300" defTabSz="1295400">
              <a:lnSpc>
                <a:spcPts val="3900"/>
              </a:lnSpc>
              <a:buSzPct val="100000"/>
              <a:buChar char="–"/>
              <a:tabLst/>
              <a:defRPr>
                <a:uFill>
                  <a:solidFill>
                    <a:srgbClr val="000000"/>
                  </a:solidFill>
                </a:uFill>
              </a:defRPr>
            </a:lvl5pPr>
          </a:lstStyle>
          <a:p>
            <a:r>
              <a:t>正文级别 1</a:t>
            </a:r>
          </a:p>
          <a:p>
            <a:pPr lvl="1"/>
            <a:r>
              <a:t>正文级别 2</a:t>
            </a:r>
          </a:p>
          <a:p>
            <a:pPr lvl="2"/>
            <a:r>
              <a:t>正文级别 3</a:t>
            </a:r>
          </a:p>
          <a:p>
            <a:pPr lvl="3"/>
            <a:r>
              <a:t>正文级别 4</a:t>
            </a:r>
          </a:p>
          <a:p>
            <a:pPr lvl="4"/>
            <a:r>
              <a:t>正文级别 5</a:t>
            </a:r>
          </a:p>
        </p:txBody>
      </p:sp>
      <p:sp>
        <p:nvSpPr>
          <p:cNvPr id="60" name="幻灯片编号"/>
          <p:cNvSpPr txBox="1">
            <a:spLocks noGrp="1"/>
          </p:cNvSpPr>
          <p:nvPr>
            <p:ph type="sldNum" sz="quarter" idx="2"/>
          </p:nvPr>
        </p:nvSpPr>
        <p:spPr>
          <a:xfrm>
            <a:off x="12629889" y="9382590"/>
            <a:ext cx="283816" cy="279401"/>
          </a:xfrm>
          <a:prstGeom prst="rect">
            <a:avLst/>
          </a:prstGeom>
        </p:spPr>
        <p:txBody>
          <a:bodyPr lIns="50800" tIns="50800" rIns="50800" bIns="50800" anchor="ctr"/>
          <a:lstStyle>
            <a:lvl1pPr defTabSz="647700">
              <a:lnSpc>
                <a:spcPct val="100000"/>
              </a:lnSpc>
              <a:tabLst/>
              <a:defRPr>
                <a:uFill>
                  <a:solidFill>
                    <a:srgbClr val="000000"/>
                  </a:solidFill>
                </a:uFill>
              </a:defRPr>
            </a:lvl1pPr>
          </a:lstStyle>
          <a:p>
            <a:fld id="{86CB4B4D-7CA3-9044-876B-883B54F8677D}" type="slidenum">
              <a:t>‹#›</a:t>
            </a:fld>
            <a:endParaRPr/>
          </a:p>
        </p:txBody>
      </p:sp>
      <p:pic>
        <p:nvPicPr>
          <p:cNvPr id="61" name="ic-logo.pdf" descr="ic-logo.pdf"/>
          <p:cNvPicPr>
            <a:picLocks noChangeAspect="1"/>
          </p:cNvPicPr>
          <p:nvPr/>
        </p:nvPicPr>
        <p:blipFill>
          <a:blip r:embed="rId2"/>
          <a:srcRect r="80913"/>
          <a:stretch>
            <a:fillRect/>
          </a:stretch>
        </p:blipFill>
        <p:spPr>
          <a:xfrm>
            <a:off x="11663162" y="232965"/>
            <a:ext cx="570723" cy="579704"/>
          </a:xfrm>
          <a:prstGeom prst="rect">
            <a:avLst/>
          </a:prstGeom>
          <a:ln w="12700"/>
        </p:spPr>
      </p:pic>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Interview">
    <p:bg>
      <p:bgPr>
        <a:solidFill>
          <a:srgbClr val="CCDAEE"/>
        </a:solidFill>
        <a:effectLst/>
      </p:bgPr>
    </p:bg>
    <p:spTree>
      <p:nvGrpSpPr>
        <p:cNvPr id="1" name=""/>
        <p:cNvGrpSpPr/>
        <p:nvPr/>
      </p:nvGrpSpPr>
      <p:grpSpPr>
        <a:xfrm>
          <a:off x="0" y="0"/>
          <a:ext cx="0" cy="0"/>
          <a:chOff x="0" y="0"/>
          <a:chExt cx="0" cy="0"/>
        </a:xfrm>
      </p:grpSpPr>
      <p:sp>
        <p:nvSpPr>
          <p:cNvPr id="68" name="线条"/>
          <p:cNvSpPr/>
          <p:nvPr/>
        </p:nvSpPr>
        <p:spPr>
          <a:xfrm flipV="1">
            <a:off x="825500" y="990492"/>
            <a:ext cx="11366500" cy="108"/>
          </a:xfrm>
          <a:prstGeom prst="line">
            <a:avLst/>
          </a:prstGeom>
          <a:ln w="12700">
            <a:solidFill>
              <a:srgbClr val="000000"/>
            </a:solidFill>
          </a:ln>
        </p:spPr>
        <p:txBody>
          <a:bodyPr lIns="0" tIns="0" rIns="0" bIns="0"/>
          <a:lstStyle/>
          <a:p>
            <a:pPr algn="l" defTabSz="457200">
              <a:lnSpc>
                <a:spcPct val="100000"/>
              </a:lnSpc>
              <a:buClrTx/>
              <a:buFontTx/>
              <a:tabLst/>
              <a:defRPr sz="1200">
                <a:solidFill>
                  <a:srgbClr val="000000"/>
                </a:solidFill>
              </a:defRPr>
            </a:pPr>
            <a:endParaRPr/>
          </a:p>
        </p:txBody>
      </p:sp>
      <p:sp>
        <p:nvSpPr>
          <p:cNvPr id="69" name="标题文本"/>
          <p:cNvSpPr txBox="1">
            <a:spLocks noGrp="1"/>
          </p:cNvSpPr>
          <p:nvPr>
            <p:ph type="title"/>
          </p:nvPr>
        </p:nvSpPr>
        <p:spPr>
          <a:xfrm>
            <a:off x="0" y="0"/>
            <a:ext cx="13004800" cy="1270000"/>
          </a:xfrm>
          <a:prstGeom prst="rect">
            <a:avLst/>
          </a:prstGeom>
          <a:solidFill>
            <a:srgbClr val="000000"/>
          </a:solidFill>
        </p:spPr>
        <p:txBody>
          <a:bodyPr anchor="ctr"/>
          <a:lstStyle>
            <a:lvl1pPr marL="63500" marR="58702" indent="800100" defTabSz="1295400">
              <a:lnSpc>
                <a:spcPct val="100000"/>
              </a:lnSpc>
              <a:tabLst/>
              <a:defRPr sz="4000" b="1" cap="small">
                <a:solidFill>
                  <a:srgbClr val="FFFFFF"/>
                </a:solidFill>
                <a:uFill>
                  <a:solidFill>
                    <a:srgbClr val="FFFFFF"/>
                  </a:solidFill>
                </a:uFill>
                <a:latin typeface="Helvetica"/>
                <a:ea typeface="Helvetica"/>
                <a:cs typeface="Helvetica"/>
                <a:sym typeface="Helvetica"/>
              </a:defRPr>
            </a:lvl1pPr>
          </a:lstStyle>
          <a:p>
            <a:r>
              <a:t>标题文本</a:t>
            </a:r>
          </a:p>
        </p:txBody>
      </p:sp>
      <p:sp>
        <p:nvSpPr>
          <p:cNvPr id="70" name="正文级别 1…"/>
          <p:cNvSpPr txBox="1">
            <a:spLocks noGrp="1"/>
          </p:cNvSpPr>
          <p:nvPr>
            <p:ph type="body" idx="1"/>
          </p:nvPr>
        </p:nvSpPr>
        <p:spPr>
          <a:xfrm>
            <a:off x="812800" y="1828800"/>
            <a:ext cx="11379200" cy="7569200"/>
          </a:xfrm>
          <a:prstGeom prst="rect">
            <a:avLst/>
          </a:prstGeom>
        </p:spPr>
        <p:txBody>
          <a:bodyPr/>
          <a:lstStyle>
            <a:lvl1pPr marL="58702" marR="58702" defTabSz="1295400">
              <a:lnSpc>
                <a:spcPts val="3900"/>
              </a:lnSpc>
              <a:buClr>
                <a:srgbClr val="0048AA"/>
              </a:buClr>
              <a:buFont typeface="Lucida Sans"/>
              <a:tabLst/>
              <a:defRPr>
                <a:solidFill>
                  <a:srgbClr val="005493"/>
                </a:solidFill>
                <a:uFill>
                  <a:solidFill>
                    <a:srgbClr val="0048AA"/>
                  </a:solidFill>
                </a:uFill>
              </a:defRPr>
            </a:lvl1pPr>
            <a:lvl2pPr marL="635000" marR="58702" indent="-508000" defTabSz="1295400">
              <a:lnSpc>
                <a:spcPts val="3900"/>
              </a:lnSpc>
              <a:buSzPct val="166666"/>
              <a:tabLst/>
              <a:defRPr>
                <a:uFill>
                  <a:solidFill>
                    <a:srgbClr val="000000"/>
                  </a:solidFill>
                </a:uFill>
              </a:defRPr>
            </a:lvl2pPr>
            <a:lvl3pPr marL="1003300" marR="58702" indent="-368300" defTabSz="1295400">
              <a:lnSpc>
                <a:spcPts val="3900"/>
              </a:lnSpc>
              <a:buFontTx/>
              <a:buChar char="–"/>
              <a:tabLst/>
              <a:defRPr>
                <a:uFill>
                  <a:solidFill>
                    <a:srgbClr val="000000"/>
                  </a:solidFill>
                </a:uFill>
              </a:defRPr>
            </a:lvl3pPr>
            <a:lvl4pPr marL="1003300" marR="58702" indent="-368300" defTabSz="1295400">
              <a:lnSpc>
                <a:spcPts val="3900"/>
              </a:lnSpc>
              <a:buSzPct val="100000"/>
              <a:buChar char="–"/>
              <a:tabLst/>
              <a:defRPr>
                <a:uFill>
                  <a:solidFill>
                    <a:srgbClr val="000000"/>
                  </a:solidFill>
                </a:uFill>
              </a:defRPr>
            </a:lvl4pPr>
            <a:lvl5pPr marL="1003300" marR="58702" indent="-368300" defTabSz="1295400">
              <a:lnSpc>
                <a:spcPts val="3900"/>
              </a:lnSpc>
              <a:buSzPct val="100000"/>
              <a:buChar char="–"/>
              <a:tabLst/>
              <a:defRPr>
                <a:uFill>
                  <a:solidFill>
                    <a:srgbClr val="000000"/>
                  </a:solidFill>
                </a:uFill>
              </a:defRPr>
            </a:lvl5pPr>
          </a:lstStyle>
          <a:p>
            <a:r>
              <a:t>正文级别 1</a:t>
            </a:r>
          </a:p>
          <a:p>
            <a:pPr lvl="1"/>
            <a:r>
              <a:t>正文级别 2</a:t>
            </a:r>
          </a:p>
          <a:p>
            <a:pPr lvl="2"/>
            <a:r>
              <a:t>正文级别 3</a:t>
            </a:r>
          </a:p>
          <a:p>
            <a:pPr lvl="3"/>
            <a:r>
              <a:t>正文级别 4</a:t>
            </a:r>
          </a:p>
          <a:p>
            <a:pPr lvl="4"/>
            <a:r>
              <a:t>正文级别 5</a:t>
            </a:r>
          </a:p>
        </p:txBody>
      </p:sp>
      <p:sp>
        <p:nvSpPr>
          <p:cNvPr id="71" name="幻灯片编号"/>
          <p:cNvSpPr txBox="1">
            <a:spLocks noGrp="1"/>
          </p:cNvSpPr>
          <p:nvPr>
            <p:ph type="sldNum" sz="quarter" idx="2"/>
          </p:nvPr>
        </p:nvSpPr>
        <p:spPr>
          <a:xfrm>
            <a:off x="12629889" y="9382590"/>
            <a:ext cx="283816" cy="279401"/>
          </a:xfrm>
          <a:prstGeom prst="rect">
            <a:avLst/>
          </a:prstGeom>
        </p:spPr>
        <p:txBody>
          <a:bodyPr lIns="50800" tIns="50800" rIns="50800" bIns="50800" anchor="ctr"/>
          <a:lstStyle>
            <a:lvl1pPr defTabSz="647700">
              <a:lnSpc>
                <a:spcPct val="100000"/>
              </a:lnSpc>
              <a:tabLst/>
              <a:defRPr>
                <a:uFill>
                  <a:solidFill>
                    <a:srgbClr val="000000"/>
                  </a:solidFill>
                </a:uFill>
              </a:defRPr>
            </a:lvl1pPr>
          </a:lstStyle>
          <a:p>
            <a:fld id="{86CB4B4D-7CA3-9044-876B-883B54F8677D}" type="slidenum">
              <a:t>‹#›</a:t>
            </a:fld>
            <a:endParaRPr/>
          </a:p>
        </p:txBody>
      </p:sp>
      <p:pic>
        <p:nvPicPr>
          <p:cNvPr id="72" name="interview-white.pdf" descr="interview-white.pdf"/>
          <p:cNvPicPr>
            <a:picLocks noChangeAspect="1"/>
          </p:cNvPicPr>
          <p:nvPr/>
        </p:nvPicPr>
        <p:blipFill>
          <a:blip r:embed="rId2"/>
          <a:stretch>
            <a:fillRect/>
          </a:stretch>
        </p:blipFill>
        <p:spPr>
          <a:xfrm>
            <a:off x="11493500" y="382872"/>
            <a:ext cx="687389" cy="468505"/>
          </a:xfrm>
          <a:prstGeom prst="rect">
            <a:avLst/>
          </a:prstGeom>
          <a:ln w="12700">
            <a:miter lim="400000"/>
          </a:ln>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982"/>
            </a:lvl1pPr>
          </a:lstStyle>
          <a:p>
            <a:r>
              <a:rPr lang="en-US" dirty="0"/>
              <a:t>Click to edit Master title style</a:t>
            </a:r>
            <a:endParaRPr lang="en-CA" dirty="0"/>
          </a:p>
        </p:txBody>
      </p:sp>
      <p:sp>
        <p:nvSpPr>
          <p:cNvPr id="3" name="Content Placeholder 2"/>
          <p:cNvSpPr>
            <a:spLocks noGrp="1"/>
          </p:cNvSpPr>
          <p:nvPr>
            <p:ph idx="1"/>
          </p:nvPr>
        </p:nvSpPr>
        <p:spPr/>
        <p:txBody>
          <a:bodyPr>
            <a:normAutofit/>
          </a:bodyPr>
          <a:lstStyle>
            <a:lvl1pPr>
              <a:defRPr sz="2844"/>
            </a:lvl1pPr>
            <a:lvl2pPr>
              <a:defRPr sz="2560"/>
            </a:lvl2pPr>
            <a:lvl3pPr>
              <a:defRPr sz="2276"/>
            </a:lvl3pPr>
            <a:lvl4pPr>
              <a:defRPr sz="1991"/>
            </a:lvl4pPr>
            <a:lvl5pPr>
              <a:defRPr sz="1991"/>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extLst>
      <p:ext uri="{BB962C8B-B14F-4D97-AF65-F5344CB8AC3E}">
        <p14:creationId xmlns:p14="http://schemas.microsoft.com/office/powerpoint/2010/main" val="13968280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6F9"/>
        </a:solidFill>
        <a:effectLst/>
      </p:bgPr>
    </p:bg>
    <p:spTree>
      <p:nvGrpSpPr>
        <p:cNvPr id="1" name=""/>
        <p:cNvGrpSpPr/>
        <p:nvPr/>
      </p:nvGrpSpPr>
      <p:grpSpPr>
        <a:xfrm>
          <a:off x="0" y="0"/>
          <a:ext cx="0" cy="0"/>
          <a:chOff x="0" y="0"/>
          <a:chExt cx="0" cy="0"/>
        </a:xfrm>
      </p:grpSpPr>
      <p:sp>
        <p:nvSpPr>
          <p:cNvPr id="2"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3" name="标题文本"/>
          <p:cNvSpPr txBox="1">
            <a:spLocks noGrp="1"/>
          </p:cNvSpPr>
          <p:nvPr>
            <p:ph type="title"/>
          </p:nvPr>
        </p:nvSpPr>
        <p:spPr>
          <a:xfrm>
            <a:off x="812800" y="0"/>
            <a:ext cx="11379200" cy="812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lstStyle/>
          <a:p>
            <a:r>
              <a:t>标题文本</a:t>
            </a:r>
          </a:p>
        </p:txBody>
      </p:sp>
      <p:sp>
        <p:nvSpPr>
          <p:cNvPr id="4" name="正文级别 1…"/>
          <p:cNvSpPr txBox="1">
            <a:spLocks noGrp="1"/>
          </p:cNvSpPr>
          <p:nvPr>
            <p:ph type="body" idx="1"/>
          </p:nvPr>
        </p:nvSpPr>
        <p:spPr>
          <a:xfrm>
            <a:off x="812800" y="1270000"/>
            <a:ext cx="11379200" cy="8178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2pPr>
              <a:buFont typeface="Lucida Sans"/>
              <a:buChar char="・"/>
              <a:defRPr>
                <a:solidFill>
                  <a:srgbClr val="000000"/>
                </a:solidFill>
              </a:defRPr>
            </a:lvl2pPr>
            <a:lvl3pPr>
              <a:buFont typeface="Lucida Sans"/>
              <a:buChar char="-"/>
              <a:defRPr>
                <a:solidFill>
                  <a:srgbClr val="000000"/>
                </a:solidFill>
              </a:defRPr>
            </a:lvl3pPr>
            <a:lvl4pPr>
              <a:defRPr>
                <a:solidFill>
                  <a:srgbClr val="000000"/>
                </a:solidFill>
              </a:defRPr>
            </a:lvl4pPr>
            <a:lvl5pPr>
              <a:defRPr>
                <a:solidFill>
                  <a:srgbClr val="000000"/>
                </a:solidFill>
              </a:defRPr>
            </a:lvl5pPr>
          </a:lstStyle>
          <a:p>
            <a:r>
              <a:t>正文级别 1</a:t>
            </a:r>
          </a:p>
          <a:p>
            <a:pPr lvl="1"/>
            <a:r>
              <a:t>正文级别 2</a:t>
            </a:r>
          </a:p>
          <a:p>
            <a:pPr lvl="2"/>
            <a:r>
              <a:t>正文级别 3</a:t>
            </a:r>
          </a:p>
          <a:p>
            <a:pPr lvl="3"/>
            <a:r>
              <a:t>正文级别 4</a:t>
            </a:r>
          </a:p>
          <a:p>
            <a:pPr lvl="4"/>
            <a:r>
              <a:t>正文级别 5</a:t>
            </a:r>
          </a:p>
        </p:txBody>
      </p:sp>
      <p:sp>
        <p:nvSpPr>
          <p:cNvPr id="5" name="幻灯片编号"/>
          <p:cNvSpPr txBox="1">
            <a:spLocks noGrp="1"/>
          </p:cNvSpPr>
          <p:nvPr>
            <p:ph type="sldNum" sz="quarter" idx="2"/>
          </p:nvPr>
        </p:nvSpPr>
        <p:spPr>
          <a:xfrm>
            <a:off x="12367592" y="9347200"/>
            <a:ext cx="258416" cy="254000"/>
          </a:xfrm>
          <a:prstGeom prst="rect">
            <a:avLst/>
          </a:prstGeom>
          <a:ln w="12700">
            <a:miter lim="400000"/>
          </a:ln>
        </p:spPr>
        <p:txBody>
          <a:bodyPr wrap="none" lIns="38100" tIns="38100" rIns="38100" bIns="38100">
            <a:spAutoFit/>
          </a:bodyPr>
          <a:lstStyle>
            <a:lvl1pPr defTabSz="457200">
              <a:lnSpc>
                <a:spcPts val="1400"/>
              </a:lnSpc>
              <a:buClrTx/>
              <a:buFontTx/>
              <a:defRPr sz="1200">
                <a:solidFill>
                  <a:srgbClr val="000000"/>
                </a:solidFill>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Lst>
  <p:transition spd="med"/>
  <p:txStyles>
    <p:titleStyle>
      <a:lvl1pPr marL="0" marR="0" indent="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1pPr>
      <a:lvl2pPr marL="0" marR="0" indent="2286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2pPr>
      <a:lvl3pPr marL="0" marR="0" indent="4572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3pPr>
      <a:lvl4pPr marL="0" marR="0" indent="6858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4pPr>
      <a:lvl5pPr marL="0" marR="0" indent="9144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5pPr>
      <a:lvl6pPr marL="0" marR="0" indent="11430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6pPr>
      <a:lvl7pPr marL="0" marR="0" indent="13716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7pPr>
      <a:lvl8pPr marL="0" marR="0" indent="16002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8pPr>
      <a:lvl9pPr marL="0" marR="0" indent="18288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9pPr>
    </p:titleStyle>
    <p:bodyStyle>
      <a:lvl1pPr marL="0" marR="0" indent="0" algn="l" defTabSz="457200" rtl="0" latinLnBrk="0">
        <a:lnSpc>
          <a:spcPts val="3800"/>
        </a:lnSpc>
        <a:spcBef>
          <a:spcPts val="0"/>
        </a:spcBef>
        <a:spcAft>
          <a:spcPts val="0"/>
        </a:spcAft>
        <a:buClrTx/>
        <a:buSzTx/>
        <a:buFontTx/>
        <a:buNone/>
        <a:tabLst>
          <a:tab pos="1244600" algn="l"/>
        </a:tabLst>
        <a:defRPr sz="2400" b="0" i="0" u="none" strike="noStrike" cap="none" spc="0" baseline="0">
          <a:solidFill>
            <a:srgbClr val="0048AA"/>
          </a:solidFill>
          <a:uFillTx/>
          <a:latin typeface="+mn-lt"/>
          <a:ea typeface="+mn-ea"/>
          <a:cs typeface="+mn-cs"/>
          <a:sym typeface="Lucida Sans"/>
        </a:defRPr>
      </a:lvl1pPr>
      <a:lvl2pPr marL="584200" marR="0" indent="-457200" algn="l" defTabSz="457200" rtl="0" latinLnBrk="0">
        <a:lnSpc>
          <a:spcPts val="3800"/>
        </a:lnSpc>
        <a:spcBef>
          <a:spcPts val="0"/>
        </a:spcBef>
        <a:spcAft>
          <a:spcPts val="0"/>
        </a:spcAft>
        <a:buClrTx/>
        <a:buSzPct val="160000"/>
        <a:buFontTx/>
        <a:buChar char="•"/>
        <a:tabLst>
          <a:tab pos="1244600" algn="l"/>
        </a:tabLst>
        <a:defRPr sz="2400" b="0" i="0" u="none" strike="noStrike" cap="none" spc="0" baseline="0">
          <a:solidFill>
            <a:srgbClr val="0048AA"/>
          </a:solidFill>
          <a:uFillTx/>
          <a:latin typeface="+mn-lt"/>
          <a:ea typeface="+mn-ea"/>
          <a:cs typeface="+mn-cs"/>
          <a:sym typeface="Lucida Sans"/>
        </a:defRPr>
      </a:lvl2pPr>
      <a:lvl3pPr marL="914400" marR="0" indent="-317500" algn="l" defTabSz="457200" rtl="0" latinLnBrk="0">
        <a:lnSpc>
          <a:spcPts val="3800"/>
        </a:lnSpc>
        <a:spcBef>
          <a:spcPts val="0"/>
        </a:spcBef>
        <a:spcAft>
          <a:spcPts val="0"/>
        </a:spcAft>
        <a:buClrTx/>
        <a:buSzPct val="100000"/>
        <a:buFontTx/>
        <a:buChar char="•"/>
        <a:tabLst>
          <a:tab pos="1244600" algn="l"/>
        </a:tabLst>
        <a:defRPr sz="2400" b="0" i="0" u="none" strike="noStrike" cap="none" spc="0" baseline="0">
          <a:solidFill>
            <a:srgbClr val="0048AA"/>
          </a:solidFill>
          <a:uFillTx/>
          <a:latin typeface="+mn-lt"/>
          <a:ea typeface="+mn-ea"/>
          <a:cs typeface="+mn-cs"/>
          <a:sym typeface="Lucida Sans"/>
        </a:defRPr>
      </a:lvl3pPr>
      <a:lvl4pPr marL="0" marR="0" indent="0" algn="l" defTabSz="457200" rtl="0" latinLnBrk="0">
        <a:lnSpc>
          <a:spcPts val="3800"/>
        </a:lnSpc>
        <a:spcBef>
          <a:spcPts val="0"/>
        </a:spcBef>
        <a:spcAft>
          <a:spcPts val="0"/>
        </a:spcAft>
        <a:buClrTx/>
        <a:buSzTx/>
        <a:buFontTx/>
        <a:buNone/>
        <a:tabLst>
          <a:tab pos="1244600" algn="l"/>
        </a:tabLst>
        <a:defRPr sz="2400" b="0" i="0" u="none" strike="noStrike" cap="none" spc="0" baseline="0">
          <a:solidFill>
            <a:srgbClr val="0048AA"/>
          </a:solidFill>
          <a:uFillTx/>
          <a:latin typeface="+mn-lt"/>
          <a:ea typeface="+mn-ea"/>
          <a:cs typeface="+mn-cs"/>
          <a:sym typeface="Lucida Sans"/>
        </a:defRPr>
      </a:lvl4pPr>
      <a:lvl5pPr marL="0" marR="0" indent="0" algn="l" defTabSz="457200" rtl="0" latinLnBrk="0">
        <a:lnSpc>
          <a:spcPts val="3800"/>
        </a:lnSpc>
        <a:spcBef>
          <a:spcPts val="0"/>
        </a:spcBef>
        <a:spcAft>
          <a:spcPts val="0"/>
        </a:spcAft>
        <a:buClrTx/>
        <a:buSzTx/>
        <a:buFontTx/>
        <a:buNone/>
        <a:tabLst>
          <a:tab pos="1244600" algn="l"/>
        </a:tabLst>
        <a:defRPr sz="2400" b="0" i="0" u="none" strike="noStrike" cap="none" spc="0" baseline="0">
          <a:solidFill>
            <a:srgbClr val="0048AA"/>
          </a:solidFill>
          <a:uFillTx/>
          <a:latin typeface="+mn-lt"/>
          <a:ea typeface="+mn-ea"/>
          <a:cs typeface="+mn-cs"/>
          <a:sym typeface="Lucida Sans"/>
        </a:defRPr>
      </a:lvl5pPr>
      <a:lvl6pPr marL="0" marR="0" indent="355600" algn="l" defTabSz="457200" rtl="0" latinLnBrk="0">
        <a:lnSpc>
          <a:spcPts val="3800"/>
        </a:lnSpc>
        <a:spcBef>
          <a:spcPts val="0"/>
        </a:spcBef>
        <a:spcAft>
          <a:spcPts val="0"/>
        </a:spcAft>
        <a:buClrTx/>
        <a:buSzTx/>
        <a:buFontTx/>
        <a:buNone/>
        <a:tabLst>
          <a:tab pos="1244600" algn="l"/>
        </a:tabLst>
        <a:defRPr sz="2400" b="0" i="0" u="none" strike="noStrike" cap="none" spc="0" baseline="0">
          <a:solidFill>
            <a:srgbClr val="0048AA"/>
          </a:solidFill>
          <a:uFillTx/>
          <a:latin typeface="+mn-lt"/>
          <a:ea typeface="+mn-ea"/>
          <a:cs typeface="+mn-cs"/>
          <a:sym typeface="Lucida Sans"/>
        </a:defRPr>
      </a:lvl6pPr>
      <a:lvl7pPr marL="0" marR="0" indent="711200" algn="l" defTabSz="457200" rtl="0" latinLnBrk="0">
        <a:lnSpc>
          <a:spcPts val="3800"/>
        </a:lnSpc>
        <a:spcBef>
          <a:spcPts val="0"/>
        </a:spcBef>
        <a:spcAft>
          <a:spcPts val="0"/>
        </a:spcAft>
        <a:buClrTx/>
        <a:buSzTx/>
        <a:buFontTx/>
        <a:buNone/>
        <a:tabLst>
          <a:tab pos="1244600" algn="l"/>
        </a:tabLst>
        <a:defRPr sz="2400" b="0" i="0" u="none" strike="noStrike" cap="none" spc="0" baseline="0">
          <a:solidFill>
            <a:srgbClr val="0048AA"/>
          </a:solidFill>
          <a:uFillTx/>
          <a:latin typeface="+mn-lt"/>
          <a:ea typeface="+mn-ea"/>
          <a:cs typeface="+mn-cs"/>
          <a:sym typeface="Lucida Sans"/>
        </a:defRPr>
      </a:lvl7pPr>
      <a:lvl8pPr marL="0" marR="0" indent="1066800" algn="l" defTabSz="457200" rtl="0" latinLnBrk="0">
        <a:lnSpc>
          <a:spcPts val="3800"/>
        </a:lnSpc>
        <a:spcBef>
          <a:spcPts val="0"/>
        </a:spcBef>
        <a:spcAft>
          <a:spcPts val="0"/>
        </a:spcAft>
        <a:buClrTx/>
        <a:buSzTx/>
        <a:buFontTx/>
        <a:buNone/>
        <a:tabLst>
          <a:tab pos="1244600" algn="l"/>
        </a:tabLst>
        <a:defRPr sz="2400" b="0" i="0" u="none" strike="noStrike" cap="none" spc="0" baseline="0">
          <a:solidFill>
            <a:srgbClr val="0048AA"/>
          </a:solidFill>
          <a:uFillTx/>
          <a:latin typeface="+mn-lt"/>
          <a:ea typeface="+mn-ea"/>
          <a:cs typeface="+mn-cs"/>
          <a:sym typeface="Lucida Sans"/>
        </a:defRPr>
      </a:lvl8pPr>
      <a:lvl9pPr marL="0" marR="0" indent="1422400" algn="l" defTabSz="457200" rtl="0" latinLnBrk="0">
        <a:lnSpc>
          <a:spcPts val="3800"/>
        </a:lnSpc>
        <a:spcBef>
          <a:spcPts val="0"/>
        </a:spcBef>
        <a:spcAft>
          <a:spcPts val="0"/>
        </a:spcAft>
        <a:buClrTx/>
        <a:buSzTx/>
        <a:buFontTx/>
        <a:buNone/>
        <a:tabLst>
          <a:tab pos="1244600" algn="l"/>
        </a:tabLst>
        <a:defRPr sz="2400" b="0" i="0" u="none" strike="noStrike" cap="none" spc="0" baseline="0">
          <a:solidFill>
            <a:srgbClr val="0048AA"/>
          </a:solidFill>
          <a:uFillTx/>
          <a:latin typeface="+mn-lt"/>
          <a:ea typeface="+mn-ea"/>
          <a:cs typeface="+mn-cs"/>
          <a:sym typeface="Lucida Sans"/>
        </a:defRPr>
      </a:lvl9pPr>
    </p:bodyStyle>
    <p:otherStyle>
      <a:lvl1pPr marL="0" marR="0" indent="0" algn="ctr" defTabSz="457200" latinLnBrk="0">
        <a:lnSpc>
          <a:spcPts val="1400"/>
        </a:lnSpc>
        <a:spcBef>
          <a:spcPts val="0"/>
        </a:spcBef>
        <a:spcAft>
          <a:spcPts val="0"/>
        </a:spcAft>
        <a:buClrTx/>
        <a:buSzTx/>
        <a:buFontTx/>
        <a:buNone/>
        <a:tabLst>
          <a:tab pos="1066800" algn="l"/>
        </a:tabLst>
        <a:defRPr sz="1200" b="0" i="0" u="none" strike="noStrike" cap="none" spc="0" baseline="0">
          <a:solidFill>
            <a:schemeClr val="tx1"/>
          </a:solidFill>
          <a:uFillTx/>
          <a:latin typeface="+mn-lt"/>
          <a:ea typeface="+mn-ea"/>
          <a:cs typeface="+mn-cs"/>
          <a:sym typeface="Lucida Sans"/>
        </a:defRPr>
      </a:lvl1pPr>
      <a:lvl2pPr marL="0" marR="0" indent="228600" algn="ctr" defTabSz="457200" latinLnBrk="0">
        <a:lnSpc>
          <a:spcPts val="1400"/>
        </a:lnSpc>
        <a:spcBef>
          <a:spcPts val="0"/>
        </a:spcBef>
        <a:spcAft>
          <a:spcPts val="0"/>
        </a:spcAft>
        <a:buClrTx/>
        <a:buSzTx/>
        <a:buFontTx/>
        <a:buNone/>
        <a:tabLst>
          <a:tab pos="1066800" algn="l"/>
        </a:tabLst>
        <a:defRPr sz="1200" b="0" i="0" u="none" strike="noStrike" cap="none" spc="0" baseline="0">
          <a:solidFill>
            <a:schemeClr val="tx1"/>
          </a:solidFill>
          <a:uFillTx/>
          <a:latin typeface="+mn-lt"/>
          <a:ea typeface="+mn-ea"/>
          <a:cs typeface="+mn-cs"/>
          <a:sym typeface="Lucida Sans"/>
        </a:defRPr>
      </a:lvl2pPr>
      <a:lvl3pPr marL="0" marR="0" indent="457200" algn="ctr" defTabSz="457200" latinLnBrk="0">
        <a:lnSpc>
          <a:spcPts val="1400"/>
        </a:lnSpc>
        <a:spcBef>
          <a:spcPts val="0"/>
        </a:spcBef>
        <a:spcAft>
          <a:spcPts val="0"/>
        </a:spcAft>
        <a:buClrTx/>
        <a:buSzTx/>
        <a:buFontTx/>
        <a:buNone/>
        <a:tabLst>
          <a:tab pos="1066800" algn="l"/>
        </a:tabLst>
        <a:defRPr sz="1200" b="0" i="0" u="none" strike="noStrike" cap="none" spc="0" baseline="0">
          <a:solidFill>
            <a:schemeClr val="tx1"/>
          </a:solidFill>
          <a:uFillTx/>
          <a:latin typeface="+mn-lt"/>
          <a:ea typeface="+mn-ea"/>
          <a:cs typeface="+mn-cs"/>
          <a:sym typeface="Lucida Sans"/>
        </a:defRPr>
      </a:lvl3pPr>
      <a:lvl4pPr marL="0" marR="0" indent="685800" algn="ctr" defTabSz="457200" latinLnBrk="0">
        <a:lnSpc>
          <a:spcPts val="1400"/>
        </a:lnSpc>
        <a:spcBef>
          <a:spcPts val="0"/>
        </a:spcBef>
        <a:spcAft>
          <a:spcPts val="0"/>
        </a:spcAft>
        <a:buClrTx/>
        <a:buSzTx/>
        <a:buFontTx/>
        <a:buNone/>
        <a:tabLst>
          <a:tab pos="1066800" algn="l"/>
        </a:tabLst>
        <a:defRPr sz="1200" b="0" i="0" u="none" strike="noStrike" cap="none" spc="0" baseline="0">
          <a:solidFill>
            <a:schemeClr val="tx1"/>
          </a:solidFill>
          <a:uFillTx/>
          <a:latin typeface="+mn-lt"/>
          <a:ea typeface="+mn-ea"/>
          <a:cs typeface="+mn-cs"/>
          <a:sym typeface="Lucida Sans"/>
        </a:defRPr>
      </a:lvl4pPr>
      <a:lvl5pPr marL="0" marR="0" indent="914400" algn="ctr" defTabSz="457200" latinLnBrk="0">
        <a:lnSpc>
          <a:spcPts val="1400"/>
        </a:lnSpc>
        <a:spcBef>
          <a:spcPts val="0"/>
        </a:spcBef>
        <a:spcAft>
          <a:spcPts val="0"/>
        </a:spcAft>
        <a:buClrTx/>
        <a:buSzTx/>
        <a:buFontTx/>
        <a:buNone/>
        <a:tabLst>
          <a:tab pos="1066800" algn="l"/>
        </a:tabLst>
        <a:defRPr sz="1200" b="0" i="0" u="none" strike="noStrike" cap="none" spc="0" baseline="0">
          <a:solidFill>
            <a:schemeClr val="tx1"/>
          </a:solidFill>
          <a:uFillTx/>
          <a:latin typeface="+mn-lt"/>
          <a:ea typeface="+mn-ea"/>
          <a:cs typeface="+mn-cs"/>
          <a:sym typeface="Lucida Sans"/>
        </a:defRPr>
      </a:lvl5pPr>
      <a:lvl6pPr marL="0" marR="0" indent="1143000" algn="ctr" defTabSz="457200" latinLnBrk="0">
        <a:lnSpc>
          <a:spcPts val="1400"/>
        </a:lnSpc>
        <a:spcBef>
          <a:spcPts val="0"/>
        </a:spcBef>
        <a:spcAft>
          <a:spcPts val="0"/>
        </a:spcAft>
        <a:buClrTx/>
        <a:buSzTx/>
        <a:buFontTx/>
        <a:buNone/>
        <a:tabLst>
          <a:tab pos="1066800" algn="l"/>
        </a:tabLst>
        <a:defRPr sz="1200" b="0" i="0" u="none" strike="noStrike" cap="none" spc="0" baseline="0">
          <a:solidFill>
            <a:schemeClr val="tx1"/>
          </a:solidFill>
          <a:uFillTx/>
          <a:latin typeface="+mn-lt"/>
          <a:ea typeface="+mn-ea"/>
          <a:cs typeface="+mn-cs"/>
          <a:sym typeface="Lucida Sans"/>
        </a:defRPr>
      </a:lvl6pPr>
      <a:lvl7pPr marL="0" marR="0" indent="1371600" algn="ctr" defTabSz="457200" latinLnBrk="0">
        <a:lnSpc>
          <a:spcPts val="1400"/>
        </a:lnSpc>
        <a:spcBef>
          <a:spcPts val="0"/>
        </a:spcBef>
        <a:spcAft>
          <a:spcPts val="0"/>
        </a:spcAft>
        <a:buClrTx/>
        <a:buSzTx/>
        <a:buFontTx/>
        <a:buNone/>
        <a:tabLst>
          <a:tab pos="1066800" algn="l"/>
        </a:tabLst>
        <a:defRPr sz="1200" b="0" i="0" u="none" strike="noStrike" cap="none" spc="0" baseline="0">
          <a:solidFill>
            <a:schemeClr val="tx1"/>
          </a:solidFill>
          <a:uFillTx/>
          <a:latin typeface="+mn-lt"/>
          <a:ea typeface="+mn-ea"/>
          <a:cs typeface="+mn-cs"/>
          <a:sym typeface="Lucida Sans"/>
        </a:defRPr>
      </a:lvl7pPr>
      <a:lvl8pPr marL="0" marR="0" indent="1600200" algn="ctr" defTabSz="457200" latinLnBrk="0">
        <a:lnSpc>
          <a:spcPts val="1400"/>
        </a:lnSpc>
        <a:spcBef>
          <a:spcPts val="0"/>
        </a:spcBef>
        <a:spcAft>
          <a:spcPts val="0"/>
        </a:spcAft>
        <a:buClrTx/>
        <a:buSzTx/>
        <a:buFontTx/>
        <a:buNone/>
        <a:tabLst>
          <a:tab pos="1066800" algn="l"/>
        </a:tabLst>
        <a:defRPr sz="1200" b="0" i="0" u="none" strike="noStrike" cap="none" spc="0" baseline="0">
          <a:solidFill>
            <a:schemeClr val="tx1"/>
          </a:solidFill>
          <a:uFillTx/>
          <a:latin typeface="+mn-lt"/>
          <a:ea typeface="+mn-ea"/>
          <a:cs typeface="+mn-cs"/>
          <a:sym typeface="Lucida Sans"/>
        </a:defRPr>
      </a:lvl8pPr>
      <a:lvl9pPr marL="0" marR="0" indent="1828800" algn="ctr" defTabSz="457200" latinLnBrk="0">
        <a:lnSpc>
          <a:spcPts val="1400"/>
        </a:lnSpc>
        <a:spcBef>
          <a:spcPts val="0"/>
        </a:spcBef>
        <a:spcAft>
          <a:spcPts val="0"/>
        </a:spcAft>
        <a:buClrTx/>
        <a:buSzTx/>
        <a:buFontTx/>
        <a:buNone/>
        <a:tabLst>
          <a:tab pos="1066800" algn="l"/>
        </a:tabLst>
        <a:defRPr sz="1200" b="0" i="0" u="none" strike="noStrike" cap="none" spc="0" baseline="0">
          <a:solidFill>
            <a:schemeClr val="tx1"/>
          </a:solidFill>
          <a:uFillTx/>
          <a:latin typeface="+mn-lt"/>
          <a:ea typeface="+mn-ea"/>
          <a:cs typeface="+mn-cs"/>
          <a:sym typeface="Lucida San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8.wmf"/><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7.w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9.jpeg"/><Relationship Id="rId13" Type="http://schemas.openxmlformats.org/officeDocument/2006/relationships/image" Target="../media/image24.jpeg"/><Relationship Id="rId18" Type="http://schemas.openxmlformats.org/officeDocument/2006/relationships/image" Target="../media/image29.jpeg"/><Relationship Id="rId3" Type="http://schemas.openxmlformats.org/officeDocument/2006/relationships/image" Target="../media/image14.jpeg"/><Relationship Id="rId21" Type="http://schemas.openxmlformats.org/officeDocument/2006/relationships/image" Target="../media/image32.jpeg"/><Relationship Id="rId7" Type="http://schemas.openxmlformats.org/officeDocument/2006/relationships/image" Target="../media/image18.jpeg"/><Relationship Id="rId12" Type="http://schemas.openxmlformats.org/officeDocument/2006/relationships/image" Target="../media/image23.jpeg"/><Relationship Id="rId17" Type="http://schemas.openxmlformats.org/officeDocument/2006/relationships/image" Target="../media/image28.jpeg"/><Relationship Id="rId2" Type="http://schemas.openxmlformats.org/officeDocument/2006/relationships/image" Target="../media/image13.jpeg"/><Relationship Id="rId16" Type="http://schemas.openxmlformats.org/officeDocument/2006/relationships/image" Target="../media/image27.jpeg"/><Relationship Id="rId20" Type="http://schemas.openxmlformats.org/officeDocument/2006/relationships/image" Target="../media/image31.jpeg"/><Relationship Id="rId1" Type="http://schemas.openxmlformats.org/officeDocument/2006/relationships/slideLayout" Target="../slideLayouts/slideLayout2.xml"/><Relationship Id="rId6" Type="http://schemas.openxmlformats.org/officeDocument/2006/relationships/image" Target="../media/image17.jpeg"/><Relationship Id="rId11" Type="http://schemas.openxmlformats.org/officeDocument/2006/relationships/image" Target="../media/image22.jpeg"/><Relationship Id="rId5" Type="http://schemas.openxmlformats.org/officeDocument/2006/relationships/image" Target="../media/image16.jpeg"/><Relationship Id="rId15" Type="http://schemas.openxmlformats.org/officeDocument/2006/relationships/image" Target="../media/image26.jpeg"/><Relationship Id="rId10" Type="http://schemas.openxmlformats.org/officeDocument/2006/relationships/image" Target="../media/image21.jpeg"/><Relationship Id="rId19" Type="http://schemas.openxmlformats.org/officeDocument/2006/relationships/image" Target="../media/image30.jpeg"/><Relationship Id="rId4" Type="http://schemas.openxmlformats.org/officeDocument/2006/relationships/image" Target="../media/image15.jpeg"/><Relationship Id="rId9" Type="http://schemas.openxmlformats.org/officeDocument/2006/relationships/image" Target="../media/image20.jpeg"/><Relationship Id="rId14" Type="http://schemas.openxmlformats.org/officeDocument/2006/relationships/image" Target="../media/image25.jpeg"/><Relationship Id="rId22"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5.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40.tif"/><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tif"/></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creativecommons.org/licenses/by-sa/2.5/"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png"/><Relationship Id="rId1" Type="http://schemas.openxmlformats.org/officeDocument/2006/relationships/slideLayout" Target="../slideLayouts/slideLayout5.xml"/><Relationship Id="rId6" Type="http://schemas.openxmlformats.org/officeDocument/2006/relationships/image" Target="../media/image59.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4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9AD39692-0CD0-7847-9B2A-46F9ABA51D60}"/>
              </a:ext>
            </a:extLst>
          </p:cNvPr>
          <p:cNvSpPr txBox="1">
            <a:spLocks noChangeArrowheads="1"/>
          </p:cNvSpPr>
          <p:nvPr/>
        </p:nvSpPr>
        <p:spPr>
          <a:xfrm>
            <a:off x="613465" y="2905919"/>
            <a:ext cx="11777870" cy="1143000"/>
          </a:xfrm>
          <a:prstGeom prst="rect">
            <a:avLst/>
          </a:prstGeom>
        </p:spPr>
        <p:txBody>
          <a:bodyPr anchor="ctr">
            <a:normAutofit fontScale="97500"/>
          </a:bodyPr>
          <a:lstStyle>
            <a:lvl1pPr marL="0" marR="0" indent="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1pPr>
            <a:lvl2pPr marL="0" marR="0" indent="2286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2pPr>
            <a:lvl3pPr marL="0" marR="0" indent="4572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3pPr>
            <a:lvl4pPr marL="0" marR="0" indent="6858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4pPr>
            <a:lvl5pPr marL="0" marR="0" indent="9144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5pPr>
            <a:lvl6pPr marL="0" marR="0" indent="11430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6pPr>
            <a:lvl7pPr marL="0" marR="0" indent="13716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7pPr>
            <a:lvl8pPr marL="0" marR="0" indent="16002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8pPr>
            <a:lvl9pPr marL="0" marR="0" indent="1828800" algn="l" defTabSz="457200" rtl="0" latinLnBrk="0">
              <a:lnSpc>
                <a:spcPts val="3800"/>
              </a:lnSpc>
              <a:spcBef>
                <a:spcPts val="0"/>
              </a:spcBef>
              <a:spcAft>
                <a:spcPts val="0"/>
              </a:spcAft>
              <a:buClrTx/>
              <a:buSzTx/>
              <a:buFontTx/>
              <a:buNone/>
              <a:tabLst>
                <a:tab pos="1244600" algn="l"/>
              </a:tabLst>
              <a:defRPr sz="2800" b="0" i="0" u="none" strike="noStrike" cap="none" spc="0" baseline="0">
                <a:solidFill>
                  <a:srgbClr val="000000"/>
                </a:solidFill>
                <a:uFillTx/>
                <a:latin typeface="+mj-lt"/>
                <a:ea typeface="+mj-ea"/>
                <a:cs typeface="+mj-cs"/>
                <a:sym typeface="Futura"/>
              </a:defRPr>
            </a:lvl9pPr>
          </a:lstStyle>
          <a:p>
            <a:pPr algn="ctr" hangingPunct="1">
              <a:defRPr/>
            </a:pPr>
            <a:r>
              <a:rPr lang="en-US" altLang="zh-CN" sz="4400" dirty="0"/>
              <a:t>CS101</a:t>
            </a:r>
            <a:r>
              <a:rPr lang="zh-CN" altLang="en-US" sz="4400" dirty="0"/>
              <a:t> </a:t>
            </a:r>
            <a:r>
              <a:rPr lang="en-US" altLang="zh-CN" sz="4400" dirty="0"/>
              <a:t>Algorithms and Data Structures</a:t>
            </a:r>
          </a:p>
        </p:txBody>
      </p:sp>
      <p:sp>
        <p:nvSpPr>
          <p:cNvPr id="4" name="Subtitle 1">
            <a:extLst>
              <a:ext uri="{FF2B5EF4-FFF2-40B4-BE49-F238E27FC236}">
                <a16:creationId xmlns:a16="http://schemas.microsoft.com/office/drawing/2014/main" id="{35A3F68D-B7D7-534F-9DD2-5DDA7A37B8A3}"/>
              </a:ext>
            </a:extLst>
          </p:cNvPr>
          <p:cNvSpPr txBox="1">
            <a:spLocks/>
          </p:cNvSpPr>
          <p:nvPr/>
        </p:nvSpPr>
        <p:spPr>
          <a:xfrm>
            <a:off x="3073400" y="4506119"/>
            <a:ext cx="6858000" cy="1655762"/>
          </a:xfrm>
          <a:prstGeom prst="rect">
            <a:avLst/>
          </a:prstGeom>
        </p:spPr>
        <p:txBody>
          <a:bodyPr/>
          <a:lst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None/>
            </a:pPr>
            <a:r>
              <a:rPr lang="en-US" altLang="zh-CN" sz="2800" dirty="0">
                <a:solidFill>
                  <a:prstClr val="black"/>
                </a:solidFill>
              </a:rPr>
              <a:t>Dynamic Programming</a:t>
            </a:r>
          </a:p>
          <a:p>
            <a:pPr marL="0" indent="0" algn="ctr" eaLnBrk="1" hangingPunct="1">
              <a:buFont typeface="Arial" charset="0"/>
              <a:buNone/>
            </a:pPr>
            <a:r>
              <a:rPr lang="en-US" altLang="zh-CN" sz="2800" dirty="0">
                <a:solidFill>
                  <a:prstClr val="black"/>
                </a:solidFill>
              </a:rPr>
              <a:t>Textbook Ch 15</a:t>
            </a:r>
          </a:p>
        </p:txBody>
      </p:sp>
    </p:spTree>
    <p:extLst>
      <p:ext uri="{BB962C8B-B14F-4D97-AF65-F5344CB8AC3E}">
        <p14:creationId xmlns:p14="http://schemas.microsoft.com/office/powerpoint/2010/main" val="197636857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dirty="0">
                <a:latin typeface="Arial" charset="0"/>
                <a:cs typeface="Arial" charset="0"/>
              </a:rPr>
              <a:t>Fibonacci numbers</a:t>
            </a:r>
          </a:p>
        </p:txBody>
      </p:sp>
      <p:sp>
        <p:nvSpPr>
          <p:cNvPr id="717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Consider this function:</a:t>
            </a:r>
          </a:p>
          <a:p>
            <a:pPr>
              <a:buFont typeface="Arial" charset="0"/>
              <a:buNone/>
            </a:pPr>
            <a:endParaRPr lang="en-US" altLang="en-US" sz="1422" dirty="0">
              <a:latin typeface="Arial" charset="0"/>
              <a:cs typeface="Arial" charset="0"/>
            </a:endParaRPr>
          </a:p>
          <a:p>
            <a:pPr lvl="2">
              <a:buFontTx/>
              <a:buNone/>
            </a:pPr>
            <a:r>
              <a:rPr lang="en-US" altLang="en-US" sz="1991" dirty="0">
                <a:latin typeface="Consolas" pitchFamily="49" charset="0"/>
                <a:cs typeface="Consolas" pitchFamily="49" charset="0"/>
              </a:rPr>
              <a:t>double </a:t>
            </a:r>
            <a:r>
              <a:rPr lang="en-US" altLang="en-US" sz="1991" dirty="0">
                <a:solidFill>
                  <a:srgbClr val="FF0000"/>
                </a:solidFill>
                <a:latin typeface="Consolas" pitchFamily="49" charset="0"/>
                <a:cs typeface="Consolas" pitchFamily="49" charset="0"/>
              </a:rPr>
              <a:t>F</a:t>
            </a:r>
            <a:r>
              <a:rPr lang="en-US" altLang="en-US" sz="1991" dirty="0">
                <a:latin typeface="Consolas" pitchFamily="49" charset="0"/>
                <a:cs typeface="Consolas" pitchFamily="49" charset="0"/>
              </a:rPr>
              <a:t>( </a:t>
            </a:r>
            <a:r>
              <a:rPr lang="en-US" altLang="en-US" sz="1991" dirty="0" err="1">
                <a:latin typeface="Consolas" pitchFamily="49" charset="0"/>
                <a:cs typeface="Consolas" pitchFamily="49" charset="0"/>
              </a:rPr>
              <a:t>int</a:t>
            </a:r>
            <a:r>
              <a:rPr lang="en-US" altLang="en-US" sz="1991" dirty="0">
                <a:latin typeface="Consolas" pitchFamily="49" charset="0"/>
                <a:cs typeface="Consolas" pitchFamily="49" charset="0"/>
              </a:rPr>
              <a:t> n ) {</a:t>
            </a:r>
          </a:p>
          <a:p>
            <a:pPr lvl="2">
              <a:buFontTx/>
              <a:buNone/>
            </a:pPr>
            <a:r>
              <a:rPr lang="en-US" altLang="en-US" sz="1991" dirty="0">
                <a:latin typeface="Consolas" pitchFamily="49" charset="0"/>
                <a:cs typeface="Consolas" pitchFamily="49" charset="0"/>
              </a:rPr>
              <a:t>    </a:t>
            </a:r>
            <a:r>
              <a:rPr lang="pt-BR" altLang="en-US" sz="1991" dirty="0">
                <a:latin typeface="Consolas" pitchFamily="49" charset="0"/>
                <a:cs typeface="Consolas" pitchFamily="49" charset="0"/>
              </a:rPr>
              <a:t>return ( n &lt;= 1 ) ? 1.0 : </a:t>
            </a:r>
            <a:r>
              <a:rPr lang="en-US" altLang="en-US" sz="1991" dirty="0">
                <a:solidFill>
                  <a:srgbClr val="FF0000"/>
                </a:solidFill>
                <a:latin typeface="Consolas" pitchFamily="49" charset="0"/>
                <a:cs typeface="Consolas" pitchFamily="49" charset="0"/>
              </a:rPr>
              <a:t>F</a:t>
            </a:r>
            <a:r>
              <a:rPr lang="pt-BR" altLang="en-US" sz="1991" dirty="0">
                <a:latin typeface="Consolas" pitchFamily="49" charset="0"/>
                <a:cs typeface="Consolas" pitchFamily="49" charset="0"/>
              </a:rPr>
              <a:t>(n - 1) + </a:t>
            </a:r>
            <a:r>
              <a:rPr lang="en-US" altLang="en-US" sz="1991" dirty="0">
                <a:solidFill>
                  <a:srgbClr val="FF0000"/>
                </a:solidFill>
                <a:latin typeface="Consolas" pitchFamily="49" charset="0"/>
                <a:cs typeface="Consolas" pitchFamily="49" charset="0"/>
              </a:rPr>
              <a:t>F</a:t>
            </a:r>
            <a:r>
              <a:rPr lang="pt-BR" altLang="en-US" sz="1991" dirty="0">
                <a:latin typeface="Consolas" pitchFamily="49" charset="0"/>
                <a:cs typeface="Consolas" pitchFamily="49" charset="0"/>
              </a:rPr>
              <a:t>(n - 2);</a:t>
            </a:r>
          </a:p>
          <a:p>
            <a:pPr lvl="2">
              <a:buFontTx/>
              <a:buNone/>
            </a:pPr>
            <a:r>
              <a:rPr lang="en-US" altLang="en-US" sz="1991" dirty="0">
                <a:latin typeface="Consolas" pitchFamily="49" charset="0"/>
                <a:cs typeface="Consolas" pitchFamily="49" charset="0"/>
              </a:rPr>
              <a:t>}</a:t>
            </a:r>
          </a:p>
          <a:p>
            <a:pPr lvl="2">
              <a:buFontTx/>
              <a:buNone/>
            </a:pPr>
            <a:endParaRPr lang="en-US" altLang="en-US" sz="1991" dirty="0">
              <a:latin typeface="Consolas" pitchFamily="49" charset="0"/>
              <a:cs typeface="Consolas" pitchFamily="49" charset="0"/>
            </a:endParaRPr>
          </a:p>
          <a:p>
            <a:pPr lvl="0">
              <a:buNone/>
            </a:pPr>
            <a:r>
              <a:rPr lang="en-US" altLang="en-US" dirty="0">
                <a:solidFill>
                  <a:prstClr val="black"/>
                </a:solidFill>
                <a:latin typeface="Arial" charset="0"/>
                <a:cs typeface="Arial" charset="0"/>
              </a:rPr>
              <a:t>The run-time of this algorithm is</a:t>
            </a:r>
          </a:p>
          <a:p>
            <a:pPr lvl="2">
              <a:buFontTx/>
              <a:buNone/>
            </a:pPr>
            <a:endParaRPr lang="en-US" altLang="en-US" dirty="0">
              <a:latin typeface="Arial" charset="0"/>
              <a:cs typeface="Arial" charset="0"/>
            </a:endParaRPr>
          </a:p>
        </p:txBody>
      </p:sp>
      <p:graphicFrame>
        <p:nvGraphicFramePr>
          <p:cNvPr id="2" name="Object 1"/>
          <p:cNvGraphicFramePr>
            <a:graphicFrameLocks noChangeAspect="1"/>
          </p:cNvGraphicFramePr>
          <p:nvPr/>
        </p:nvGraphicFramePr>
        <p:xfrm>
          <a:off x="3327648" y="5286446"/>
          <a:ext cx="6082453" cy="1142436"/>
        </p:xfrm>
        <a:graphic>
          <a:graphicData uri="http://schemas.openxmlformats.org/presentationml/2006/ole">
            <mc:AlternateContent xmlns:mc="http://schemas.openxmlformats.org/markup-compatibility/2006">
              <mc:Choice xmlns:v="urn:schemas-microsoft-com:vml" Requires="v">
                <p:oleObj spid="_x0000_s4128" name="Equation" r:id="rId4" imgW="2361960" imgH="444240" progId="Equation.DSMT4">
                  <p:embed/>
                </p:oleObj>
              </mc:Choice>
              <mc:Fallback>
                <p:oleObj name="Equation" r:id="rId4" imgW="2361960" imgH="444240" progId="Equation.DSMT4">
                  <p:embed/>
                  <p:pic>
                    <p:nvPicPr>
                      <p:cNvPr id="2" name="Object 1"/>
                      <p:cNvPicPr>
                        <a:picLocks noChangeAspect="1" noChangeArrowheads="1"/>
                      </p:cNvPicPr>
                      <p:nvPr/>
                    </p:nvPicPr>
                    <p:blipFill>
                      <a:blip r:embed="rId5"/>
                      <a:srcRect/>
                      <a:stretch>
                        <a:fillRect/>
                      </a:stretch>
                    </p:blipFill>
                    <p:spPr bwMode="auto">
                      <a:xfrm>
                        <a:off x="3327648" y="5286446"/>
                        <a:ext cx="6082453" cy="11424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33561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dirty="0">
                <a:latin typeface="Arial" charset="0"/>
                <a:cs typeface="Arial" charset="0"/>
              </a:rPr>
              <a:t>Fibonacci numbers</a:t>
            </a:r>
          </a:p>
        </p:txBody>
      </p:sp>
      <p:sp>
        <p:nvSpPr>
          <p:cNvPr id="8195" name="Rectangle 3"/>
          <p:cNvSpPr>
            <a:spLocks noGrp="1" noChangeArrowheads="1"/>
          </p:cNvSpPr>
          <p:nvPr>
            <p:ph type="body" idx="1"/>
          </p:nvPr>
        </p:nvSpPr>
        <p:spPr/>
        <p:txBody>
          <a:bodyPr/>
          <a:lstStyle/>
          <a:p>
            <a:pPr>
              <a:buNone/>
            </a:pPr>
            <a:r>
              <a:rPr lang="en-US" altLang="en-US" dirty="0">
                <a:latin typeface="Arial" charset="0"/>
                <a:cs typeface="Arial" charset="0"/>
              </a:rPr>
              <a:t>Consider this function:</a:t>
            </a:r>
          </a:p>
          <a:p>
            <a:pPr>
              <a:buNone/>
            </a:pPr>
            <a:endParaRPr lang="en-US" altLang="en-US" sz="1422" dirty="0">
              <a:latin typeface="Arial" charset="0"/>
              <a:cs typeface="Arial" charset="0"/>
            </a:endParaRPr>
          </a:p>
          <a:p>
            <a:pPr lvl="2">
              <a:buFontTx/>
              <a:buNone/>
            </a:pPr>
            <a:r>
              <a:rPr lang="en-US" altLang="en-US" sz="1991" dirty="0">
                <a:latin typeface="Consolas" pitchFamily="49" charset="0"/>
                <a:cs typeface="Consolas" pitchFamily="49" charset="0"/>
              </a:rPr>
              <a:t>double </a:t>
            </a:r>
            <a:r>
              <a:rPr lang="en-US" altLang="en-US" sz="1991" dirty="0">
                <a:solidFill>
                  <a:srgbClr val="FF0000"/>
                </a:solidFill>
                <a:latin typeface="Consolas" pitchFamily="49" charset="0"/>
                <a:cs typeface="Consolas" pitchFamily="49" charset="0"/>
              </a:rPr>
              <a:t>F</a:t>
            </a:r>
            <a:r>
              <a:rPr lang="en-US" altLang="en-US" sz="1991" dirty="0">
                <a:latin typeface="Consolas" pitchFamily="49" charset="0"/>
                <a:cs typeface="Consolas" pitchFamily="49" charset="0"/>
              </a:rPr>
              <a:t>( </a:t>
            </a:r>
            <a:r>
              <a:rPr lang="en-US" altLang="en-US" sz="1991" dirty="0" err="1">
                <a:latin typeface="Consolas" pitchFamily="49" charset="0"/>
                <a:cs typeface="Consolas" pitchFamily="49" charset="0"/>
              </a:rPr>
              <a:t>int</a:t>
            </a:r>
            <a:r>
              <a:rPr lang="en-US" altLang="en-US" sz="1991" dirty="0">
                <a:latin typeface="Consolas" pitchFamily="49" charset="0"/>
                <a:cs typeface="Consolas" pitchFamily="49" charset="0"/>
              </a:rPr>
              <a:t> n ) {</a:t>
            </a:r>
          </a:p>
          <a:p>
            <a:pPr lvl="2">
              <a:buFontTx/>
              <a:buNone/>
            </a:pPr>
            <a:r>
              <a:rPr lang="en-US" altLang="en-US" sz="1991" dirty="0">
                <a:latin typeface="Consolas" pitchFamily="49" charset="0"/>
                <a:cs typeface="Consolas" pitchFamily="49" charset="0"/>
              </a:rPr>
              <a:t>    </a:t>
            </a:r>
            <a:r>
              <a:rPr lang="pt-BR" altLang="en-US" sz="1991" dirty="0">
                <a:latin typeface="Consolas" pitchFamily="49" charset="0"/>
                <a:cs typeface="Consolas" pitchFamily="49" charset="0"/>
              </a:rPr>
              <a:t>return ( n &lt;= 1 ) ? 1.0 : </a:t>
            </a:r>
            <a:r>
              <a:rPr lang="en-US" altLang="en-US" sz="1991" dirty="0">
                <a:solidFill>
                  <a:srgbClr val="FF0000"/>
                </a:solidFill>
                <a:latin typeface="Consolas" pitchFamily="49" charset="0"/>
                <a:cs typeface="Consolas" pitchFamily="49" charset="0"/>
              </a:rPr>
              <a:t>F</a:t>
            </a:r>
            <a:r>
              <a:rPr lang="pt-BR" altLang="en-US" sz="1991" dirty="0">
                <a:latin typeface="Consolas" pitchFamily="49" charset="0"/>
                <a:cs typeface="Consolas" pitchFamily="49" charset="0"/>
              </a:rPr>
              <a:t>(n - 1) + </a:t>
            </a:r>
            <a:r>
              <a:rPr lang="en-US" altLang="en-US" sz="1991" dirty="0">
                <a:solidFill>
                  <a:srgbClr val="FF0000"/>
                </a:solidFill>
                <a:latin typeface="Consolas" pitchFamily="49" charset="0"/>
                <a:cs typeface="Consolas" pitchFamily="49" charset="0"/>
              </a:rPr>
              <a:t>F</a:t>
            </a:r>
            <a:r>
              <a:rPr lang="pt-BR" altLang="en-US" sz="1991" dirty="0">
                <a:latin typeface="Consolas" pitchFamily="49" charset="0"/>
                <a:cs typeface="Consolas" pitchFamily="49" charset="0"/>
              </a:rPr>
              <a:t>(n - 2);</a:t>
            </a:r>
          </a:p>
          <a:p>
            <a:pPr lvl="2">
              <a:buFontTx/>
              <a:buNone/>
            </a:pPr>
            <a:r>
              <a:rPr lang="en-US" altLang="en-US" sz="1991" dirty="0">
                <a:latin typeface="Consolas" pitchFamily="49" charset="0"/>
                <a:cs typeface="Consolas" pitchFamily="49" charset="0"/>
              </a:rPr>
              <a:t>}</a:t>
            </a:r>
          </a:p>
          <a:p>
            <a:pPr>
              <a:buFont typeface="Arial" charset="0"/>
              <a:buNone/>
            </a:pPr>
            <a:br>
              <a:rPr lang="en-US" altLang="en-US" sz="1707" dirty="0">
                <a:latin typeface="Arial" charset="0"/>
                <a:cs typeface="Arial" charset="0"/>
              </a:rPr>
            </a:br>
            <a:r>
              <a:rPr lang="en-US" altLang="en-US" dirty="0">
                <a:latin typeface="Arial" charset="0"/>
                <a:cs typeface="Arial" charset="0"/>
              </a:rPr>
              <a:t>The runtime is similar to the actual definition of Fibonacci numbers:</a:t>
            </a:r>
          </a:p>
          <a:p>
            <a:pPr>
              <a:buFont typeface="Arial" charset="0"/>
              <a:buNone/>
            </a:pPr>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Font typeface="Arial" charset="0"/>
              <a:buNone/>
            </a:pPr>
            <a:endParaRPr lang="en-US" altLang="en-US" dirty="0">
              <a:latin typeface="Arial" charset="0"/>
              <a:cs typeface="Arial" charset="0"/>
            </a:endParaRPr>
          </a:p>
          <a:p>
            <a:pPr>
              <a:buNone/>
            </a:pPr>
            <a:endParaRPr lang="en-US" altLang="en-US" dirty="0">
              <a:latin typeface="Arial" charset="0"/>
              <a:cs typeface="Arial" charset="0"/>
            </a:endParaRPr>
          </a:p>
          <a:p>
            <a:pPr>
              <a:buNone/>
            </a:pPr>
            <a:r>
              <a:rPr lang="en-US" altLang="en-US" dirty="0">
                <a:latin typeface="Times New Roman" panose="02020603050405020304" pitchFamily="18" charset="0"/>
                <a:cs typeface="Times New Roman" panose="02020603050405020304" pitchFamily="18" charset="0"/>
              </a:rPr>
              <a:t>T(</a:t>
            </a:r>
            <a:r>
              <a:rPr lang="en-US" altLang="en-US" i="1"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 </a:t>
            </a:r>
            <a:r>
              <a:rPr lang="en-US" altLang="en-US" dirty="0">
                <a:latin typeface="Symbol" panose="05050102010706020507" pitchFamily="18" charset="2"/>
                <a:cs typeface="Times New Roman" panose="02020603050405020304" pitchFamily="18" charset="0"/>
              </a:rPr>
              <a:t>O</a:t>
            </a:r>
            <a:r>
              <a:rPr lang="en-US" altLang="en-US" dirty="0">
                <a:latin typeface="Times New Roman" panose="02020603050405020304" pitchFamily="18" charset="0"/>
                <a:cs typeface="Times New Roman" panose="02020603050405020304" pitchFamily="18" charset="0"/>
              </a:rPr>
              <a:t>(</a:t>
            </a:r>
            <a:r>
              <a:rPr lang="en-US" altLang="en-US" i="1" dirty="0">
                <a:latin typeface="Symbol" panose="05050102010706020507" pitchFamily="18" charset="2"/>
                <a:cs typeface="Times New Roman" panose="02020603050405020304" pitchFamily="18" charset="0"/>
              </a:rPr>
              <a:t>2</a:t>
            </a:r>
            <a:r>
              <a:rPr lang="en-US" altLang="en-US" i="1" baseline="30000" dirty="0">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a:t>
            </a:r>
          </a:p>
          <a:p>
            <a:pPr marL="127000" lvl="1" indent="0">
              <a:buNone/>
            </a:pPr>
            <a:endParaRPr lang="en-US" altLang="en-US" dirty="0">
              <a:latin typeface="Arial" charset="0"/>
              <a:cs typeface="Arial"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089168536"/>
              </p:ext>
            </p:extLst>
          </p:nvPr>
        </p:nvGraphicFramePr>
        <p:xfrm>
          <a:off x="812800" y="4911725"/>
          <a:ext cx="6082453" cy="1142436"/>
        </p:xfrm>
        <a:graphic>
          <a:graphicData uri="http://schemas.openxmlformats.org/presentationml/2006/ole">
            <mc:AlternateContent xmlns:mc="http://schemas.openxmlformats.org/markup-compatibility/2006">
              <mc:Choice xmlns:v="urn:schemas-microsoft-com:vml" Requires="v">
                <p:oleObj spid="_x0000_s5196" name="Equation" r:id="rId4" imgW="2361960" imgH="444240" progId="Equation.DSMT4">
                  <p:embed/>
                </p:oleObj>
              </mc:Choice>
              <mc:Fallback>
                <p:oleObj name="Equation" r:id="rId4" imgW="2361960" imgH="444240" progId="Equation.DSMT4">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800" y="4911725"/>
                        <a:ext cx="6082453" cy="11424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5"/>
          <p:cNvGraphicFramePr>
            <a:graphicFrameLocks noChangeAspect="1"/>
          </p:cNvGraphicFramePr>
          <p:nvPr/>
        </p:nvGraphicFramePr>
        <p:xfrm>
          <a:off x="7160047" y="4978471"/>
          <a:ext cx="5691858" cy="1142436"/>
        </p:xfrm>
        <a:graphic>
          <a:graphicData uri="http://schemas.openxmlformats.org/presentationml/2006/ole">
            <mc:AlternateContent xmlns:mc="http://schemas.openxmlformats.org/markup-compatibility/2006">
              <mc:Choice xmlns:v="urn:schemas-microsoft-com:vml" Requires="v">
                <p:oleObj spid="_x0000_s5197" name="Equation" r:id="rId6" imgW="2209680" imgH="444240" progId="Equation.DSMT4">
                  <p:embed/>
                </p:oleObj>
              </mc:Choice>
              <mc:Fallback>
                <p:oleObj name="Equation" r:id="rId6" imgW="2209680" imgH="444240" progId="Equation.DSMT4">
                  <p:embed/>
                  <p:pic>
                    <p:nvPicPr>
                      <p:cNvPr id="6" name="Object 5"/>
                      <p:cNvPicPr>
                        <a:picLocks noChangeAspect="1" noChangeArrowheads="1"/>
                      </p:cNvPicPr>
                      <p:nvPr/>
                    </p:nvPicPr>
                    <p:blipFill>
                      <a:blip r:embed="rId7"/>
                      <a:srcRect/>
                      <a:stretch>
                        <a:fillRect/>
                      </a:stretch>
                    </p:blipFill>
                    <p:spPr bwMode="auto">
                      <a:xfrm>
                        <a:off x="7160047" y="4978471"/>
                        <a:ext cx="5691858" cy="11424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94415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dirty="0">
                <a:latin typeface="Arial" charset="0"/>
                <a:cs typeface="Arial" charset="0"/>
              </a:rPr>
              <a:t>Fibonacci numbers</a:t>
            </a:r>
          </a:p>
        </p:txBody>
      </p:sp>
      <p:sp>
        <p:nvSpPr>
          <p:cNvPr id="16387"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Problem:</a:t>
            </a:r>
          </a:p>
          <a:p>
            <a:pPr lvl="1"/>
            <a:r>
              <a:rPr lang="en-US" altLang="en-US" dirty="0">
                <a:latin typeface="Arial" charset="0"/>
                <a:cs typeface="Arial" charset="0"/>
              </a:rPr>
              <a:t>To calculate </a:t>
            </a:r>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(44)</a:t>
            </a:r>
            <a:r>
              <a:rPr lang="en-US" altLang="en-US" dirty="0">
                <a:latin typeface="Arial" charset="0"/>
                <a:cs typeface="Arial" charset="0"/>
              </a:rPr>
              <a:t>, it is necessary to calculate </a:t>
            </a:r>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(43)</a:t>
            </a:r>
            <a:r>
              <a:rPr lang="en-US" altLang="en-US" dirty="0">
                <a:latin typeface="Arial" charset="0"/>
                <a:cs typeface="Arial" charset="0"/>
              </a:rPr>
              <a:t> and </a:t>
            </a:r>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(42)</a:t>
            </a:r>
            <a:endParaRPr lang="en-US" altLang="en-US" dirty="0">
              <a:latin typeface="Arial" charset="0"/>
              <a:cs typeface="Arial" charset="0"/>
            </a:endParaRPr>
          </a:p>
          <a:p>
            <a:pPr lvl="1"/>
            <a:r>
              <a:rPr lang="en-US" altLang="en-US" dirty="0">
                <a:latin typeface="Arial" charset="0"/>
                <a:cs typeface="Arial" charset="0"/>
              </a:rPr>
              <a:t>However, to calculate </a:t>
            </a:r>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(43)</a:t>
            </a:r>
            <a:r>
              <a:rPr lang="en-US" altLang="en-US" dirty="0">
                <a:latin typeface="Arial" charset="0"/>
                <a:cs typeface="Arial" charset="0"/>
              </a:rPr>
              <a:t>, it is also necessary to calculate </a:t>
            </a:r>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(42)</a:t>
            </a:r>
            <a:endParaRPr lang="en-US" altLang="en-US" dirty="0">
              <a:latin typeface="Arial" charset="0"/>
              <a:cs typeface="Arial" charset="0"/>
            </a:endParaRPr>
          </a:p>
          <a:p>
            <a:pPr lvl="1"/>
            <a:r>
              <a:rPr lang="en-US" altLang="en-US" dirty="0">
                <a:latin typeface="Arial" charset="0"/>
                <a:cs typeface="Arial" charset="0"/>
              </a:rPr>
              <a:t>It gets worse, for example</a:t>
            </a:r>
          </a:p>
          <a:p>
            <a:pPr lvl="2"/>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(40)</a:t>
            </a:r>
            <a:r>
              <a:rPr lang="en-US" altLang="en-US" dirty="0">
                <a:latin typeface="Arial" charset="0"/>
                <a:cs typeface="Arial" charset="0"/>
              </a:rPr>
              <a:t> is called 5 times</a:t>
            </a:r>
          </a:p>
          <a:p>
            <a:pPr lvl="2"/>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(30)</a:t>
            </a:r>
            <a:r>
              <a:rPr lang="en-US" altLang="en-US" dirty="0">
                <a:latin typeface="Arial" charset="0"/>
                <a:cs typeface="Arial" charset="0"/>
              </a:rPr>
              <a:t> is called 620 times</a:t>
            </a:r>
          </a:p>
          <a:p>
            <a:pPr lvl="2"/>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(20)</a:t>
            </a:r>
            <a:r>
              <a:rPr lang="en-US" altLang="en-US" dirty="0">
                <a:latin typeface="Arial" charset="0"/>
                <a:cs typeface="Arial" charset="0"/>
              </a:rPr>
              <a:t> is called 75 025 times</a:t>
            </a:r>
          </a:p>
          <a:p>
            <a:pPr lvl="2"/>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(10)</a:t>
            </a:r>
            <a:r>
              <a:rPr lang="en-US" altLang="en-US" dirty="0">
                <a:latin typeface="Arial" charset="0"/>
                <a:cs typeface="Arial" charset="0"/>
              </a:rPr>
              <a:t> is called 9 227 465 times</a:t>
            </a:r>
          </a:p>
          <a:p>
            <a:pPr lvl="2"/>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(0)</a:t>
            </a:r>
            <a:r>
              <a:rPr lang="en-US" altLang="en-US" dirty="0">
                <a:latin typeface="Arial" charset="0"/>
                <a:cs typeface="Arial" charset="0"/>
              </a:rPr>
              <a:t> is called 433 494 437 times</a:t>
            </a:r>
          </a:p>
          <a:p>
            <a:pPr lvl="2"/>
            <a:endParaRPr lang="en-US" altLang="en-US" dirty="0">
              <a:latin typeface="Arial" charset="0"/>
              <a:cs typeface="Arial" charset="0"/>
            </a:endParaRPr>
          </a:p>
          <a:p>
            <a:pPr marL="514765" indent="-514765"/>
            <a:r>
              <a:rPr lang="en-US" altLang="en-US" dirty="0">
                <a:latin typeface="Arial" charset="0"/>
                <a:cs typeface="Arial" charset="0"/>
              </a:rPr>
              <a:t>Surely we don’t have to recalculate </a:t>
            </a:r>
            <a:r>
              <a:rPr lang="en-US" altLang="en-US" i="1" dirty="0">
                <a:latin typeface="Times New Roman" panose="02020603050405020304" pitchFamily="18" charset="0"/>
                <a:cs typeface="Times New Roman" panose="02020603050405020304" pitchFamily="18" charset="0"/>
              </a:rPr>
              <a:t>F</a:t>
            </a:r>
            <a:r>
              <a:rPr lang="en-US" altLang="en-US" dirty="0">
                <a:latin typeface="Times New Roman" panose="02020603050405020304" pitchFamily="18" charset="0"/>
                <a:cs typeface="Times New Roman" panose="02020603050405020304" pitchFamily="18" charset="0"/>
              </a:rPr>
              <a:t>(10)</a:t>
            </a:r>
            <a:r>
              <a:rPr lang="en-US" altLang="en-US" dirty="0">
                <a:latin typeface="Arial" charset="0"/>
                <a:cs typeface="Arial" charset="0"/>
              </a:rPr>
              <a:t> almost ten million times…</a:t>
            </a:r>
          </a:p>
        </p:txBody>
      </p:sp>
    </p:spTree>
    <p:extLst>
      <p:ext uri="{BB962C8B-B14F-4D97-AF65-F5344CB8AC3E}">
        <p14:creationId xmlns:p14="http://schemas.microsoft.com/office/powerpoint/2010/main" val="668506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dirty="0">
                <a:latin typeface="Arial" charset="0"/>
                <a:cs typeface="Arial" charset="0"/>
              </a:rPr>
              <a:t>Fibonacci numbers</a:t>
            </a:r>
          </a:p>
        </p:txBody>
      </p:sp>
      <p:sp>
        <p:nvSpPr>
          <p:cNvPr id="1843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Here is a possible solution:</a:t>
            </a:r>
          </a:p>
          <a:p>
            <a:pPr lvl="1"/>
            <a:r>
              <a:rPr lang="en-US" altLang="en-US" dirty="0">
                <a:latin typeface="Arial" charset="0"/>
                <a:cs typeface="Arial" charset="0"/>
              </a:rPr>
              <a:t>To avoid calculating values multiple times, store intermediate calculations in a table</a:t>
            </a:r>
          </a:p>
          <a:p>
            <a:pPr lvl="1"/>
            <a:r>
              <a:rPr lang="en-US" altLang="en-US" dirty="0">
                <a:latin typeface="Arial" charset="0"/>
                <a:cs typeface="Arial" charset="0"/>
              </a:rPr>
              <a:t>When storing intermediate results, this process is called </a:t>
            </a:r>
            <a:r>
              <a:rPr lang="en-US" altLang="en-US" i="1" dirty="0">
                <a:latin typeface="Arial" charset="0"/>
                <a:cs typeface="Arial" charset="0"/>
              </a:rPr>
              <a:t>memoization</a:t>
            </a:r>
            <a:endParaRPr lang="en-US" altLang="en-US" dirty="0">
              <a:latin typeface="Arial" charset="0"/>
              <a:cs typeface="Arial" charset="0"/>
            </a:endParaRPr>
          </a:p>
          <a:p>
            <a:pPr lvl="2"/>
            <a:r>
              <a:rPr lang="en-US" altLang="en-US" dirty="0">
                <a:latin typeface="Arial" charset="0"/>
                <a:cs typeface="Arial" charset="0"/>
              </a:rPr>
              <a:t>The root is </a:t>
            </a:r>
            <a:r>
              <a:rPr lang="en-US" altLang="en-US" i="1" dirty="0">
                <a:latin typeface="Arial" charset="0"/>
                <a:cs typeface="Arial" charset="0"/>
              </a:rPr>
              <a:t>memo</a:t>
            </a:r>
            <a:endParaRPr lang="en-US" altLang="en-US" dirty="0">
              <a:latin typeface="Arial" charset="0"/>
              <a:cs typeface="Arial" charset="0"/>
            </a:endParaRPr>
          </a:p>
          <a:p>
            <a:pPr lvl="1"/>
            <a:r>
              <a:rPr lang="en-US" altLang="en-US" dirty="0">
                <a:latin typeface="Arial" charset="0"/>
                <a:cs typeface="Arial" charset="0"/>
              </a:rPr>
              <a:t>We save (</a:t>
            </a:r>
            <a:r>
              <a:rPr lang="en-US" altLang="en-US" i="1" dirty="0">
                <a:latin typeface="Arial" charset="0"/>
                <a:cs typeface="Arial" charset="0"/>
              </a:rPr>
              <a:t>memoize</a:t>
            </a:r>
            <a:r>
              <a:rPr lang="en-US" altLang="en-US" dirty="0">
                <a:latin typeface="Arial" charset="0"/>
                <a:cs typeface="Arial" charset="0"/>
              </a:rPr>
              <a:t>) computed answers for possible later reuse, rather than re-computing the answer multiple times</a:t>
            </a:r>
          </a:p>
          <a:p>
            <a:pPr lvl="1"/>
            <a:endParaRPr lang="en-US" altLang="en-US" dirty="0">
              <a:latin typeface="Arial" charset="0"/>
              <a:cs typeface="Arial" charset="0"/>
            </a:endParaRPr>
          </a:p>
        </p:txBody>
      </p:sp>
    </p:spTree>
    <p:extLst>
      <p:ext uri="{BB962C8B-B14F-4D97-AF65-F5344CB8AC3E}">
        <p14:creationId xmlns:p14="http://schemas.microsoft.com/office/powerpoint/2010/main" val="2165142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dirty="0">
                <a:latin typeface="Arial" charset="0"/>
                <a:cs typeface="Arial" charset="0"/>
              </a:rPr>
              <a:t>Connected</a:t>
            </a:r>
          </a:p>
        </p:txBody>
      </p:sp>
      <p:sp>
        <p:nvSpPr>
          <p:cNvPr id="35843" name="Rectangle 3"/>
          <p:cNvSpPr>
            <a:spLocks noGrp="1" noChangeArrowheads="1"/>
          </p:cNvSpPr>
          <p:nvPr>
            <p:ph type="body" idx="1"/>
          </p:nvPr>
        </p:nvSpPr>
        <p:spPr>
          <a:xfrm>
            <a:off x="452684" y="1055948"/>
            <a:ext cx="12099432" cy="6436925"/>
          </a:xfrm>
        </p:spPr>
        <p:txBody>
          <a:bodyPr>
            <a:noAutofit/>
          </a:bodyPr>
          <a:lstStyle/>
          <a:p>
            <a:pPr>
              <a:buFont typeface="Arial" charset="0"/>
              <a:buNone/>
            </a:pPr>
            <a:r>
              <a:rPr lang="en-US" altLang="en-US" sz="2200" dirty="0">
                <a:latin typeface="Arial" charset="0"/>
                <a:cs typeface="Arial" charset="0"/>
              </a:rPr>
              <a:t>Determining if two vertices are connected in a DAG, we could implement the following:</a:t>
            </a:r>
            <a:endParaRPr lang="en-US" altLang="en-US" sz="2200" dirty="0">
              <a:latin typeface="Times New Roman" pitchFamily="18" charset="0"/>
              <a:cs typeface="Times New Roman" pitchFamily="18" charset="0"/>
            </a:endParaRPr>
          </a:p>
          <a:p>
            <a:pPr>
              <a:buFont typeface="Arial" charset="0"/>
              <a:buNone/>
            </a:pPr>
            <a:r>
              <a:rPr lang="en-US" altLang="en-US" sz="2200" dirty="0">
                <a:latin typeface="Consolas" pitchFamily="49" charset="0"/>
                <a:cs typeface="Consolas" pitchFamily="49" charset="0"/>
              </a:rPr>
              <a:t>		</a:t>
            </a:r>
          </a:p>
          <a:p>
            <a:pPr lvl="2">
              <a:buNone/>
            </a:pPr>
            <a:r>
              <a:rPr lang="en-US" altLang="en-US" sz="2200" dirty="0" err="1">
                <a:latin typeface="Consolas" pitchFamily="49" charset="0"/>
                <a:cs typeface="Consolas" pitchFamily="49" charset="0"/>
              </a:rPr>
              <a:t>bool</a:t>
            </a:r>
            <a:r>
              <a:rPr lang="en-US" altLang="en-US" sz="2200" dirty="0">
                <a:latin typeface="Consolas" pitchFamily="49" charset="0"/>
                <a:cs typeface="Consolas" pitchFamily="49" charset="0"/>
              </a:rPr>
              <a:t> </a:t>
            </a:r>
            <a:r>
              <a:rPr lang="en-US" altLang="en-US" sz="2200" dirty="0" err="1">
                <a:latin typeface="Consolas" pitchFamily="49" charset="0"/>
                <a:cs typeface="Consolas" pitchFamily="49" charset="0"/>
              </a:rPr>
              <a:t>Weighted_graph</a:t>
            </a:r>
            <a:r>
              <a:rPr lang="en-US" altLang="en-US" sz="2200" dirty="0">
                <a:latin typeface="Consolas" pitchFamily="49" charset="0"/>
                <a:cs typeface="Consolas" pitchFamily="49" charset="0"/>
              </a:rPr>
              <a:t>::connected( </a:t>
            </a:r>
            <a:r>
              <a:rPr lang="en-US" altLang="en-US" sz="2200" dirty="0" err="1">
                <a:latin typeface="Consolas" pitchFamily="49" charset="0"/>
                <a:cs typeface="Consolas" pitchFamily="49" charset="0"/>
              </a:rPr>
              <a:t>int</a:t>
            </a:r>
            <a:r>
              <a:rPr lang="en-US" altLang="en-US" sz="2200" dirty="0">
                <a:latin typeface="Consolas" pitchFamily="49" charset="0"/>
                <a:cs typeface="Consolas" pitchFamily="49" charset="0"/>
              </a:rPr>
              <a:t> </a:t>
            </a:r>
            <a:r>
              <a:rPr lang="en-US" altLang="en-US" sz="2200" dirty="0" err="1">
                <a:latin typeface="Consolas" pitchFamily="49" charset="0"/>
                <a:cs typeface="Consolas" pitchFamily="49" charset="0"/>
              </a:rPr>
              <a:t>i</a:t>
            </a:r>
            <a:r>
              <a:rPr lang="en-US" altLang="en-US" sz="2200" dirty="0">
                <a:latin typeface="Consolas" pitchFamily="49" charset="0"/>
                <a:cs typeface="Consolas" pitchFamily="49" charset="0"/>
              </a:rPr>
              <a:t>, </a:t>
            </a:r>
            <a:r>
              <a:rPr lang="en-US" altLang="en-US" sz="2200" dirty="0" err="1">
                <a:latin typeface="Consolas" pitchFamily="49" charset="0"/>
                <a:cs typeface="Consolas" pitchFamily="49" charset="0"/>
              </a:rPr>
              <a:t>int</a:t>
            </a:r>
            <a:r>
              <a:rPr lang="en-US" altLang="en-US" sz="2200" dirty="0">
                <a:latin typeface="Consolas" pitchFamily="49" charset="0"/>
                <a:cs typeface="Consolas" pitchFamily="49" charset="0"/>
              </a:rPr>
              <a:t> j ) {</a:t>
            </a:r>
          </a:p>
          <a:p>
            <a:pPr lvl="2">
              <a:buNone/>
            </a:pPr>
            <a:r>
              <a:rPr lang="en-US" altLang="en-US" sz="2200" dirty="0">
                <a:latin typeface="Consolas" pitchFamily="49" charset="0"/>
                <a:cs typeface="Consolas" pitchFamily="49" charset="0"/>
              </a:rPr>
              <a:t>    if ( adjacent( </a:t>
            </a:r>
            <a:r>
              <a:rPr lang="en-US" altLang="en-US" sz="2200" dirty="0" err="1">
                <a:latin typeface="Consolas" pitchFamily="49" charset="0"/>
                <a:cs typeface="Consolas" pitchFamily="49" charset="0"/>
              </a:rPr>
              <a:t>i</a:t>
            </a:r>
            <a:r>
              <a:rPr lang="en-US" altLang="en-US" sz="2200" dirty="0">
                <a:latin typeface="Consolas" pitchFamily="49" charset="0"/>
                <a:cs typeface="Consolas" pitchFamily="49" charset="0"/>
              </a:rPr>
              <a:t>, j ) ) {</a:t>
            </a:r>
          </a:p>
          <a:p>
            <a:pPr lvl="2">
              <a:buNone/>
            </a:pPr>
            <a:r>
              <a:rPr lang="en-US" altLang="en-US" sz="2200" dirty="0">
                <a:latin typeface="Consolas" pitchFamily="49" charset="0"/>
                <a:cs typeface="Consolas" pitchFamily="49" charset="0"/>
              </a:rPr>
              <a:t>        return true;</a:t>
            </a:r>
          </a:p>
          <a:p>
            <a:pPr lvl="2">
              <a:buNone/>
            </a:pPr>
            <a:r>
              <a:rPr lang="en-US" altLang="en-US" sz="2200" dirty="0">
                <a:latin typeface="Consolas" pitchFamily="49" charset="0"/>
                <a:cs typeface="Consolas" pitchFamily="49" charset="0"/>
              </a:rPr>
              <a:t>    }</a:t>
            </a:r>
          </a:p>
          <a:p>
            <a:pPr lvl="2">
              <a:buNone/>
            </a:pPr>
            <a:endParaRPr lang="en-US" altLang="en-US" sz="2200" dirty="0">
              <a:latin typeface="Consolas" pitchFamily="49" charset="0"/>
              <a:cs typeface="Consolas" pitchFamily="49" charset="0"/>
            </a:endParaRPr>
          </a:p>
          <a:p>
            <a:pPr lvl="2">
              <a:buNone/>
            </a:pPr>
            <a:r>
              <a:rPr lang="en-US" altLang="en-US" sz="2200" dirty="0">
                <a:latin typeface="Consolas" pitchFamily="49" charset="0"/>
                <a:cs typeface="Consolas" pitchFamily="49" charset="0"/>
              </a:rPr>
              <a:t>    for ( </a:t>
            </a:r>
            <a:r>
              <a:rPr lang="en-US" altLang="en-US" sz="2200" dirty="0" err="1">
                <a:latin typeface="Consolas" pitchFamily="49" charset="0"/>
                <a:cs typeface="Consolas" pitchFamily="49" charset="0"/>
              </a:rPr>
              <a:t>int</a:t>
            </a:r>
            <a:r>
              <a:rPr lang="en-US" altLang="en-US" sz="2200" dirty="0">
                <a:latin typeface="Consolas" pitchFamily="49" charset="0"/>
                <a:cs typeface="Consolas" pitchFamily="49" charset="0"/>
              </a:rPr>
              <a:t> v : neighbors( </a:t>
            </a:r>
            <a:r>
              <a:rPr lang="en-US" altLang="en-US" sz="2200" dirty="0" err="1">
                <a:latin typeface="Consolas" pitchFamily="49" charset="0"/>
                <a:cs typeface="Consolas" pitchFamily="49" charset="0"/>
              </a:rPr>
              <a:t>i</a:t>
            </a:r>
            <a:r>
              <a:rPr lang="en-US" altLang="en-US" sz="2200" dirty="0">
                <a:latin typeface="Consolas" pitchFamily="49" charset="0"/>
                <a:cs typeface="Consolas" pitchFamily="49" charset="0"/>
              </a:rPr>
              <a:t> ) ) {</a:t>
            </a:r>
          </a:p>
          <a:p>
            <a:pPr lvl="2">
              <a:buNone/>
            </a:pPr>
            <a:r>
              <a:rPr lang="en-US" altLang="en-US" sz="2200" dirty="0">
                <a:latin typeface="Consolas" pitchFamily="49" charset="0"/>
                <a:cs typeface="Consolas" pitchFamily="49" charset="0"/>
              </a:rPr>
              <a:t>        if ( connected( v, j ) ) {</a:t>
            </a:r>
          </a:p>
          <a:p>
            <a:pPr lvl="2">
              <a:buNone/>
            </a:pPr>
            <a:r>
              <a:rPr lang="en-US" altLang="en-US" sz="2200" dirty="0">
                <a:latin typeface="Consolas" pitchFamily="49" charset="0"/>
                <a:cs typeface="Consolas" pitchFamily="49" charset="0"/>
              </a:rPr>
              <a:t>            return true;</a:t>
            </a:r>
          </a:p>
          <a:p>
            <a:pPr lvl="2">
              <a:buNone/>
            </a:pPr>
            <a:r>
              <a:rPr lang="en-US" altLang="en-US" sz="2200" dirty="0">
                <a:latin typeface="Consolas" pitchFamily="49" charset="0"/>
                <a:cs typeface="Consolas" pitchFamily="49" charset="0"/>
              </a:rPr>
              <a:t>        }</a:t>
            </a:r>
          </a:p>
          <a:p>
            <a:pPr lvl="2">
              <a:buNone/>
            </a:pPr>
            <a:r>
              <a:rPr lang="en-US" altLang="en-US" sz="2200" dirty="0">
                <a:latin typeface="Consolas" pitchFamily="49" charset="0"/>
                <a:cs typeface="Consolas" pitchFamily="49" charset="0"/>
              </a:rPr>
              <a:t>    }</a:t>
            </a:r>
          </a:p>
          <a:p>
            <a:pPr lvl="2">
              <a:buNone/>
            </a:pPr>
            <a:r>
              <a:rPr lang="en-US" altLang="en-US" sz="2200" dirty="0">
                <a:latin typeface="Consolas" pitchFamily="49" charset="0"/>
                <a:cs typeface="Consolas" pitchFamily="49" charset="0"/>
              </a:rPr>
              <a:t>    return false;</a:t>
            </a:r>
          </a:p>
          <a:p>
            <a:pPr lvl="2">
              <a:buNone/>
            </a:pPr>
            <a:r>
              <a:rPr lang="en-US" altLang="en-US" sz="2200" dirty="0">
                <a:latin typeface="Consolas" pitchFamily="49" charset="0"/>
                <a:cs typeface="Consolas" pitchFamily="49" charset="0"/>
              </a:rPr>
              <a:t>}</a:t>
            </a:r>
          </a:p>
          <a:p>
            <a:pPr lvl="2">
              <a:buNone/>
            </a:pPr>
            <a:endParaRPr lang="en-US" altLang="en-US" sz="2200" dirty="0">
              <a:latin typeface="Consolas" pitchFamily="49" charset="0"/>
              <a:cs typeface="Consolas" pitchFamily="49" charset="0"/>
            </a:endParaRPr>
          </a:p>
          <a:p>
            <a:pPr lvl="1"/>
            <a:r>
              <a:rPr lang="en-US" altLang="en-US" sz="2200" dirty="0">
                <a:solidFill>
                  <a:prstClr val="black"/>
                </a:solidFill>
                <a:latin typeface="Arial" charset="0"/>
                <a:cs typeface="Arial" charset="0"/>
              </a:rPr>
              <a:t>What are the issues with this implementation?</a:t>
            </a:r>
            <a:endParaRPr lang="en-US" altLang="en-US" sz="2200" dirty="0">
              <a:solidFill>
                <a:prstClr val="black"/>
              </a:solidFill>
              <a:latin typeface="Consolas" pitchFamily="49" charset="0"/>
              <a:cs typeface="Consolas" pitchFamily="49" charset="0"/>
            </a:endParaRPr>
          </a:p>
          <a:p>
            <a:pPr lvl="2">
              <a:buNone/>
            </a:pPr>
            <a:endParaRPr lang="en-US" altLang="en-US" sz="2200" dirty="0">
              <a:latin typeface="Consolas" pitchFamily="49" charset="0"/>
              <a:cs typeface="Consolas" pitchFamily="49" charset="0"/>
            </a:endParaRPr>
          </a:p>
        </p:txBody>
      </p:sp>
      <p:pic>
        <p:nvPicPr>
          <p:cNvPr id="4" name="Picture 2" descr="C:\Users\dwharder\Desktop\a1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4458" y="5081623"/>
            <a:ext cx="5732498" cy="2763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0248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dirty="0">
                <a:latin typeface="Arial" charset="0"/>
                <a:cs typeface="Arial" charset="0"/>
              </a:rPr>
              <a:t>Dynamic programming</a:t>
            </a:r>
          </a:p>
        </p:txBody>
      </p:sp>
      <p:sp>
        <p:nvSpPr>
          <p:cNvPr id="1843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In solving optimization problems, the top-down approach may require repeatedly obtaining optimal solutions for the same sub-problem</a:t>
            </a:r>
          </a:p>
          <a:p>
            <a:pPr lvl="1"/>
            <a:r>
              <a:rPr lang="en-US" altLang="en-US" dirty="0">
                <a:latin typeface="Arial" charset="0"/>
                <a:cs typeface="Arial" charset="0"/>
              </a:rPr>
              <a:t>Mathematician Richard Bellman initially formulated the concept of dynamic programming in 1953 to solve such problems</a:t>
            </a:r>
          </a:p>
          <a:p>
            <a:pPr lvl="1"/>
            <a:r>
              <a:rPr lang="en-US" altLang="en-US" dirty="0">
                <a:latin typeface="Arial" charset="0"/>
                <a:cs typeface="Arial" charset="0"/>
              </a:rPr>
              <a:t>This isn’t new, but Bellman formally defined this process</a:t>
            </a:r>
          </a:p>
        </p:txBody>
      </p:sp>
    </p:spTree>
    <p:extLst>
      <p:ext uri="{BB962C8B-B14F-4D97-AF65-F5344CB8AC3E}">
        <p14:creationId xmlns:p14="http://schemas.microsoft.com/office/powerpoint/2010/main" val="3736752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dirty="0">
                <a:latin typeface="Arial" charset="0"/>
                <a:cs typeface="Arial" charset="0"/>
              </a:rPr>
              <a:t>Dynamic programming</a:t>
            </a:r>
          </a:p>
        </p:txBody>
      </p:sp>
      <p:sp>
        <p:nvSpPr>
          <p:cNvPr id="27651"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Dynamic programming is distinct from divide-and-conquer, as the divide-and-conquer approach works well if the sub-problems are essentially unique</a:t>
            </a:r>
          </a:p>
          <a:p>
            <a:pPr lvl="1"/>
            <a:r>
              <a:rPr lang="en-US" altLang="en-US" dirty="0">
                <a:latin typeface="Arial" charset="0"/>
                <a:cs typeface="Arial" charset="0"/>
              </a:rPr>
              <a:t>Storing intermediate results would only waste memory</a:t>
            </a:r>
          </a:p>
          <a:p>
            <a:pPr lvl="1"/>
            <a:endParaRPr lang="en-US" altLang="en-US" dirty="0">
              <a:latin typeface="Arial" charset="0"/>
              <a:cs typeface="Arial" charset="0"/>
            </a:endParaRPr>
          </a:p>
          <a:p>
            <a:pPr marL="514765" indent="-514765"/>
            <a:r>
              <a:rPr lang="en-US" altLang="en-US" dirty="0">
                <a:latin typeface="Arial" charset="0"/>
                <a:cs typeface="Arial" charset="0"/>
              </a:rPr>
              <a:t>If sub-problems re-occur, the problem is said to have </a:t>
            </a:r>
            <a:r>
              <a:rPr lang="en-US" altLang="en-US" i="1" dirty="0">
                <a:latin typeface="Arial" charset="0"/>
                <a:cs typeface="Arial" charset="0"/>
              </a:rPr>
              <a:t>overlapping sub-problems</a:t>
            </a:r>
            <a:endParaRPr lang="en-US" altLang="en-US" dirty="0">
              <a:latin typeface="Arial" charset="0"/>
              <a:cs typeface="Arial" charset="0"/>
            </a:endParaRPr>
          </a:p>
          <a:p>
            <a:pPr>
              <a:buFont typeface="Arial" charset="0"/>
              <a:buNone/>
            </a:pPr>
            <a:r>
              <a:rPr lang="en-US" altLang="en-US" dirty="0">
                <a:latin typeface="Arial" charset="0"/>
                <a:cs typeface="Arial" charset="0"/>
              </a:rPr>
              <a:t>	</a:t>
            </a:r>
          </a:p>
        </p:txBody>
      </p:sp>
    </p:spTree>
    <p:extLst>
      <p:ext uri="{BB962C8B-B14F-4D97-AF65-F5344CB8AC3E}">
        <p14:creationId xmlns:p14="http://schemas.microsoft.com/office/powerpoint/2010/main" val="3478910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92" name="Algorithmic paradigms"/>
          <p:cNvSpPr txBox="1">
            <a:spLocks noGrp="1"/>
          </p:cNvSpPr>
          <p:nvPr>
            <p:ph type="title"/>
          </p:nvPr>
        </p:nvSpPr>
        <p:spPr>
          <a:prstGeom prst="rect">
            <a:avLst/>
          </a:prstGeom>
        </p:spPr>
        <p:txBody>
          <a:bodyPr/>
          <a:lstStyle/>
          <a:p>
            <a:r>
              <a:t>Algorithmic paradigms</a:t>
            </a:r>
          </a:p>
        </p:txBody>
      </p:sp>
      <p:sp>
        <p:nvSpPr>
          <p:cNvPr id="93" name="Greed.  Process the input in some order, myopically making irrevocable decisions.…"/>
          <p:cNvSpPr txBox="1">
            <a:spLocks noGrp="1"/>
          </p:cNvSpPr>
          <p:nvPr>
            <p:ph type="body" idx="1"/>
          </p:nvPr>
        </p:nvSpPr>
        <p:spPr>
          <a:prstGeom prst="rect">
            <a:avLst/>
          </a:prstGeom>
        </p:spPr>
        <p:txBody>
          <a:bodyPr/>
          <a:lstStyle/>
          <a:p>
            <a:pPr marL="58702" indent="-58702">
              <a:buClr>
                <a:srgbClr val="0048AA"/>
              </a:buClr>
              <a:buFont typeface="Lucida Sans"/>
            </a:pPr>
            <a:r>
              <a:rPr dirty="0"/>
              <a:t>Greed</a:t>
            </a:r>
            <a:r>
              <a:rPr lang="en-US" dirty="0"/>
              <a:t>y</a:t>
            </a:r>
            <a:r>
              <a:rPr dirty="0"/>
              <a:t>.  </a:t>
            </a:r>
            <a:r>
              <a:rPr dirty="0">
                <a:solidFill>
                  <a:srgbClr val="000000"/>
                </a:solidFill>
                <a:uFill>
                  <a:solidFill>
                    <a:srgbClr val="000000"/>
                  </a:solidFill>
                </a:uFill>
              </a:rPr>
              <a:t>Process the input in some order, myopically making irrevocable decisions.</a:t>
            </a:r>
            <a:br>
              <a:rPr dirty="0">
                <a:solidFill>
                  <a:srgbClr val="000000"/>
                </a:solidFill>
                <a:uFill>
                  <a:solidFill>
                    <a:srgbClr val="000000"/>
                  </a:solidFill>
                </a:uFill>
              </a:rPr>
            </a:br>
            <a:endParaRPr dirty="0">
              <a:solidFill>
                <a:srgbClr val="000000"/>
              </a:solidFill>
              <a:uFill>
                <a:solidFill>
                  <a:srgbClr val="000000"/>
                </a:solidFill>
              </a:uFill>
            </a:endParaRPr>
          </a:p>
          <a:p>
            <a:pPr marL="58702" indent="-58702">
              <a:buClr>
                <a:srgbClr val="0048AA"/>
              </a:buClr>
              <a:buFont typeface="Lucida Sans"/>
            </a:pPr>
            <a:r>
              <a:rPr dirty="0"/>
              <a:t>Divide-and-conquer.  </a:t>
            </a:r>
            <a:r>
              <a:rPr dirty="0">
                <a:solidFill>
                  <a:srgbClr val="000000"/>
                </a:solidFill>
                <a:uFill>
                  <a:solidFill>
                    <a:srgbClr val="000000"/>
                  </a:solidFill>
                </a:uFill>
              </a:rPr>
              <a:t>Break up a problem into </a:t>
            </a:r>
            <a:r>
              <a:rPr dirty="0">
                <a:solidFill>
                  <a:srgbClr val="8D3124"/>
                </a:solidFill>
                <a:uFill>
                  <a:solidFill>
                    <a:srgbClr val="8D3124"/>
                  </a:solidFill>
                </a:uFill>
              </a:rPr>
              <a:t>independent</a:t>
            </a:r>
            <a:r>
              <a:rPr dirty="0">
                <a:solidFill>
                  <a:srgbClr val="000000"/>
                </a:solidFill>
                <a:uFill>
                  <a:solidFill>
                    <a:srgbClr val="000000"/>
                  </a:solidFill>
                </a:uFill>
              </a:rPr>
              <a:t> subproblems;</a:t>
            </a:r>
            <a:br>
              <a:rPr dirty="0">
                <a:solidFill>
                  <a:srgbClr val="000000"/>
                </a:solidFill>
                <a:uFill>
                  <a:solidFill>
                    <a:srgbClr val="000000"/>
                  </a:solidFill>
                </a:uFill>
              </a:rPr>
            </a:br>
            <a:r>
              <a:rPr dirty="0">
                <a:solidFill>
                  <a:srgbClr val="000000"/>
                </a:solidFill>
                <a:uFill>
                  <a:solidFill>
                    <a:srgbClr val="000000"/>
                  </a:solidFill>
                </a:uFill>
              </a:rPr>
              <a:t>solve each subproblem; combine solutions to subproblems to form solution to original problem. </a:t>
            </a:r>
          </a:p>
          <a:p>
            <a:pPr marL="58702" indent="-58702">
              <a:buClr>
                <a:srgbClr val="0048AA"/>
              </a:buClr>
              <a:buFont typeface="Lucida Sans"/>
            </a:pPr>
            <a:br>
              <a:rPr dirty="0">
                <a:solidFill>
                  <a:srgbClr val="000000"/>
                </a:solidFill>
                <a:uFill>
                  <a:solidFill>
                    <a:srgbClr val="000000"/>
                  </a:solidFill>
                </a:uFill>
              </a:rPr>
            </a:br>
            <a:r>
              <a:rPr dirty="0"/>
              <a:t>Dynamic programming.  </a:t>
            </a:r>
            <a:r>
              <a:rPr dirty="0">
                <a:solidFill>
                  <a:srgbClr val="000000"/>
                </a:solidFill>
                <a:uFill>
                  <a:solidFill>
                    <a:srgbClr val="000000"/>
                  </a:solidFill>
                </a:uFill>
              </a:rPr>
              <a:t>Break up a problem into a series of </a:t>
            </a:r>
            <a:r>
              <a:rPr dirty="0">
                <a:solidFill>
                  <a:srgbClr val="8D3124"/>
                </a:solidFill>
                <a:uFill>
                  <a:solidFill>
                    <a:srgbClr val="8D3124"/>
                  </a:solidFill>
                </a:uFill>
              </a:rPr>
              <a:t>overlapping</a:t>
            </a:r>
            <a:r>
              <a:rPr dirty="0">
                <a:solidFill>
                  <a:srgbClr val="000000"/>
                </a:solidFill>
                <a:uFill>
                  <a:solidFill>
                    <a:srgbClr val="000000"/>
                  </a:solidFill>
                </a:uFill>
              </a:rPr>
              <a:t> subproblems; combine solutions to smaller subproblems to form solution to large subproblem.</a:t>
            </a:r>
          </a:p>
        </p:txBody>
      </p:sp>
      <p:sp>
        <p:nvSpPr>
          <p:cNvPr id="94" name="幻灯片编号"/>
          <p:cNvSpPr txBox="1">
            <a:spLocks noGrp="1"/>
          </p:cNvSpPr>
          <p:nvPr>
            <p:ph type="sldNum" sz="quarter" idx="2"/>
          </p:nvPr>
        </p:nvSpPr>
        <p:spPr>
          <a:xfrm>
            <a:off x="12409971" y="9347200"/>
            <a:ext cx="173658" cy="2540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9</a:t>
            </a:fld>
            <a:endParaRPr/>
          </a:p>
        </p:txBody>
      </p:sp>
      <p:grpSp>
        <p:nvGrpSpPr>
          <p:cNvPr id="97" name="成组"/>
          <p:cNvGrpSpPr/>
          <p:nvPr/>
        </p:nvGrpSpPr>
        <p:grpSpPr>
          <a:xfrm>
            <a:off x="2755899" y="5118100"/>
            <a:ext cx="2527656" cy="3009900"/>
            <a:chOff x="13684" y="0"/>
            <a:chExt cx="2527655" cy="3009900"/>
          </a:xfrm>
        </p:grpSpPr>
        <p:sp>
          <p:nvSpPr>
            <p:cNvPr id="95" name="fancy name for…"/>
            <p:cNvSpPr/>
            <p:nvPr/>
          </p:nvSpPr>
          <p:spPr>
            <a:xfrm>
              <a:off x="1271339" y="173990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lnSpc>
                  <a:spcPct val="140000"/>
                </a:lnSpc>
              </a:pPr>
              <a:r>
                <a:rPr dirty="0"/>
                <a:t>fancy name for</a:t>
              </a:r>
            </a:p>
            <a:p>
              <a:pPr>
                <a:lnSpc>
                  <a:spcPct val="140000"/>
                </a:lnSpc>
              </a:pPr>
              <a:r>
                <a:rPr dirty="0"/>
                <a:t>caching intermediate results</a:t>
              </a:r>
            </a:p>
            <a:p>
              <a:pPr>
                <a:lnSpc>
                  <a:spcPct val="140000"/>
                </a:lnSpc>
              </a:pPr>
              <a:r>
                <a:rPr dirty="0"/>
                <a:t>in a table for later reuse</a:t>
              </a:r>
            </a:p>
          </p:txBody>
        </p:sp>
        <p:sp>
          <p:nvSpPr>
            <p:cNvPr id="96" name="线条"/>
            <p:cNvSpPr/>
            <p:nvPr/>
          </p:nvSpPr>
          <p:spPr>
            <a:xfrm>
              <a:off x="13684" y="0"/>
              <a:ext cx="831206" cy="1642071"/>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9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9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9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2" nodeType="clickEffect">
                                  <p:stCondLst>
                                    <p:cond delay="0"/>
                                  </p:stCondLst>
                                  <p:iterate>
                                    <p:tmAbs val="0"/>
                                  </p:iterate>
                                  <p:childTnLst>
                                    <p:set>
                                      <p:cBhvr>
                                        <p:cTn id="20" fill="hold"/>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1" build="p" bldLvl="5" animBg="1" advAuto="0"/>
      <p:bldP spid="97" grpId="2" animBg="1" advAuto="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102" name="Dynamic programming history"/>
          <p:cNvSpPr txBox="1">
            <a:spLocks noGrp="1"/>
          </p:cNvSpPr>
          <p:nvPr>
            <p:ph type="title"/>
          </p:nvPr>
        </p:nvSpPr>
        <p:spPr>
          <a:prstGeom prst="rect">
            <a:avLst/>
          </a:prstGeom>
        </p:spPr>
        <p:txBody>
          <a:bodyPr/>
          <a:lstStyle/>
          <a:p>
            <a:r>
              <a:t>Dynamic programming history</a:t>
            </a:r>
          </a:p>
        </p:txBody>
      </p:sp>
      <p:sp>
        <p:nvSpPr>
          <p:cNvPr id="103" name="Bellman. Pioneered the systematic study of dynamic programming in 1950s.…"/>
          <p:cNvSpPr txBox="1">
            <a:spLocks noGrp="1"/>
          </p:cNvSpPr>
          <p:nvPr>
            <p:ph type="body" idx="1"/>
          </p:nvPr>
        </p:nvSpPr>
        <p:spPr>
          <a:prstGeom prst="rect">
            <a:avLst/>
          </a:prstGeom>
        </p:spPr>
        <p:txBody>
          <a:bodyPr/>
          <a:lstStyle/>
          <a:p>
            <a:r>
              <a:t>Bellman. </a:t>
            </a:r>
            <a:r>
              <a:rPr>
                <a:solidFill>
                  <a:srgbClr val="000000"/>
                </a:solidFill>
              </a:rPr>
              <a:t>Pioneered the systematic study of dynamic programming in 1950s.</a:t>
            </a:r>
          </a:p>
          <a:p>
            <a:br>
              <a:rPr>
                <a:solidFill>
                  <a:srgbClr val="000000"/>
                </a:solidFill>
              </a:rPr>
            </a:br>
            <a:r>
              <a:t>Etymology.</a:t>
            </a:r>
          </a:p>
          <a:p>
            <a:pPr lvl="1"/>
            <a:r>
              <a:t>Dynamic programming = planning over time.</a:t>
            </a:r>
          </a:p>
          <a:p>
            <a:pPr lvl="1"/>
            <a:r>
              <a:t>Secretary of Defense had pathological fear of mathematical research.</a:t>
            </a:r>
          </a:p>
          <a:p>
            <a:pPr lvl="1"/>
            <a:r>
              <a:t>Bellman sought a “dynamic” adjective to avoid conflict.</a:t>
            </a:r>
          </a:p>
        </p:txBody>
      </p:sp>
      <p:sp>
        <p:nvSpPr>
          <p:cNvPr id="104" name="幻灯片编号"/>
          <p:cNvSpPr txBox="1">
            <a:spLocks noGrp="1"/>
          </p:cNvSpPr>
          <p:nvPr>
            <p:ph type="sldNum" sz="quarter" idx="2"/>
          </p:nvPr>
        </p:nvSpPr>
        <p:spPr>
          <a:xfrm>
            <a:off x="12401525" y="9347200"/>
            <a:ext cx="190550" cy="2540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10</a:t>
            </a:fld>
            <a:endParaRPr/>
          </a:p>
        </p:txBody>
      </p:sp>
      <p:grpSp>
        <p:nvGrpSpPr>
          <p:cNvPr id="107" name="成组"/>
          <p:cNvGrpSpPr/>
          <p:nvPr/>
        </p:nvGrpSpPr>
        <p:grpSpPr>
          <a:xfrm>
            <a:off x="2578098" y="4876800"/>
            <a:ext cx="7848604" cy="4256801"/>
            <a:chOff x="0" y="0"/>
            <a:chExt cx="7848603" cy="4256800"/>
          </a:xfrm>
        </p:grpSpPr>
        <p:pic>
          <p:nvPicPr>
            <p:cNvPr id="105" name="bellman-cover.pdf" descr="bellman-cover.pdf"/>
            <p:cNvPicPr>
              <a:picLocks noChangeAspect="1"/>
            </p:cNvPicPr>
            <p:nvPr/>
          </p:nvPicPr>
          <p:blipFill>
            <a:blip r:embed="rId3"/>
            <a:srcRect l="17988" t="15226" r="16176" b="34097"/>
            <a:stretch>
              <a:fillRect/>
            </a:stretch>
          </p:blipFill>
          <p:spPr>
            <a:xfrm>
              <a:off x="3579487" y="3578"/>
              <a:ext cx="4269117" cy="4252697"/>
            </a:xfrm>
            <a:prstGeom prst="rect">
              <a:avLst/>
            </a:prstGeom>
            <a:ln w="12700" cap="flat">
              <a:noFill/>
              <a:miter lim="400000"/>
            </a:ln>
            <a:effectLst/>
          </p:spPr>
        </p:pic>
        <p:pic>
          <p:nvPicPr>
            <p:cNvPr id="106" name="Richard_Bellman_Mathematics.jpg" descr="Richard_Bellman_Mathematics.jpg"/>
            <p:cNvPicPr>
              <a:picLocks noChangeAspect="1"/>
            </p:cNvPicPr>
            <p:nvPr/>
          </p:nvPicPr>
          <p:blipFill>
            <a:blip r:embed="rId4"/>
            <a:srcRect b="4687"/>
            <a:stretch>
              <a:fillRect/>
            </a:stretch>
          </p:blipFill>
          <p:spPr>
            <a:xfrm>
              <a:off x="0" y="0"/>
              <a:ext cx="3574482" cy="4256801"/>
            </a:xfrm>
            <a:prstGeom prst="rect">
              <a:avLst/>
            </a:prstGeom>
            <a:ln w="12700" cap="flat">
              <a:noFill/>
              <a:miter lim="400000"/>
            </a:ln>
            <a:effectLst/>
          </p:spPr>
        </p:pic>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0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03">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2" nodeType="afterEffect">
                                  <p:stCondLst>
                                    <p:cond delay="0"/>
                                  </p:stCondLst>
                                  <p:iterate>
                                    <p:tmAbs val="0"/>
                                  </p:iterate>
                                  <p:childTnLst>
                                    <p:set>
                                      <p:cBhvr>
                                        <p:cTn id="11" fill="hold"/>
                                        <p:tgtEl>
                                          <p:spTgt spid="10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1" nodeType="clickEffect">
                                  <p:stCondLst>
                                    <p:cond delay="0"/>
                                  </p:stCondLst>
                                  <p:iterate>
                                    <p:tmAbs val="0"/>
                                  </p:iterate>
                                  <p:childTnLst>
                                    <p:set>
                                      <p:cBhvr>
                                        <p:cTn id="15" fill="hold"/>
                                        <p:tgtEl>
                                          <p:spTgt spid="10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iterate>
                                    <p:tmAbs val="0"/>
                                  </p:iterate>
                                  <p:childTnLst>
                                    <p:set>
                                      <p:cBhvr>
                                        <p:cTn id="19" fill="hold"/>
                                        <p:tgtEl>
                                          <p:spTgt spid="10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1" nodeType="clickEffect">
                                  <p:stCondLst>
                                    <p:cond delay="0"/>
                                  </p:stCondLst>
                                  <p:iterate>
                                    <p:tmAbs val="0"/>
                                  </p:iterate>
                                  <p:childTnLst>
                                    <p:set>
                                      <p:cBhvr>
                                        <p:cTn id="23" fill="hold"/>
                                        <p:tgtEl>
                                          <p:spTgt spid="103">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1" nodeType="clickEffect">
                                  <p:stCondLst>
                                    <p:cond delay="0"/>
                                  </p:stCondLst>
                                  <p:iterate>
                                    <p:tmAbs val="0"/>
                                  </p:iterate>
                                  <p:childTnLst>
                                    <p:set>
                                      <p:cBhvr>
                                        <p:cTn id="27" fill="hold"/>
                                        <p:tgtEl>
                                          <p:spTgt spid="1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1" build="p" bldLvl="5" animBg="1" advAuto="0"/>
      <p:bldP spid="107" grpId="2"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112" name="Dynamic programming applications"/>
          <p:cNvSpPr txBox="1">
            <a:spLocks noGrp="1"/>
          </p:cNvSpPr>
          <p:nvPr>
            <p:ph type="title"/>
          </p:nvPr>
        </p:nvSpPr>
        <p:spPr>
          <a:prstGeom prst="rect">
            <a:avLst/>
          </a:prstGeom>
        </p:spPr>
        <p:txBody>
          <a:bodyPr/>
          <a:lstStyle/>
          <a:p>
            <a:r>
              <a:t>Dynamic programming applications</a:t>
            </a:r>
          </a:p>
        </p:txBody>
      </p:sp>
      <p:sp>
        <p:nvSpPr>
          <p:cNvPr id="113" name="Application areas.…"/>
          <p:cNvSpPr txBox="1">
            <a:spLocks noGrp="1"/>
          </p:cNvSpPr>
          <p:nvPr>
            <p:ph type="body" idx="1"/>
          </p:nvPr>
        </p:nvSpPr>
        <p:spPr>
          <a:prstGeom prst="rect">
            <a:avLst/>
          </a:prstGeom>
        </p:spPr>
        <p:txBody>
          <a:bodyPr/>
          <a:lstStyle/>
          <a:p>
            <a:r>
              <a:rPr dirty="0"/>
              <a:t>Application areas. </a:t>
            </a:r>
          </a:p>
          <a:p>
            <a:pPr lvl="1"/>
            <a:r>
              <a:rPr dirty="0"/>
              <a:t>Computer science:  AI, compilers, systems, graphics, theory, ….</a:t>
            </a:r>
          </a:p>
          <a:p>
            <a:pPr lvl="1"/>
            <a:r>
              <a:rPr dirty="0"/>
              <a:t>Operations research.</a:t>
            </a:r>
          </a:p>
          <a:p>
            <a:pPr lvl="1"/>
            <a:r>
              <a:rPr dirty="0"/>
              <a:t>Information theory.</a:t>
            </a:r>
          </a:p>
          <a:p>
            <a:pPr lvl="1"/>
            <a:r>
              <a:rPr dirty="0"/>
              <a:t>Control theory.</a:t>
            </a:r>
          </a:p>
          <a:p>
            <a:pPr lvl="1"/>
            <a:r>
              <a:rPr dirty="0"/>
              <a:t>Bioinformatics.</a:t>
            </a:r>
          </a:p>
          <a:p>
            <a:br>
              <a:rPr dirty="0"/>
            </a:br>
            <a:r>
              <a:rPr dirty="0"/>
              <a:t>Some famous dynamic programming algorithms. </a:t>
            </a:r>
          </a:p>
          <a:p>
            <a:pPr lvl="1"/>
            <a:r>
              <a:rPr dirty="0" err="1"/>
              <a:t>Avidan</a:t>
            </a:r>
            <a:r>
              <a:rPr dirty="0"/>
              <a:t>–Shamir for seam carving.</a:t>
            </a:r>
          </a:p>
          <a:p>
            <a:pPr lvl="1"/>
            <a:r>
              <a:rPr dirty="0"/>
              <a:t>Unix diff for comparing two files.</a:t>
            </a:r>
          </a:p>
          <a:p>
            <a:pPr lvl="1"/>
            <a:r>
              <a:rPr dirty="0"/>
              <a:t>Viterbi for hidden Markov models.</a:t>
            </a:r>
          </a:p>
          <a:p>
            <a:pPr lvl="1"/>
            <a:r>
              <a:rPr dirty="0"/>
              <a:t>De Boor for evaluating spline curves.</a:t>
            </a:r>
          </a:p>
          <a:p>
            <a:pPr lvl="1"/>
            <a:r>
              <a:rPr dirty="0"/>
              <a:t>Bellman–Ford–Moore for shortest path.</a:t>
            </a:r>
          </a:p>
          <a:p>
            <a:pPr lvl="1"/>
            <a:r>
              <a:rPr dirty="0"/>
              <a:t>Knuth–</a:t>
            </a:r>
            <a:r>
              <a:rPr dirty="0" err="1"/>
              <a:t>Plass</a:t>
            </a:r>
            <a:r>
              <a:rPr dirty="0"/>
              <a:t> for word wrapping text in       .</a:t>
            </a:r>
          </a:p>
          <a:p>
            <a:pPr lvl="1"/>
            <a:r>
              <a:rPr dirty="0" err="1"/>
              <a:t>Cocke</a:t>
            </a:r>
            <a:r>
              <a:rPr dirty="0"/>
              <a:t>–</a:t>
            </a:r>
            <a:r>
              <a:rPr dirty="0" err="1"/>
              <a:t>Kasami</a:t>
            </a:r>
            <a:r>
              <a:rPr dirty="0"/>
              <a:t>–Younger for parsing context-free grammars.</a:t>
            </a:r>
          </a:p>
          <a:p>
            <a:pPr lvl="1"/>
            <a:r>
              <a:rPr dirty="0"/>
              <a:t>Needleman–Wunsch/Smith–Waterman for sequence alignment.</a:t>
            </a:r>
          </a:p>
        </p:txBody>
      </p:sp>
      <p:sp>
        <p:nvSpPr>
          <p:cNvPr id="114" name="幻灯片编号"/>
          <p:cNvSpPr txBox="1">
            <a:spLocks noGrp="1"/>
          </p:cNvSpPr>
          <p:nvPr>
            <p:ph type="sldNum" sz="quarter" idx="2"/>
          </p:nvPr>
        </p:nvSpPr>
        <p:spPr>
          <a:xfrm>
            <a:off x="12409971" y="9347200"/>
            <a:ext cx="173658" cy="2540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11</a:t>
            </a:fld>
            <a:endParaRPr/>
          </a:p>
        </p:txBody>
      </p:sp>
      <p:pic>
        <p:nvPicPr>
          <p:cNvPr id="115" name="图像" descr="图像"/>
          <p:cNvPicPr>
            <a:picLocks noChangeAspect="1"/>
          </p:cNvPicPr>
          <p:nvPr/>
        </p:nvPicPr>
        <p:blipFill>
          <a:blip r:embed="rId2"/>
          <a:stretch>
            <a:fillRect/>
          </a:stretch>
        </p:blipFill>
        <p:spPr>
          <a:xfrm>
            <a:off x="7188200" y="7691757"/>
            <a:ext cx="609600" cy="279401"/>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7"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118" name="Dynamic programming books"/>
          <p:cNvSpPr txBox="1">
            <a:spLocks noGrp="1"/>
          </p:cNvSpPr>
          <p:nvPr>
            <p:ph type="title"/>
          </p:nvPr>
        </p:nvSpPr>
        <p:spPr>
          <a:prstGeom prst="rect">
            <a:avLst/>
          </a:prstGeom>
        </p:spPr>
        <p:txBody>
          <a:bodyPr/>
          <a:lstStyle/>
          <a:p>
            <a:r>
              <a:t>Dynamic programming books</a:t>
            </a:r>
          </a:p>
        </p:txBody>
      </p:sp>
      <p:grpSp>
        <p:nvGrpSpPr>
          <p:cNvPr id="139" name="成组"/>
          <p:cNvGrpSpPr/>
          <p:nvPr/>
        </p:nvGrpSpPr>
        <p:grpSpPr>
          <a:xfrm>
            <a:off x="812799" y="1505326"/>
            <a:ext cx="11591317" cy="7949850"/>
            <a:chOff x="0" y="0"/>
            <a:chExt cx="11591315" cy="7949849"/>
          </a:xfrm>
        </p:grpSpPr>
        <p:pic>
          <p:nvPicPr>
            <p:cNvPr id="119" name="1493909940.jpg" descr="1493909940.jpg"/>
            <p:cNvPicPr>
              <a:picLocks noChangeAspect="1"/>
            </p:cNvPicPr>
            <p:nvPr/>
          </p:nvPicPr>
          <p:blipFill>
            <a:blip r:embed="rId2"/>
            <a:stretch>
              <a:fillRect/>
            </a:stretch>
          </p:blipFill>
          <p:spPr>
            <a:xfrm>
              <a:off x="5020502" y="5663849"/>
              <a:ext cx="1526961" cy="2286001"/>
            </a:xfrm>
            <a:prstGeom prst="rect">
              <a:avLst/>
            </a:prstGeom>
            <a:ln w="12700" cap="flat">
              <a:noFill/>
              <a:miter lim="400000"/>
            </a:ln>
            <a:effectLst/>
          </p:spPr>
        </p:pic>
        <p:pic>
          <p:nvPicPr>
            <p:cNvPr id="120" name="approximate-dynamic-programming-for-dynamic-vehicle-routing.jpg" descr="approximate-dynamic-programming-for-dynamic-vehicle-routing.jpg"/>
            <p:cNvPicPr>
              <a:picLocks noChangeAspect="1"/>
            </p:cNvPicPr>
            <p:nvPr/>
          </p:nvPicPr>
          <p:blipFill>
            <a:blip r:embed="rId3"/>
            <a:stretch>
              <a:fillRect/>
            </a:stretch>
          </p:blipFill>
          <p:spPr>
            <a:xfrm>
              <a:off x="3350395" y="5663849"/>
              <a:ext cx="1519696" cy="2286001"/>
            </a:xfrm>
            <a:prstGeom prst="rect">
              <a:avLst/>
            </a:prstGeom>
            <a:ln w="12700" cap="flat">
              <a:noFill/>
              <a:miter lim="400000"/>
            </a:ln>
            <a:effectLst/>
          </p:spPr>
        </p:pic>
        <p:pic>
          <p:nvPicPr>
            <p:cNvPr id="121" name="51cGA0+8MqL._SX331_BO1,204,203,200_.jpg" descr="51cGA0+8MqL._SX331_BO1,204,203,200_.jpg"/>
            <p:cNvPicPr>
              <a:picLocks noChangeAspect="1"/>
            </p:cNvPicPr>
            <p:nvPr/>
          </p:nvPicPr>
          <p:blipFill>
            <a:blip r:embed="rId4"/>
            <a:stretch>
              <a:fillRect/>
            </a:stretch>
          </p:blipFill>
          <p:spPr>
            <a:xfrm>
              <a:off x="6701830" y="2826745"/>
              <a:ext cx="1525528" cy="2286001"/>
            </a:xfrm>
            <a:prstGeom prst="rect">
              <a:avLst/>
            </a:prstGeom>
            <a:ln w="12700" cap="flat">
              <a:noFill/>
              <a:miter lim="400000"/>
            </a:ln>
            <a:effectLst/>
          </p:spPr>
        </p:pic>
        <p:pic>
          <p:nvPicPr>
            <p:cNvPr id="122" name="51iyqR+G5mL._AC_UL320_SR208,320_.jpg" descr="51iyqR+G5mL._AC_UL320_SR208,320_.jpg"/>
            <p:cNvPicPr>
              <a:picLocks noChangeAspect="1"/>
            </p:cNvPicPr>
            <p:nvPr/>
          </p:nvPicPr>
          <p:blipFill>
            <a:blip r:embed="rId5"/>
            <a:stretch>
              <a:fillRect/>
            </a:stretch>
          </p:blipFill>
          <p:spPr>
            <a:xfrm>
              <a:off x="1710732" y="5663849"/>
              <a:ext cx="1485901" cy="2286001"/>
            </a:xfrm>
            <a:prstGeom prst="rect">
              <a:avLst/>
            </a:prstGeom>
            <a:ln w="12700" cap="flat">
              <a:noFill/>
              <a:miter lim="400000"/>
            </a:ln>
            <a:effectLst/>
          </p:spPr>
        </p:pic>
        <p:pic>
          <p:nvPicPr>
            <p:cNvPr id="123" name="bookcover_9780470171554.jpg" descr="bookcover_9780470171554.jpg"/>
            <p:cNvPicPr>
              <a:picLocks noChangeAspect="1"/>
            </p:cNvPicPr>
            <p:nvPr/>
          </p:nvPicPr>
          <p:blipFill>
            <a:blip r:embed="rId6"/>
            <a:stretch>
              <a:fillRect/>
            </a:stretch>
          </p:blipFill>
          <p:spPr>
            <a:xfrm>
              <a:off x="3322936" y="2826745"/>
              <a:ext cx="1602101" cy="2286001"/>
            </a:xfrm>
            <a:prstGeom prst="rect">
              <a:avLst/>
            </a:prstGeom>
            <a:ln w="12700" cap="flat">
              <a:noFill/>
              <a:miter lim="400000"/>
            </a:ln>
            <a:effectLst/>
          </p:spPr>
        </p:pic>
        <p:pic>
          <p:nvPicPr>
            <p:cNvPr id="124" name="41nq7be2kvL._SX331_BO1,204,203,200_.jpg" descr="41nq7be2kvL._SX331_BO1,204,203,200_.jpg"/>
            <p:cNvPicPr>
              <a:picLocks noChangeAspect="1"/>
            </p:cNvPicPr>
            <p:nvPr/>
          </p:nvPicPr>
          <p:blipFill>
            <a:blip r:embed="rId7"/>
            <a:stretch>
              <a:fillRect/>
            </a:stretch>
          </p:blipFill>
          <p:spPr>
            <a:xfrm>
              <a:off x="3360045" y="0"/>
              <a:ext cx="1525528" cy="2286000"/>
            </a:xfrm>
            <a:prstGeom prst="rect">
              <a:avLst/>
            </a:prstGeom>
            <a:ln w="12700" cap="flat">
              <a:noFill/>
              <a:miter lim="400000"/>
            </a:ln>
            <a:effectLst/>
          </p:spPr>
        </p:pic>
        <p:pic>
          <p:nvPicPr>
            <p:cNvPr id="125" name="31KtsmpQtKL._SX331_BO1,204,203,200_.jpg" descr="31KtsmpQtKL._SX331_BO1,204,203,200_.jpg"/>
            <p:cNvPicPr>
              <a:picLocks noChangeAspect="1"/>
            </p:cNvPicPr>
            <p:nvPr/>
          </p:nvPicPr>
          <p:blipFill>
            <a:blip r:embed="rId8"/>
            <a:stretch>
              <a:fillRect/>
            </a:stretch>
          </p:blipFill>
          <p:spPr>
            <a:xfrm>
              <a:off x="0" y="5663849"/>
              <a:ext cx="1525528" cy="2286001"/>
            </a:xfrm>
            <a:prstGeom prst="rect">
              <a:avLst/>
            </a:prstGeom>
            <a:ln w="12700" cap="flat">
              <a:noFill/>
              <a:miter lim="400000"/>
            </a:ln>
            <a:effectLst/>
          </p:spPr>
        </p:pic>
        <p:pic>
          <p:nvPicPr>
            <p:cNvPr id="126" name="51N3GRDQF8L._SX324_BO1,204,203,200_.jpg" descr="51N3GRDQF8L._SX324_BO1,204,203,200_.jpg"/>
            <p:cNvPicPr>
              <a:picLocks noChangeAspect="1"/>
            </p:cNvPicPr>
            <p:nvPr/>
          </p:nvPicPr>
          <p:blipFill>
            <a:blip r:embed="rId9"/>
            <a:stretch>
              <a:fillRect/>
            </a:stretch>
          </p:blipFill>
          <p:spPr>
            <a:xfrm>
              <a:off x="10019087" y="5663849"/>
              <a:ext cx="1572229" cy="2286001"/>
            </a:xfrm>
            <a:prstGeom prst="rect">
              <a:avLst/>
            </a:prstGeom>
            <a:ln w="12700" cap="flat">
              <a:noFill/>
              <a:miter lim="400000"/>
            </a:ln>
            <a:effectLst/>
          </p:spPr>
        </p:pic>
        <p:pic>
          <p:nvPicPr>
            <p:cNvPr id="127" name="41nwOEP7EqL._SX331_BO1,204,203,200_.jpg" descr="41nwOEP7EqL._SX331_BO1,204,203,200_.jpg"/>
            <p:cNvPicPr>
              <a:picLocks noChangeAspect="1"/>
            </p:cNvPicPr>
            <p:nvPr/>
          </p:nvPicPr>
          <p:blipFill>
            <a:blip r:embed="rId10"/>
            <a:stretch>
              <a:fillRect/>
            </a:stretch>
          </p:blipFill>
          <p:spPr>
            <a:xfrm>
              <a:off x="1690919" y="2826745"/>
              <a:ext cx="1525528" cy="2286001"/>
            </a:xfrm>
            <a:prstGeom prst="rect">
              <a:avLst/>
            </a:prstGeom>
            <a:ln w="12700" cap="flat">
              <a:noFill/>
              <a:miter lim="400000"/>
            </a:ln>
            <a:effectLst/>
          </p:spPr>
        </p:pic>
        <p:pic>
          <p:nvPicPr>
            <p:cNvPr id="128" name="9780824740993-us.jpg" descr="9780824740993-us.jpg"/>
            <p:cNvPicPr>
              <a:picLocks noChangeAspect="1"/>
            </p:cNvPicPr>
            <p:nvPr/>
          </p:nvPicPr>
          <p:blipFill>
            <a:blip r:embed="rId11"/>
            <a:stretch>
              <a:fillRect/>
            </a:stretch>
          </p:blipFill>
          <p:spPr>
            <a:xfrm>
              <a:off x="6753304" y="0"/>
              <a:ext cx="1444753" cy="2286000"/>
            </a:xfrm>
            <a:prstGeom prst="rect">
              <a:avLst/>
            </a:prstGeom>
            <a:ln w="12700" cap="flat">
              <a:noFill/>
              <a:miter lim="400000"/>
            </a:ln>
            <a:effectLst/>
          </p:spPr>
        </p:pic>
        <p:pic>
          <p:nvPicPr>
            <p:cNvPr id="129" name="9781584881483.jpg" descr="9781584881483.jpg"/>
            <p:cNvPicPr>
              <a:picLocks noChangeAspect="1"/>
            </p:cNvPicPr>
            <p:nvPr/>
          </p:nvPicPr>
          <p:blipFill>
            <a:blip r:embed="rId12"/>
            <a:stretch>
              <a:fillRect/>
            </a:stretch>
          </p:blipFill>
          <p:spPr>
            <a:xfrm>
              <a:off x="8408267" y="5663849"/>
              <a:ext cx="1446390" cy="2286001"/>
            </a:xfrm>
            <a:prstGeom prst="rect">
              <a:avLst/>
            </a:prstGeom>
            <a:ln w="12700" cap="flat">
              <a:noFill/>
              <a:miter lim="400000"/>
            </a:ln>
            <a:effectLst/>
          </p:spPr>
        </p:pic>
        <p:pic>
          <p:nvPicPr>
            <p:cNvPr id="130" name="047166054X.jpg" descr="047166054X.jpg"/>
            <p:cNvPicPr>
              <a:picLocks noChangeAspect="1"/>
            </p:cNvPicPr>
            <p:nvPr/>
          </p:nvPicPr>
          <p:blipFill>
            <a:blip r:embed="rId13"/>
            <a:stretch>
              <a:fillRect/>
            </a:stretch>
          </p:blipFill>
          <p:spPr>
            <a:xfrm>
              <a:off x="8379433" y="2826745"/>
              <a:ext cx="1434729" cy="2286001"/>
            </a:xfrm>
            <a:prstGeom prst="rect">
              <a:avLst/>
            </a:prstGeom>
            <a:ln w="12700" cap="flat">
              <a:noFill/>
              <a:miter lim="400000"/>
            </a:ln>
            <a:effectLst/>
          </p:spPr>
        </p:pic>
        <p:pic>
          <p:nvPicPr>
            <p:cNvPr id="131" name="9783642864513.jpg" descr="9783642864513.jpg"/>
            <p:cNvPicPr>
              <a:picLocks noChangeAspect="1"/>
            </p:cNvPicPr>
            <p:nvPr/>
          </p:nvPicPr>
          <p:blipFill>
            <a:blip r:embed="rId14"/>
            <a:stretch>
              <a:fillRect/>
            </a:stretch>
          </p:blipFill>
          <p:spPr>
            <a:xfrm>
              <a:off x="5054619" y="2826745"/>
              <a:ext cx="1507579" cy="2286001"/>
            </a:xfrm>
            <a:prstGeom prst="rect">
              <a:avLst/>
            </a:prstGeom>
            <a:ln w="12700" cap="flat">
              <a:noFill/>
              <a:miter lim="400000"/>
            </a:ln>
            <a:effectLst/>
          </p:spPr>
        </p:pic>
        <p:pic>
          <p:nvPicPr>
            <p:cNvPr id="132" name="ADP2nd_front_cover_Final.jpg" descr="ADP2nd_front_cover_Final.jpg"/>
            <p:cNvPicPr>
              <a:picLocks noChangeAspect="1"/>
            </p:cNvPicPr>
            <p:nvPr/>
          </p:nvPicPr>
          <p:blipFill>
            <a:blip r:embed="rId15"/>
            <a:stretch>
              <a:fillRect/>
            </a:stretch>
          </p:blipFill>
          <p:spPr>
            <a:xfrm>
              <a:off x="8362009" y="0"/>
              <a:ext cx="1529413" cy="2286000"/>
            </a:xfrm>
            <a:prstGeom prst="rect">
              <a:avLst/>
            </a:prstGeom>
            <a:ln w="12700" cap="flat">
              <a:noFill/>
              <a:miter lim="400000"/>
            </a:ln>
            <a:effectLst/>
          </p:spPr>
        </p:pic>
        <p:pic>
          <p:nvPicPr>
            <p:cNvPr id="133" name="51dudJSiEjL._SX331_BO1,204,203,200_.jpg" descr="51dudJSiEjL._SX331_BO1,204,203,200_.jpg"/>
            <p:cNvPicPr>
              <a:picLocks noChangeAspect="1"/>
            </p:cNvPicPr>
            <p:nvPr/>
          </p:nvPicPr>
          <p:blipFill>
            <a:blip r:embed="rId16"/>
            <a:stretch>
              <a:fillRect/>
            </a:stretch>
          </p:blipFill>
          <p:spPr>
            <a:xfrm>
              <a:off x="10065787" y="0"/>
              <a:ext cx="1525529" cy="2286000"/>
            </a:xfrm>
            <a:prstGeom prst="rect">
              <a:avLst/>
            </a:prstGeom>
            <a:ln w="12700" cap="flat">
              <a:noFill/>
              <a:miter lim="400000"/>
            </a:ln>
            <a:effectLst/>
          </p:spPr>
        </p:pic>
        <p:pic>
          <p:nvPicPr>
            <p:cNvPr id="134" name="dpcover1.jpg" descr="dpcover1.jpg"/>
            <p:cNvPicPr>
              <a:picLocks noChangeAspect="1"/>
            </p:cNvPicPr>
            <p:nvPr/>
          </p:nvPicPr>
          <p:blipFill>
            <a:blip r:embed="rId17"/>
            <a:stretch>
              <a:fillRect/>
            </a:stretch>
          </p:blipFill>
          <p:spPr>
            <a:xfrm>
              <a:off x="9963683" y="2826745"/>
              <a:ext cx="1627633" cy="2286001"/>
            </a:xfrm>
            <a:prstGeom prst="rect">
              <a:avLst/>
            </a:prstGeom>
            <a:ln w="12700" cap="flat">
              <a:noFill/>
              <a:miter lim="400000"/>
            </a:ln>
            <a:effectLst/>
          </p:spPr>
        </p:pic>
        <p:pic>
          <p:nvPicPr>
            <p:cNvPr id="135" name="41D8Xr9CtkL._SX340_BO1,204,203,200_.jpg" descr="41D8Xr9CtkL._SX340_BO1,204,203,200_.jpg"/>
            <p:cNvPicPr>
              <a:picLocks noChangeAspect="1"/>
            </p:cNvPicPr>
            <p:nvPr/>
          </p:nvPicPr>
          <p:blipFill>
            <a:blip r:embed="rId18"/>
            <a:stretch>
              <a:fillRect/>
            </a:stretch>
          </p:blipFill>
          <p:spPr>
            <a:xfrm>
              <a:off x="0" y="2826745"/>
              <a:ext cx="1566758" cy="2286001"/>
            </a:xfrm>
            <a:prstGeom prst="rect">
              <a:avLst/>
            </a:prstGeom>
            <a:ln w="12700" cap="flat">
              <a:noFill/>
              <a:miter lim="400000"/>
            </a:ln>
            <a:effectLst/>
          </p:spPr>
        </p:pic>
        <p:pic>
          <p:nvPicPr>
            <p:cNvPr id="136" name="1197050.jpg" descr="1197050.jpg"/>
            <p:cNvPicPr>
              <a:picLocks noChangeAspect="1"/>
            </p:cNvPicPr>
            <p:nvPr/>
          </p:nvPicPr>
          <p:blipFill>
            <a:blip r:embed="rId19"/>
            <a:stretch>
              <a:fillRect/>
            </a:stretch>
          </p:blipFill>
          <p:spPr>
            <a:xfrm>
              <a:off x="5036292" y="0"/>
              <a:ext cx="1525906" cy="2286000"/>
            </a:xfrm>
            <a:prstGeom prst="rect">
              <a:avLst/>
            </a:prstGeom>
            <a:ln w="12700" cap="flat">
              <a:noFill/>
              <a:miter lim="400000"/>
            </a:ln>
            <a:effectLst/>
          </p:spPr>
        </p:pic>
        <p:pic>
          <p:nvPicPr>
            <p:cNvPr id="137" name="9781447147565.jpg" descr="9781447147565.jpg"/>
            <p:cNvPicPr>
              <a:picLocks noChangeAspect="1"/>
            </p:cNvPicPr>
            <p:nvPr/>
          </p:nvPicPr>
          <p:blipFill>
            <a:blip r:embed="rId20"/>
            <a:stretch>
              <a:fillRect/>
            </a:stretch>
          </p:blipFill>
          <p:spPr>
            <a:xfrm>
              <a:off x="1686029" y="0"/>
              <a:ext cx="1520688" cy="2286000"/>
            </a:xfrm>
            <a:prstGeom prst="rect">
              <a:avLst/>
            </a:prstGeom>
            <a:ln w="12700" cap="flat">
              <a:noFill/>
              <a:miter lim="400000"/>
            </a:ln>
            <a:effectLst/>
          </p:spPr>
        </p:pic>
        <p:pic>
          <p:nvPicPr>
            <p:cNvPr id="138" name="41b3KJSoofL._SX331_BO1,204,203,200_.jpg" descr="41b3KJSoofL._SX331_BO1,204,203,200_.jpg"/>
            <p:cNvPicPr>
              <a:picLocks noChangeAspect="1"/>
            </p:cNvPicPr>
            <p:nvPr/>
          </p:nvPicPr>
          <p:blipFill>
            <a:blip r:embed="rId21"/>
            <a:stretch>
              <a:fillRect/>
            </a:stretch>
          </p:blipFill>
          <p:spPr>
            <a:xfrm>
              <a:off x="6712916" y="5663849"/>
              <a:ext cx="1525528" cy="2286001"/>
            </a:xfrm>
            <a:prstGeom prst="rect">
              <a:avLst/>
            </a:prstGeom>
            <a:ln w="12700" cap="flat">
              <a:noFill/>
              <a:miter lim="400000"/>
            </a:ln>
            <a:effectLst/>
          </p:spPr>
        </p:pic>
      </p:grpSp>
      <p:pic>
        <p:nvPicPr>
          <p:cNvPr id="140" name="9780691146683.png" descr="9780691146683.png"/>
          <p:cNvPicPr>
            <a:picLocks noChangeAspect="1"/>
          </p:cNvPicPr>
          <p:nvPr/>
        </p:nvPicPr>
        <p:blipFill>
          <a:blip r:embed="rId22"/>
          <a:stretch>
            <a:fillRect/>
          </a:stretch>
        </p:blipFill>
        <p:spPr>
          <a:xfrm>
            <a:off x="825500" y="1505326"/>
            <a:ext cx="1514476" cy="2286001"/>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9" presetClass="entr" fill="hold" grpId="1" nodeType="clickEffect">
                                  <p:stCondLst>
                                    <p:cond delay="0"/>
                                  </p:stCondLst>
                                  <p:iterate>
                                    <p:tmAbs val="0"/>
                                  </p:iterate>
                                  <p:childTnLst>
                                    <p:set>
                                      <p:cBhvr>
                                        <p:cTn id="6" fill="hold"/>
                                        <p:tgtEl>
                                          <p:spTgt spid="139"/>
                                        </p:tgtEl>
                                        <p:attrNameLst>
                                          <p:attrName>style.visibility</p:attrName>
                                        </p:attrNameLst>
                                      </p:cBhvr>
                                      <p:to>
                                        <p:strVal val="visible"/>
                                      </p:to>
                                    </p:set>
                                    <p:animEffect transition="in" filter="dissolve">
                                      <p:cBhvr>
                                        <p:cTn id="7" dur="30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 grpId="1"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2" name="KleinbergTardosCover.pdf" descr="KleinbergTardosCover.pdf"/>
          <p:cNvPicPr>
            <a:picLocks noChangeAspect="1"/>
          </p:cNvPicPr>
          <p:nvPr/>
        </p:nvPicPr>
        <p:blipFill>
          <a:blip r:embed="rId2">
            <a:alphaModFix amt="50000"/>
          </a:blip>
          <a:srcRect l="1755" t="7594" r="1755" b="7594"/>
          <a:stretch>
            <a:fillRect/>
          </a:stretch>
        </p:blipFill>
        <p:spPr>
          <a:xfrm>
            <a:off x="655880" y="1764307"/>
            <a:ext cx="4445201" cy="5056414"/>
          </a:xfrm>
          <a:prstGeom prst="rect">
            <a:avLst/>
          </a:prstGeom>
          <a:ln w="12700">
            <a:miter lim="400000"/>
          </a:ln>
        </p:spPr>
      </p:pic>
      <p:pic>
        <p:nvPicPr>
          <p:cNvPr id="143" name="Aw_COLOR_web_logo.png" descr="Aw_COLOR_web_logo.png"/>
          <p:cNvPicPr>
            <a:picLocks noChangeAspect="1"/>
          </p:cNvPicPr>
          <p:nvPr/>
        </p:nvPicPr>
        <p:blipFill>
          <a:blip r:embed="rId3">
            <a:alphaModFix amt="33000"/>
          </a:blip>
          <a:stretch>
            <a:fillRect/>
          </a:stretch>
        </p:blipFill>
        <p:spPr>
          <a:xfrm>
            <a:off x="4164381" y="1892300"/>
            <a:ext cx="737819" cy="812800"/>
          </a:xfrm>
          <a:prstGeom prst="rect">
            <a:avLst/>
          </a:prstGeom>
          <a:ln w="12700">
            <a:miter lim="400000"/>
          </a:ln>
        </p:spPr>
      </p:pic>
      <p:sp>
        <p:nvSpPr>
          <p:cNvPr id="144" name="线条"/>
          <p:cNvSpPr/>
          <p:nvPr/>
        </p:nvSpPr>
        <p:spPr>
          <a:xfrm>
            <a:off x="5778500" y="2349500"/>
            <a:ext cx="6515101" cy="1"/>
          </a:xfrm>
          <a:prstGeom prst="line">
            <a:avLst/>
          </a:prstGeom>
          <a:ln w="25400">
            <a:solidFill>
              <a:srgbClr val="000000"/>
            </a:solidFill>
            <a:miter lim="400000"/>
          </a:ln>
        </p:spPr>
        <p:txBody>
          <a:bodyPr lIns="50800" tIns="50800" rIns="50800" bIns="50800" anchor="ctr"/>
          <a:lstStyle/>
          <a:p>
            <a:pPr algn="l" defTabSz="457200">
              <a:lnSpc>
                <a:spcPct val="100000"/>
              </a:lnSpc>
              <a:buClrTx/>
              <a:buFontTx/>
              <a:tabLst/>
              <a:defRPr sz="1200">
                <a:solidFill>
                  <a:srgbClr val="000000"/>
                </a:solidFill>
              </a:defRPr>
            </a:pPr>
            <a:endParaRPr/>
          </a:p>
        </p:txBody>
      </p:sp>
      <p:sp>
        <p:nvSpPr>
          <p:cNvPr id="145" name="Dynamic Programming I"/>
          <p:cNvSpPr txBox="1">
            <a:spLocks noGrp="1"/>
          </p:cNvSpPr>
          <p:nvPr>
            <p:ph type="title"/>
          </p:nvPr>
        </p:nvSpPr>
        <p:spPr>
          <a:prstGeom prst="rect">
            <a:avLst/>
          </a:prstGeom>
        </p:spPr>
        <p:txBody>
          <a:bodyPr/>
          <a:lstStyle/>
          <a:p>
            <a:r>
              <a:rPr dirty="0"/>
              <a:t>Dynamic Programming</a:t>
            </a:r>
          </a:p>
        </p:txBody>
      </p:sp>
      <p:sp>
        <p:nvSpPr>
          <p:cNvPr id="146" name="weighted interval scheduling…"/>
          <p:cNvSpPr txBox="1">
            <a:spLocks noGrp="1"/>
          </p:cNvSpPr>
          <p:nvPr>
            <p:ph type="body" sz="half" idx="1"/>
          </p:nvPr>
        </p:nvSpPr>
        <p:spPr>
          <a:prstGeom prst="rect">
            <a:avLst/>
          </a:prstGeom>
        </p:spPr>
        <p:txBody>
          <a:bodyPr/>
          <a:lstStyle/>
          <a:p>
            <a:r>
              <a:t>weighted interval scheduling</a:t>
            </a:r>
          </a:p>
          <a:p>
            <a:pPr lvl="1"/>
            <a:r>
              <a:t>segmented least squares</a:t>
            </a:r>
          </a:p>
          <a:p>
            <a:pPr lvl="1"/>
            <a:r>
              <a:t>knapsack problem</a:t>
            </a:r>
          </a:p>
        </p:txBody>
      </p:sp>
      <p:sp>
        <p:nvSpPr>
          <p:cNvPr id="147" name="Sections 6.1–6.2"/>
          <p:cNvSpPr txBox="1">
            <a:spLocks noGrp="1"/>
          </p:cNvSpPr>
          <p:nvPr>
            <p:ph type="body" idx="13"/>
          </p:nvPr>
        </p:nvSpPr>
        <p:spPr>
          <a:prstGeom prst="rect">
            <a:avLst/>
          </a:prstGeom>
        </p:spPr>
        <p:txBody>
          <a:bodyPr/>
          <a:lstStyle/>
          <a:p>
            <a:r>
              <a:t>Sections 6.1–6.2</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150" name="Weighted interval scheduling"/>
          <p:cNvSpPr txBox="1">
            <a:spLocks noGrp="1"/>
          </p:cNvSpPr>
          <p:nvPr>
            <p:ph type="title"/>
          </p:nvPr>
        </p:nvSpPr>
        <p:spPr>
          <a:prstGeom prst="rect">
            <a:avLst/>
          </a:prstGeom>
        </p:spPr>
        <p:txBody>
          <a:bodyPr/>
          <a:lstStyle/>
          <a:p>
            <a:r>
              <a:t>Weighted interval scheduling</a:t>
            </a:r>
          </a:p>
        </p:txBody>
      </p:sp>
      <p:sp>
        <p:nvSpPr>
          <p:cNvPr id="151" name="Job j starts at sj, finishes at fj, and has weight wj  &gt; 0.…"/>
          <p:cNvSpPr txBox="1">
            <a:spLocks noGrp="1"/>
          </p:cNvSpPr>
          <p:nvPr>
            <p:ph type="body" idx="1"/>
          </p:nvPr>
        </p:nvSpPr>
        <p:spPr>
          <a:prstGeom prst="rect">
            <a:avLst/>
          </a:prstGeom>
        </p:spPr>
        <p:txBody>
          <a:bodyPr/>
          <a:lstStyle/>
          <a:p>
            <a:pPr lvl="1"/>
            <a:r>
              <a:t>Job </a:t>
            </a:r>
            <a:r>
              <a:rPr i="1">
                <a:latin typeface="Times"/>
                <a:ea typeface="Times"/>
                <a:cs typeface="Times"/>
                <a:sym typeface="Times"/>
              </a:rPr>
              <a:t>j</a:t>
            </a:r>
            <a:r>
              <a:t> starts at </a:t>
            </a:r>
            <a:r>
              <a:rPr i="1">
                <a:latin typeface="Times"/>
                <a:ea typeface="Times"/>
                <a:cs typeface="Times"/>
                <a:sym typeface="Times"/>
              </a:rPr>
              <a:t>s</a:t>
            </a:r>
            <a:r>
              <a:rPr i="1" baseline="-5999">
                <a:latin typeface="Times"/>
                <a:ea typeface="Times"/>
                <a:cs typeface="Times"/>
                <a:sym typeface="Times"/>
              </a:rPr>
              <a:t>j</a:t>
            </a:r>
            <a:r>
              <a:t>, finishes at </a:t>
            </a:r>
            <a:r>
              <a:rPr i="1">
                <a:latin typeface="Times"/>
                <a:ea typeface="Times"/>
                <a:cs typeface="Times"/>
                <a:sym typeface="Times"/>
              </a:rPr>
              <a:t>f</a:t>
            </a:r>
            <a:r>
              <a:rPr i="1" baseline="-5999">
                <a:latin typeface="Times"/>
                <a:ea typeface="Times"/>
                <a:cs typeface="Times"/>
                <a:sym typeface="Times"/>
              </a:rPr>
              <a:t>j</a:t>
            </a:r>
            <a:r>
              <a:t>, and has weight </a:t>
            </a:r>
            <a:r>
              <a:rPr i="1">
                <a:latin typeface="Times"/>
                <a:ea typeface="Times"/>
                <a:cs typeface="Times"/>
                <a:sym typeface="Times"/>
              </a:rPr>
              <a:t>w</a:t>
            </a:r>
            <a:r>
              <a:rPr i="1" baseline="-5999">
                <a:latin typeface="Times"/>
                <a:ea typeface="Times"/>
                <a:cs typeface="Times"/>
                <a:sym typeface="Times"/>
              </a:rPr>
              <a:t>j </a:t>
            </a:r>
            <a:r>
              <a:rPr>
                <a:latin typeface="Times"/>
                <a:ea typeface="Times"/>
                <a:cs typeface="Times"/>
                <a:sym typeface="Times"/>
              </a:rPr>
              <a:t> &gt; 0</a:t>
            </a:r>
            <a:r>
              <a:t>.</a:t>
            </a:r>
          </a:p>
          <a:p>
            <a:pPr lvl="1"/>
            <a:r>
              <a:t>Two jobs are </a:t>
            </a:r>
            <a:r>
              <a:rPr>
                <a:solidFill>
                  <a:srgbClr val="A34431"/>
                </a:solidFill>
              </a:rPr>
              <a:t>compatible</a:t>
            </a:r>
            <a:r>
              <a:t> if they don’t overlap.</a:t>
            </a:r>
          </a:p>
          <a:p>
            <a:pPr lvl="1"/>
            <a:r>
              <a:t>Goal:  find max-weight subset of mutually compatible jobs.</a:t>
            </a:r>
          </a:p>
        </p:txBody>
      </p:sp>
      <p:sp>
        <p:nvSpPr>
          <p:cNvPr id="152" name="幻灯片编号"/>
          <p:cNvSpPr txBox="1">
            <a:spLocks noGrp="1"/>
          </p:cNvSpPr>
          <p:nvPr>
            <p:ph type="sldNum" sz="quarter" idx="2"/>
          </p:nvPr>
        </p:nvSpPr>
        <p:spPr>
          <a:xfrm>
            <a:off x="12409971" y="9347200"/>
            <a:ext cx="173658" cy="2540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14</a:t>
            </a:fld>
            <a:endParaRPr/>
          </a:p>
        </p:txBody>
      </p:sp>
      <p:grpSp>
        <p:nvGrpSpPr>
          <p:cNvPr id="191" name="成组"/>
          <p:cNvGrpSpPr/>
          <p:nvPr/>
        </p:nvGrpSpPr>
        <p:grpSpPr>
          <a:xfrm>
            <a:off x="1892300" y="3543300"/>
            <a:ext cx="9740900" cy="5562600"/>
            <a:chOff x="0" y="0"/>
            <a:chExt cx="9740900" cy="5562600"/>
          </a:xfrm>
        </p:grpSpPr>
        <p:sp>
          <p:nvSpPr>
            <p:cNvPr id="153" name="time"/>
            <p:cNvSpPr/>
            <p:nvPr/>
          </p:nvSpPr>
          <p:spPr>
            <a:xfrm>
              <a:off x="8636000" y="5321300"/>
              <a:ext cx="11049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000000"/>
                  </a:solidFill>
                  <a:latin typeface="Lucida Grande"/>
                  <a:ea typeface="Lucida Grande"/>
                  <a:cs typeface="Lucida Grande"/>
                  <a:sym typeface="Lucida Grande"/>
                </a:defRPr>
              </a:lvl1pPr>
            </a:lstStyle>
            <a:p>
              <a:r>
                <a:t>time</a:t>
              </a:r>
            </a:p>
          </p:txBody>
        </p:sp>
        <p:sp>
          <p:nvSpPr>
            <p:cNvPr id="154" name="线条"/>
            <p:cNvSpPr/>
            <p:nvPr/>
          </p:nvSpPr>
          <p:spPr>
            <a:xfrm flipV="1">
              <a:off x="965200" y="91440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55" name="线条"/>
            <p:cNvSpPr/>
            <p:nvPr/>
          </p:nvSpPr>
          <p:spPr>
            <a:xfrm flipV="1">
              <a:off x="266700" y="91440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56" name="线条"/>
            <p:cNvSpPr/>
            <p:nvPr/>
          </p:nvSpPr>
          <p:spPr>
            <a:xfrm flipV="1">
              <a:off x="2336800" y="91440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57" name="线条"/>
            <p:cNvSpPr/>
            <p:nvPr/>
          </p:nvSpPr>
          <p:spPr>
            <a:xfrm flipV="1">
              <a:off x="1651000" y="91440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58" name="线条"/>
            <p:cNvSpPr/>
            <p:nvPr/>
          </p:nvSpPr>
          <p:spPr>
            <a:xfrm flipV="1">
              <a:off x="3035300" y="91440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59" name="线条"/>
            <p:cNvSpPr/>
            <p:nvPr/>
          </p:nvSpPr>
          <p:spPr>
            <a:xfrm flipV="1">
              <a:off x="5092700" y="91440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60" name="线条"/>
            <p:cNvSpPr/>
            <p:nvPr/>
          </p:nvSpPr>
          <p:spPr>
            <a:xfrm flipV="1">
              <a:off x="4406900" y="91440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61" name="线条"/>
            <p:cNvSpPr/>
            <p:nvPr/>
          </p:nvSpPr>
          <p:spPr>
            <a:xfrm flipV="1">
              <a:off x="6477000" y="91440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62" name="线条"/>
            <p:cNvSpPr/>
            <p:nvPr/>
          </p:nvSpPr>
          <p:spPr>
            <a:xfrm flipV="1">
              <a:off x="5778500" y="91440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63" name="线条"/>
            <p:cNvSpPr/>
            <p:nvPr/>
          </p:nvSpPr>
          <p:spPr>
            <a:xfrm flipV="1">
              <a:off x="7848600" y="91440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64" name="线条"/>
            <p:cNvSpPr/>
            <p:nvPr/>
          </p:nvSpPr>
          <p:spPr>
            <a:xfrm flipV="1">
              <a:off x="7162800" y="91440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65" name="f"/>
            <p:cNvSpPr/>
            <p:nvPr/>
          </p:nvSpPr>
          <p:spPr>
            <a:xfrm>
              <a:off x="3721100" y="3873500"/>
              <a:ext cx="2754490" cy="392854"/>
            </a:xfrm>
            <a:prstGeom prst="rect">
              <a:avLst/>
            </a:prstGeom>
            <a:solidFill>
              <a:srgbClr val="CBCBCB"/>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marL="61411" marR="61411" defTabSz="457200">
                <a:defRPr sz="2000" i="1">
                  <a:solidFill>
                    <a:srgbClr val="000000"/>
                  </a:solidFill>
                  <a:latin typeface="Times"/>
                  <a:ea typeface="Times"/>
                  <a:cs typeface="Times"/>
                  <a:sym typeface="Times"/>
                </a:defRPr>
              </a:lvl1pPr>
            </a:lstStyle>
            <a:p>
              <a:r>
                <a:t>f</a:t>
              </a:r>
            </a:p>
          </p:txBody>
        </p:sp>
        <p:sp>
          <p:nvSpPr>
            <p:cNvPr id="166" name="g"/>
            <p:cNvSpPr/>
            <p:nvPr/>
          </p:nvSpPr>
          <p:spPr>
            <a:xfrm>
              <a:off x="4406900" y="4457700"/>
              <a:ext cx="2756747" cy="392854"/>
            </a:xfrm>
            <a:prstGeom prst="rect">
              <a:avLst/>
            </a:prstGeom>
            <a:solidFill>
              <a:srgbClr val="CBCBCB"/>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marL="61411" marR="61411" defTabSz="457200">
                <a:defRPr sz="2000" i="1">
                  <a:solidFill>
                    <a:srgbClr val="000000"/>
                  </a:solidFill>
                  <a:latin typeface="Times"/>
                  <a:ea typeface="Times"/>
                  <a:cs typeface="Times"/>
                  <a:sym typeface="Times"/>
                </a:defRPr>
              </a:lvl1pPr>
            </a:lstStyle>
            <a:p>
              <a:r>
                <a:t>g</a:t>
              </a:r>
            </a:p>
          </p:txBody>
        </p:sp>
        <p:sp>
          <p:nvSpPr>
            <p:cNvPr id="167" name="线条"/>
            <p:cNvSpPr/>
            <p:nvPr/>
          </p:nvSpPr>
          <p:spPr>
            <a:xfrm flipV="1">
              <a:off x="3721100" y="91440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68" name="h"/>
            <p:cNvSpPr/>
            <p:nvPr/>
          </p:nvSpPr>
          <p:spPr>
            <a:xfrm>
              <a:off x="5778500" y="5054600"/>
              <a:ext cx="2068125" cy="395112"/>
            </a:xfrm>
            <a:prstGeom prst="rect">
              <a:avLst/>
            </a:prstGeom>
            <a:solidFill>
              <a:srgbClr val="CBCBCB"/>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marL="61411" marR="61411" defTabSz="457200">
                <a:defRPr sz="2000" i="1">
                  <a:solidFill>
                    <a:srgbClr val="000000"/>
                  </a:solidFill>
                  <a:latin typeface="Times"/>
                  <a:ea typeface="Times"/>
                  <a:cs typeface="Times"/>
                  <a:sym typeface="Times"/>
                </a:defRPr>
              </a:lvl1pPr>
            </a:lstStyle>
            <a:p>
              <a:r>
                <a:t>h</a:t>
              </a:r>
            </a:p>
          </p:txBody>
        </p:sp>
        <p:sp>
          <p:nvSpPr>
            <p:cNvPr id="169" name="e"/>
            <p:cNvSpPr/>
            <p:nvPr/>
          </p:nvSpPr>
          <p:spPr>
            <a:xfrm>
              <a:off x="3035300" y="3276600"/>
              <a:ext cx="2065867" cy="395112"/>
            </a:xfrm>
            <a:prstGeom prst="rect">
              <a:avLst/>
            </a:prstGeom>
            <a:solidFill>
              <a:srgbClr val="CBCBCB"/>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marL="61411" marR="61411" defTabSz="457200">
                <a:defRPr sz="2000" i="1">
                  <a:solidFill>
                    <a:srgbClr val="000000"/>
                  </a:solidFill>
                  <a:latin typeface="Times"/>
                  <a:ea typeface="Times"/>
                  <a:cs typeface="Times"/>
                  <a:sym typeface="Times"/>
                </a:defRPr>
              </a:lvl1pPr>
            </a:lstStyle>
            <a:p>
              <a:r>
                <a:t>e</a:t>
              </a:r>
            </a:p>
          </p:txBody>
        </p:sp>
        <p:sp>
          <p:nvSpPr>
            <p:cNvPr id="170" name="a"/>
            <p:cNvSpPr/>
            <p:nvPr/>
          </p:nvSpPr>
          <p:spPr>
            <a:xfrm>
              <a:off x="254000" y="914400"/>
              <a:ext cx="4156075" cy="392854"/>
            </a:xfrm>
            <a:prstGeom prst="rect">
              <a:avLst/>
            </a:prstGeom>
            <a:solidFill>
              <a:srgbClr val="CBCBCB"/>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marL="61411" marR="61411" defTabSz="457200">
                <a:defRPr sz="2000" i="1">
                  <a:solidFill>
                    <a:srgbClr val="000000"/>
                  </a:solidFill>
                  <a:latin typeface="Times"/>
                  <a:ea typeface="Times"/>
                  <a:cs typeface="Times"/>
                  <a:sym typeface="Times"/>
                </a:defRPr>
              </a:lvl1pPr>
            </a:lstStyle>
            <a:p>
              <a:r>
                <a:t>a</a:t>
              </a:r>
            </a:p>
          </p:txBody>
        </p:sp>
        <p:sp>
          <p:nvSpPr>
            <p:cNvPr id="171" name="b"/>
            <p:cNvSpPr/>
            <p:nvPr/>
          </p:nvSpPr>
          <p:spPr>
            <a:xfrm>
              <a:off x="965200" y="1511300"/>
              <a:ext cx="2068125" cy="392854"/>
            </a:xfrm>
            <a:prstGeom prst="rect">
              <a:avLst/>
            </a:prstGeom>
            <a:solidFill>
              <a:srgbClr val="CBCBCB"/>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marL="61411" marR="61411" defTabSz="457200">
                <a:defRPr sz="2000" i="1">
                  <a:solidFill>
                    <a:srgbClr val="000000"/>
                  </a:solidFill>
                  <a:latin typeface="Times"/>
                  <a:ea typeface="Times"/>
                  <a:cs typeface="Times"/>
                  <a:sym typeface="Times"/>
                </a:defRPr>
              </a:lvl1pPr>
            </a:lstStyle>
            <a:p>
              <a:r>
                <a:t>b</a:t>
              </a:r>
            </a:p>
          </p:txBody>
        </p:sp>
        <p:sp>
          <p:nvSpPr>
            <p:cNvPr id="172" name="c"/>
            <p:cNvSpPr/>
            <p:nvPr/>
          </p:nvSpPr>
          <p:spPr>
            <a:xfrm>
              <a:off x="2336800" y="2095500"/>
              <a:ext cx="1377245" cy="395112"/>
            </a:xfrm>
            <a:prstGeom prst="rect">
              <a:avLst/>
            </a:prstGeom>
            <a:solidFill>
              <a:srgbClr val="CBCBCB"/>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marL="61411" marR="61411" defTabSz="457200">
                <a:defRPr sz="2000" i="1">
                  <a:solidFill>
                    <a:srgbClr val="000000"/>
                  </a:solidFill>
                  <a:latin typeface="Times"/>
                  <a:ea typeface="Times"/>
                  <a:cs typeface="Times"/>
                  <a:sym typeface="Times"/>
                </a:defRPr>
              </a:lvl1pPr>
            </a:lstStyle>
            <a:p>
              <a:r>
                <a:t>c</a:t>
              </a:r>
            </a:p>
          </p:txBody>
        </p:sp>
        <p:sp>
          <p:nvSpPr>
            <p:cNvPr id="173" name="d"/>
            <p:cNvSpPr/>
            <p:nvPr/>
          </p:nvSpPr>
          <p:spPr>
            <a:xfrm>
              <a:off x="2336800" y="2692400"/>
              <a:ext cx="3443112" cy="392854"/>
            </a:xfrm>
            <a:prstGeom prst="rect">
              <a:avLst/>
            </a:prstGeom>
            <a:solidFill>
              <a:srgbClr val="CBCBCB"/>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marL="61411" marR="61411" defTabSz="457200">
                <a:defRPr sz="2000" i="1">
                  <a:solidFill>
                    <a:srgbClr val="000000"/>
                  </a:solidFill>
                  <a:latin typeface="Times"/>
                  <a:ea typeface="Times"/>
                  <a:cs typeface="Times"/>
                  <a:sym typeface="Times"/>
                </a:defRPr>
              </a:lvl1pPr>
            </a:lstStyle>
            <a:p>
              <a:r>
                <a:t>d</a:t>
              </a:r>
            </a:p>
          </p:txBody>
        </p:sp>
        <p:sp>
          <p:nvSpPr>
            <p:cNvPr id="174" name="0"/>
            <p:cNvSpPr/>
            <p:nvPr/>
          </p:nvSpPr>
          <p:spPr>
            <a:xfrm>
              <a:off x="0" y="5562600"/>
              <a:ext cx="6096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0</a:t>
              </a:r>
            </a:p>
          </p:txBody>
        </p:sp>
        <p:sp>
          <p:nvSpPr>
            <p:cNvPr id="175" name="1"/>
            <p:cNvSpPr/>
            <p:nvPr/>
          </p:nvSpPr>
          <p:spPr>
            <a:xfrm>
              <a:off x="685800" y="5562600"/>
              <a:ext cx="6096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1</a:t>
              </a:r>
            </a:p>
          </p:txBody>
        </p:sp>
        <p:sp>
          <p:nvSpPr>
            <p:cNvPr id="176" name="2"/>
            <p:cNvSpPr/>
            <p:nvPr/>
          </p:nvSpPr>
          <p:spPr>
            <a:xfrm>
              <a:off x="1384300" y="5562600"/>
              <a:ext cx="6096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2</a:t>
              </a:r>
            </a:p>
          </p:txBody>
        </p:sp>
        <p:sp>
          <p:nvSpPr>
            <p:cNvPr id="177" name="3"/>
            <p:cNvSpPr/>
            <p:nvPr/>
          </p:nvSpPr>
          <p:spPr>
            <a:xfrm>
              <a:off x="2070100" y="5562600"/>
              <a:ext cx="6096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3</a:t>
              </a:r>
            </a:p>
          </p:txBody>
        </p:sp>
        <p:sp>
          <p:nvSpPr>
            <p:cNvPr id="178" name="4"/>
            <p:cNvSpPr/>
            <p:nvPr/>
          </p:nvSpPr>
          <p:spPr>
            <a:xfrm>
              <a:off x="2755900" y="5562600"/>
              <a:ext cx="6096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4</a:t>
              </a:r>
            </a:p>
          </p:txBody>
        </p:sp>
        <p:sp>
          <p:nvSpPr>
            <p:cNvPr id="179" name="5"/>
            <p:cNvSpPr/>
            <p:nvPr/>
          </p:nvSpPr>
          <p:spPr>
            <a:xfrm>
              <a:off x="3441700" y="5562600"/>
              <a:ext cx="6096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5</a:t>
              </a:r>
            </a:p>
          </p:txBody>
        </p:sp>
        <p:sp>
          <p:nvSpPr>
            <p:cNvPr id="180" name="6"/>
            <p:cNvSpPr/>
            <p:nvPr/>
          </p:nvSpPr>
          <p:spPr>
            <a:xfrm>
              <a:off x="4140200" y="5562600"/>
              <a:ext cx="6096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6</a:t>
              </a:r>
            </a:p>
          </p:txBody>
        </p:sp>
        <p:sp>
          <p:nvSpPr>
            <p:cNvPr id="181" name="7"/>
            <p:cNvSpPr/>
            <p:nvPr/>
          </p:nvSpPr>
          <p:spPr>
            <a:xfrm>
              <a:off x="4826000" y="5562600"/>
              <a:ext cx="6096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7</a:t>
              </a:r>
            </a:p>
          </p:txBody>
        </p:sp>
        <p:sp>
          <p:nvSpPr>
            <p:cNvPr id="182" name="8"/>
            <p:cNvSpPr/>
            <p:nvPr/>
          </p:nvSpPr>
          <p:spPr>
            <a:xfrm>
              <a:off x="5511800" y="5562600"/>
              <a:ext cx="6096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8</a:t>
              </a:r>
            </a:p>
          </p:txBody>
        </p:sp>
        <p:sp>
          <p:nvSpPr>
            <p:cNvPr id="183" name="9"/>
            <p:cNvSpPr/>
            <p:nvPr/>
          </p:nvSpPr>
          <p:spPr>
            <a:xfrm>
              <a:off x="6197600" y="5562600"/>
              <a:ext cx="6096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9</a:t>
              </a:r>
            </a:p>
          </p:txBody>
        </p:sp>
        <p:sp>
          <p:nvSpPr>
            <p:cNvPr id="184" name="10"/>
            <p:cNvSpPr/>
            <p:nvPr/>
          </p:nvSpPr>
          <p:spPr>
            <a:xfrm>
              <a:off x="6794500" y="5562600"/>
              <a:ext cx="6096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10</a:t>
              </a:r>
            </a:p>
          </p:txBody>
        </p:sp>
        <p:sp>
          <p:nvSpPr>
            <p:cNvPr id="185" name="11"/>
            <p:cNvSpPr/>
            <p:nvPr/>
          </p:nvSpPr>
          <p:spPr>
            <a:xfrm>
              <a:off x="7543800" y="5562600"/>
              <a:ext cx="609600"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11</a:t>
              </a:r>
            </a:p>
          </p:txBody>
        </p:sp>
        <p:sp>
          <p:nvSpPr>
            <p:cNvPr id="186" name="线条"/>
            <p:cNvSpPr/>
            <p:nvPr/>
          </p:nvSpPr>
          <p:spPr>
            <a:xfrm>
              <a:off x="266700" y="5461000"/>
              <a:ext cx="8365067" cy="2258"/>
            </a:xfrm>
            <a:prstGeom prst="line">
              <a:avLst/>
            </a:prstGeom>
            <a:noFill/>
            <a:ln w="25400" cap="flat">
              <a:solidFill>
                <a:srgbClr val="000000"/>
              </a:solidFill>
              <a:prstDash val="solid"/>
              <a:miter lim="400000"/>
              <a:tailEnd type="stealth" w="med" len="med"/>
            </a:ln>
            <a:effectLst/>
          </p:spPr>
          <p:txBody>
            <a:bodyPr wrap="square" lIns="50800" tIns="50800" rIns="50800" bIns="50800" numCol="1" anchor="ctr">
              <a:noAutofit/>
            </a:bodyPr>
            <a:lstStyle/>
            <a:p>
              <a:pPr algn="l" defTabSz="457200">
                <a:lnSpc>
                  <a:spcPct val="100000"/>
                </a:lnSpc>
                <a:buClrTx/>
                <a:buFontTx/>
                <a:tabLst/>
                <a:defRPr sz="1200">
                  <a:solidFill>
                    <a:srgbClr val="000000"/>
                  </a:solidFill>
                </a:defRPr>
              </a:pPr>
              <a:endParaRPr/>
            </a:p>
          </p:txBody>
        </p:sp>
        <p:sp>
          <p:nvSpPr>
            <p:cNvPr id="187" name="sj"/>
            <p:cNvSpPr/>
            <p:nvPr/>
          </p:nvSpPr>
          <p:spPr>
            <a:xfrm>
              <a:off x="293228" y="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defRPr sz="2000" i="1">
                  <a:latin typeface="Times"/>
                  <a:ea typeface="Times"/>
                  <a:cs typeface="Times"/>
                  <a:sym typeface="Times"/>
                </a:defRPr>
              </a:pPr>
              <a:r>
                <a:t>s</a:t>
              </a:r>
              <a:r>
                <a:rPr baseline="-5999"/>
                <a:t>j</a:t>
              </a:r>
            </a:p>
          </p:txBody>
        </p:sp>
        <p:sp>
          <p:nvSpPr>
            <p:cNvPr id="188" name="线条"/>
            <p:cNvSpPr/>
            <p:nvPr/>
          </p:nvSpPr>
          <p:spPr>
            <a:xfrm flipH="1" flipV="1">
              <a:off x="280528" y="444500"/>
              <a:ext cx="1" cy="367585"/>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89" name="fj"/>
            <p:cNvSpPr/>
            <p:nvPr/>
          </p:nvSpPr>
          <p:spPr>
            <a:xfrm>
              <a:off x="4340260" y="0"/>
              <a:ext cx="152957"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p>
              <a:pPr>
                <a:defRPr sz="2000" i="1">
                  <a:latin typeface="Times"/>
                  <a:ea typeface="Times"/>
                  <a:cs typeface="Times"/>
                  <a:sym typeface="Times"/>
                </a:defRPr>
              </a:pPr>
              <a:r>
                <a:t>f</a:t>
              </a:r>
              <a:r>
                <a:rPr baseline="-5999"/>
                <a:t>j</a:t>
              </a:r>
            </a:p>
          </p:txBody>
        </p:sp>
        <p:sp>
          <p:nvSpPr>
            <p:cNvPr id="190" name="线条"/>
            <p:cNvSpPr/>
            <p:nvPr/>
          </p:nvSpPr>
          <p:spPr>
            <a:xfrm flipH="1" flipV="1">
              <a:off x="4401219" y="444500"/>
              <a:ext cx="2" cy="367585"/>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grpSp>
        <p:nvGrpSpPr>
          <p:cNvPr id="195" name="成组"/>
          <p:cNvGrpSpPr/>
          <p:nvPr/>
        </p:nvGrpSpPr>
        <p:grpSpPr>
          <a:xfrm>
            <a:off x="4878308" y="3543300"/>
            <a:ext cx="592473" cy="1361724"/>
            <a:chOff x="0" y="0"/>
            <a:chExt cx="592472" cy="1361723"/>
          </a:xfrm>
        </p:grpSpPr>
        <p:sp>
          <p:nvSpPr>
            <p:cNvPr id="192" name="wj"/>
            <p:cNvSpPr txBox="1"/>
            <p:nvPr/>
          </p:nvSpPr>
          <p:spPr>
            <a:xfrm>
              <a:off x="219755" y="0"/>
              <a:ext cx="229163" cy="3048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defRPr sz="2000" i="1">
                  <a:latin typeface="Times"/>
                  <a:ea typeface="Times"/>
                  <a:cs typeface="Times"/>
                  <a:sym typeface="Times"/>
                </a:defRPr>
              </a:pPr>
              <a:r>
                <a:t>w</a:t>
              </a:r>
              <a:r>
                <a:rPr baseline="-5999"/>
                <a:t>j</a:t>
              </a:r>
            </a:p>
          </p:txBody>
        </p:sp>
        <p:sp>
          <p:nvSpPr>
            <p:cNvPr id="193" name="线条"/>
            <p:cNvSpPr/>
            <p:nvPr/>
          </p:nvSpPr>
          <p:spPr>
            <a:xfrm flipH="1" flipV="1">
              <a:off x="321636" y="444500"/>
              <a:ext cx="1" cy="367585"/>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pic>
          <p:nvPicPr>
            <p:cNvPr id="194" name="revenue.pdf" descr="revenue.pdf"/>
            <p:cNvPicPr>
              <a:picLocks noChangeAspect="1"/>
            </p:cNvPicPr>
            <p:nvPr/>
          </p:nvPicPr>
          <p:blipFill>
            <a:blip r:embed="rId3"/>
            <a:stretch>
              <a:fillRect/>
            </a:stretch>
          </p:blipFill>
          <p:spPr>
            <a:xfrm rot="660000">
              <a:off x="34684" y="901697"/>
              <a:ext cx="523104" cy="413923"/>
            </a:xfrm>
            <a:prstGeom prst="rect">
              <a:avLst/>
            </a:prstGeom>
            <a:ln w="12700" cap="flat">
              <a:noFill/>
              <a:miter lim="400000"/>
            </a:ln>
            <a:effectLst/>
          </p:spPr>
        </p:pic>
      </p:gr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200" name="Earliest-finish-time first algorithm"/>
          <p:cNvSpPr txBox="1">
            <a:spLocks noGrp="1"/>
          </p:cNvSpPr>
          <p:nvPr>
            <p:ph type="title"/>
          </p:nvPr>
        </p:nvSpPr>
        <p:spPr>
          <a:prstGeom prst="rect">
            <a:avLst/>
          </a:prstGeom>
        </p:spPr>
        <p:txBody>
          <a:bodyPr/>
          <a:lstStyle/>
          <a:p>
            <a:r>
              <a:t>Earliest-finish-time first algorithm</a:t>
            </a:r>
          </a:p>
        </p:txBody>
      </p:sp>
      <p:sp>
        <p:nvSpPr>
          <p:cNvPr id="201" name="Earliest finish-time first.…"/>
          <p:cNvSpPr txBox="1">
            <a:spLocks noGrp="1"/>
          </p:cNvSpPr>
          <p:nvPr>
            <p:ph type="body" idx="1"/>
          </p:nvPr>
        </p:nvSpPr>
        <p:spPr>
          <a:prstGeom prst="rect">
            <a:avLst/>
          </a:prstGeom>
        </p:spPr>
        <p:txBody>
          <a:bodyPr/>
          <a:lstStyle/>
          <a:p>
            <a:r>
              <a:t>Earliest finish-time first.</a:t>
            </a:r>
          </a:p>
          <a:p>
            <a:pPr lvl="1"/>
            <a:r>
              <a:t>Consider jobs in ascending order of finish time.</a:t>
            </a:r>
          </a:p>
          <a:p>
            <a:pPr lvl="1"/>
            <a:r>
              <a:t>Add job to subset if it is compatible with previously chosen jobs.</a:t>
            </a:r>
          </a:p>
          <a:p>
            <a:br/>
            <a:r>
              <a:t>Recall.  </a:t>
            </a:r>
            <a:r>
              <a:rPr>
                <a:solidFill>
                  <a:srgbClr val="000000"/>
                </a:solidFill>
              </a:rPr>
              <a:t>Greedy algorithm is correct if all weights are 1.</a:t>
            </a:r>
          </a:p>
          <a:p>
            <a:br>
              <a:rPr>
                <a:solidFill>
                  <a:srgbClr val="000000"/>
                </a:solidFill>
              </a:rPr>
            </a:br>
            <a:br>
              <a:rPr>
                <a:solidFill>
                  <a:srgbClr val="000000"/>
                </a:solidFill>
              </a:rPr>
            </a:br>
            <a:r>
              <a:t>Observation.  </a:t>
            </a:r>
            <a:r>
              <a:rPr>
                <a:solidFill>
                  <a:srgbClr val="000000"/>
                </a:solidFill>
              </a:rPr>
              <a:t>Greedy algorithm fails spectacularly for weighted version.</a:t>
            </a:r>
          </a:p>
        </p:txBody>
      </p:sp>
      <p:sp>
        <p:nvSpPr>
          <p:cNvPr id="202" name="幻灯片编号"/>
          <p:cNvSpPr txBox="1">
            <a:spLocks noGrp="1"/>
          </p:cNvSpPr>
          <p:nvPr>
            <p:ph type="sldNum" sz="quarter" idx="2"/>
          </p:nvPr>
        </p:nvSpPr>
        <p:spPr>
          <a:xfrm>
            <a:off x="12409971" y="9347200"/>
            <a:ext cx="173658" cy="2540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15</a:t>
            </a:fld>
            <a:endParaRPr/>
          </a:p>
        </p:txBody>
      </p:sp>
      <p:grpSp>
        <p:nvGrpSpPr>
          <p:cNvPr id="237" name="成组"/>
          <p:cNvGrpSpPr/>
          <p:nvPr/>
        </p:nvGrpSpPr>
        <p:grpSpPr>
          <a:xfrm>
            <a:off x="1234896" y="6845300"/>
            <a:ext cx="10550704" cy="2768600"/>
            <a:chOff x="585341" y="0"/>
            <a:chExt cx="10550703" cy="2768600"/>
          </a:xfrm>
        </p:grpSpPr>
        <p:sp>
          <p:nvSpPr>
            <p:cNvPr id="203" name="weight = 999"/>
            <p:cNvSpPr/>
            <p:nvPr/>
          </p:nvSpPr>
          <p:spPr>
            <a:xfrm>
              <a:off x="585341" y="81280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r>
                <a:t>weight = 999</a:t>
              </a:r>
            </a:p>
          </p:txBody>
        </p:sp>
        <p:sp>
          <p:nvSpPr>
            <p:cNvPr id="204" name="weight = 1"/>
            <p:cNvSpPr/>
            <p:nvPr/>
          </p:nvSpPr>
          <p:spPr>
            <a:xfrm>
              <a:off x="710715" y="149860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r>
                <a:t>weight = 1</a:t>
              </a:r>
            </a:p>
          </p:txBody>
        </p:sp>
        <p:sp>
          <p:nvSpPr>
            <p:cNvPr id="205" name="time"/>
            <p:cNvSpPr/>
            <p:nvPr/>
          </p:nvSpPr>
          <p:spPr>
            <a:xfrm>
              <a:off x="10031144" y="2019300"/>
              <a:ext cx="11049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000000"/>
                  </a:solidFill>
                  <a:latin typeface="Lucida Grande"/>
                  <a:ea typeface="Lucida Grande"/>
                  <a:cs typeface="Lucida Grande"/>
                  <a:sym typeface="Lucida Grande"/>
                </a:defRPr>
              </a:lvl1pPr>
            </a:lstStyle>
            <a:p>
              <a:r>
                <a:t>time</a:t>
              </a:r>
            </a:p>
          </p:txBody>
        </p:sp>
        <p:grpSp>
          <p:nvGrpSpPr>
            <p:cNvPr id="218" name="成组"/>
            <p:cNvGrpSpPr/>
            <p:nvPr/>
          </p:nvGrpSpPr>
          <p:grpSpPr>
            <a:xfrm>
              <a:off x="1661844" y="0"/>
              <a:ext cx="7581901" cy="2146301"/>
              <a:chOff x="0" y="0"/>
              <a:chExt cx="7581899" cy="2146300"/>
            </a:xfrm>
          </p:grpSpPr>
          <p:sp>
            <p:nvSpPr>
              <p:cNvPr id="206" name="线条"/>
              <p:cNvSpPr/>
              <p:nvPr/>
            </p:nvSpPr>
            <p:spPr>
              <a:xfrm flipV="1">
                <a:off x="701347" y="0"/>
                <a:ext cx="2259" cy="2146301"/>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07" name="线条"/>
              <p:cNvSpPr/>
              <p:nvPr/>
            </p:nvSpPr>
            <p:spPr>
              <a:xfrm flipV="1">
                <a:off x="0" y="0"/>
                <a:ext cx="2258" cy="2146301"/>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08" name="线条"/>
              <p:cNvSpPr/>
              <p:nvPr/>
            </p:nvSpPr>
            <p:spPr>
              <a:xfrm flipV="1">
                <a:off x="2068201" y="0"/>
                <a:ext cx="2259" cy="2146301"/>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09" name="线条"/>
              <p:cNvSpPr/>
              <p:nvPr/>
            </p:nvSpPr>
            <p:spPr>
              <a:xfrm flipV="1">
                <a:off x="1377295" y="0"/>
                <a:ext cx="2259" cy="2146301"/>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10" name="线条"/>
              <p:cNvSpPr/>
              <p:nvPr/>
            </p:nvSpPr>
            <p:spPr>
              <a:xfrm flipV="1">
                <a:off x="2756849" y="0"/>
                <a:ext cx="2259" cy="2146301"/>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11" name="线条"/>
              <p:cNvSpPr/>
              <p:nvPr/>
            </p:nvSpPr>
            <p:spPr>
              <a:xfrm flipV="1">
                <a:off x="4822792" y="0"/>
                <a:ext cx="2259" cy="2146301"/>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12" name="线条"/>
              <p:cNvSpPr/>
              <p:nvPr/>
            </p:nvSpPr>
            <p:spPr>
              <a:xfrm flipV="1">
                <a:off x="4134144" y="0"/>
                <a:ext cx="2259" cy="2146301"/>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13" name="线条"/>
              <p:cNvSpPr/>
              <p:nvPr/>
            </p:nvSpPr>
            <p:spPr>
              <a:xfrm flipV="1">
                <a:off x="6200088" y="0"/>
                <a:ext cx="2259" cy="2146301"/>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14" name="线条"/>
              <p:cNvSpPr/>
              <p:nvPr/>
            </p:nvSpPr>
            <p:spPr>
              <a:xfrm flipV="1">
                <a:off x="5511440" y="0"/>
                <a:ext cx="2259" cy="2146301"/>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15" name="线条"/>
              <p:cNvSpPr/>
              <p:nvPr/>
            </p:nvSpPr>
            <p:spPr>
              <a:xfrm flipV="1">
                <a:off x="7579641" y="0"/>
                <a:ext cx="2259" cy="2146301"/>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16" name="线条"/>
              <p:cNvSpPr/>
              <p:nvPr/>
            </p:nvSpPr>
            <p:spPr>
              <a:xfrm flipV="1">
                <a:off x="6890994" y="0"/>
                <a:ext cx="2258" cy="2146301"/>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17" name="线条"/>
              <p:cNvSpPr/>
              <p:nvPr/>
            </p:nvSpPr>
            <p:spPr>
              <a:xfrm flipV="1">
                <a:off x="3445497" y="0"/>
                <a:ext cx="2258" cy="2146301"/>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219" name="0"/>
            <p:cNvSpPr/>
            <p:nvPr/>
          </p:nvSpPr>
          <p:spPr>
            <a:xfrm>
              <a:off x="1395144" y="2260600"/>
              <a:ext cx="6096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0</a:t>
              </a:r>
            </a:p>
          </p:txBody>
        </p:sp>
        <p:sp>
          <p:nvSpPr>
            <p:cNvPr id="220" name="1"/>
            <p:cNvSpPr/>
            <p:nvPr/>
          </p:nvSpPr>
          <p:spPr>
            <a:xfrm>
              <a:off x="2080944" y="2260600"/>
              <a:ext cx="6096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1</a:t>
              </a:r>
            </a:p>
          </p:txBody>
        </p:sp>
        <p:sp>
          <p:nvSpPr>
            <p:cNvPr id="221" name="2"/>
            <p:cNvSpPr/>
            <p:nvPr/>
          </p:nvSpPr>
          <p:spPr>
            <a:xfrm>
              <a:off x="2779444" y="2260600"/>
              <a:ext cx="6096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2</a:t>
              </a:r>
            </a:p>
          </p:txBody>
        </p:sp>
        <p:sp>
          <p:nvSpPr>
            <p:cNvPr id="222" name="3"/>
            <p:cNvSpPr/>
            <p:nvPr/>
          </p:nvSpPr>
          <p:spPr>
            <a:xfrm>
              <a:off x="3465244" y="2260600"/>
              <a:ext cx="6096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3</a:t>
              </a:r>
            </a:p>
          </p:txBody>
        </p:sp>
        <p:sp>
          <p:nvSpPr>
            <p:cNvPr id="223" name="4"/>
            <p:cNvSpPr/>
            <p:nvPr/>
          </p:nvSpPr>
          <p:spPr>
            <a:xfrm>
              <a:off x="4151044" y="2260600"/>
              <a:ext cx="6096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4</a:t>
              </a:r>
            </a:p>
          </p:txBody>
        </p:sp>
        <p:sp>
          <p:nvSpPr>
            <p:cNvPr id="224" name="5"/>
            <p:cNvSpPr/>
            <p:nvPr/>
          </p:nvSpPr>
          <p:spPr>
            <a:xfrm>
              <a:off x="4836844" y="2260600"/>
              <a:ext cx="6096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5</a:t>
              </a:r>
            </a:p>
          </p:txBody>
        </p:sp>
        <p:sp>
          <p:nvSpPr>
            <p:cNvPr id="225" name="6"/>
            <p:cNvSpPr/>
            <p:nvPr/>
          </p:nvSpPr>
          <p:spPr>
            <a:xfrm>
              <a:off x="5535344" y="2260600"/>
              <a:ext cx="6096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6</a:t>
              </a:r>
            </a:p>
          </p:txBody>
        </p:sp>
        <p:sp>
          <p:nvSpPr>
            <p:cNvPr id="226" name="7"/>
            <p:cNvSpPr/>
            <p:nvPr/>
          </p:nvSpPr>
          <p:spPr>
            <a:xfrm>
              <a:off x="6221144" y="2260600"/>
              <a:ext cx="6096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7</a:t>
              </a:r>
            </a:p>
          </p:txBody>
        </p:sp>
        <p:sp>
          <p:nvSpPr>
            <p:cNvPr id="227" name="8"/>
            <p:cNvSpPr/>
            <p:nvPr/>
          </p:nvSpPr>
          <p:spPr>
            <a:xfrm>
              <a:off x="6906944" y="2260600"/>
              <a:ext cx="6096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8</a:t>
              </a:r>
            </a:p>
          </p:txBody>
        </p:sp>
        <p:sp>
          <p:nvSpPr>
            <p:cNvPr id="228" name="9"/>
            <p:cNvSpPr/>
            <p:nvPr/>
          </p:nvSpPr>
          <p:spPr>
            <a:xfrm>
              <a:off x="7592744" y="2260600"/>
              <a:ext cx="6096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9</a:t>
              </a:r>
            </a:p>
          </p:txBody>
        </p:sp>
        <p:sp>
          <p:nvSpPr>
            <p:cNvPr id="229" name="10"/>
            <p:cNvSpPr/>
            <p:nvPr/>
          </p:nvSpPr>
          <p:spPr>
            <a:xfrm>
              <a:off x="8189644" y="2260600"/>
              <a:ext cx="6096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10</a:t>
              </a:r>
            </a:p>
          </p:txBody>
        </p:sp>
        <p:sp>
          <p:nvSpPr>
            <p:cNvPr id="230" name="11"/>
            <p:cNvSpPr/>
            <p:nvPr/>
          </p:nvSpPr>
          <p:spPr>
            <a:xfrm>
              <a:off x="8938944" y="2260600"/>
              <a:ext cx="6096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11</a:t>
              </a:r>
            </a:p>
          </p:txBody>
        </p:sp>
        <p:sp>
          <p:nvSpPr>
            <p:cNvPr id="231" name="线条"/>
            <p:cNvSpPr/>
            <p:nvPr/>
          </p:nvSpPr>
          <p:spPr>
            <a:xfrm>
              <a:off x="1661844" y="2159000"/>
              <a:ext cx="8365068" cy="2258"/>
            </a:xfrm>
            <a:prstGeom prst="line">
              <a:avLst/>
            </a:prstGeom>
            <a:noFill/>
            <a:ln w="25400" cap="flat">
              <a:solidFill>
                <a:srgbClr val="000000"/>
              </a:solidFill>
              <a:prstDash val="solid"/>
              <a:miter lim="400000"/>
              <a:tailEnd type="stealth" w="med" len="med"/>
            </a:ln>
            <a:effectLst/>
          </p:spPr>
          <p:txBody>
            <a:bodyPr wrap="square" lIns="50800" tIns="50800" rIns="50800" bIns="50800" numCol="1" anchor="ctr">
              <a:noAutofit/>
            </a:bodyPr>
            <a:lstStyle/>
            <a:p>
              <a:pPr algn="l" defTabSz="457200">
                <a:lnSpc>
                  <a:spcPct val="100000"/>
                </a:lnSpc>
                <a:buClrTx/>
                <a:buFontTx/>
                <a:tabLst/>
                <a:defRPr sz="1200">
                  <a:solidFill>
                    <a:srgbClr val="000000"/>
                  </a:solidFill>
                </a:defRPr>
              </a:pPr>
              <a:endParaRPr/>
            </a:p>
          </p:txBody>
        </p:sp>
        <p:sp>
          <p:nvSpPr>
            <p:cNvPr id="232" name="b"/>
            <p:cNvSpPr/>
            <p:nvPr/>
          </p:nvSpPr>
          <p:spPr>
            <a:xfrm>
              <a:off x="1661844" y="698500"/>
              <a:ext cx="6913317" cy="392854"/>
            </a:xfrm>
            <a:prstGeom prst="rect">
              <a:avLst/>
            </a:prstGeom>
            <a:solidFill>
              <a:srgbClr val="CBCBCB"/>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marL="61411" marR="61411" defTabSz="457200">
                <a:defRPr sz="2000" i="1">
                  <a:solidFill>
                    <a:srgbClr val="000000"/>
                  </a:solidFill>
                  <a:latin typeface="Times"/>
                  <a:ea typeface="Times"/>
                  <a:cs typeface="Times"/>
                  <a:sym typeface="Times"/>
                </a:defRPr>
              </a:lvl1pPr>
            </a:lstStyle>
            <a:p>
              <a:r>
                <a:t>b</a:t>
              </a:r>
            </a:p>
          </p:txBody>
        </p:sp>
        <p:sp>
          <p:nvSpPr>
            <p:cNvPr id="233" name="a"/>
            <p:cNvSpPr/>
            <p:nvPr/>
          </p:nvSpPr>
          <p:spPr>
            <a:xfrm>
              <a:off x="1661844" y="1397000"/>
              <a:ext cx="2065868" cy="395112"/>
            </a:xfrm>
            <a:prstGeom prst="rect">
              <a:avLst/>
            </a:prstGeom>
            <a:solidFill>
              <a:srgbClr val="CBCBCB"/>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marL="61411" marR="61411" defTabSz="457200">
                <a:defRPr sz="2000" i="1">
                  <a:solidFill>
                    <a:srgbClr val="000000"/>
                  </a:solidFill>
                  <a:latin typeface="Times"/>
                  <a:ea typeface="Times"/>
                  <a:cs typeface="Times"/>
                  <a:sym typeface="Times"/>
                </a:defRPr>
              </a:lvl1pPr>
            </a:lstStyle>
            <a:p>
              <a:r>
                <a:t>a</a:t>
              </a:r>
            </a:p>
          </p:txBody>
        </p:sp>
        <p:sp>
          <p:nvSpPr>
            <p:cNvPr id="234" name="h"/>
            <p:cNvSpPr/>
            <p:nvPr/>
          </p:nvSpPr>
          <p:spPr>
            <a:xfrm>
              <a:off x="7173644" y="1752600"/>
              <a:ext cx="2068125" cy="395112"/>
            </a:xfrm>
            <a:prstGeom prst="rect">
              <a:avLst/>
            </a:prstGeom>
            <a:solidFill>
              <a:srgbClr val="CBCBCB"/>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marL="61411" marR="61411" defTabSz="457200">
                <a:defRPr sz="2000" i="1">
                  <a:solidFill>
                    <a:srgbClr val="000000"/>
                  </a:solidFill>
                  <a:latin typeface="Times"/>
                  <a:ea typeface="Times"/>
                  <a:cs typeface="Times"/>
                  <a:sym typeface="Times"/>
                </a:defRPr>
              </a:lvl1pPr>
            </a:lstStyle>
            <a:p>
              <a:r>
                <a:t>h</a:t>
              </a:r>
            </a:p>
          </p:txBody>
        </p:sp>
        <p:sp>
          <p:nvSpPr>
            <p:cNvPr id="235" name="线条"/>
            <p:cNvSpPr/>
            <p:nvPr/>
          </p:nvSpPr>
          <p:spPr>
            <a:xfrm flipH="1">
              <a:off x="1355598" y="901700"/>
              <a:ext cx="636914" cy="1"/>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36" name="线条"/>
            <p:cNvSpPr/>
            <p:nvPr/>
          </p:nvSpPr>
          <p:spPr>
            <a:xfrm flipH="1">
              <a:off x="1344344" y="1600200"/>
              <a:ext cx="636914" cy="1"/>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grpSp>
        <p:nvGrpSpPr>
          <p:cNvPr id="240" name="成组"/>
          <p:cNvGrpSpPr/>
          <p:nvPr/>
        </p:nvGrpSpPr>
        <p:grpSpPr>
          <a:xfrm>
            <a:off x="9534294" y="8111032"/>
            <a:ext cx="2311637" cy="1270001"/>
            <a:chOff x="0" y="0"/>
            <a:chExt cx="2311636" cy="1270000"/>
          </a:xfrm>
        </p:grpSpPr>
        <p:sp>
          <p:nvSpPr>
            <p:cNvPr id="238" name="weight = 1"/>
            <p:cNvSpPr/>
            <p:nvPr/>
          </p:nvSpPr>
          <p:spPr>
            <a:xfrm>
              <a:off x="1041636" y="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r>
                <a:t>weight = 1</a:t>
              </a:r>
            </a:p>
          </p:txBody>
        </p:sp>
        <p:sp>
          <p:nvSpPr>
            <p:cNvPr id="239" name="线条"/>
            <p:cNvSpPr/>
            <p:nvPr/>
          </p:nvSpPr>
          <p:spPr>
            <a:xfrm flipV="1">
              <a:off x="0" y="203747"/>
              <a:ext cx="485185" cy="485185"/>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01">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iterate>
                                    <p:tmAbs val="0"/>
                                  </p:iterate>
                                  <p:childTnLst>
                                    <p:set>
                                      <p:cBhvr>
                                        <p:cTn id="10" fill="hold"/>
                                        <p:tgtEl>
                                          <p:spTgt spid="201">
                                            <p:txEl>
                                              <p:pRg st="4" end="4"/>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2" nodeType="afterEffect">
                                  <p:stCondLst>
                                    <p:cond delay="0"/>
                                  </p:stCondLst>
                                  <p:iterate>
                                    <p:tmAbs val="0"/>
                                  </p:iterate>
                                  <p:childTnLst>
                                    <p:set>
                                      <p:cBhvr>
                                        <p:cTn id="13" fill="hold"/>
                                        <p:tgtEl>
                                          <p:spTgt spid="237"/>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3" nodeType="afterEffect">
                                  <p:stCondLst>
                                    <p:cond delay="0"/>
                                  </p:stCondLst>
                                  <p:iterate>
                                    <p:tmAbs val="0"/>
                                  </p:iterate>
                                  <p:childTnLst>
                                    <p:set>
                                      <p:cBhvr>
                                        <p:cTn id="16" fill="hold"/>
                                        <p:tgtEl>
                                          <p:spTgt spid="2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 grpId="1" build="p" bldLvl="5" animBg="1" advAuto="0"/>
      <p:bldP spid="237" grpId="2" animBg="1" advAuto="0"/>
      <p:bldP spid="240" grpId="3"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243" name="Weighted interval scheduling"/>
          <p:cNvSpPr txBox="1">
            <a:spLocks noGrp="1"/>
          </p:cNvSpPr>
          <p:nvPr>
            <p:ph type="title"/>
          </p:nvPr>
        </p:nvSpPr>
        <p:spPr>
          <a:prstGeom prst="rect">
            <a:avLst/>
          </a:prstGeom>
        </p:spPr>
        <p:txBody>
          <a:bodyPr/>
          <a:lstStyle/>
          <a:p>
            <a:r>
              <a:t>Weighted interval scheduling</a:t>
            </a:r>
          </a:p>
        </p:txBody>
      </p:sp>
      <p:sp>
        <p:nvSpPr>
          <p:cNvPr id="244" name="Convention.  Jobs are in ascending order of finish time:  f1  ≤  f2  ≤ . . . ≤ fn .…"/>
          <p:cNvSpPr txBox="1">
            <a:spLocks noGrp="1"/>
          </p:cNvSpPr>
          <p:nvPr>
            <p:ph type="body" idx="1"/>
          </p:nvPr>
        </p:nvSpPr>
        <p:spPr>
          <a:prstGeom prst="rect">
            <a:avLst/>
          </a:prstGeom>
        </p:spPr>
        <p:txBody>
          <a:bodyPr/>
          <a:lstStyle/>
          <a:p>
            <a:pPr marL="58702" indent="-58702">
              <a:buClr>
                <a:srgbClr val="0048AA"/>
              </a:buClr>
              <a:buFont typeface="Lucida Sans"/>
            </a:pPr>
            <a:r>
              <a:rPr dirty="0"/>
              <a:t>Convention.  </a:t>
            </a:r>
            <a:r>
              <a:rPr dirty="0">
                <a:solidFill>
                  <a:srgbClr val="000000"/>
                </a:solidFill>
                <a:uFill>
                  <a:solidFill>
                    <a:srgbClr val="000000"/>
                  </a:solidFill>
                </a:uFill>
              </a:rPr>
              <a:t>Jobs are in ascending order of finish time:  </a:t>
            </a:r>
            <a:r>
              <a:rPr i="1" dirty="0">
                <a:solidFill>
                  <a:srgbClr val="000000"/>
                </a:solidFill>
                <a:uFill>
                  <a:solidFill>
                    <a:srgbClr val="000000"/>
                  </a:solidFill>
                </a:uFill>
                <a:latin typeface="Times"/>
                <a:ea typeface="Times"/>
                <a:cs typeface="Times"/>
                <a:sym typeface="Times"/>
              </a:rPr>
              <a:t>f</a:t>
            </a:r>
            <a:r>
              <a:rPr baseline="-20250" dirty="0">
                <a:solidFill>
                  <a:srgbClr val="000000"/>
                </a:solidFill>
                <a:uFill>
                  <a:solidFill>
                    <a:srgbClr val="000000"/>
                  </a:solidFill>
                </a:uFill>
                <a:latin typeface="Times"/>
                <a:ea typeface="Times"/>
                <a:cs typeface="Times"/>
                <a:sym typeface="Times"/>
              </a:rPr>
              <a:t>1  </a:t>
            </a:r>
            <a:r>
              <a:rPr dirty="0">
                <a:solidFill>
                  <a:srgbClr val="000000"/>
                </a:solidFill>
                <a:uFill>
                  <a:solidFill>
                    <a:srgbClr val="000000"/>
                  </a:solidFill>
                </a:uFill>
                <a:latin typeface="Times"/>
                <a:ea typeface="Times"/>
                <a:cs typeface="Times"/>
                <a:sym typeface="Times"/>
              </a:rPr>
              <a:t>≤  </a:t>
            </a:r>
            <a:r>
              <a:rPr i="1" dirty="0">
                <a:solidFill>
                  <a:srgbClr val="000000"/>
                </a:solidFill>
                <a:uFill>
                  <a:solidFill>
                    <a:srgbClr val="000000"/>
                  </a:solidFill>
                </a:uFill>
                <a:latin typeface="Times"/>
                <a:ea typeface="Times"/>
                <a:cs typeface="Times"/>
                <a:sym typeface="Times"/>
              </a:rPr>
              <a:t>f</a:t>
            </a:r>
            <a:r>
              <a:rPr baseline="-20250" dirty="0">
                <a:solidFill>
                  <a:srgbClr val="000000"/>
                </a:solidFill>
                <a:uFill>
                  <a:solidFill>
                    <a:srgbClr val="000000"/>
                  </a:solidFill>
                </a:uFill>
                <a:latin typeface="Times"/>
                <a:ea typeface="Times"/>
                <a:cs typeface="Times"/>
                <a:sym typeface="Times"/>
              </a:rPr>
              <a:t>2  </a:t>
            </a:r>
            <a:r>
              <a:rPr dirty="0">
                <a:solidFill>
                  <a:srgbClr val="000000"/>
                </a:solidFill>
                <a:uFill>
                  <a:solidFill>
                    <a:srgbClr val="000000"/>
                  </a:solidFill>
                </a:uFill>
                <a:latin typeface="Times"/>
                <a:ea typeface="Times"/>
                <a:cs typeface="Times"/>
                <a:sym typeface="Times"/>
              </a:rPr>
              <a:t>≤ . . . ≤ </a:t>
            </a:r>
            <a:r>
              <a:rPr i="1" dirty="0" err="1">
                <a:solidFill>
                  <a:srgbClr val="000000"/>
                </a:solidFill>
                <a:uFill>
                  <a:solidFill>
                    <a:srgbClr val="000000"/>
                  </a:solidFill>
                </a:uFill>
                <a:latin typeface="Times"/>
                <a:ea typeface="Times"/>
                <a:cs typeface="Times"/>
                <a:sym typeface="Times"/>
              </a:rPr>
              <a:t>f</a:t>
            </a:r>
            <a:r>
              <a:rPr i="1" baseline="-20250" dirty="0" err="1">
                <a:solidFill>
                  <a:srgbClr val="000000"/>
                </a:solidFill>
                <a:uFill>
                  <a:solidFill>
                    <a:srgbClr val="000000"/>
                  </a:solidFill>
                </a:uFill>
                <a:latin typeface="Times"/>
                <a:ea typeface="Times"/>
                <a:cs typeface="Times"/>
                <a:sym typeface="Times"/>
              </a:rPr>
              <a:t>n</a:t>
            </a:r>
            <a:r>
              <a:rPr baseline="-20250" dirty="0">
                <a:solidFill>
                  <a:srgbClr val="000000"/>
                </a:solidFill>
                <a:uFill>
                  <a:solidFill>
                    <a:srgbClr val="000000"/>
                  </a:solidFill>
                </a:uFill>
                <a:latin typeface="Times"/>
                <a:ea typeface="Times"/>
                <a:cs typeface="Times"/>
                <a:sym typeface="Times"/>
              </a:rPr>
              <a:t> </a:t>
            </a:r>
            <a:r>
              <a:rPr dirty="0">
                <a:solidFill>
                  <a:srgbClr val="000000"/>
                </a:solidFill>
                <a:uFill>
                  <a:solidFill>
                    <a:srgbClr val="000000"/>
                  </a:solidFill>
                </a:uFill>
              </a:rPr>
              <a:t>.</a:t>
            </a:r>
          </a:p>
          <a:p>
            <a:pPr>
              <a:buClr>
                <a:srgbClr val="0048AA"/>
              </a:buClr>
              <a:buFont typeface="Lucida Sans"/>
            </a:pPr>
            <a:br>
              <a:rPr dirty="0">
                <a:solidFill>
                  <a:srgbClr val="000000"/>
                </a:solidFill>
                <a:uFill>
                  <a:solidFill>
                    <a:srgbClr val="000000"/>
                  </a:solidFill>
                </a:uFill>
              </a:rPr>
            </a:br>
            <a:r>
              <a:rPr dirty="0"/>
              <a:t>Def.  </a:t>
            </a:r>
            <a:r>
              <a:rPr i="1" dirty="0">
                <a:solidFill>
                  <a:srgbClr val="000000"/>
                </a:solidFill>
                <a:uFill>
                  <a:solidFill>
                    <a:srgbClr val="000000"/>
                  </a:solidFill>
                </a:uFill>
                <a:latin typeface="Times"/>
                <a:ea typeface="Times"/>
                <a:cs typeface="Times"/>
                <a:sym typeface="Times"/>
              </a:rPr>
              <a:t>p</a:t>
            </a:r>
            <a:r>
              <a:rPr spc="240" dirty="0">
                <a:solidFill>
                  <a:srgbClr val="000000"/>
                </a:solidFill>
                <a:latin typeface="Times"/>
                <a:ea typeface="Times"/>
                <a:cs typeface="Times"/>
                <a:sym typeface="Times"/>
              </a:rPr>
              <a:t>(</a:t>
            </a:r>
            <a:r>
              <a:rPr i="1" spc="240" dirty="0">
                <a:solidFill>
                  <a:srgbClr val="000000"/>
                </a:solidFill>
                <a:latin typeface="Times"/>
                <a:ea typeface="Times"/>
                <a:cs typeface="Times"/>
                <a:sym typeface="Times"/>
              </a:rPr>
              <a:t>j</a:t>
            </a:r>
            <a:r>
              <a:rPr dirty="0">
                <a:solidFill>
                  <a:srgbClr val="000000"/>
                </a:solidFill>
                <a:latin typeface="Times"/>
                <a:ea typeface="Times"/>
                <a:cs typeface="Times"/>
                <a:sym typeface="Times"/>
              </a:rPr>
              <a:t>) </a:t>
            </a:r>
            <a:r>
              <a:rPr dirty="0">
                <a:solidFill>
                  <a:srgbClr val="000000"/>
                </a:solidFill>
                <a:uFill>
                  <a:solidFill>
                    <a:srgbClr val="000000"/>
                  </a:solidFill>
                </a:uFill>
                <a:latin typeface="Times"/>
                <a:ea typeface="Times"/>
                <a:cs typeface="Times"/>
                <a:sym typeface="Times"/>
              </a:rPr>
              <a:t>=</a:t>
            </a:r>
            <a:r>
              <a:rPr dirty="0">
                <a:solidFill>
                  <a:srgbClr val="000000"/>
                </a:solidFill>
                <a:uFill>
                  <a:solidFill>
                    <a:srgbClr val="000000"/>
                  </a:solidFill>
                </a:uFill>
              </a:rPr>
              <a:t> largest index </a:t>
            </a:r>
            <a:r>
              <a:rPr i="1" dirty="0">
                <a:solidFill>
                  <a:srgbClr val="000000"/>
                </a:solidFill>
                <a:uFill>
                  <a:solidFill>
                    <a:srgbClr val="000000"/>
                  </a:solidFill>
                </a:uFill>
                <a:latin typeface="Times"/>
                <a:ea typeface="Times"/>
                <a:cs typeface="Times"/>
                <a:sym typeface="Times"/>
              </a:rPr>
              <a:t>i &lt;  j</a:t>
            </a:r>
            <a:r>
              <a:rPr dirty="0">
                <a:solidFill>
                  <a:srgbClr val="000000"/>
                </a:solidFill>
                <a:uFill>
                  <a:solidFill>
                    <a:srgbClr val="000000"/>
                  </a:solidFill>
                </a:uFill>
              </a:rPr>
              <a:t> such that job </a:t>
            </a:r>
            <a:r>
              <a:rPr i="1" dirty="0">
                <a:solidFill>
                  <a:srgbClr val="000000"/>
                </a:solidFill>
                <a:uFill>
                  <a:solidFill>
                    <a:srgbClr val="000000"/>
                  </a:solidFill>
                </a:uFill>
                <a:latin typeface="Times"/>
                <a:ea typeface="Times"/>
                <a:cs typeface="Times"/>
                <a:sym typeface="Times"/>
              </a:rPr>
              <a:t>i</a:t>
            </a:r>
            <a:r>
              <a:rPr dirty="0">
                <a:solidFill>
                  <a:srgbClr val="000000"/>
                </a:solidFill>
                <a:uFill>
                  <a:solidFill>
                    <a:srgbClr val="000000"/>
                  </a:solidFill>
                </a:uFill>
              </a:rPr>
              <a:t> is compatible with </a:t>
            </a:r>
            <a:r>
              <a:rPr i="1" dirty="0">
                <a:solidFill>
                  <a:srgbClr val="000000"/>
                </a:solidFill>
                <a:uFill>
                  <a:solidFill>
                    <a:srgbClr val="000000"/>
                  </a:solidFill>
                </a:uFill>
                <a:latin typeface="Times"/>
                <a:ea typeface="Times"/>
                <a:cs typeface="Times"/>
                <a:sym typeface="Times"/>
              </a:rPr>
              <a:t>j</a:t>
            </a:r>
            <a:r>
              <a:rPr dirty="0">
                <a:solidFill>
                  <a:srgbClr val="000000"/>
                </a:solidFill>
                <a:uFill>
                  <a:solidFill>
                    <a:srgbClr val="000000"/>
                  </a:solidFill>
                </a:uFill>
              </a:rPr>
              <a:t>.</a:t>
            </a:r>
          </a:p>
          <a:p>
            <a:pPr>
              <a:buClr>
                <a:srgbClr val="0048AA"/>
              </a:buClr>
              <a:buFont typeface="Lucida Sans"/>
            </a:pPr>
            <a:r>
              <a:rPr dirty="0"/>
              <a:t>Ex.  </a:t>
            </a:r>
            <a:r>
              <a:rPr i="1" dirty="0">
                <a:solidFill>
                  <a:srgbClr val="000000"/>
                </a:solidFill>
                <a:uFill>
                  <a:solidFill>
                    <a:srgbClr val="000000"/>
                  </a:solidFill>
                </a:uFill>
                <a:latin typeface="Times"/>
                <a:ea typeface="Times"/>
                <a:cs typeface="Times"/>
                <a:sym typeface="Times"/>
              </a:rPr>
              <a:t>p</a:t>
            </a:r>
            <a:r>
              <a:rPr dirty="0">
                <a:solidFill>
                  <a:srgbClr val="000000"/>
                </a:solidFill>
                <a:uFill>
                  <a:solidFill>
                    <a:srgbClr val="000000"/>
                  </a:solidFill>
                </a:uFill>
                <a:latin typeface="Times"/>
                <a:ea typeface="Times"/>
                <a:cs typeface="Times"/>
                <a:sym typeface="Times"/>
              </a:rPr>
              <a:t>(8) = 1, </a:t>
            </a:r>
            <a:r>
              <a:rPr i="1" dirty="0">
                <a:solidFill>
                  <a:srgbClr val="000000"/>
                </a:solidFill>
                <a:uFill>
                  <a:solidFill>
                    <a:srgbClr val="000000"/>
                  </a:solidFill>
                </a:uFill>
                <a:latin typeface="Times"/>
                <a:ea typeface="Times"/>
                <a:cs typeface="Times"/>
                <a:sym typeface="Times"/>
              </a:rPr>
              <a:t>p</a:t>
            </a:r>
            <a:r>
              <a:rPr dirty="0">
                <a:solidFill>
                  <a:srgbClr val="000000"/>
                </a:solidFill>
                <a:uFill>
                  <a:solidFill>
                    <a:srgbClr val="000000"/>
                  </a:solidFill>
                </a:uFill>
                <a:latin typeface="Times"/>
                <a:ea typeface="Times"/>
                <a:cs typeface="Times"/>
                <a:sym typeface="Times"/>
              </a:rPr>
              <a:t>(7) = 3, </a:t>
            </a:r>
            <a:r>
              <a:rPr i="1" dirty="0">
                <a:solidFill>
                  <a:srgbClr val="000000"/>
                </a:solidFill>
                <a:uFill>
                  <a:solidFill>
                    <a:srgbClr val="000000"/>
                  </a:solidFill>
                </a:uFill>
                <a:latin typeface="Times"/>
                <a:ea typeface="Times"/>
                <a:cs typeface="Times"/>
                <a:sym typeface="Times"/>
              </a:rPr>
              <a:t>p</a:t>
            </a:r>
            <a:r>
              <a:rPr dirty="0">
                <a:solidFill>
                  <a:srgbClr val="000000"/>
                </a:solidFill>
                <a:uFill>
                  <a:solidFill>
                    <a:srgbClr val="000000"/>
                  </a:solidFill>
                </a:uFill>
                <a:latin typeface="Times"/>
                <a:ea typeface="Times"/>
                <a:cs typeface="Times"/>
                <a:sym typeface="Times"/>
              </a:rPr>
              <a:t>(2) = 0.</a:t>
            </a:r>
          </a:p>
        </p:txBody>
      </p:sp>
      <p:sp>
        <p:nvSpPr>
          <p:cNvPr id="245" name="幻灯片编号"/>
          <p:cNvSpPr txBox="1">
            <a:spLocks noGrp="1"/>
          </p:cNvSpPr>
          <p:nvPr>
            <p:ph type="sldNum" sz="quarter" idx="2"/>
          </p:nvPr>
        </p:nvSpPr>
        <p:spPr>
          <a:xfrm>
            <a:off x="12409971" y="9347200"/>
            <a:ext cx="173658" cy="254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16</a:t>
            </a:fld>
            <a:endParaRPr/>
          </a:p>
        </p:txBody>
      </p:sp>
      <p:grpSp>
        <p:nvGrpSpPr>
          <p:cNvPr id="280" name="成组"/>
          <p:cNvGrpSpPr/>
          <p:nvPr/>
        </p:nvGrpSpPr>
        <p:grpSpPr>
          <a:xfrm>
            <a:off x="1765300" y="4336062"/>
            <a:ext cx="9740900" cy="4642838"/>
            <a:chOff x="0" y="0"/>
            <a:chExt cx="9740900" cy="4642837"/>
          </a:xfrm>
        </p:grpSpPr>
        <p:sp>
          <p:nvSpPr>
            <p:cNvPr id="246" name="time"/>
            <p:cNvSpPr/>
            <p:nvPr/>
          </p:nvSpPr>
          <p:spPr>
            <a:xfrm>
              <a:off x="8636000" y="4397304"/>
              <a:ext cx="110490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b="1">
                  <a:solidFill>
                    <a:srgbClr val="000000"/>
                  </a:solidFill>
                  <a:latin typeface="Lucida Grande"/>
                  <a:ea typeface="Lucida Grande"/>
                  <a:cs typeface="Lucida Grande"/>
                  <a:sym typeface="Lucida Grande"/>
                </a:defRPr>
              </a:lvl1pPr>
            </a:lstStyle>
            <a:p>
              <a:r>
                <a:t>time</a:t>
              </a:r>
            </a:p>
          </p:txBody>
        </p:sp>
        <p:sp>
          <p:nvSpPr>
            <p:cNvPr id="247" name="线条"/>
            <p:cNvSpPr/>
            <p:nvPr/>
          </p:nvSpPr>
          <p:spPr>
            <a:xfrm flipV="1">
              <a:off x="960966" y="0"/>
              <a:ext cx="2259"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48" name="线条"/>
            <p:cNvSpPr/>
            <p:nvPr/>
          </p:nvSpPr>
          <p:spPr>
            <a:xfrm flipV="1">
              <a:off x="272344" y="0"/>
              <a:ext cx="2259"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49" name="线条"/>
            <p:cNvSpPr/>
            <p:nvPr/>
          </p:nvSpPr>
          <p:spPr>
            <a:xfrm flipV="1">
              <a:off x="2340469" y="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50" name="线条"/>
            <p:cNvSpPr/>
            <p:nvPr/>
          </p:nvSpPr>
          <p:spPr>
            <a:xfrm flipV="1">
              <a:off x="1649588" y="0"/>
              <a:ext cx="2259"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51" name="线条"/>
            <p:cNvSpPr/>
            <p:nvPr/>
          </p:nvSpPr>
          <p:spPr>
            <a:xfrm flipV="1">
              <a:off x="3029091" y="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52" name="线条"/>
            <p:cNvSpPr/>
            <p:nvPr/>
          </p:nvSpPr>
          <p:spPr>
            <a:xfrm flipV="1">
              <a:off x="5094958" y="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53" name="线条"/>
            <p:cNvSpPr/>
            <p:nvPr/>
          </p:nvSpPr>
          <p:spPr>
            <a:xfrm flipV="1">
              <a:off x="4406335" y="0"/>
              <a:ext cx="2259"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54" name="线条"/>
            <p:cNvSpPr/>
            <p:nvPr/>
          </p:nvSpPr>
          <p:spPr>
            <a:xfrm flipV="1">
              <a:off x="6472202" y="0"/>
              <a:ext cx="2259"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55" name="线条"/>
            <p:cNvSpPr/>
            <p:nvPr/>
          </p:nvSpPr>
          <p:spPr>
            <a:xfrm flipV="1">
              <a:off x="5783580" y="0"/>
              <a:ext cx="2259"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56" name="线条"/>
            <p:cNvSpPr/>
            <p:nvPr/>
          </p:nvSpPr>
          <p:spPr>
            <a:xfrm flipV="1">
              <a:off x="7851704" y="0"/>
              <a:ext cx="2259"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57" name="线条"/>
            <p:cNvSpPr/>
            <p:nvPr/>
          </p:nvSpPr>
          <p:spPr>
            <a:xfrm flipV="1">
              <a:off x="7163082" y="0"/>
              <a:ext cx="2258"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58" name="线条"/>
            <p:cNvSpPr/>
            <p:nvPr/>
          </p:nvSpPr>
          <p:spPr>
            <a:xfrm flipV="1">
              <a:off x="3717713" y="0"/>
              <a:ext cx="2259" cy="452910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259" name="0"/>
            <p:cNvSpPr/>
            <p:nvPr/>
          </p:nvSpPr>
          <p:spPr>
            <a:xfrm>
              <a:off x="0" y="4642273"/>
              <a:ext cx="60960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0</a:t>
              </a:r>
            </a:p>
          </p:txBody>
        </p:sp>
        <p:sp>
          <p:nvSpPr>
            <p:cNvPr id="260" name="1"/>
            <p:cNvSpPr/>
            <p:nvPr/>
          </p:nvSpPr>
          <p:spPr>
            <a:xfrm>
              <a:off x="689468" y="4642273"/>
              <a:ext cx="6096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1</a:t>
              </a:r>
            </a:p>
          </p:txBody>
        </p:sp>
        <p:sp>
          <p:nvSpPr>
            <p:cNvPr id="261" name="2"/>
            <p:cNvSpPr/>
            <p:nvPr/>
          </p:nvSpPr>
          <p:spPr>
            <a:xfrm>
              <a:off x="1378091" y="4642273"/>
              <a:ext cx="6096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2</a:t>
              </a:r>
            </a:p>
          </p:txBody>
        </p:sp>
        <p:sp>
          <p:nvSpPr>
            <p:cNvPr id="262" name="3"/>
            <p:cNvSpPr/>
            <p:nvPr/>
          </p:nvSpPr>
          <p:spPr>
            <a:xfrm>
              <a:off x="2066713" y="4642273"/>
              <a:ext cx="6096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3</a:t>
              </a:r>
            </a:p>
          </p:txBody>
        </p:sp>
        <p:sp>
          <p:nvSpPr>
            <p:cNvPr id="263" name="4"/>
            <p:cNvSpPr/>
            <p:nvPr/>
          </p:nvSpPr>
          <p:spPr>
            <a:xfrm>
              <a:off x="2757593" y="4642273"/>
              <a:ext cx="6096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4</a:t>
              </a:r>
            </a:p>
          </p:txBody>
        </p:sp>
        <p:sp>
          <p:nvSpPr>
            <p:cNvPr id="264" name="5"/>
            <p:cNvSpPr/>
            <p:nvPr/>
          </p:nvSpPr>
          <p:spPr>
            <a:xfrm>
              <a:off x="3446215" y="4642273"/>
              <a:ext cx="6096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5</a:t>
              </a:r>
            </a:p>
          </p:txBody>
        </p:sp>
        <p:sp>
          <p:nvSpPr>
            <p:cNvPr id="265" name="6"/>
            <p:cNvSpPr/>
            <p:nvPr/>
          </p:nvSpPr>
          <p:spPr>
            <a:xfrm>
              <a:off x="4134837" y="4642273"/>
              <a:ext cx="6096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6</a:t>
              </a:r>
            </a:p>
          </p:txBody>
        </p:sp>
        <p:sp>
          <p:nvSpPr>
            <p:cNvPr id="266" name="7"/>
            <p:cNvSpPr/>
            <p:nvPr/>
          </p:nvSpPr>
          <p:spPr>
            <a:xfrm>
              <a:off x="4826000" y="4642273"/>
              <a:ext cx="60960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7</a:t>
              </a:r>
            </a:p>
          </p:txBody>
        </p:sp>
        <p:sp>
          <p:nvSpPr>
            <p:cNvPr id="267" name="8"/>
            <p:cNvSpPr/>
            <p:nvPr/>
          </p:nvSpPr>
          <p:spPr>
            <a:xfrm>
              <a:off x="5512082" y="4642273"/>
              <a:ext cx="6096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8</a:t>
              </a:r>
            </a:p>
          </p:txBody>
        </p:sp>
        <p:sp>
          <p:nvSpPr>
            <p:cNvPr id="268" name="9"/>
            <p:cNvSpPr/>
            <p:nvPr/>
          </p:nvSpPr>
          <p:spPr>
            <a:xfrm>
              <a:off x="6200704" y="4642273"/>
              <a:ext cx="6096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9</a:t>
              </a:r>
            </a:p>
          </p:txBody>
        </p:sp>
        <p:sp>
          <p:nvSpPr>
            <p:cNvPr id="269" name="10"/>
            <p:cNvSpPr/>
            <p:nvPr/>
          </p:nvSpPr>
          <p:spPr>
            <a:xfrm>
              <a:off x="6794500" y="4642273"/>
              <a:ext cx="60960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10</a:t>
              </a:r>
            </a:p>
          </p:txBody>
        </p:sp>
        <p:sp>
          <p:nvSpPr>
            <p:cNvPr id="270" name="11"/>
            <p:cNvSpPr/>
            <p:nvPr/>
          </p:nvSpPr>
          <p:spPr>
            <a:xfrm>
              <a:off x="7543800" y="4642837"/>
              <a:ext cx="60960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1000"/>
                </a:spcBef>
                <a:buClr>
                  <a:srgbClr val="606060"/>
                </a:buClr>
                <a:defRPr>
                  <a:solidFill>
                    <a:srgbClr val="606060"/>
                  </a:solidFill>
                  <a:uFill>
                    <a:solidFill>
                      <a:srgbClr val="606060"/>
                    </a:solidFill>
                  </a:uFill>
                </a:defRPr>
              </a:lvl1pPr>
            </a:lstStyle>
            <a:p>
              <a:r>
                <a:t>11</a:t>
              </a:r>
            </a:p>
          </p:txBody>
        </p:sp>
        <p:sp>
          <p:nvSpPr>
            <p:cNvPr id="271" name="6"/>
            <p:cNvSpPr/>
            <p:nvPr/>
          </p:nvSpPr>
          <p:spPr>
            <a:xfrm>
              <a:off x="3718842" y="2952044"/>
              <a:ext cx="2754490" cy="392854"/>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t>6</a:t>
              </a:r>
            </a:p>
          </p:txBody>
        </p:sp>
        <p:sp>
          <p:nvSpPr>
            <p:cNvPr id="272" name="7"/>
            <p:cNvSpPr/>
            <p:nvPr/>
          </p:nvSpPr>
          <p:spPr>
            <a:xfrm>
              <a:off x="4407464" y="3543582"/>
              <a:ext cx="2756748" cy="392854"/>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t>7</a:t>
              </a:r>
            </a:p>
          </p:txBody>
        </p:sp>
        <p:sp>
          <p:nvSpPr>
            <p:cNvPr id="273" name="8"/>
            <p:cNvSpPr/>
            <p:nvPr/>
          </p:nvSpPr>
          <p:spPr>
            <a:xfrm>
              <a:off x="3024575" y="4122137"/>
              <a:ext cx="4822050" cy="395112"/>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t>8</a:t>
              </a:r>
            </a:p>
          </p:txBody>
        </p:sp>
        <p:sp>
          <p:nvSpPr>
            <p:cNvPr id="274" name="4"/>
            <p:cNvSpPr/>
            <p:nvPr/>
          </p:nvSpPr>
          <p:spPr>
            <a:xfrm>
              <a:off x="3030220" y="1836137"/>
              <a:ext cx="2065868" cy="395112"/>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t>4</a:t>
              </a:r>
            </a:p>
          </p:txBody>
        </p:sp>
        <p:sp>
          <p:nvSpPr>
            <p:cNvPr id="275" name="3"/>
            <p:cNvSpPr/>
            <p:nvPr/>
          </p:nvSpPr>
          <p:spPr>
            <a:xfrm>
              <a:off x="273473" y="1231617"/>
              <a:ext cx="4133992" cy="392855"/>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t>3</a:t>
              </a:r>
            </a:p>
          </p:txBody>
        </p:sp>
        <p:sp>
          <p:nvSpPr>
            <p:cNvPr id="276" name="1"/>
            <p:cNvSpPr/>
            <p:nvPr/>
          </p:nvSpPr>
          <p:spPr>
            <a:xfrm>
              <a:off x="965200" y="1128"/>
              <a:ext cx="2068125" cy="392854"/>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t>1</a:t>
              </a:r>
            </a:p>
          </p:txBody>
        </p:sp>
        <p:sp>
          <p:nvSpPr>
            <p:cNvPr id="277" name="2"/>
            <p:cNvSpPr/>
            <p:nvPr/>
          </p:nvSpPr>
          <p:spPr>
            <a:xfrm>
              <a:off x="2341597" y="655037"/>
              <a:ext cx="1377246" cy="395112"/>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t>2</a:t>
              </a:r>
            </a:p>
          </p:txBody>
        </p:sp>
        <p:sp>
          <p:nvSpPr>
            <p:cNvPr id="278" name="5"/>
            <p:cNvSpPr/>
            <p:nvPr/>
          </p:nvSpPr>
          <p:spPr>
            <a:xfrm>
              <a:off x="2341597" y="2423724"/>
              <a:ext cx="3443112" cy="392854"/>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t>5</a:t>
              </a:r>
            </a:p>
          </p:txBody>
        </p:sp>
        <p:sp>
          <p:nvSpPr>
            <p:cNvPr id="279" name="线条"/>
            <p:cNvSpPr/>
            <p:nvPr/>
          </p:nvSpPr>
          <p:spPr>
            <a:xfrm>
              <a:off x="260773" y="4540673"/>
              <a:ext cx="8365068" cy="2259"/>
            </a:xfrm>
            <a:prstGeom prst="line">
              <a:avLst/>
            </a:prstGeom>
            <a:noFill/>
            <a:ln w="25400" cap="flat">
              <a:solidFill>
                <a:srgbClr val="000000"/>
              </a:solidFill>
              <a:prstDash val="solid"/>
              <a:miter lim="400000"/>
              <a:tailEnd type="stealth" w="med" len="med"/>
            </a:ln>
            <a:effectLst/>
          </p:spPr>
          <p:txBody>
            <a:bodyPr wrap="square" lIns="50800" tIns="50800" rIns="50800" bIns="50800" numCol="1" anchor="ctr">
              <a:noAutofit/>
            </a:bodyPr>
            <a:lstStyle/>
            <a:p>
              <a:pPr algn="l" defTabSz="457200">
                <a:lnSpc>
                  <a:spcPct val="100000"/>
                </a:lnSpc>
                <a:buClrTx/>
                <a:buFontTx/>
                <a:tabLst/>
                <a:defRPr sz="1200">
                  <a:solidFill>
                    <a:srgbClr val="000000"/>
                  </a:solidFill>
                </a:defRPr>
              </a:pPr>
              <a:endParaRPr/>
            </a:p>
          </p:txBody>
        </p:sp>
      </p:grpSp>
      <p:grpSp>
        <p:nvGrpSpPr>
          <p:cNvPr id="283" name="成组"/>
          <p:cNvGrpSpPr/>
          <p:nvPr/>
        </p:nvGrpSpPr>
        <p:grpSpPr>
          <a:xfrm>
            <a:off x="8825177" y="2772489"/>
            <a:ext cx="2938198" cy="1479974"/>
            <a:chOff x="0" y="0"/>
            <a:chExt cx="2938197" cy="1479973"/>
          </a:xfrm>
        </p:grpSpPr>
        <p:sp>
          <p:nvSpPr>
            <p:cNvPr id="281" name="i is leftmost interval…"/>
            <p:cNvSpPr/>
            <p:nvPr/>
          </p:nvSpPr>
          <p:spPr>
            <a:xfrm>
              <a:off x="1668197" y="209973"/>
              <a:ext cx="1270001" cy="1270001"/>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nSpc>
                  <a:spcPts val="2000"/>
                </a:lnSpc>
              </a:pPr>
              <a:r>
                <a:rPr sz="1800" i="1" dirty="0">
                  <a:latin typeface="Times"/>
                  <a:ea typeface="Times"/>
                  <a:cs typeface="Times"/>
                  <a:sym typeface="Times"/>
                </a:rPr>
                <a:t>i</a:t>
              </a:r>
              <a:r>
                <a:rPr dirty="0"/>
                <a:t> is leftmost interval</a:t>
              </a:r>
            </a:p>
            <a:p>
              <a:pPr>
                <a:lnSpc>
                  <a:spcPts val="2000"/>
                </a:lnSpc>
              </a:pPr>
              <a:r>
                <a:rPr dirty="0"/>
                <a:t>that ends before </a:t>
              </a:r>
              <a:r>
                <a:rPr sz="1800" i="1" dirty="0">
                  <a:latin typeface="Times"/>
                  <a:ea typeface="Times"/>
                  <a:cs typeface="Times"/>
                  <a:sym typeface="Times"/>
                </a:rPr>
                <a:t>j</a:t>
              </a:r>
              <a:r>
                <a:rPr dirty="0"/>
                <a:t> begins</a:t>
              </a:r>
            </a:p>
          </p:txBody>
        </p:sp>
        <p:sp>
          <p:nvSpPr>
            <p:cNvPr id="282" name="线条"/>
            <p:cNvSpPr/>
            <p:nvPr/>
          </p:nvSpPr>
          <p:spPr>
            <a:xfrm>
              <a:off x="0" y="0"/>
              <a:ext cx="407177" cy="374889"/>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44" name="1">
            <a:extLst>
              <a:ext uri="{FF2B5EF4-FFF2-40B4-BE49-F238E27FC236}">
                <a16:creationId xmlns:a16="http://schemas.microsoft.com/office/drawing/2014/main" id="{4FF61723-03AE-F648-B01E-12FF996C2F65}"/>
              </a:ext>
            </a:extLst>
          </p:cNvPr>
          <p:cNvSpPr/>
          <p:nvPr/>
        </p:nvSpPr>
        <p:spPr>
          <a:xfrm>
            <a:off x="462693" y="4336062"/>
            <a:ext cx="1067291" cy="393982"/>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t>1</a:t>
            </a:r>
          </a:p>
        </p:txBody>
      </p:sp>
      <p:sp>
        <p:nvSpPr>
          <p:cNvPr id="45" name="1">
            <a:extLst>
              <a:ext uri="{FF2B5EF4-FFF2-40B4-BE49-F238E27FC236}">
                <a16:creationId xmlns:a16="http://schemas.microsoft.com/office/drawing/2014/main" id="{EF39DD7B-7CF6-8C4E-BF06-6B7913930CA9}"/>
              </a:ext>
            </a:extLst>
          </p:cNvPr>
          <p:cNvSpPr/>
          <p:nvPr/>
        </p:nvSpPr>
        <p:spPr>
          <a:xfrm>
            <a:off x="462692" y="4990253"/>
            <a:ext cx="1067291" cy="393982"/>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rPr lang="en-US" altLang="zh-CN" dirty="0"/>
              <a:t>2</a:t>
            </a:r>
            <a:endParaRPr dirty="0"/>
          </a:p>
        </p:txBody>
      </p:sp>
      <p:sp>
        <p:nvSpPr>
          <p:cNvPr id="46" name="1">
            <a:extLst>
              <a:ext uri="{FF2B5EF4-FFF2-40B4-BE49-F238E27FC236}">
                <a16:creationId xmlns:a16="http://schemas.microsoft.com/office/drawing/2014/main" id="{4311432A-1DFF-7D4C-8F40-85032981B41E}"/>
              </a:ext>
            </a:extLst>
          </p:cNvPr>
          <p:cNvSpPr/>
          <p:nvPr/>
        </p:nvSpPr>
        <p:spPr>
          <a:xfrm>
            <a:off x="462692" y="5566552"/>
            <a:ext cx="1067291" cy="393982"/>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rPr lang="en-US" altLang="zh-CN" dirty="0"/>
              <a:t>3</a:t>
            </a:r>
            <a:endParaRPr dirty="0"/>
          </a:p>
        </p:txBody>
      </p:sp>
      <p:sp>
        <p:nvSpPr>
          <p:cNvPr id="47" name="1">
            <a:extLst>
              <a:ext uri="{FF2B5EF4-FFF2-40B4-BE49-F238E27FC236}">
                <a16:creationId xmlns:a16="http://schemas.microsoft.com/office/drawing/2014/main" id="{5521346A-646C-614E-B936-1E1CC9E2CBE6}"/>
              </a:ext>
            </a:extLst>
          </p:cNvPr>
          <p:cNvSpPr/>
          <p:nvPr/>
        </p:nvSpPr>
        <p:spPr>
          <a:xfrm>
            <a:off x="462692" y="6174481"/>
            <a:ext cx="1067291" cy="393982"/>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rPr lang="en-US" altLang="zh-CN" dirty="0"/>
              <a:t>4</a:t>
            </a:r>
            <a:endParaRPr dirty="0"/>
          </a:p>
        </p:txBody>
      </p:sp>
      <p:sp>
        <p:nvSpPr>
          <p:cNvPr id="48" name="1">
            <a:extLst>
              <a:ext uri="{FF2B5EF4-FFF2-40B4-BE49-F238E27FC236}">
                <a16:creationId xmlns:a16="http://schemas.microsoft.com/office/drawing/2014/main" id="{07D43967-DB98-1343-BEBF-DF96E13E0159}"/>
              </a:ext>
            </a:extLst>
          </p:cNvPr>
          <p:cNvSpPr/>
          <p:nvPr/>
        </p:nvSpPr>
        <p:spPr>
          <a:xfrm>
            <a:off x="462691" y="6695440"/>
            <a:ext cx="1067291" cy="393982"/>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rPr lang="en-US" altLang="zh-CN" dirty="0"/>
              <a:t>5</a:t>
            </a:r>
            <a:endParaRPr dirty="0"/>
          </a:p>
        </p:txBody>
      </p:sp>
      <p:sp>
        <p:nvSpPr>
          <p:cNvPr id="49" name="1">
            <a:extLst>
              <a:ext uri="{FF2B5EF4-FFF2-40B4-BE49-F238E27FC236}">
                <a16:creationId xmlns:a16="http://schemas.microsoft.com/office/drawing/2014/main" id="{6CA685B7-61F2-B94D-B25A-AB36694509C3}"/>
              </a:ext>
            </a:extLst>
          </p:cNvPr>
          <p:cNvSpPr/>
          <p:nvPr/>
        </p:nvSpPr>
        <p:spPr>
          <a:xfrm>
            <a:off x="462691" y="7216399"/>
            <a:ext cx="1067291" cy="393982"/>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rPr lang="en-US" altLang="zh-CN" dirty="0"/>
              <a:t>6</a:t>
            </a:r>
            <a:endParaRPr dirty="0"/>
          </a:p>
        </p:txBody>
      </p:sp>
      <p:sp>
        <p:nvSpPr>
          <p:cNvPr id="50" name="1">
            <a:extLst>
              <a:ext uri="{FF2B5EF4-FFF2-40B4-BE49-F238E27FC236}">
                <a16:creationId xmlns:a16="http://schemas.microsoft.com/office/drawing/2014/main" id="{4C21CDE5-D443-2B40-B86D-E0C33E4179B2}"/>
              </a:ext>
            </a:extLst>
          </p:cNvPr>
          <p:cNvSpPr/>
          <p:nvPr/>
        </p:nvSpPr>
        <p:spPr>
          <a:xfrm>
            <a:off x="462691" y="7877866"/>
            <a:ext cx="1067291" cy="393982"/>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rPr lang="en-US" altLang="zh-CN" dirty="0"/>
              <a:t>7</a:t>
            </a:r>
            <a:endParaRPr dirty="0"/>
          </a:p>
        </p:txBody>
      </p:sp>
      <p:sp>
        <p:nvSpPr>
          <p:cNvPr id="51" name="1">
            <a:extLst>
              <a:ext uri="{FF2B5EF4-FFF2-40B4-BE49-F238E27FC236}">
                <a16:creationId xmlns:a16="http://schemas.microsoft.com/office/drawing/2014/main" id="{554716CC-5A16-3F43-A05E-C4E62D33EB5D}"/>
              </a:ext>
            </a:extLst>
          </p:cNvPr>
          <p:cNvSpPr/>
          <p:nvPr/>
        </p:nvSpPr>
        <p:spPr>
          <a:xfrm>
            <a:off x="464305" y="8457118"/>
            <a:ext cx="1067291" cy="393982"/>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rPr lang="en-US" altLang="zh-CN" dirty="0"/>
              <a:t>8</a:t>
            </a:r>
            <a:endParaRPr dirty="0"/>
          </a:p>
        </p:txBody>
      </p:sp>
      <p:pic>
        <p:nvPicPr>
          <p:cNvPr id="53" name="revenue.pdf" descr="revenue.pdf">
            <a:extLst>
              <a:ext uri="{FF2B5EF4-FFF2-40B4-BE49-F238E27FC236}">
                <a16:creationId xmlns:a16="http://schemas.microsoft.com/office/drawing/2014/main" id="{7FE0177F-FD2B-3548-8CE9-AD1B512F3B28}"/>
              </a:ext>
            </a:extLst>
          </p:cNvPr>
          <p:cNvPicPr>
            <a:picLocks noChangeAspect="1"/>
          </p:cNvPicPr>
          <p:nvPr/>
        </p:nvPicPr>
        <p:blipFill>
          <a:blip r:embed="rId3"/>
          <a:stretch>
            <a:fillRect/>
          </a:stretch>
        </p:blipFill>
        <p:spPr>
          <a:xfrm rot="660000">
            <a:off x="683635" y="3836466"/>
            <a:ext cx="523105" cy="413923"/>
          </a:xfrm>
          <a:prstGeom prst="rect">
            <a:avLst/>
          </a:prstGeom>
          <a:ln w="12700" cap="flat">
            <a:noFill/>
            <a:miter lim="400000"/>
          </a:ln>
          <a:effectLst/>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288" name="Dynamic programming:  binary choice"/>
          <p:cNvSpPr txBox="1">
            <a:spLocks noGrp="1"/>
          </p:cNvSpPr>
          <p:nvPr>
            <p:ph type="title"/>
          </p:nvPr>
        </p:nvSpPr>
        <p:spPr>
          <a:prstGeom prst="rect">
            <a:avLst/>
          </a:prstGeom>
        </p:spPr>
        <p:txBody>
          <a:bodyPr/>
          <a:lstStyle/>
          <a:p>
            <a:r>
              <a:t>Dynamic programming:  binary choice</a:t>
            </a:r>
          </a:p>
        </p:txBody>
      </p:sp>
      <p:sp>
        <p:nvSpPr>
          <p:cNvPr id="289" name="Def.  OPT(j) = max weight of any subset of mutually compatible jobs for subproblem consisting only of jobs 1, 2, ..., j.…"/>
          <p:cNvSpPr txBox="1">
            <a:spLocks noGrp="1"/>
          </p:cNvSpPr>
          <p:nvPr>
            <p:ph type="body" idx="1"/>
          </p:nvPr>
        </p:nvSpPr>
        <p:spPr>
          <a:prstGeom prst="rect">
            <a:avLst/>
          </a:prstGeom>
        </p:spPr>
        <p:txBody>
          <a:bodyPr/>
          <a:lstStyle/>
          <a:p>
            <a:r>
              <a:t>Def.  </a:t>
            </a:r>
            <a:r>
              <a:rPr i="1">
                <a:solidFill>
                  <a:srgbClr val="000000"/>
                </a:solidFill>
                <a:latin typeface="Times"/>
                <a:ea typeface="Times"/>
                <a:cs typeface="Times"/>
                <a:sym typeface="Times"/>
              </a:rPr>
              <a:t>OPT</a:t>
            </a:r>
            <a:r>
              <a:rPr spc="240">
                <a:solidFill>
                  <a:srgbClr val="000000"/>
                </a:solidFill>
                <a:latin typeface="Times"/>
                <a:ea typeface="Times"/>
                <a:cs typeface="Times"/>
                <a:sym typeface="Times"/>
              </a:rPr>
              <a:t>(</a:t>
            </a:r>
            <a:r>
              <a:rPr i="1" spc="240">
                <a:solidFill>
                  <a:srgbClr val="000000"/>
                </a:solidFill>
                <a:latin typeface="Times"/>
                <a:ea typeface="Times"/>
                <a:cs typeface="Times"/>
                <a:sym typeface="Times"/>
              </a:rPr>
              <a:t>j</a:t>
            </a:r>
            <a:r>
              <a:rPr>
                <a:solidFill>
                  <a:srgbClr val="000000"/>
                </a:solidFill>
                <a:latin typeface="Times"/>
                <a:ea typeface="Times"/>
                <a:cs typeface="Times"/>
                <a:sym typeface="Times"/>
              </a:rPr>
              <a:t>) =</a:t>
            </a:r>
            <a:r>
              <a:rPr>
                <a:solidFill>
                  <a:srgbClr val="000000"/>
                </a:solidFill>
              </a:rPr>
              <a:t> max weight of any subset of mutually compatible jobs for subproblem consisting only of jobs </a:t>
            </a:r>
            <a:r>
              <a:rPr>
                <a:solidFill>
                  <a:srgbClr val="000000"/>
                </a:solidFill>
                <a:latin typeface="Times"/>
                <a:ea typeface="Times"/>
                <a:cs typeface="Times"/>
                <a:sym typeface="Times"/>
              </a:rPr>
              <a:t>1, 2, ..., </a:t>
            </a:r>
            <a:r>
              <a:rPr i="1">
                <a:solidFill>
                  <a:srgbClr val="000000"/>
                </a:solidFill>
                <a:latin typeface="Times"/>
                <a:ea typeface="Times"/>
                <a:cs typeface="Times"/>
                <a:sym typeface="Times"/>
              </a:rPr>
              <a:t>j</a:t>
            </a:r>
            <a:r>
              <a:rPr>
                <a:solidFill>
                  <a:srgbClr val="000000"/>
                </a:solidFill>
              </a:rPr>
              <a:t>.</a:t>
            </a:r>
          </a:p>
          <a:p>
            <a:br>
              <a:rPr>
                <a:solidFill>
                  <a:srgbClr val="000000"/>
                </a:solidFill>
              </a:rPr>
            </a:br>
            <a:r>
              <a:t>Goal.  </a:t>
            </a:r>
            <a:r>
              <a:rPr i="1">
                <a:solidFill>
                  <a:srgbClr val="000000"/>
                </a:solidFill>
                <a:latin typeface="Times"/>
                <a:ea typeface="Times"/>
                <a:cs typeface="Times"/>
                <a:sym typeface="Times"/>
              </a:rPr>
              <a:t>OPT</a:t>
            </a:r>
            <a:r>
              <a:rPr>
                <a:solidFill>
                  <a:srgbClr val="000000"/>
                </a:solidFill>
                <a:latin typeface="Times"/>
                <a:ea typeface="Times"/>
                <a:cs typeface="Times"/>
                <a:sym typeface="Times"/>
              </a:rPr>
              <a:t>(</a:t>
            </a:r>
            <a:r>
              <a:rPr i="1">
                <a:solidFill>
                  <a:srgbClr val="000000"/>
                </a:solidFill>
                <a:latin typeface="Times"/>
                <a:ea typeface="Times"/>
                <a:cs typeface="Times"/>
                <a:sym typeface="Times"/>
              </a:rPr>
              <a:t>n</a:t>
            </a:r>
            <a:r>
              <a:rPr>
                <a:solidFill>
                  <a:srgbClr val="000000"/>
                </a:solidFill>
                <a:latin typeface="Times"/>
                <a:ea typeface="Times"/>
                <a:cs typeface="Times"/>
                <a:sym typeface="Times"/>
              </a:rPr>
              <a:t>) =</a:t>
            </a:r>
            <a:r>
              <a:rPr>
                <a:solidFill>
                  <a:srgbClr val="000000"/>
                </a:solidFill>
              </a:rPr>
              <a:t> max weight of any subset of mutually compatible jobs.</a:t>
            </a:r>
          </a:p>
          <a:p>
            <a:br>
              <a:rPr>
                <a:solidFill>
                  <a:srgbClr val="000000"/>
                </a:solidFill>
              </a:rPr>
            </a:br>
            <a:r>
              <a:t>Case 1.  </a:t>
            </a:r>
            <a:r>
              <a:rPr i="1">
                <a:solidFill>
                  <a:srgbClr val="000000"/>
                </a:solidFill>
                <a:latin typeface="Times"/>
                <a:ea typeface="Times"/>
                <a:cs typeface="Times"/>
                <a:sym typeface="Times"/>
              </a:rPr>
              <a:t>OPT</a:t>
            </a:r>
            <a:r>
              <a:rPr spc="240">
                <a:solidFill>
                  <a:srgbClr val="000000"/>
                </a:solidFill>
                <a:latin typeface="Times"/>
                <a:ea typeface="Times"/>
                <a:cs typeface="Times"/>
                <a:sym typeface="Times"/>
              </a:rPr>
              <a:t>(</a:t>
            </a:r>
            <a:r>
              <a:rPr i="1" spc="240">
                <a:solidFill>
                  <a:srgbClr val="000000"/>
                </a:solidFill>
                <a:latin typeface="Times"/>
                <a:ea typeface="Times"/>
                <a:cs typeface="Times"/>
                <a:sym typeface="Times"/>
              </a:rPr>
              <a:t>j</a:t>
            </a:r>
            <a:r>
              <a:rPr>
                <a:solidFill>
                  <a:srgbClr val="000000"/>
                </a:solidFill>
                <a:latin typeface="Times"/>
                <a:ea typeface="Times"/>
                <a:cs typeface="Times"/>
                <a:sym typeface="Times"/>
              </a:rPr>
              <a:t>)</a:t>
            </a:r>
            <a:r>
              <a:rPr>
                <a:solidFill>
                  <a:srgbClr val="000000"/>
                </a:solidFill>
              </a:rPr>
              <a:t> does not select job </a:t>
            </a:r>
            <a:r>
              <a:rPr i="1">
                <a:solidFill>
                  <a:srgbClr val="000000"/>
                </a:solidFill>
                <a:latin typeface="Times"/>
                <a:ea typeface="Times"/>
                <a:cs typeface="Times"/>
                <a:sym typeface="Times"/>
              </a:rPr>
              <a:t>j</a:t>
            </a:r>
            <a:r>
              <a:rPr>
                <a:solidFill>
                  <a:srgbClr val="000000"/>
                </a:solidFill>
              </a:rPr>
              <a:t>.</a:t>
            </a:r>
          </a:p>
          <a:p>
            <a:pPr lvl="1"/>
            <a:r>
              <a:t>Must be an optimal solution to problem consisting of remaining</a:t>
            </a:r>
            <a:br/>
            <a:r>
              <a:t>jobs </a:t>
            </a:r>
            <a:r>
              <a:rPr>
                <a:latin typeface="Times"/>
                <a:ea typeface="Times"/>
                <a:cs typeface="Times"/>
                <a:sym typeface="Times"/>
              </a:rPr>
              <a:t>1, 2, ...,  </a:t>
            </a:r>
            <a:r>
              <a:rPr i="1">
                <a:latin typeface="Times"/>
                <a:ea typeface="Times"/>
                <a:cs typeface="Times"/>
                <a:sym typeface="Times"/>
              </a:rPr>
              <a:t>j </a:t>
            </a:r>
            <a:r>
              <a:rPr>
                <a:latin typeface="Times"/>
                <a:ea typeface="Times"/>
                <a:cs typeface="Times"/>
                <a:sym typeface="Times"/>
              </a:rPr>
              <a:t>– 1</a:t>
            </a:r>
            <a:r>
              <a:t>. </a:t>
            </a:r>
          </a:p>
          <a:p>
            <a:br/>
            <a:r>
              <a:t>Case 2.  </a:t>
            </a:r>
            <a:r>
              <a:rPr i="1">
                <a:solidFill>
                  <a:srgbClr val="000000"/>
                </a:solidFill>
                <a:latin typeface="Times"/>
                <a:ea typeface="Times"/>
                <a:cs typeface="Times"/>
                <a:sym typeface="Times"/>
              </a:rPr>
              <a:t>OPT</a:t>
            </a:r>
            <a:r>
              <a:rPr spc="240">
                <a:solidFill>
                  <a:srgbClr val="000000"/>
                </a:solidFill>
                <a:latin typeface="Times"/>
                <a:ea typeface="Times"/>
                <a:cs typeface="Times"/>
                <a:sym typeface="Times"/>
              </a:rPr>
              <a:t>(</a:t>
            </a:r>
            <a:r>
              <a:rPr i="1" spc="240">
                <a:solidFill>
                  <a:srgbClr val="000000"/>
                </a:solidFill>
                <a:latin typeface="Times"/>
                <a:ea typeface="Times"/>
                <a:cs typeface="Times"/>
                <a:sym typeface="Times"/>
              </a:rPr>
              <a:t>j</a:t>
            </a:r>
            <a:r>
              <a:rPr>
                <a:solidFill>
                  <a:srgbClr val="000000"/>
                </a:solidFill>
                <a:latin typeface="Times"/>
                <a:ea typeface="Times"/>
                <a:cs typeface="Times"/>
                <a:sym typeface="Times"/>
              </a:rPr>
              <a:t>)</a:t>
            </a:r>
            <a:r>
              <a:rPr>
                <a:solidFill>
                  <a:srgbClr val="000000"/>
                </a:solidFill>
              </a:rPr>
              <a:t> selects job </a:t>
            </a:r>
            <a:r>
              <a:rPr i="1">
                <a:solidFill>
                  <a:srgbClr val="000000"/>
                </a:solidFill>
                <a:latin typeface="Times"/>
                <a:ea typeface="Times"/>
                <a:cs typeface="Times"/>
                <a:sym typeface="Times"/>
              </a:rPr>
              <a:t>j</a:t>
            </a:r>
            <a:r>
              <a:rPr>
                <a:solidFill>
                  <a:srgbClr val="000000"/>
                </a:solidFill>
              </a:rPr>
              <a:t>.</a:t>
            </a:r>
          </a:p>
          <a:p>
            <a:pPr lvl="1"/>
            <a:r>
              <a:t>Collect profit </a:t>
            </a:r>
            <a:r>
              <a:rPr i="1">
                <a:latin typeface="Times"/>
                <a:ea typeface="Times"/>
                <a:cs typeface="Times"/>
                <a:sym typeface="Times"/>
              </a:rPr>
              <a:t>w</a:t>
            </a:r>
            <a:r>
              <a:rPr i="1" baseline="-5999">
                <a:latin typeface="Times"/>
                <a:ea typeface="Times"/>
                <a:cs typeface="Times"/>
                <a:sym typeface="Times"/>
              </a:rPr>
              <a:t>j</a:t>
            </a:r>
            <a:r>
              <a:t>.</a:t>
            </a:r>
          </a:p>
          <a:p>
            <a:pPr lvl="1"/>
            <a:r>
              <a:t>Can’t use incompatible jobs </a:t>
            </a:r>
            <a:r>
              <a:rPr>
                <a:latin typeface="Times"/>
                <a:ea typeface="Times"/>
                <a:cs typeface="Times"/>
                <a:sym typeface="Times"/>
              </a:rPr>
              <a:t>{ </a:t>
            </a:r>
            <a:r>
              <a:rPr i="1">
                <a:latin typeface="Times"/>
                <a:ea typeface="Times"/>
                <a:cs typeface="Times"/>
                <a:sym typeface="Times"/>
              </a:rPr>
              <a:t>p</a:t>
            </a:r>
            <a:r>
              <a:rPr spc="240">
                <a:latin typeface="Times"/>
                <a:ea typeface="Times"/>
                <a:cs typeface="Times"/>
                <a:sym typeface="Times"/>
              </a:rPr>
              <a:t>(</a:t>
            </a:r>
            <a:r>
              <a:rPr i="1" spc="240">
                <a:latin typeface="Times"/>
                <a:ea typeface="Times"/>
                <a:cs typeface="Times"/>
                <a:sym typeface="Times"/>
              </a:rPr>
              <a:t>j</a:t>
            </a:r>
            <a:r>
              <a:rPr>
                <a:latin typeface="Times"/>
                <a:ea typeface="Times"/>
                <a:cs typeface="Times"/>
                <a:sym typeface="Times"/>
              </a:rPr>
              <a:t>) + 1, </a:t>
            </a:r>
            <a:r>
              <a:rPr i="1">
                <a:latin typeface="Times"/>
                <a:ea typeface="Times"/>
                <a:cs typeface="Times"/>
                <a:sym typeface="Times"/>
              </a:rPr>
              <a:t>p</a:t>
            </a:r>
            <a:r>
              <a:rPr spc="240">
                <a:latin typeface="Times"/>
                <a:ea typeface="Times"/>
                <a:cs typeface="Times"/>
                <a:sym typeface="Times"/>
              </a:rPr>
              <a:t>(</a:t>
            </a:r>
            <a:r>
              <a:rPr i="1" spc="240">
                <a:latin typeface="Times"/>
                <a:ea typeface="Times"/>
                <a:cs typeface="Times"/>
                <a:sym typeface="Times"/>
              </a:rPr>
              <a:t>j</a:t>
            </a:r>
            <a:r>
              <a:rPr>
                <a:latin typeface="Times"/>
                <a:ea typeface="Times"/>
                <a:cs typeface="Times"/>
                <a:sym typeface="Times"/>
              </a:rPr>
              <a:t>) + 2, ...,  </a:t>
            </a:r>
            <a:r>
              <a:rPr i="1">
                <a:latin typeface="Times"/>
                <a:ea typeface="Times"/>
                <a:cs typeface="Times"/>
                <a:sym typeface="Times"/>
              </a:rPr>
              <a:t>j</a:t>
            </a:r>
            <a:r>
              <a:rPr>
                <a:latin typeface="Times"/>
                <a:ea typeface="Times"/>
                <a:cs typeface="Times"/>
                <a:sym typeface="Times"/>
              </a:rPr>
              <a:t> – 1 }</a:t>
            </a:r>
            <a:r>
              <a:t>.</a:t>
            </a:r>
          </a:p>
          <a:p>
            <a:pPr lvl="1"/>
            <a:r>
              <a:t>Must include optimal solution to problem consisting of remaining compatible jobs </a:t>
            </a:r>
            <a:r>
              <a:rPr>
                <a:latin typeface="Times"/>
                <a:ea typeface="Times"/>
                <a:cs typeface="Times"/>
                <a:sym typeface="Times"/>
              </a:rPr>
              <a:t>1, 2, ...,  </a:t>
            </a:r>
            <a:r>
              <a:rPr i="1">
                <a:latin typeface="Times"/>
                <a:ea typeface="Times"/>
                <a:cs typeface="Times"/>
                <a:sym typeface="Times"/>
              </a:rPr>
              <a:t>p</a:t>
            </a:r>
            <a:r>
              <a:rPr spc="240">
                <a:latin typeface="Times"/>
                <a:ea typeface="Times"/>
                <a:cs typeface="Times"/>
                <a:sym typeface="Times"/>
              </a:rPr>
              <a:t>(</a:t>
            </a:r>
            <a:r>
              <a:rPr i="1" spc="240">
                <a:latin typeface="Times"/>
                <a:ea typeface="Times"/>
                <a:cs typeface="Times"/>
                <a:sym typeface="Times"/>
              </a:rPr>
              <a:t>j</a:t>
            </a:r>
            <a:r>
              <a:rPr>
                <a:latin typeface="Times"/>
                <a:ea typeface="Times"/>
                <a:cs typeface="Times"/>
                <a:sym typeface="Times"/>
              </a:rPr>
              <a:t>)</a:t>
            </a:r>
            <a:r>
              <a:t>.</a:t>
            </a:r>
          </a:p>
          <a:p>
            <a:br/>
            <a:r>
              <a:t>Bellman equation.</a:t>
            </a:r>
          </a:p>
        </p:txBody>
      </p:sp>
      <p:sp>
        <p:nvSpPr>
          <p:cNvPr id="290" name="幻灯片编号"/>
          <p:cNvSpPr txBox="1">
            <a:spLocks noGrp="1"/>
          </p:cNvSpPr>
          <p:nvPr>
            <p:ph type="sldNum" sz="quarter" idx="2"/>
          </p:nvPr>
        </p:nvSpPr>
        <p:spPr>
          <a:xfrm>
            <a:off x="12409971" y="9347200"/>
            <a:ext cx="173658" cy="2540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17</a:t>
            </a:fld>
            <a:endParaRPr/>
          </a:p>
        </p:txBody>
      </p:sp>
      <p:sp>
        <p:nvSpPr>
          <p:cNvPr id="291" name="线条"/>
          <p:cNvSpPr/>
          <p:nvPr/>
        </p:nvSpPr>
        <p:spPr>
          <a:xfrm flipV="1">
            <a:off x="7770142" y="5762598"/>
            <a:ext cx="407178" cy="374889"/>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grpSp>
        <p:nvGrpSpPr>
          <p:cNvPr id="294" name="成组"/>
          <p:cNvGrpSpPr/>
          <p:nvPr/>
        </p:nvGrpSpPr>
        <p:grpSpPr>
          <a:xfrm>
            <a:off x="7759700" y="5245100"/>
            <a:ext cx="3319198" cy="1479974"/>
            <a:chOff x="0" y="0"/>
            <a:chExt cx="3319197" cy="1479973"/>
          </a:xfrm>
        </p:grpSpPr>
        <p:sp>
          <p:nvSpPr>
            <p:cNvPr id="292" name="optimal substructure property…"/>
            <p:cNvSpPr/>
            <p:nvPr/>
          </p:nvSpPr>
          <p:spPr>
            <a:xfrm>
              <a:off x="2049197" y="209973"/>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lnSpc>
                  <a:spcPct val="140000"/>
                </a:lnSpc>
              </a:pPr>
              <a:r>
                <a:t>optimal substructure property</a:t>
              </a:r>
            </a:p>
            <a:p>
              <a:pPr>
                <a:lnSpc>
                  <a:spcPct val="140000"/>
                </a:lnSpc>
              </a:pPr>
              <a:r>
                <a:t>(proof via exchange argument)</a:t>
              </a:r>
            </a:p>
          </p:txBody>
        </p:sp>
        <p:sp>
          <p:nvSpPr>
            <p:cNvPr id="293" name="线条"/>
            <p:cNvSpPr/>
            <p:nvPr/>
          </p:nvSpPr>
          <p:spPr>
            <a:xfrm>
              <a:off x="0" y="0"/>
              <a:ext cx="407177" cy="374889"/>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pic>
        <p:nvPicPr>
          <p:cNvPr id="295" name="图像" descr="图像"/>
          <p:cNvPicPr>
            <a:picLocks noChangeAspect="1"/>
          </p:cNvPicPr>
          <p:nvPr/>
        </p:nvPicPr>
        <p:blipFill>
          <a:blip r:embed="rId3"/>
          <a:stretch>
            <a:fillRect/>
          </a:stretch>
        </p:blipFill>
        <p:spPr>
          <a:xfrm>
            <a:off x="3758029" y="8356600"/>
            <a:ext cx="8369301" cy="927100"/>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28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28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28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28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289">
                                            <p:txEl>
                                              <p:pRg st="3" end="3"/>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2" nodeType="afterEffect">
                                  <p:stCondLst>
                                    <p:cond delay="0"/>
                                  </p:stCondLst>
                                  <p:iterate>
                                    <p:tmAbs val="0"/>
                                  </p:iterate>
                                  <p:childTnLst>
                                    <p:set>
                                      <p:cBhvr>
                                        <p:cTn id="23" fill="hold"/>
                                        <p:tgtEl>
                                          <p:spTgt spid="29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1" nodeType="clickEffect">
                                  <p:stCondLst>
                                    <p:cond delay="0"/>
                                  </p:stCondLst>
                                  <p:iterate>
                                    <p:tmAbs val="0"/>
                                  </p:iterate>
                                  <p:childTnLst>
                                    <p:set>
                                      <p:cBhvr>
                                        <p:cTn id="27" fill="hold"/>
                                        <p:tgtEl>
                                          <p:spTgt spid="289">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1" nodeType="clickEffect">
                                  <p:stCondLst>
                                    <p:cond delay="0"/>
                                  </p:stCondLst>
                                  <p:iterate>
                                    <p:tmAbs val="0"/>
                                  </p:iterate>
                                  <p:childTnLst>
                                    <p:set>
                                      <p:cBhvr>
                                        <p:cTn id="31" fill="hold"/>
                                        <p:tgtEl>
                                          <p:spTgt spid="289">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1" nodeType="clickEffect">
                                  <p:stCondLst>
                                    <p:cond delay="0"/>
                                  </p:stCondLst>
                                  <p:iterate>
                                    <p:tmAbs val="0"/>
                                  </p:iterate>
                                  <p:childTnLst>
                                    <p:set>
                                      <p:cBhvr>
                                        <p:cTn id="35" fill="hold"/>
                                        <p:tgtEl>
                                          <p:spTgt spid="289">
                                            <p:txEl>
                                              <p:pRg st="6" end="6"/>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1" nodeType="clickEffect">
                                  <p:stCondLst>
                                    <p:cond delay="0"/>
                                  </p:stCondLst>
                                  <p:iterate>
                                    <p:tmAbs val="0"/>
                                  </p:iterate>
                                  <p:childTnLst>
                                    <p:set>
                                      <p:cBhvr>
                                        <p:cTn id="39" fill="hold"/>
                                        <p:tgtEl>
                                          <p:spTgt spid="289">
                                            <p:txEl>
                                              <p:pRg st="7" end="7"/>
                                            </p:txEl>
                                          </p:spTgt>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3" nodeType="afterEffect">
                                  <p:stCondLst>
                                    <p:cond delay="0"/>
                                  </p:stCondLst>
                                  <p:iterate>
                                    <p:tmAbs val="0"/>
                                  </p:iterate>
                                  <p:childTnLst>
                                    <p:set>
                                      <p:cBhvr>
                                        <p:cTn id="42" fill="hold"/>
                                        <p:tgtEl>
                                          <p:spTgt spid="29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iterate>
                                    <p:tmAbs val="0"/>
                                  </p:iterate>
                                  <p:childTnLst>
                                    <p:set>
                                      <p:cBhvr>
                                        <p:cTn id="46" fill="hold"/>
                                        <p:tgtEl>
                                          <p:spTgt spid="289">
                                            <p:txEl>
                                              <p:pRg st="8" end="8"/>
                                            </p:txEl>
                                          </p:spTgt>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4" nodeType="afterEffect">
                                  <p:stCondLst>
                                    <p:cond delay="0"/>
                                  </p:stCondLst>
                                  <p:iterate>
                                    <p:tmAbs val="0"/>
                                  </p:iterate>
                                  <p:childTnLst>
                                    <p:set>
                                      <p:cBhvr>
                                        <p:cTn id="49" fill="hold"/>
                                        <p:tgtEl>
                                          <p:spTgt spid="2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 grpId="1" build="p" bldLvl="5" animBg="1" advAuto="0"/>
      <p:bldP spid="291" grpId="3" animBg="1" advAuto="0"/>
      <p:bldP spid="294" grpId="2" animBg="1" advAuto="0"/>
      <p:bldP spid="295" grpId="4"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300" name="Weighted interval scheduling:  brute force"/>
          <p:cNvSpPr txBox="1">
            <a:spLocks noGrp="1"/>
          </p:cNvSpPr>
          <p:nvPr>
            <p:ph type="title"/>
          </p:nvPr>
        </p:nvSpPr>
        <p:spPr>
          <a:prstGeom prst="rect">
            <a:avLst/>
          </a:prstGeom>
        </p:spPr>
        <p:txBody>
          <a:bodyPr/>
          <a:lstStyle/>
          <a:p>
            <a:r>
              <a:t>Weighted interval scheduling:  brute force</a:t>
            </a:r>
          </a:p>
        </p:txBody>
      </p:sp>
      <p:sp>
        <p:nvSpPr>
          <p:cNvPr id="301" name="幻灯片编号"/>
          <p:cNvSpPr txBox="1">
            <a:spLocks noGrp="1"/>
          </p:cNvSpPr>
          <p:nvPr>
            <p:ph type="sldNum" sz="quarter" idx="2"/>
          </p:nvPr>
        </p:nvSpPr>
        <p:spPr>
          <a:xfrm>
            <a:off x="12409971" y="9347200"/>
            <a:ext cx="173658" cy="2540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18</a:t>
            </a:fld>
            <a:endParaRPr/>
          </a:p>
        </p:txBody>
      </p:sp>
      <p:sp>
        <p:nvSpPr>
          <p:cNvPr id="302" name="Brute-Force (n, s1, …, sn, f1, …, fn, w1, …, wn)…"/>
          <p:cNvSpPr txBox="1"/>
          <p:nvPr/>
        </p:nvSpPr>
        <p:spPr>
          <a:xfrm>
            <a:off x="1826351" y="2254250"/>
            <a:ext cx="8981574" cy="2679701"/>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92100" tIns="292100" rIns="292100" bIns="292100">
            <a:spAutoFit/>
          </a:bodyPr>
          <a:lstStyle/>
          <a:p>
            <a:pPr algn="l">
              <a:lnSpc>
                <a:spcPct val="100000"/>
              </a:lnSpc>
              <a:spcBef>
                <a:spcPts val="1200"/>
              </a:spcBef>
              <a:defRPr sz="2400" i="1">
                <a:solidFill>
                  <a:srgbClr val="000000"/>
                </a:solidFill>
                <a:latin typeface="Times"/>
                <a:ea typeface="Times"/>
                <a:cs typeface="Times"/>
                <a:sym typeface="Times"/>
              </a:defRPr>
            </a:pPr>
            <a:r>
              <a:rPr i="0" cap="small">
                <a:solidFill>
                  <a:srgbClr val="003F83"/>
                </a:solidFill>
              </a:rPr>
              <a:t>Brute-Force</a:t>
            </a:r>
            <a:r>
              <a:rPr cap="small">
                <a:solidFill>
                  <a:srgbClr val="003F83"/>
                </a:solidFill>
              </a:rPr>
              <a:t> </a:t>
            </a:r>
            <a:r>
              <a:rPr i="0"/>
              <a:t>(</a:t>
            </a:r>
            <a:r>
              <a:t>n</a:t>
            </a:r>
            <a:r>
              <a:rPr i="0"/>
              <a:t>, </a:t>
            </a:r>
            <a:r>
              <a:t>s</a:t>
            </a:r>
            <a:r>
              <a:rPr i="0" baseline="-5999"/>
              <a:t>1</a:t>
            </a:r>
            <a:r>
              <a:rPr i="0"/>
              <a:t>, …, </a:t>
            </a:r>
            <a:r>
              <a:t>s</a:t>
            </a:r>
            <a:r>
              <a:rPr baseline="-5999"/>
              <a:t>n</a:t>
            </a:r>
            <a:r>
              <a:rPr i="0"/>
              <a:t>, </a:t>
            </a:r>
            <a:r>
              <a:t>f</a:t>
            </a:r>
            <a:r>
              <a:rPr i="0" baseline="-5999"/>
              <a:t>1</a:t>
            </a:r>
            <a:r>
              <a:rPr i="0"/>
              <a:t>, …, </a:t>
            </a:r>
            <a:r>
              <a:t>f</a:t>
            </a:r>
            <a:r>
              <a:rPr baseline="-5999"/>
              <a:t>n</a:t>
            </a:r>
            <a:r>
              <a:rPr i="0"/>
              <a:t>,</a:t>
            </a:r>
            <a:r>
              <a:t> w</a:t>
            </a:r>
            <a:r>
              <a:rPr i="0" baseline="-5999"/>
              <a:t>1</a:t>
            </a:r>
            <a:r>
              <a:rPr i="0"/>
              <a:t>, …, </a:t>
            </a:r>
            <a:r>
              <a:t>w</a:t>
            </a:r>
            <a:r>
              <a:rPr baseline="-5999"/>
              <a:t>n</a:t>
            </a:r>
            <a:r>
              <a:rPr i="0"/>
              <a:t>)</a:t>
            </a:r>
            <a:r>
              <a:t>                          </a:t>
            </a:r>
            <a:endParaRPr sz="100"/>
          </a:p>
          <a:p>
            <a:pPr algn="l">
              <a:lnSpc>
                <a:spcPct val="100000"/>
              </a:lnSpc>
              <a:spcBef>
                <a:spcPts val="1200"/>
              </a:spcBef>
              <a:defRPr sz="2400">
                <a:solidFill>
                  <a:srgbClr val="000000"/>
                </a:solidFill>
                <a:latin typeface="Times"/>
                <a:ea typeface="Times"/>
                <a:cs typeface="Times"/>
                <a:sym typeface="Times"/>
              </a:defRPr>
            </a:pPr>
            <a:r>
              <a:rPr sz="10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a:p>
            <a:pPr algn="l">
              <a:lnSpc>
                <a:spcPct val="100000"/>
              </a:lnSpc>
              <a:spcBef>
                <a:spcPts val="1200"/>
              </a:spcBef>
              <a:defRPr sz="2400">
                <a:solidFill>
                  <a:srgbClr val="000000"/>
                </a:solidFill>
                <a:latin typeface="Times"/>
                <a:ea typeface="Times"/>
                <a:cs typeface="Times"/>
                <a:sym typeface="Times"/>
              </a:defRPr>
            </a:pPr>
            <a:r>
              <a:t>Sort jobs by finish time and renumber so that  </a:t>
            </a:r>
            <a:r>
              <a:rPr i="1"/>
              <a:t>f</a:t>
            </a:r>
            <a:r>
              <a:rPr baseline="-5999"/>
              <a:t>1</a:t>
            </a:r>
            <a:r>
              <a:t>  ≤   </a:t>
            </a:r>
            <a:r>
              <a:rPr i="1"/>
              <a:t>f</a:t>
            </a:r>
            <a:r>
              <a:rPr baseline="-5999"/>
              <a:t>2  </a:t>
            </a:r>
            <a:r>
              <a:t> ≤  …  ≤  </a:t>
            </a:r>
            <a:r>
              <a:rPr i="1"/>
              <a:t> f</a:t>
            </a:r>
            <a:r>
              <a:rPr i="1" baseline="-5999"/>
              <a:t>n</a:t>
            </a:r>
            <a:r>
              <a:t>.</a:t>
            </a:r>
          </a:p>
          <a:p>
            <a:pPr algn="l">
              <a:lnSpc>
                <a:spcPct val="100000"/>
              </a:lnSpc>
              <a:spcBef>
                <a:spcPts val="1200"/>
              </a:spcBef>
              <a:defRPr sz="2400">
                <a:solidFill>
                  <a:srgbClr val="000000"/>
                </a:solidFill>
                <a:latin typeface="Times"/>
                <a:ea typeface="Times"/>
                <a:cs typeface="Times"/>
                <a:sym typeface="Times"/>
              </a:defRPr>
            </a:pPr>
            <a:r>
              <a:t>Compute  </a:t>
            </a:r>
            <a:r>
              <a:rPr i="1"/>
              <a:t>p</a:t>
            </a:r>
            <a:r>
              <a:t>[1], </a:t>
            </a:r>
            <a:r>
              <a:rPr i="1"/>
              <a:t>p</a:t>
            </a:r>
            <a:r>
              <a:t>[2], …, </a:t>
            </a:r>
            <a:r>
              <a:rPr i="1"/>
              <a:t>p</a:t>
            </a:r>
            <a:r>
              <a:t>[</a:t>
            </a:r>
            <a:r>
              <a:rPr i="1"/>
              <a:t>n</a:t>
            </a:r>
            <a:r>
              <a:t>] via binary search.</a:t>
            </a: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Return</a:t>
            </a:r>
            <a:r>
              <a:rPr i="1" cap="small">
                <a:solidFill>
                  <a:srgbClr val="003F83"/>
                </a:solidFill>
              </a:rPr>
              <a:t>  </a:t>
            </a:r>
            <a:r>
              <a:rPr cap="small"/>
              <a:t>Compute-Opt</a:t>
            </a:r>
            <a:r>
              <a:t>(</a:t>
            </a:r>
            <a:r>
              <a:rPr i="1"/>
              <a:t>n</a:t>
            </a:r>
            <a:r>
              <a:t>).</a:t>
            </a:r>
          </a:p>
        </p:txBody>
      </p:sp>
      <p:sp>
        <p:nvSpPr>
          <p:cNvPr id="303" name="Compute-Opt( j )…"/>
          <p:cNvSpPr txBox="1"/>
          <p:nvPr/>
        </p:nvSpPr>
        <p:spPr>
          <a:xfrm>
            <a:off x="1826351" y="5867400"/>
            <a:ext cx="9626957" cy="3200401"/>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92100" tIns="292100" rIns="292100" bIns="292100">
            <a:spAutoFit/>
          </a:bodyPr>
          <a:lstStyle/>
          <a:p>
            <a:pPr algn="l">
              <a:lnSpc>
                <a:spcPct val="100000"/>
              </a:lnSpc>
              <a:spcBef>
                <a:spcPts val="1200"/>
              </a:spcBef>
              <a:defRPr sz="2400" i="1">
                <a:solidFill>
                  <a:srgbClr val="000000"/>
                </a:solidFill>
                <a:latin typeface="Times"/>
                <a:ea typeface="Times"/>
                <a:cs typeface="Times"/>
                <a:sym typeface="Times"/>
              </a:defRPr>
            </a:pPr>
            <a:r>
              <a:rPr i="0" cap="small">
                <a:solidFill>
                  <a:srgbClr val="003F83"/>
                </a:solidFill>
              </a:rPr>
              <a:t>Compute-Opt</a:t>
            </a:r>
            <a:r>
              <a:rPr i="0"/>
              <a:t>(</a:t>
            </a:r>
            <a:r>
              <a:rPr i="0" baseline="31999"/>
              <a:t> </a:t>
            </a:r>
            <a:r>
              <a:t>j</a:t>
            </a:r>
            <a:r>
              <a:rPr baseline="31999"/>
              <a:t> </a:t>
            </a:r>
            <a:r>
              <a:rPr i="0"/>
              <a:t>)</a:t>
            </a:r>
            <a:r>
              <a:t>                          </a:t>
            </a:r>
            <a:endParaRPr sz="100"/>
          </a:p>
          <a:p>
            <a:pPr algn="l">
              <a:lnSpc>
                <a:spcPct val="100000"/>
              </a:lnSpc>
              <a:spcBef>
                <a:spcPts val="1200"/>
              </a:spcBef>
              <a:defRPr sz="2400">
                <a:solidFill>
                  <a:srgbClr val="000000"/>
                </a:solidFill>
                <a:latin typeface="Times"/>
                <a:ea typeface="Times"/>
                <a:cs typeface="Times"/>
                <a:sym typeface="Times"/>
              </a:defRPr>
            </a:pPr>
            <a:r>
              <a:rPr sz="10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If</a:t>
            </a:r>
            <a:r>
              <a:rPr i="1" cap="small">
                <a:solidFill>
                  <a:srgbClr val="003F83"/>
                </a:solidFill>
              </a:rPr>
              <a:t> </a:t>
            </a:r>
            <a:r>
              <a:rPr cap="small"/>
              <a:t>(</a:t>
            </a:r>
            <a:r>
              <a:rPr i="1"/>
              <a:t>j</a:t>
            </a:r>
            <a:r>
              <a:t> = 0)</a:t>
            </a:r>
          </a:p>
          <a:p>
            <a:pPr lvl="1"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return</a:t>
            </a:r>
            <a:r>
              <a:rPr i="1" cap="small">
                <a:solidFill>
                  <a:srgbClr val="003F83"/>
                </a:solidFill>
              </a:rPr>
              <a:t>  </a:t>
            </a:r>
            <a:r>
              <a:rPr sz="2200"/>
              <a:t>0</a:t>
            </a:r>
            <a:r>
              <a:t>.</a:t>
            </a:r>
          </a:p>
          <a:p>
            <a:pPr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Else</a:t>
            </a:r>
          </a:p>
          <a:p>
            <a:pPr lvl="1"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Return</a:t>
            </a:r>
            <a:r>
              <a:rPr i="1" cap="small">
                <a:solidFill>
                  <a:srgbClr val="003F83"/>
                </a:solidFill>
              </a:rPr>
              <a:t>  </a:t>
            </a:r>
            <a:r>
              <a:t>max {</a:t>
            </a:r>
            <a:r>
              <a:rPr cap="small"/>
              <a:t>Compute-Opt</a:t>
            </a:r>
            <a:r>
              <a:t>(</a:t>
            </a:r>
            <a:r>
              <a:rPr baseline="-5999"/>
              <a:t> </a:t>
            </a:r>
            <a:r>
              <a:rPr i="1"/>
              <a:t>j</a:t>
            </a:r>
            <a:r>
              <a:rPr i="1" baseline="31999"/>
              <a:t> </a:t>
            </a:r>
            <a:r>
              <a:t>–</a:t>
            </a:r>
            <a:r>
              <a:rPr i="1" baseline="31999"/>
              <a:t> </a:t>
            </a:r>
            <a:r>
              <a:t>1),  </a:t>
            </a:r>
            <a:r>
              <a:rPr i="1"/>
              <a:t>w</a:t>
            </a:r>
            <a:r>
              <a:rPr i="1" baseline="-5999"/>
              <a:t>j</a:t>
            </a:r>
            <a:r>
              <a:rPr i="1" baseline="31999"/>
              <a:t> </a:t>
            </a:r>
            <a:r>
              <a:t> + </a:t>
            </a:r>
            <a:r>
              <a:rPr cap="small"/>
              <a:t>Compute-Opt</a:t>
            </a:r>
            <a:r>
              <a:rPr spc="240"/>
              <a:t>(</a:t>
            </a:r>
            <a:r>
              <a:rPr i="1"/>
              <a:t>p</a:t>
            </a:r>
            <a:r>
              <a:t>[</a:t>
            </a:r>
            <a:r>
              <a:rPr baseline="-5999"/>
              <a:t> </a:t>
            </a:r>
            <a:r>
              <a:rPr i="1"/>
              <a:t>j</a:t>
            </a:r>
            <a:r>
              <a:rPr baseline="-5999"/>
              <a:t> </a:t>
            </a:r>
            <a:r>
              <a:t>])  }.</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 name="What is running time of Compute-Opt(n) in the worst case?…"/>
          <p:cNvSpPr txBox="1">
            <a:spLocks noGrp="1"/>
          </p:cNvSpPr>
          <p:nvPr>
            <p:ph type="body" idx="1"/>
          </p:nvPr>
        </p:nvSpPr>
        <p:spPr>
          <a:xfrm>
            <a:off x="812800" y="1270000"/>
            <a:ext cx="11584525" cy="8128000"/>
          </a:xfrm>
          <a:prstGeom prst="rect">
            <a:avLst/>
          </a:prstGeom>
        </p:spPr>
        <p:txBody>
          <a:bodyPr/>
          <a:lstStyle/>
          <a:p>
            <a:pPr>
              <a:defRPr b="1">
                <a:latin typeface="Lucida Grande"/>
                <a:ea typeface="Lucida Grande"/>
                <a:cs typeface="Lucida Grande"/>
                <a:sym typeface="Lucida Grande"/>
              </a:defRPr>
            </a:pPr>
            <a:r>
              <a:t>What is running time of </a:t>
            </a:r>
            <a:r>
              <a:rPr cap="small"/>
              <a:t>Compute-Opt(</a:t>
            </a:r>
            <a:r>
              <a:rPr i="1">
                <a:latin typeface="Times"/>
                <a:ea typeface="Times"/>
                <a:cs typeface="Times"/>
                <a:sym typeface="Times"/>
              </a:rPr>
              <a:t>n</a:t>
            </a:r>
            <a:r>
              <a:rPr cap="small"/>
              <a:t>)</a:t>
            </a:r>
            <a:r>
              <a:t> in the worst case?</a:t>
            </a:r>
            <a:br/>
            <a:endParaRPr/>
          </a:p>
          <a:p>
            <a:pPr lvl="1">
              <a:lnSpc>
                <a:spcPts val="3800"/>
              </a:lnSpc>
            </a:pPr>
            <a:r>
              <a:rPr b="0">
                <a:solidFill>
                  <a:srgbClr val="000000"/>
                </a:solidFill>
                <a:latin typeface="Times"/>
                <a:ea typeface="Times"/>
                <a:cs typeface="Times"/>
                <a:sym typeface="Times"/>
              </a:rPr>
              <a:t>Θ(</a:t>
            </a:r>
            <a:r>
              <a:rPr b="0" i="1">
                <a:solidFill>
                  <a:srgbClr val="000000"/>
                </a:solidFill>
                <a:latin typeface="Times"/>
                <a:ea typeface="Times"/>
                <a:cs typeface="Times"/>
                <a:sym typeface="Times"/>
              </a:rPr>
              <a:t>n </a:t>
            </a:r>
            <a:r>
              <a:rPr b="0">
                <a:solidFill>
                  <a:srgbClr val="000000"/>
                </a:solidFill>
                <a:latin typeface="Times"/>
                <a:ea typeface="Times"/>
                <a:cs typeface="Times"/>
                <a:sym typeface="Times"/>
              </a:rPr>
              <a:t>log</a:t>
            </a:r>
            <a:r>
              <a:rPr b="0" i="1">
                <a:solidFill>
                  <a:srgbClr val="000000"/>
                </a:solidFill>
                <a:latin typeface="Times"/>
                <a:ea typeface="Times"/>
                <a:cs typeface="Times"/>
                <a:sym typeface="Times"/>
              </a:rPr>
              <a:t> n</a:t>
            </a:r>
            <a:r>
              <a:rPr b="0">
                <a:solidFill>
                  <a:srgbClr val="000000"/>
                </a:solidFill>
                <a:latin typeface="Times"/>
                <a:ea typeface="Times"/>
                <a:cs typeface="Times"/>
                <a:sym typeface="Times"/>
              </a:rPr>
              <a:t>)</a:t>
            </a:r>
            <a:endParaRPr b="0">
              <a:solidFill>
                <a:srgbClr val="000000"/>
              </a:solidFill>
              <a:uFill>
                <a:solidFill>
                  <a:srgbClr val="000000"/>
                </a:solidFill>
              </a:uFill>
              <a:latin typeface="Times"/>
              <a:ea typeface="Times"/>
              <a:cs typeface="Times"/>
              <a:sym typeface="Times"/>
            </a:endParaRPr>
          </a:p>
          <a:p>
            <a:pPr lvl="1">
              <a:lnSpc>
                <a:spcPts val="3800"/>
              </a:lnSpc>
            </a:pPr>
            <a:r>
              <a:rPr b="0">
                <a:solidFill>
                  <a:srgbClr val="000000"/>
                </a:solidFill>
                <a:latin typeface="Times"/>
                <a:ea typeface="Times"/>
                <a:cs typeface="Times"/>
                <a:sym typeface="Times"/>
              </a:rPr>
              <a:t>Θ(</a:t>
            </a:r>
            <a:r>
              <a:rPr b="0" i="1">
                <a:solidFill>
                  <a:srgbClr val="000000"/>
                </a:solidFill>
                <a:latin typeface="Times"/>
                <a:ea typeface="Times"/>
                <a:cs typeface="Times"/>
                <a:sym typeface="Times"/>
              </a:rPr>
              <a:t>n</a:t>
            </a:r>
            <a:r>
              <a:rPr b="0" baseline="44499">
                <a:solidFill>
                  <a:srgbClr val="000000"/>
                </a:solidFill>
                <a:latin typeface="Times"/>
                <a:ea typeface="Times"/>
                <a:cs typeface="Times"/>
                <a:sym typeface="Times"/>
              </a:rPr>
              <a:t>2</a:t>
            </a:r>
            <a:r>
              <a:rPr b="0">
                <a:solidFill>
                  <a:srgbClr val="000000"/>
                </a:solidFill>
                <a:latin typeface="Times"/>
                <a:ea typeface="Times"/>
                <a:cs typeface="Times"/>
                <a:sym typeface="Times"/>
              </a:rPr>
              <a:t>)</a:t>
            </a:r>
            <a:endParaRPr b="0">
              <a:solidFill>
                <a:srgbClr val="000000"/>
              </a:solidFill>
              <a:uFill>
                <a:solidFill>
                  <a:srgbClr val="000000"/>
                </a:solidFill>
              </a:uFill>
              <a:latin typeface="Times"/>
              <a:ea typeface="Times"/>
              <a:cs typeface="Times"/>
              <a:sym typeface="Times"/>
            </a:endParaRPr>
          </a:p>
          <a:p>
            <a:pPr lvl="1">
              <a:lnSpc>
                <a:spcPts val="3800"/>
              </a:lnSpc>
            </a:pPr>
            <a:r>
              <a:rPr b="0">
                <a:solidFill>
                  <a:srgbClr val="000000"/>
                </a:solidFill>
                <a:latin typeface="Times"/>
                <a:ea typeface="Times"/>
                <a:cs typeface="Times"/>
                <a:sym typeface="Times"/>
              </a:rPr>
              <a:t>Θ(1.618</a:t>
            </a:r>
            <a:r>
              <a:rPr b="0" i="1" baseline="44499">
                <a:solidFill>
                  <a:srgbClr val="000000"/>
                </a:solidFill>
                <a:latin typeface="Times"/>
                <a:ea typeface="Times"/>
                <a:cs typeface="Times"/>
                <a:sym typeface="Times"/>
              </a:rPr>
              <a:t>n</a:t>
            </a:r>
            <a:r>
              <a:rPr b="0">
                <a:solidFill>
                  <a:srgbClr val="000000"/>
                </a:solidFill>
                <a:latin typeface="Times"/>
                <a:ea typeface="Times"/>
                <a:cs typeface="Times"/>
                <a:sym typeface="Times"/>
              </a:rPr>
              <a:t>) </a:t>
            </a:r>
          </a:p>
          <a:p>
            <a:pPr lvl="1">
              <a:lnSpc>
                <a:spcPts val="3800"/>
              </a:lnSpc>
            </a:pPr>
            <a:r>
              <a:rPr b="0">
                <a:solidFill>
                  <a:srgbClr val="000000"/>
                </a:solidFill>
                <a:latin typeface="Times"/>
                <a:ea typeface="Times"/>
                <a:cs typeface="Times"/>
                <a:sym typeface="Times"/>
              </a:rPr>
              <a:t>Θ(2</a:t>
            </a:r>
            <a:r>
              <a:rPr b="0" i="1" baseline="44499">
                <a:solidFill>
                  <a:srgbClr val="000000"/>
                </a:solidFill>
                <a:latin typeface="Times"/>
                <a:ea typeface="Times"/>
                <a:cs typeface="Times"/>
                <a:sym typeface="Times"/>
              </a:rPr>
              <a:t>n</a:t>
            </a:r>
            <a:r>
              <a:rPr b="0">
                <a:solidFill>
                  <a:srgbClr val="000000"/>
                </a:solidFill>
                <a:latin typeface="Times"/>
                <a:ea typeface="Times"/>
                <a:cs typeface="Times"/>
                <a:sym typeface="Times"/>
              </a:rPr>
              <a:t>)</a:t>
            </a:r>
          </a:p>
        </p:txBody>
      </p:sp>
      <p:sp>
        <p:nvSpPr>
          <p:cNvPr id="306" name="幻灯片编号"/>
          <p:cNvSpPr txBox="1">
            <a:spLocks noGrp="1"/>
          </p:cNvSpPr>
          <p:nvPr>
            <p:ph type="sldNum" sz="quarter" idx="2"/>
          </p:nvPr>
        </p:nvSpPr>
        <p:spPr>
          <a:xfrm>
            <a:off x="12618178" y="9382590"/>
            <a:ext cx="307239" cy="27940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19</a:t>
            </a:fld>
            <a:endParaRPr/>
          </a:p>
        </p:txBody>
      </p:sp>
      <p:sp>
        <p:nvSpPr>
          <p:cNvPr id="307" name="Dynamic programming:  quiz 1"/>
          <p:cNvSpPr txBox="1">
            <a:spLocks noGrp="1"/>
          </p:cNvSpPr>
          <p:nvPr>
            <p:ph type="title"/>
          </p:nvPr>
        </p:nvSpPr>
        <p:spPr>
          <a:prstGeom prst="rect">
            <a:avLst/>
          </a:prstGeom>
        </p:spPr>
        <p:txBody>
          <a:bodyPr/>
          <a:lstStyle/>
          <a:p>
            <a:r>
              <a:t>Dynamic programming:  quiz 1</a:t>
            </a:r>
          </a:p>
        </p:txBody>
      </p:sp>
      <p:sp>
        <p:nvSpPr>
          <p:cNvPr id="308" name="圆角矩形"/>
          <p:cNvSpPr/>
          <p:nvPr/>
        </p:nvSpPr>
        <p:spPr>
          <a:xfrm>
            <a:off x="1054100" y="4368800"/>
            <a:ext cx="609600" cy="609600"/>
          </a:xfrm>
          <a:prstGeom prst="roundRect">
            <a:avLst>
              <a:gd name="adj" fmla="val 31250"/>
            </a:avLst>
          </a:prstGeom>
          <a:ln w="50800">
            <a:solidFill>
              <a:srgbClr val="8D3124"/>
            </a:solidFill>
          </a:ln>
        </p:spPr>
        <p:txBody>
          <a:bodyPr lIns="203200" tIns="203200" rIns="203200" bIns="203200"/>
          <a:lstStyle/>
          <a:p>
            <a:pPr marL="7224" marR="7224" algn="l" defTabSz="1295400">
              <a:lnSpc>
                <a:spcPct val="120000"/>
              </a:lnSpc>
              <a:buClrTx/>
              <a:buFontTx/>
              <a:tabLst/>
              <a:defRPr sz="2200">
                <a:solidFill>
                  <a:srgbClr val="005493"/>
                </a:solidFill>
                <a:uFill>
                  <a:solidFill>
                    <a:srgbClr val="0048AA"/>
                  </a:solidFill>
                </a:uFill>
              </a:defRPr>
            </a:pPr>
            <a:endParaRPr/>
          </a:p>
        </p:txBody>
      </p:sp>
      <p:sp>
        <p:nvSpPr>
          <p:cNvPr id="309" name="圆角矩形"/>
          <p:cNvSpPr/>
          <p:nvPr/>
        </p:nvSpPr>
        <p:spPr>
          <a:xfrm>
            <a:off x="1054100" y="4368800"/>
            <a:ext cx="609600" cy="609600"/>
          </a:xfrm>
          <a:prstGeom prst="roundRect">
            <a:avLst>
              <a:gd name="adj" fmla="val 31250"/>
            </a:avLst>
          </a:prstGeom>
          <a:ln w="76200">
            <a:solidFill>
              <a:srgbClr val="FBE8E5"/>
            </a:solidFill>
          </a:ln>
        </p:spPr>
        <p:txBody>
          <a:bodyPr lIns="203200" tIns="203200" rIns="203200" bIns="203200"/>
          <a:lstStyle/>
          <a:p>
            <a:pPr marL="7224" marR="7224" algn="l" defTabSz="1295400">
              <a:lnSpc>
                <a:spcPct val="120000"/>
              </a:lnSpc>
              <a:buClrTx/>
              <a:buFontTx/>
              <a:tabLst/>
              <a:defRPr sz="2200">
                <a:solidFill>
                  <a:srgbClr val="005493"/>
                </a:solidFill>
                <a:uFill>
                  <a:solidFill>
                    <a:srgbClr val="0048AA"/>
                  </a:solidFill>
                </a:uFill>
              </a:defRPr>
            </a:pPr>
            <a:endParaRPr/>
          </a:p>
        </p:txBody>
      </p:sp>
      <p:sp>
        <p:nvSpPr>
          <p:cNvPr id="310" name="Compute-Opt( j )…"/>
          <p:cNvSpPr txBox="1"/>
          <p:nvPr/>
        </p:nvSpPr>
        <p:spPr>
          <a:xfrm>
            <a:off x="1826351" y="5867400"/>
            <a:ext cx="9626957" cy="3200401"/>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92100" tIns="292100" rIns="292100" bIns="292100">
            <a:spAutoFit/>
          </a:bodyPr>
          <a:lstStyle/>
          <a:p>
            <a:pPr algn="l">
              <a:lnSpc>
                <a:spcPct val="100000"/>
              </a:lnSpc>
              <a:spcBef>
                <a:spcPts val="1200"/>
              </a:spcBef>
              <a:defRPr sz="2400" i="1">
                <a:solidFill>
                  <a:srgbClr val="000000"/>
                </a:solidFill>
                <a:latin typeface="Times"/>
                <a:ea typeface="Times"/>
                <a:cs typeface="Times"/>
                <a:sym typeface="Times"/>
              </a:defRPr>
            </a:pPr>
            <a:r>
              <a:rPr i="0" cap="small">
                <a:solidFill>
                  <a:srgbClr val="003F83"/>
                </a:solidFill>
              </a:rPr>
              <a:t>Compute-Opt</a:t>
            </a:r>
            <a:r>
              <a:rPr i="0"/>
              <a:t>(</a:t>
            </a:r>
            <a:r>
              <a:rPr i="0" baseline="31999"/>
              <a:t> </a:t>
            </a:r>
            <a:r>
              <a:t>j</a:t>
            </a:r>
            <a:r>
              <a:rPr baseline="31999"/>
              <a:t> </a:t>
            </a:r>
            <a:r>
              <a:rPr i="0"/>
              <a:t>)</a:t>
            </a:r>
            <a:r>
              <a:t>                          </a:t>
            </a:r>
            <a:endParaRPr sz="100"/>
          </a:p>
          <a:p>
            <a:pPr algn="l">
              <a:lnSpc>
                <a:spcPct val="100000"/>
              </a:lnSpc>
              <a:spcBef>
                <a:spcPts val="1200"/>
              </a:spcBef>
              <a:defRPr sz="2400">
                <a:solidFill>
                  <a:srgbClr val="000000"/>
                </a:solidFill>
                <a:latin typeface="Times"/>
                <a:ea typeface="Times"/>
                <a:cs typeface="Times"/>
                <a:sym typeface="Times"/>
              </a:defRPr>
            </a:pPr>
            <a:r>
              <a:rPr sz="10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If</a:t>
            </a:r>
            <a:r>
              <a:rPr i="1" cap="small">
                <a:solidFill>
                  <a:srgbClr val="003F83"/>
                </a:solidFill>
              </a:rPr>
              <a:t> </a:t>
            </a:r>
            <a:r>
              <a:rPr cap="small"/>
              <a:t>(</a:t>
            </a:r>
            <a:r>
              <a:rPr i="1"/>
              <a:t>j</a:t>
            </a:r>
            <a:r>
              <a:t> = 0)</a:t>
            </a:r>
          </a:p>
          <a:p>
            <a:pPr lvl="1"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return</a:t>
            </a:r>
            <a:r>
              <a:rPr i="1" cap="small">
                <a:solidFill>
                  <a:srgbClr val="003F83"/>
                </a:solidFill>
              </a:rPr>
              <a:t>  </a:t>
            </a:r>
            <a:r>
              <a:rPr sz="2200"/>
              <a:t>0</a:t>
            </a:r>
            <a:r>
              <a:t>.</a:t>
            </a:r>
          </a:p>
          <a:p>
            <a:pPr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Else</a:t>
            </a:r>
          </a:p>
          <a:p>
            <a:pPr lvl="1"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Return</a:t>
            </a:r>
            <a:r>
              <a:rPr i="1" cap="small">
                <a:solidFill>
                  <a:srgbClr val="003F83"/>
                </a:solidFill>
              </a:rPr>
              <a:t>  </a:t>
            </a:r>
            <a:r>
              <a:t>max {</a:t>
            </a:r>
            <a:r>
              <a:rPr cap="small"/>
              <a:t>Compute-Opt</a:t>
            </a:r>
            <a:r>
              <a:t>(</a:t>
            </a:r>
            <a:r>
              <a:rPr baseline="-5999"/>
              <a:t> </a:t>
            </a:r>
            <a:r>
              <a:rPr i="1"/>
              <a:t>j</a:t>
            </a:r>
            <a:r>
              <a:rPr i="1" baseline="31999"/>
              <a:t> </a:t>
            </a:r>
            <a:r>
              <a:t>–</a:t>
            </a:r>
            <a:r>
              <a:rPr i="1" baseline="31999"/>
              <a:t> </a:t>
            </a:r>
            <a:r>
              <a:t>1),  </a:t>
            </a:r>
            <a:r>
              <a:rPr i="1"/>
              <a:t>w</a:t>
            </a:r>
            <a:r>
              <a:rPr i="1" baseline="-5999"/>
              <a:t>j</a:t>
            </a:r>
            <a:r>
              <a:rPr i="1" baseline="31999"/>
              <a:t> </a:t>
            </a:r>
            <a:r>
              <a:t> + </a:t>
            </a:r>
            <a:r>
              <a:rPr cap="small"/>
              <a:t>Compute-Opt</a:t>
            </a:r>
            <a:r>
              <a:rPr spc="240"/>
              <a:t>(</a:t>
            </a:r>
            <a:r>
              <a:rPr i="1"/>
              <a:t>p</a:t>
            </a:r>
            <a:r>
              <a:t>[</a:t>
            </a:r>
            <a:r>
              <a:rPr baseline="-5999"/>
              <a:t> </a:t>
            </a:r>
            <a:r>
              <a:rPr i="1"/>
              <a:t>j</a:t>
            </a:r>
            <a:r>
              <a:rPr baseline="-5999"/>
              <a:t> </a:t>
            </a:r>
            <a:r>
              <a:t>])  }.</a:t>
            </a:r>
          </a:p>
        </p:txBody>
      </p:sp>
      <p:pic>
        <p:nvPicPr>
          <p:cNvPr id="311" name="图像" descr="图像"/>
          <p:cNvPicPr>
            <a:picLocks noChangeAspect="1"/>
          </p:cNvPicPr>
          <p:nvPr/>
        </p:nvPicPr>
        <p:blipFill>
          <a:blip r:embed="rId3"/>
          <a:stretch>
            <a:fillRect/>
          </a:stretch>
        </p:blipFill>
        <p:spPr>
          <a:xfrm>
            <a:off x="5372514" y="3225800"/>
            <a:ext cx="5448301" cy="1104900"/>
          </a:xfrm>
          <a:prstGeom prst="rect">
            <a:avLst/>
          </a:prstGeom>
          <a:ln w="12700">
            <a:miter lim="400000"/>
          </a:ln>
        </p:spPr>
      </p:pic>
      <p:sp>
        <p:nvSpPr>
          <p:cNvPr id="312" name="矩形"/>
          <p:cNvSpPr/>
          <p:nvPr/>
        </p:nvSpPr>
        <p:spPr>
          <a:xfrm>
            <a:off x="5220529" y="2647950"/>
            <a:ext cx="6006271" cy="2009439"/>
          </a:xfrm>
          <a:prstGeom prst="rect">
            <a:avLst/>
          </a:prstGeom>
          <a:solidFill>
            <a:srgbClr val="FBE8E5"/>
          </a:solidFill>
          <a:ln w="12700">
            <a:miter lim="400000"/>
          </a:ln>
        </p:spPr>
        <p:txBody>
          <a:bodyPr lIns="50800" tIns="50800" rIns="50800" bIns="50800" anchor="ctr"/>
          <a:lstStyle/>
          <a:p>
            <a:pPr marL="61411" marR="61411" algn="l" defTabSz="457200">
              <a:defRPr sz="2200">
                <a:solidFill>
                  <a:srgbClr val="000000"/>
                </a:solidFill>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iterate>
                                    <p:tmAbs val="0"/>
                                  </p:iterate>
                                  <p:childTnLst>
                                    <p:set>
                                      <p:cBhvr>
                                        <p:cTn id="6" fill="hold">
                                          <p:stCondLst>
                                            <p:cond delay="0"/>
                                          </p:stCondLst>
                                        </p:cTn>
                                        <p:tgtEl>
                                          <p:spTgt spid="312"/>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2" nodeType="clickEffect">
                                  <p:stCondLst>
                                    <p:cond delay="0"/>
                                  </p:stCondLst>
                                  <p:iterate>
                                    <p:tmAbs val="0"/>
                                  </p:iterate>
                                  <p:childTnLst>
                                    <p:set>
                                      <p:cBhvr>
                                        <p:cTn id="10" fill="hold">
                                          <p:stCondLst>
                                            <p:cond delay="0"/>
                                          </p:stCondLst>
                                        </p:cTn>
                                        <p:tgtEl>
                                          <p:spTgt spid="3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 grpId="2" animBg="1" advAuto="0"/>
      <p:bldP spid="312" grpId="1"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317" name="Weighted interval scheduling:  brute force"/>
          <p:cNvSpPr txBox="1">
            <a:spLocks noGrp="1"/>
          </p:cNvSpPr>
          <p:nvPr>
            <p:ph type="title"/>
          </p:nvPr>
        </p:nvSpPr>
        <p:spPr>
          <a:prstGeom prst="rect">
            <a:avLst/>
          </a:prstGeom>
        </p:spPr>
        <p:txBody>
          <a:bodyPr/>
          <a:lstStyle/>
          <a:p>
            <a:r>
              <a:t>Weighted interval scheduling:  brute force</a:t>
            </a:r>
          </a:p>
        </p:txBody>
      </p:sp>
      <p:sp>
        <p:nvSpPr>
          <p:cNvPr id="318" name="Observation.  Recursive algorithm is spectacularly slow because of overlapping subproblems  ⇒  exponential-time algorithm.…"/>
          <p:cNvSpPr txBox="1">
            <a:spLocks noGrp="1"/>
          </p:cNvSpPr>
          <p:nvPr>
            <p:ph type="body" idx="1"/>
          </p:nvPr>
        </p:nvSpPr>
        <p:spPr>
          <a:prstGeom prst="rect">
            <a:avLst/>
          </a:prstGeom>
        </p:spPr>
        <p:txBody>
          <a:bodyPr/>
          <a:lstStyle/>
          <a:p>
            <a:r>
              <a:t>Observation.  </a:t>
            </a:r>
            <a:r>
              <a:rPr>
                <a:solidFill>
                  <a:srgbClr val="000000"/>
                </a:solidFill>
              </a:rPr>
              <a:t>Recursive algorithm is spectacularly slow because of overlapping subproblems  </a:t>
            </a:r>
            <a:r>
              <a:rPr>
                <a:solidFill>
                  <a:srgbClr val="000000"/>
                </a:solidFill>
                <a:latin typeface="Times"/>
                <a:ea typeface="Times"/>
                <a:cs typeface="Times"/>
                <a:sym typeface="Times"/>
              </a:rPr>
              <a:t>⇒</a:t>
            </a:r>
            <a:r>
              <a:rPr>
                <a:solidFill>
                  <a:srgbClr val="000000"/>
                </a:solidFill>
              </a:rPr>
              <a:t>  exponential-time algorithm. </a:t>
            </a:r>
          </a:p>
          <a:p>
            <a:br>
              <a:rPr>
                <a:solidFill>
                  <a:srgbClr val="000000"/>
                </a:solidFill>
              </a:rPr>
            </a:br>
            <a:r>
              <a:t>Ex.  </a:t>
            </a:r>
            <a:r>
              <a:rPr>
                <a:solidFill>
                  <a:srgbClr val="000000"/>
                </a:solidFill>
              </a:rPr>
              <a:t>Number of recursive calls for family of “layered” instances grows like Fibonacci sequence.</a:t>
            </a:r>
          </a:p>
        </p:txBody>
      </p:sp>
      <p:sp>
        <p:nvSpPr>
          <p:cNvPr id="319" name="幻灯片编号"/>
          <p:cNvSpPr txBox="1">
            <a:spLocks noGrp="1"/>
          </p:cNvSpPr>
          <p:nvPr>
            <p:ph type="sldNum" sz="quarter" idx="2"/>
          </p:nvPr>
        </p:nvSpPr>
        <p:spPr>
          <a:xfrm>
            <a:off x="12373210" y="9347200"/>
            <a:ext cx="247180" cy="25400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20</a:t>
            </a:fld>
            <a:endParaRPr/>
          </a:p>
        </p:txBody>
      </p:sp>
      <p:grpSp>
        <p:nvGrpSpPr>
          <p:cNvPr id="340" name="成组"/>
          <p:cNvGrpSpPr/>
          <p:nvPr/>
        </p:nvGrpSpPr>
        <p:grpSpPr>
          <a:xfrm>
            <a:off x="1701800" y="4889500"/>
            <a:ext cx="5770881" cy="2667000"/>
            <a:chOff x="0" y="0"/>
            <a:chExt cx="5770880" cy="2667000"/>
          </a:xfrm>
        </p:grpSpPr>
        <p:sp>
          <p:nvSpPr>
            <p:cNvPr id="320" name="线条"/>
            <p:cNvSpPr/>
            <p:nvPr/>
          </p:nvSpPr>
          <p:spPr>
            <a:xfrm>
              <a:off x="0" y="2235200"/>
              <a:ext cx="5770881" cy="2258"/>
            </a:xfrm>
            <a:prstGeom prst="line">
              <a:avLst/>
            </a:prstGeom>
            <a:noFill/>
            <a:ln w="25400" cap="flat">
              <a:solidFill>
                <a:srgbClr val="000000"/>
              </a:solidFill>
              <a:prstDash val="solid"/>
              <a:miter lim="400000"/>
              <a:tailEnd type="stealth" w="med" len="med"/>
            </a:ln>
            <a:effectLst/>
          </p:spPr>
          <p:txBody>
            <a:bodyPr wrap="square" lIns="50800" tIns="50800" rIns="50800" bIns="50800" numCol="1" anchor="ctr">
              <a:noAutofit/>
            </a:bodyPr>
            <a:lstStyle/>
            <a:p>
              <a:pPr algn="l" defTabSz="457200">
                <a:lnSpc>
                  <a:spcPct val="100000"/>
                </a:lnSpc>
                <a:buClrTx/>
                <a:buFontTx/>
                <a:tabLst/>
                <a:defRPr sz="1200">
                  <a:solidFill>
                    <a:srgbClr val="000000"/>
                  </a:solidFill>
                </a:defRPr>
              </a:pPr>
              <a:endParaRPr/>
            </a:p>
          </p:txBody>
        </p:sp>
        <p:sp>
          <p:nvSpPr>
            <p:cNvPr id="321" name="3"/>
            <p:cNvSpPr/>
            <p:nvPr/>
          </p:nvSpPr>
          <p:spPr>
            <a:xfrm>
              <a:off x="1968500" y="1054100"/>
              <a:ext cx="1485900" cy="291254"/>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a:solidFill>
                    <a:srgbClr val="000000"/>
                  </a:solidFill>
                </a:defRPr>
              </a:lvl1pPr>
            </a:lstStyle>
            <a:p>
              <a:r>
                <a:t>3</a:t>
              </a:r>
            </a:p>
          </p:txBody>
        </p:sp>
        <p:sp>
          <p:nvSpPr>
            <p:cNvPr id="322" name="4"/>
            <p:cNvSpPr/>
            <p:nvPr/>
          </p:nvSpPr>
          <p:spPr>
            <a:xfrm>
              <a:off x="2959100" y="1485900"/>
              <a:ext cx="1476587" cy="295769"/>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a:solidFill>
                    <a:srgbClr val="000000"/>
                  </a:solidFill>
                </a:defRPr>
              </a:lvl1pPr>
            </a:lstStyle>
            <a:p>
              <a:r>
                <a:t>4</a:t>
              </a:r>
            </a:p>
          </p:txBody>
        </p:sp>
        <p:grpSp>
          <p:nvGrpSpPr>
            <p:cNvPr id="335" name="成组"/>
            <p:cNvGrpSpPr/>
            <p:nvPr/>
          </p:nvGrpSpPr>
          <p:grpSpPr>
            <a:xfrm>
              <a:off x="0" y="0"/>
              <a:ext cx="5409636" cy="2232943"/>
              <a:chOff x="0" y="0"/>
              <a:chExt cx="5409635" cy="2232942"/>
            </a:xfrm>
          </p:grpSpPr>
          <p:sp>
            <p:nvSpPr>
              <p:cNvPr id="323" name="线条"/>
              <p:cNvSpPr/>
              <p:nvPr/>
            </p:nvSpPr>
            <p:spPr>
              <a:xfrm flipV="1">
                <a:off x="491286" y="0"/>
                <a:ext cx="2259" cy="223294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324" name="线条"/>
              <p:cNvSpPr/>
              <p:nvPr/>
            </p:nvSpPr>
            <p:spPr>
              <a:xfrm flipV="1">
                <a:off x="0" y="0"/>
                <a:ext cx="2258" cy="223294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325" name="线条"/>
              <p:cNvSpPr/>
              <p:nvPr/>
            </p:nvSpPr>
            <p:spPr>
              <a:xfrm flipV="1">
                <a:off x="1475471" y="0"/>
                <a:ext cx="2259" cy="223294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326" name="线条"/>
              <p:cNvSpPr/>
              <p:nvPr/>
            </p:nvSpPr>
            <p:spPr>
              <a:xfrm flipV="1">
                <a:off x="982573" y="0"/>
                <a:ext cx="2259" cy="223294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327" name="线条"/>
              <p:cNvSpPr/>
              <p:nvPr/>
            </p:nvSpPr>
            <p:spPr>
              <a:xfrm flipV="1">
                <a:off x="1966758" y="0"/>
                <a:ext cx="2259" cy="223294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328" name="线条"/>
              <p:cNvSpPr/>
              <p:nvPr/>
            </p:nvSpPr>
            <p:spPr>
              <a:xfrm flipV="1">
                <a:off x="3440619" y="0"/>
                <a:ext cx="2259" cy="223294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329" name="线条"/>
              <p:cNvSpPr/>
              <p:nvPr/>
            </p:nvSpPr>
            <p:spPr>
              <a:xfrm flipV="1">
                <a:off x="2949332" y="0"/>
                <a:ext cx="2259" cy="223294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330" name="线条"/>
              <p:cNvSpPr/>
              <p:nvPr/>
            </p:nvSpPr>
            <p:spPr>
              <a:xfrm flipV="1">
                <a:off x="4423192" y="0"/>
                <a:ext cx="2259" cy="223294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331" name="线条"/>
              <p:cNvSpPr/>
              <p:nvPr/>
            </p:nvSpPr>
            <p:spPr>
              <a:xfrm flipV="1">
                <a:off x="3931905" y="0"/>
                <a:ext cx="2259" cy="223294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332" name="线条"/>
              <p:cNvSpPr/>
              <p:nvPr/>
            </p:nvSpPr>
            <p:spPr>
              <a:xfrm flipV="1">
                <a:off x="5407377" y="0"/>
                <a:ext cx="2259" cy="223294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333" name="线条"/>
              <p:cNvSpPr/>
              <p:nvPr/>
            </p:nvSpPr>
            <p:spPr>
              <a:xfrm flipV="1">
                <a:off x="4916090" y="0"/>
                <a:ext cx="2259" cy="223294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334" name="线条"/>
              <p:cNvSpPr/>
              <p:nvPr/>
            </p:nvSpPr>
            <p:spPr>
              <a:xfrm flipV="1">
                <a:off x="2458045" y="0"/>
                <a:ext cx="2259" cy="2232943"/>
              </a:xfrm>
              <a:prstGeom prst="line">
                <a:avLst/>
              </a:prstGeom>
              <a:noFill/>
              <a:ln w="9525" cap="flat">
                <a:solidFill>
                  <a:srgbClr val="000000"/>
                </a:solidFill>
                <a:prstDash val="sysDot"/>
                <a:roun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336" name="5"/>
            <p:cNvSpPr/>
            <p:nvPr/>
          </p:nvSpPr>
          <p:spPr>
            <a:xfrm>
              <a:off x="3937000" y="1930400"/>
              <a:ext cx="1474329" cy="295769"/>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a:solidFill>
                    <a:srgbClr val="000000"/>
                  </a:solidFill>
                </a:defRPr>
              </a:lvl1pPr>
            </a:lstStyle>
            <a:p>
              <a:r>
                <a:t>5</a:t>
              </a:r>
            </a:p>
          </p:txBody>
        </p:sp>
        <p:sp>
          <p:nvSpPr>
            <p:cNvPr id="337" name="1"/>
            <p:cNvSpPr/>
            <p:nvPr/>
          </p:nvSpPr>
          <p:spPr>
            <a:xfrm>
              <a:off x="12700" y="215900"/>
              <a:ext cx="1474329" cy="298027"/>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a:solidFill>
                    <a:srgbClr val="000000"/>
                  </a:solidFill>
                </a:defRPr>
              </a:lvl1pPr>
            </a:lstStyle>
            <a:p>
              <a:r>
                <a:t>1</a:t>
              </a:r>
            </a:p>
          </p:txBody>
        </p:sp>
        <p:sp>
          <p:nvSpPr>
            <p:cNvPr id="338" name="2"/>
            <p:cNvSpPr/>
            <p:nvPr/>
          </p:nvSpPr>
          <p:spPr>
            <a:xfrm>
              <a:off x="990600" y="647700"/>
              <a:ext cx="1472072" cy="295769"/>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a:solidFill>
                    <a:srgbClr val="000000"/>
                  </a:solidFill>
                </a:defRPr>
              </a:lvl1pPr>
            </a:lstStyle>
            <a:p>
              <a:r>
                <a:t>2</a:t>
              </a:r>
            </a:p>
          </p:txBody>
        </p:sp>
        <p:sp>
          <p:nvSpPr>
            <p:cNvPr id="339" name="p(1) = 0, p(j) = j-2"/>
            <p:cNvSpPr txBox="1"/>
            <p:nvPr/>
          </p:nvSpPr>
          <p:spPr>
            <a:xfrm>
              <a:off x="1752600" y="2438400"/>
              <a:ext cx="1958777" cy="2286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defRPr b="1">
                  <a:solidFill>
                    <a:srgbClr val="000000"/>
                  </a:solidFill>
                  <a:latin typeface="Lucida Grande"/>
                  <a:ea typeface="Lucida Grande"/>
                  <a:cs typeface="Lucida Grande"/>
                  <a:sym typeface="Lucida Grande"/>
                </a:defRPr>
              </a:lvl1pPr>
            </a:lstStyle>
            <a:p>
              <a:r>
                <a:rPr dirty="0"/>
                <a:t>p(1) = 0, p(j) = j-2</a:t>
              </a:r>
            </a:p>
          </p:txBody>
        </p:sp>
      </p:grpSp>
      <p:grpSp>
        <p:nvGrpSpPr>
          <p:cNvPr id="371" name="成组"/>
          <p:cNvGrpSpPr/>
          <p:nvPr/>
        </p:nvGrpSpPr>
        <p:grpSpPr>
          <a:xfrm>
            <a:off x="8229600" y="4406900"/>
            <a:ext cx="4179787" cy="4483100"/>
            <a:chOff x="0" y="0"/>
            <a:chExt cx="4179786" cy="4483100"/>
          </a:xfrm>
        </p:grpSpPr>
        <p:sp>
          <p:nvSpPr>
            <p:cNvPr id="341" name="4"/>
            <p:cNvSpPr/>
            <p:nvPr/>
          </p:nvSpPr>
          <p:spPr>
            <a:xfrm>
              <a:off x="1219200" y="6604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4</a:t>
              </a:r>
            </a:p>
          </p:txBody>
        </p:sp>
        <p:sp>
          <p:nvSpPr>
            <p:cNvPr id="342" name="线条"/>
            <p:cNvSpPr/>
            <p:nvPr/>
          </p:nvSpPr>
          <p:spPr>
            <a:xfrm flipH="1">
              <a:off x="1485900" y="215900"/>
              <a:ext cx="1008194" cy="497786"/>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43" name="3"/>
            <p:cNvSpPr/>
            <p:nvPr/>
          </p:nvSpPr>
          <p:spPr>
            <a:xfrm>
              <a:off x="3467100" y="6604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3</a:t>
              </a:r>
            </a:p>
          </p:txBody>
        </p:sp>
        <p:sp>
          <p:nvSpPr>
            <p:cNvPr id="344" name="线条"/>
            <p:cNvSpPr/>
            <p:nvPr/>
          </p:nvSpPr>
          <p:spPr>
            <a:xfrm>
              <a:off x="2705100" y="215900"/>
              <a:ext cx="804003" cy="497785"/>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45" name="3"/>
            <p:cNvSpPr/>
            <p:nvPr/>
          </p:nvSpPr>
          <p:spPr>
            <a:xfrm>
              <a:off x="609600" y="13843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3</a:t>
              </a:r>
            </a:p>
          </p:txBody>
        </p:sp>
        <p:sp>
          <p:nvSpPr>
            <p:cNvPr id="346" name="线条"/>
            <p:cNvSpPr/>
            <p:nvPr/>
          </p:nvSpPr>
          <p:spPr>
            <a:xfrm flipH="1">
              <a:off x="762000" y="927100"/>
              <a:ext cx="504097" cy="453113"/>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47" name="2"/>
            <p:cNvSpPr/>
            <p:nvPr/>
          </p:nvSpPr>
          <p:spPr>
            <a:xfrm>
              <a:off x="1841500" y="13843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2</a:t>
              </a:r>
            </a:p>
          </p:txBody>
        </p:sp>
        <p:sp>
          <p:nvSpPr>
            <p:cNvPr id="348" name="线条"/>
            <p:cNvSpPr/>
            <p:nvPr/>
          </p:nvSpPr>
          <p:spPr>
            <a:xfrm>
              <a:off x="1485900" y="927100"/>
              <a:ext cx="504098" cy="453113"/>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49" name="2"/>
            <p:cNvSpPr/>
            <p:nvPr/>
          </p:nvSpPr>
          <p:spPr>
            <a:xfrm>
              <a:off x="3060700" y="13843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2</a:t>
              </a:r>
            </a:p>
          </p:txBody>
        </p:sp>
        <p:sp>
          <p:nvSpPr>
            <p:cNvPr id="350" name="线条"/>
            <p:cNvSpPr/>
            <p:nvPr/>
          </p:nvSpPr>
          <p:spPr>
            <a:xfrm flipH="1">
              <a:off x="3213100" y="927100"/>
              <a:ext cx="299907" cy="453113"/>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51" name="1"/>
            <p:cNvSpPr/>
            <p:nvPr/>
          </p:nvSpPr>
          <p:spPr>
            <a:xfrm>
              <a:off x="3873500" y="13843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1</a:t>
              </a:r>
            </a:p>
          </p:txBody>
        </p:sp>
        <p:sp>
          <p:nvSpPr>
            <p:cNvPr id="352" name="线条"/>
            <p:cNvSpPr/>
            <p:nvPr/>
          </p:nvSpPr>
          <p:spPr>
            <a:xfrm>
              <a:off x="3733800" y="927100"/>
              <a:ext cx="299907" cy="453113"/>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53" name="2"/>
            <p:cNvSpPr/>
            <p:nvPr/>
          </p:nvSpPr>
          <p:spPr>
            <a:xfrm>
              <a:off x="304800" y="20955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2</a:t>
              </a:r>
            </a:p>
          </p:txBody>
        </p:sp>
        <p:sp>
          <p:nvSpPr>
            <p:cNvPr id="354" name="线条"/>
            <p:cNvSpPr/>
            <p:nvPr/>
          </p:nvSpPr>
          <p:spPr>
            <a:xfrm flipH="1">
              <a:off x="457200" y="1638300"/>
              <a:ext cx="197811" cy="453113"/>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55" name="1"/>
            <p:cNvSpPr/>
            <p:nvPr/>
          </p:nvSpPr>
          <p:spPr>
            <a:xfrm>
              <a:off x="914400" y="20955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1</a:t>
              </a:r>
            </a:p>
          </p:txBody>
        </p:sp>
        <p:sp>
          <p:nvSpPr>
            <p:cNvPr id="356" name="线条"/>
            <p:cNvSpPr/>
            <p:nvPr/>
          </p:nvSpPr>
          <p:spPr>
            <a:xfrm>
              <a:off x="876300" y="1638300"/>
              <a:ext cx="197811" cy="453113"/>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57" name="1"/>
            <p:cNvSpPr/>
            <p:nvPr/>
          </p:nvSpPr>
          <p:spPr>
            <a:xfrm>
              <a:off x="0" y="28067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1</a:t>
              </a:r>
            </a:p>
          </p:txBody>
        </p:sp>
        <p:sp>
          <p:nvSpPr>
            <p:cNvPr id="358" name="线条"/>
            <p:cNvSpPr/>
            <p:nvPr/>
          </p:nvSpPr>
          <p:spPr>
            <a:xfrm flipH="1">
              <a:off x="152400" y="2362200"/>
              <a:ext cx="197811" cy="453113"/>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59" name="0"/>
            <p:cNvSpPr/>
            <p:nvPr/>
          </p:nvSpPr>
          <p:spPr>
            <a:xfrm>
              <a:off x="609600" y="28067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0</a:t>
              </a:r>
            </a:p>
          </p:txBody>
        </p:sp>
        <p:sp>
          <p:nvSpPr>
            <p:cNvPr id="360" name="线条"/>
            <p:cNvSpPr/>
            <p:nvPr/>
          </p:nvSpPr>
          <p:spPr>
            <a:xfrm>
              <a:off x="571500" y="2362200"/>
              <a:ext cx="197811" cy="453113"/>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61" name="1"/>
            <p:cNvSpPr/>
            <p:nvPr/>
          </p:nvSpPr>
          <p:spPr>
            <a:xfrm>
              <a:off x="1524000" y="20955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1</a:t>
              </a:r>
            </a:p>
          </p:txBody>
        </p:sp>
        <p:sp>
          <p:nvSpPr>
            <p:cNvPr id="362" name="线条"/>
            <p:cNvSpPr/>
            <p:nvPr/>
          </p:nvSpPr>
          <p:spPr>
            <a:xfrm flipH="1">
              <a:off x="1689100" y="1638300"/>
              <a:ext cx="197811" cy="453113"/>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63" name="0"/>
            <p:cNvSpPr/>
            <p:nvPr/>
          </p:nvSpPr>
          <p:spPr>
            <a:xfrm>
              <a:off x="2146300" y="20955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0</a:t>
              </a:r>
            </a:p>
          </p:txBody>
        </p:sp>
        <p:sp>
          <p:nvSpPr>
            <p:cNvPr id="364" name="线条"/>
            <p:cNvSpPr/>
            <p:nvPr/>
          </p:nvSpPr>
          <p:spPr>
            <a:xfrm>
              <a:off x="2095500" y="1638300"/>
              <a:ext cx="197811" cy="453113"/>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65" name="1"/>
            <p:cNvSpPr/>
            <p:nvPr/>
          </p:nvSpPr>
          <p:spPr>
            <a:xfrm>
              <a:off x="2755900" y="20955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1</a:t>
              </a:r>
            </a:p>
          </p:txBody>
        </p:sp>
        <p:sp>
          <p:nvSpPr>
            <p:cNvPr id="366" name="线条"/>
            <p:cNvSpPr/>
            <p:nvPr/>
          </p:nvSpPr>
          <p:spPr>
            <a:xfrm flipH="1">
              <a:off x="2908300" y="1638300"/>
              <a:ext cx="197811" cy="453113"/>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67" name="0"/>
            <p:cNvSpPr/>
            <p:nvPr/>
          </p:nvSpPr>
          <p:spPr>
            <a:xfrm>
              <a:off x="3365500" y="209550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0</a:t>
              </a:r>
            </a:p>
          </p:txBody>
        </p:sp>
        <p:sp>
          <p:nvSpPr>
            <p:cNvPr id="368" name="线条"/>
            <p:cNvSpPr/>
            <p:nvPr/>
          </p:nvSpPr>
          <p:spPr>
            <a:xfrm>
              <a:off x="3327400" y="1638300"/>
              <a:ext cx="197811" cy="453113"/>
            </a:xfrm>
            <a:prstGeom prst="line">
              <a:avLst/>
            </a:prstGeom>
            <a:noFill/>
            <a:ln w="19050" cap="flat">
              <a:solidFill>
                <a:srgbClr val="929292"/>
              </a:solidFill>
              <a:prstDash val="solid"/>
              <a:miter lim="400000"/>
            </a:ln>
            <a:effectLst/>
          </p:spPr>
          <p:txBody>
            <a:bodyPr wrap="square" lIns="0" tIns="0" rIns="0" bIns="0" numCol="1" anchor="ctr">
              <a:noAutofit/>
            </a:bodyPr>
            <a:lstStyle/>
            <a:p>
              <a:pPr marL="61411" marR="61411" defTabSz="457200">
                <a:defRPr sz="1400">
                  <a:solidFill>
                    <a:srgbClr val="000000"/>
                  </a:solidFill>
                </a:defRPr>
              </a:pPr>
              <a:endParaRPr/>
            </a:p>
          </p:txBody>
        </p:sp>
        <p:sp>
          <p:nvSpPr>
            <p:cNvPr id="369" name="recursion tree"/>
            <p:cNvSpPr/>
            <p:nvPr/>
          </p:nvSpPr>
          <p:spPr>
            <a:xfrm>
              <a:off x="2226964" y="3213100"/>
              <a:ext cx="1270001" cy="1270000"/>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defRPr b="1">
                  <a:solidFill>
                    <a:srgbClr val="000000"/>
                  </a:solidFill>
                  <a:latin typeface="Lucida Grande"/>
                  <a:ea typeface="Lucida Grande"/>
                  <a:cs typeface="Lucida Grande"/>
                  <a:sym typeface="Lucida Grande"/>
                </a:defRPr>
              </a:lvl1pPr>
            </a:lstStyle>
            <a:p>
              <a:r>
                <a:t>recursion tree</a:t>
              </a:r>
            </a:p>
          </p:txBody>
        </p:sp>
        <p:sp>
          <p:nvSpPr>
            <p:cNvPr id="370" name="5"/>
            <p:cNvSpPr/>
            <p:nvPr/>
          </p:nvSpPr>
          <p:spPr>
            <a:xfrm>
              <a:off x="2451100" y="0"/>
              <a:ext cx="306287" cy="306330"/>
            </a:xfrm>
            <a:prstGeom prst="ellipse">
              <a:avLst/>
            </a:prstGeom>
            <a:solidFill>
              <a:srgbClr val="CBCBCB"/>
            </a:solidFill>
            <a:ln w="9525" cap="flat">
              <a:solidFill>
                <a:srgbClr val="000000"/>
              </a:solidFill>
              <a:prstDash val="solid"/>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400">
                  <a:solidFill>
                    <a:srgbClr val="000000"/>
                  </a:solidFill>
                </a:defRPr>
              </a:lvl1pPr>
            </a:lstStyle>
            <a:p>
              <a:r>
                <a:t>5</a:t>
              </a:r>
            </a:p>
          </p:txBody>
        </p:sp>
      </p:grpSp>
      <p:sp>
        <p:nvSpPr>
          <p:cNvPr id="58" name="1">
            <a:extLst>
              <a:ext uri="{FF2B5EF4-FFF2-40B4-BE49-F238E27FC236}">
                <a16:creationId xmlns:a16="http://schemas.microsoft.com/office/drawing/2014/main" id="{9205E555-C60F-A349-9838-3145CE23994B}"/>
              </a:ext>
            </a:extLst>
          </p:cNvPr>
          <p:cNvSpPr/>
          <p:nvPr/>
        </p:nvSpPr>
        <p:spPr>
          <a:xfrm>
            <a:off x="356983" y="5174804"/>
            <a:ext cx="1067291" cy="228600"/>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t>1</a:t>
            </a:r>
          </a:p>
        </p:txBody>
      </p:sp>
      <p:sp>
        <p:nvSpPr>
          <p:cNvPr id="59" name="1">
            <a:extLst>
              <a:ext uri="{FF2B5EF4-FFF2-40B4-BE49-F238E27FC236}">
                <a16:creationId xmlns:a16="http://schemas.microsoft.com/office/drawing/2014/main" id="{96FBBEF9-67D9-D241-9439-4BC7E1130952}"/>
              </a:ext>
            </a:extLst>
          </p:cNvPr>
          <p:cNvSpPr/>
          <p:nvPr/>
        </p:nvSpPr>
        <p:spPr>
          <a:xfrm>
            <a:off x="356982" y="5562600"/>
            <a:ext cx="1067291" cy="228600"/>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rPr lang="en-US" altLang="zh-CN" dirty="0"/>
              <a:t>2</a:t>
            </a:r>
            <a:endParaRPr dirty="0"/>
          </a:p>
        </p:txBody>
      </p:sp>
      <p:sp>
        <p:nvSpPr>
          <p:cNvPr id="60" name="1">
            <a:extLst>
              <a:ext uri="{FF2B5EF4-FFF2-40B4-BE49-F238E27FC236}">
                <a16:creationId xmlns:a16="http://schemas.microsoft.com/office/drawing/2014/main" id="{23FA7EEE-8216-3149-98BC-EA03A928081D}"/>
              </a:ext>
            </a:extLst>
          </p:cNvPr>
          <p:cNvSpPr/>
          <p:nvPr/>
        </p:nvSpPr>
        <p:spPr>
          <a:xfrm>
            <a:off x="356378" y="5983230"/>
            <a:ext cx="1067291" cy="228600"/>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rPr lang="en-US" altLang="zh-CN" dirty="0"/>
              <a:t>3</a:t>
            </a:r>
            <a:endParaRPr dirty="0"/>
          </a:p>
        </p:txBody>
      </p:sp>
      <p:sp>
        <p:nvSpPr>
          <p:cNvPr id="61" name="1">
            <a:extLst>
              <a:ext uri="{FF2B5EF4-FFF2-40B4-BE49-F238E27FC236}">
                <a16:creationId xmlns:a16="http://schemas.microsoft.com/office/drawing/2014/main" id="{26C93C39-A31E-8A45-8377-68B0C99C5756}"/>
              </a:ext>
            </a:extLst>
          </p:cNvPr>
          <p:cNvSpPr/>
          <p:nvPr/>
        </p:nvSpPr>
        <p:spPr>
          <a:xfrm>
            <a:off x="356378" y="6408984"/>
            <a:ext cx="1067291" cy="228600"/>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rPr lang="en-US" altLang="zh-CN" dirty="0"/>
              <a:t>4</a:t>
            </a:r>
            <a:endParaRPr dirty="0"/>
          </a:p>
        </p:txBody>
      </p:sp>
      <p:sp>
        <p:nvSpPr>
          <p:cNvPr id="62" name="1">
            <a:extLst>
              <a:ext uri="{FF2B5EF4-FFF2-40B4-BE49-F238E27FC236}">
                <a16:creationId xmlns:a16="http://schemas.microsoft.com/office/drawing/2014/main" id="{84DB0B98-76E5-FA43-9212-A74191D45B77}"/>
              </a:ext>
            </a:extLst>
          </p:cNvPr>
          <p:cNvSpPr/>
          <p:nvPr/>
        </p:nvSpPr>
        <p:spPr>
          <a:xfrm>
            <a:off x="356378" y="6843455"/>
            <a:ext cx="1067291" cy="228600"/>
          </a:xfrm>
          <a:prstGeom prst="rect">
            <a:avLst/>
          </a:prstGeom>
          <a:solidFill>
            <a:srgbClr val="CBCBCB"/>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noAutofit/>
          </a:bodyPr>
          <a:lstStyle>
            <a:lvl1pPr marL="61411" marR="61411" defTabSz="457200">
              <a:lnSpc>
                <a:spcPct val="100000"/>
              </a:lnSpc>
              <a:defRPr sz="1800" baseline="-16666">
                <a:solidFill>
                  <a:srgbClr val="000000"/>
                </a:solidFill>
              </a:defRPr>
            </a:lvl1pPr>
          </a:lstStyle>
          <a:p>
            <a:r>
              <a:rPr lang="en-US" altLang="zh-CN" dirty="0"/>
              <a:t>5</a:t>
            </a:r>
            <a:endParaRPr dirty="0"/>
          </a:p>
        </p:txBody>
      </p:sp>
      <p:pic>
        <p:nvPicPr>
          <p:cNvPr id="63" name="revenue.pdf" descr="revenue.pdf">
            <a:extLst>
              <a:ext uri="{FF2B5EF4-FFF2-40B4-BE49-F238E27FC236}">
                <a16:creationId xmlns:a16="http://schemas.microsoft.com/office/drawing/2014/main" id="{151C4492-FCA0-9547-BEF9-1BC995530302}"/>
              </a:ext>
            </a:extLst>
          </p:cNvPr>
          <p:cNvPicPr>
            <a:picLocks noChangeAspect="1"/>
          </p:cNvPicPr>
          <p:nvPr/>
        </p:nvPicPr>
        <p:blipFill>
          <a:blip r:embed="rId3"/>
          <a:stretch>
            <a:fillRect/>
          </a:stretch>
        </p:blipFill>
        <p:spPr>
          <a:xfrm rot="660000">
            <a:off x="630354" y="4709808"/>
            <a:ext cx="523105" cy="413923"/>
          </a:xfrm>
          <a:prstGeom prst="rect">
            <a:avLst/>
          </a:prstGeom>
          <a:ln w="12700" cap="flat">
            <a:noFill/>
            <a:miter lim="400000"/>
          </a:ln>
          <a:effectLst/>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18">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40"/>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 grpId="0" build="p" animBg="1" advAuto="0"/>
      <p:bldP spid="340" grpId="0" animBg="1" advAuto="0"/>
      <p:bldP spid="371" grpId="0"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374" name="Weighted interval scheduling:  memoization"/>
          <p:cNvSpPr txBox="1">
            <a:spLocks noGrp="1"/>
          </p:cNvSpPr>
          <p:nvPr>
            <p:ph type="title"/>
          </p:nvPr>
        </p:nvSpPr>
        <p:spPr>
          <a:prstGeom prst="rect">
            <a:avLst/>
          </a:prstGeom>
        </p:spPr>
        <p:txBody>
          <a:bodyPr/>
          <a:lstStyle/>
          <a:p>
            <a:r>
              <a:t>Weighted interval scheduling:  memoization</a:t>
            </a:r>
          </a:p>
        </p:txBody>
      </p:sp>
      <p:sp>
        <p:nvSpPr>
          <p:cNvPr id="375" name="Top-down dynamic programming (memoization).…"/>
          <p:cNvSpPr txBox="1">
            <a:spLocks noGrp="1"/>
          </p:cNvSpPr>
          <p:nvPr>
            <p:ph type="body" idx="1"/>
          </p:nvPr>
        </p:nvSpPr>
        <p:spPr>
          <a:prstGeom prst="rect">
            <a:avLst/>
          </a:prstGeom>
        </p:spPr>
        <p:txBody>
          <a:bodyPr/>
          <a:lstStyle/>
          <a:p>
            <a:r>
              <a:t>Top-down dynamic programming (memoization).</a:t>
            </a:r>
          </a:p>
          <a:p>
            <a:pPr lvl="1"/>
            <a:r>
              <a:t>Cache result of subproblem </a:t>
            </a:r>
            <a:r>
              <a:rPr i="1">
                <a:latin typeface="Times"/>
                <a:ea typeface="Times"/>
                <a:cs typeface="Times"/>
                <a:sym typeface="Times"/>
              </a:rPr>
              <a:t>j</a:t>
            </a:r>
            <a:r>
              <a:t> in </a:t>
            </a:r>
            <a:r>
              <a:rPr i="1" spc="239">
                <a:latin typeface="Times"/>
                <a:ea typeface="Times"/>
                <a:cs typeface="Times"/>
                <a:sym typeface="Times"/>
              </a:rPr>
              <a:t>M</a:t>
            </a:r>
            <a:r>
              <a:rPr spc="240">
                <a:latin typeface="Times"/>
                <a:ea typeface="Times"/>
                <a:cs typeface="Times"/>
                <a:sym typeface="Times"/>
              </a:rPr>
              <a:t>[</a:t>
            </a:r>
            <a:r>
              <a:rPr i="1" spc="240">
                <a:latin typeface="Times"/>
                <a:ea typeface="Times"/>
                <a:cs typeface="Times"/>
                <a:sym typeface="Times"/>
              </a:rPr>
              <a:t>j</a:t>
            </a:r>
            <a:r>
              <a:rPr>
                <a:latin typeface="Times"/>
                <a:ea typeface="Times"/>
                <a:cs typeface="Times"/>
                <a:sym typeface="Times"/>
              </a:rPr>
              <a:t>]</a:t>
            </a:r>
            <a:r>
              <a:t>.</a:t>
            </a:r>
          </a:p>
          <a:p>
            <a:pPr lvl="1"/>
            <a:r>
              <a:t>Use </a:t>
            </a:r>
            <a:r>
              <a:rPr i="1" spc="239">
                <a:latin typeface="Times"/>
                <a:ea typeface="Times"/>
                <a:cs typeface="Times"/>
                <a:sym typeface="Times"/>
              </a:rPr>
              <a:t>M</a:t>
            </a:r>
            <a:r>
              <a:rPr spc="240">
                <a:latin typeface="Times"/>
                <a:ea typeface="Times"/>
                <a:cs typeface="Times"/>
                <a:sym typeface="Times"/>
              </a:rPr>
              <a:t>[</a:t>
            </a:r>
            <a:r>
              <a:rPr i="1" spc="240">
                <a:latin typeface="Times"/>
                <a:ea typeface="Times"/>
                <a:cs typeface="Times"/>
                <a:sym typeface="Times"/>
              </a:rPr>
              <a:t>j</a:t>
            </a:r>
            <a:r>
              <a:rPr>
                <a:latin typeface="Times"/>
                <a:ea typeface="Times"/>
                <a:cs typeface="Times"/>
                <a:sym typeface="Times"/>
              </a:rPr>
              <a:t>]</a:t>
            </a:r>
            <a:r>
              <a:t> to avoid solving subproblem </a:t>
            </a:r>
            <a:r>
              <a:rPr i="1">
                <a:latin typeface="Times"/>
                <a:ea typeface="Times"/>
                <a:cs typeface="Times"/>
                <a:sym typeface="Times"/>
              </a:rPr>
              <a:t>j</a:t>
            </a:r>
            <a:r>
              <a:t> more than once.</a:t>
            </a:r>
          </a:p>
        </p:txBody>
      </p:sp>
      <p:sp>
        <p:nvSpPr>
          <p:cNvPr id="376"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21</a:t>
            </a:fld>
            <a:endParaRPr/>
          </a:p>
        </p:txBody>
      </p:sp>
      <p:sp>
        <p:nvSpPr>
          <p:cNvPr id="377" name="M-Compute-Opt( j )…"/>
          <p:cNvSpPr txBox="1"/>
          <p:nvPr/>
        </p:nvSpPr>
        <p:spPr>
          <a:xfrm>
            <a:off x="1181027" y="6637576"/>
            <a:ext cx="10498717" cy="2694584"/>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92100" tIns="292100" rIns="292100" bIns="292100">
            <a:spAutoFit/>
          </a:bodyPr>
          <a:lstStyle/>
          <a:p>
            <a:pPr algn="l">
              <a:lnSpc>
                <a:spcPct val="100000"/>
              </a:lnSpc>
              <a:spcBef>
                <a:spcPts val="1200"/>
              </a:spcBef>
              <a:defRPr sz="2400" i="1">
                <a:solidFill>
                  <a:srgbClr val="000000"/>
                </a:solidFill>
                <a:latin typeface="Times"/>
                <a:ea typeface="Times"/>
                <a:cs typeface="Times"/>
                <a:sym typeface="Times"/>
              </a:defRPr>
            </a:pPr>
            <a:r>
              <a:rPr i="0" cap="small">
                <a:solidFill>
                  <a:srgbClr val="003F83"/>
                </a:solidFill>
              </a:rPr>
              <a:t>M-Compute-Opt</a:t>
            </a:r>
            <a:r>
              <a:rPr i="0"/>
              <a:t>(</a:t>
            </a:r>
            <a:r>
              <a:rPr i="0" baseline="31999"/>
              <a:t> </a:t>
            </a:r>
            <a:r>
              <a:t>j</a:t>
            </a:r>
            <a:r>
              <a:rPr baseline="31999"/>
              <a:t> </a:t>
            </a:r>
            <a:r>
              <a:rPr i="0"/>
              <a:t>)</a:t>
            </a:r>
            <a:r>
              <a:t>                          </a:t>
            </a:r>
            <a:endParaRPr sz="100"/>
          </a:p>
          <a:p>
            <a:pPr algn="l">
              <a:lnSpc>
                <a:spcPct val="100000"/>
              </a:lnSpc>
              <a:spcBef>
                <a:spcPts val="1200"/>
              </a:spcBef>
              <a:defRPr sz="2400">
                <a:solidFill>
                  <a:srgbClr val="000000"/>
                </a:solidFill>
                <a:latin typeface="Times"/>
                <a:ea typeface="Times"/>
                <a:cs typeface="Times"/>
                <a:sym typeface="Times"/>
              </a:defRPr>
            </a:pPr>
            <a:r>
              <a:rPr sz="10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If</a:t>
            </a:r>
            <a:r>
              <a:rPr i="1" cap="small">
                <a:solidFill>
                  <a:srgbClr val="003F83"/>
                </a:solidFill>
              </a:rPr>
              <a:t>  </a:t>
            </a:r>
            <a:r>
              <a:rPr cap="small"/>
              <a:t>(</a:t>
            </a:r>
            <a:r>
              <a:rPr i="1" spc="239"/>
              <a:t>M</a:t>
            </a:r>
            <a:r>
              <a:rPr spc="240"/>
              <a:t>[</a:t>
            </a:r>
            <a:r>
              <a:rPr i="1" spc="240"/>
              <a:t>j</a:t>
            </a:r>
            <a:r>
              <a:t>]  is uninitialized)</a:t>
            </a:r>
          </a:p>
          <a:p>
            <a:pPr lvl="1" algn="l">
              <a:lnSpc>
                <a:spcPct val="100000"/>
              </a:lnSpc>
              <a:spcBef>
                <a:spcPts val="1200"/>
              </a:spcBef>
              <a:buClrTx/>
              <a:buFontTx/>
              <a:defRPr sz="2400">
                <a:solidFill>
                  <a:srgbClr val="000000"/>
                </a:solidFill>
                <a:latin typeface="Times"/>
                <a:ea typeface="Times"/>
                <a:cs typeface="Times"/>
                <a:sym typeface="Times"/>
              </a:defRPr>
            </a:pPr>
            <a:r>
              <a:t> </a:t>
            </a:r>
            <a:r>
              <a:rPr i="1" spc="239"/>
              <a:t>M</a:t>
            </a:r>
            <a:r>
              <a:rPr spc="240"/>
              <a:t>[</a:t>
            </a:r>
            <a:r>
              <a:rPr i="1" spc="240"/>
              <a:t>j</a:t>
            </a:r>
            <a:r>
              <a:t>] ← max { M-</a:t>
            </a:r>
            <a:r>
              <a:rPr cap="small"/>
              <a:t>Compute-Opt</a:t>
            </a:r>
            <a:r>
              <a:rPr i="1" baseline="31999"/>
              <a:t> </a:t>
            </a:r>
            <a:r>
              <a:rPr spc="240"/>
              <a:t>(</a:t>
            </a:r>
            <a:r>
              <a:rPr i="1"/>
              <a:t>j</a:t>
            </a:r>
            <a:r>
              <a:rPr i="1" baseline="31999"/>
              <a:t> </a:t>
            </a:r>
            <a:r>
              <a:t>–</a:t>
            </a:r>
            <a:r>
              <a:rPr i="1" baseline="31999"/>
              <a:t> </a:t>
            </a:r>
            <a:r>
              <a:t>1),  </a:t>
            </a:r>
            <a:r>
              <a:rPr i="1"/>
              <a:t>w</a:t>
            </a:r>
            <a:r>
              <a:rPr i="1" baseline="-5999"/>
              <a:t>j</a:t>
            </a:r>
            <a:r>
              <a:rPr i="1" baseline="31999"/>
              <a:t> </a:t>
            </a:r>
            <a:r>
              <a:t> + </a:t>
            </a:r>
            <a:r>
              <a:rPr cap="small"/>
              <a:t>M-Compute-Opt</a:t>
            </a:r>
            <a:r>
              <a:rPr spc="240"/>
              <a:t>(</a:t>
            </a:r>
            <a:r>
              <a:rPr i="1"/>
              <a:t>p</a:t>
            </a:r>
            <a:r>
              <a:rPr spc="240"/>
              <a:t>[</a:t>
            </a:r>
            <a:r>
              <a:rPr i="1" spc="240"/>
              <a:t>j</a:t>
            </a:r>
            <a:r>
              <a:t>])  }.</a:t>
            </a:r>
          </a:p>
          <a:p>
            <a:pPr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return</a:t>
            </a:r>
            <a:r>
              <a:rPr i="1" cap="small">
                <a:solidFill>
                  <a:srgbClr val="003F83"/>
                </a:solidFill>
              </a:rPr>
              <a:t>  </a:t>
            </a:r>
            <a:r>
              <a:rPr i="1" spc="239"/>
              <a:t>M</a:t>
            </a:r>
            <a:r>
              <a:rPr spc="240"/>
              <a:t>[</a:t>
            </a:r>
            <a:r>
              <a:rPr i="1" spc="240"/>
              <a:t>j</a:t>
            </a:r>
            <a:r>
              <a:t>].</a:t>
            </a:r>
          </a:p>
        </p:txBody>
      </p:sp>
      <p:grpSp>
        <p:nvGrpSpPr>
          <p:cNvPr id="382" name="成组"/>
          <p:cNvGrpSpPr/>
          <p:nvPr/>
        </p:nvGrpSpPr>
        <p:grpSpPr>
          <a:xfrm>
            <a:off x="1196102" y="3059113"/>
            <a:ext cx="8926973" cy="3306812"/>
            <a:chOff x="0" y="0"/>
            <a:chExt cx="8926972" cy="3306810"/>
          </a:xfrm>
        </p:grpSpPr>
        <p:sp>
          <p:nvSpPr>
            <p:cNvPr id="378" name="Top-Down(n, s1, …, sn, f1, …, fn, w1, …, wn)…"/>
            <p:cNvSpPr txBox="1"/>
            <p:nvPr/>
          </p:nvSpPr>
          <p:spPr>
            <a:xfrm>
              <a:off x="0" y="0"/>
              <a:ext cx="8926973" cy="3306811"/>
            </a:xfrm>
            <a:prstGeom prst="rect">
              <a:avLst/>
            </a:prstGeom>
            <a:solidFill>
              <a:srgbClr val="FFFFFF"/>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92100" tIns="292100" rIns="292100" bIns="292100" numCol="1" anchor="t">
              <a:noAutofit/>
            </a:bodyPr>
            <a:lstStyle/>
            <a:p>
              <a:pPr algn="l">
                <a:lnSpc>
                  <a:spcPct val="100000"/>
                </a:lnSpc>
                <a:spcBef>
                  <a:spcPts val="1200"/>
                </a:spcBef>
                <a:defRPr sz="2400" i="1">
                  <a:solidFill>
                    <a:srgbClr val="000000"/>
                  </a:solidFill>
                  <a:latin typeface="Times"/>
                  <a:ea typeface="Times"/>
                  <a:cs typeface="Times"/>
                  <a:sym typeface="Times"/>
                </a:defRPr>
              </a:pPr>
              <a:r>
                <a:rPr i="0" cap="small">
                  <a:solidFill>
                    <a:srgbClr val="003F83"/>
                  </a:solidFill>
                </a:rPr>
                <a:t>Top-Down</a:t>
              </a:r>
              <a:r>
                <a:rPr i="0"/>
                <a:t>(</a:t>
              </a:r>
              <a:r>
                <a:t>n</a:t>
              </a:r>
              <a:r>
                <a:rPr i="0"/>
                <a:t>,</a:t>
              </a:r>
              <a:r>
                <a:t> s</a:t>
              </a:r>
              <a:r>
                <a:rPr i="0" baseline="-5999"/>
                <a:t>1</a:t>
              </a:r>
              <a:r>
                <a:rPr i="0"/>
                <a:t>, …, </a:t>
              </a:r>
              <a:r>
                <a:t>s</a:t>
              </a:r>
              <a:r>
                <a:rPr baseline="-5999"/>
                <a:t>n</a:t>
              </a:r>
              <a:r>
                <a:rPr i="0"/>
                <a:t>,</a:t>
              </a:r>
              <a:r>
                <a:t> f</a:t>
              </a:r>
              <a:r>
                <a:rPr i="0" baseline="-5999"/>
                <a:t>1</a:t>
              </a:r>
              <a:r>
                <a:rPr i="0"/>
                <a:t>, …, </a:t>
              </a:r>
              <a:r>
                <a:t>f</a:t>
              </a:r>
              <a:r>
                <a:rPr baseline="-5999"/>
                <a:t>n</a:t>
              </a:r>
              <a:r>
                <a:rPr i="0"/>
                <a:t>,</a:t>
              </a:r>
              <a:r>
                <a:t> w</a:t>
              </a:r>
              <a:r>
                <a:rPr i="0" baseline="-5999"/>
                <a:t>1</a:t>
              </a:r>
              <a:r>
                <a:rPr i="0"/>
                <a:t>, …, </a:t>
              </a:r>
              <a:r>
                <a:t>w</a:t>
              </a:r>
              <a:r>
                <a:rPr baseline="-5999"/>
                <a:t>n</a:t>
              </a:r>
              <a:r>
                <a:rPr i="0"/>
                <a:t>)</a:t>
              </a:r>
              <a:r>
                <a:t>                          </a:t>
              </a:r>
              <a:endParaRPr sz="100"/>
            </a:p>
            <a:p>
              <a:pPr algn="l">
                <a:lnSpc>
                  <a:spcPct val="100000"/>
                </a:lnSpc>
                <a:spcBef>
                  <a:spcPts val="1200"/>
                </a:spcBef>
                <a:defRPr sz="2400">
                  <a:solidFill>
                    <a:srgbClr val="000000"/>
                  </a:solidFill>
                  <a:latin typeface="Times"/>
                  <a:ea typeface="Times"/>
                  <a:cs typeface="Times"/>
                  <a:sym typeface="Times"/>
                </a:defRPr>
              </a:pPr>
              <a:r>
                <a:rPr sz="10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a:p>
              <a:pPr algn="l">
                <a:lnSpc>
                  <a:spcPct val="100000"/>
                </a:lnSpc>
                <a:spcBef>
                  <a:spcPts val="1200"/>
                </a:spcBef>
                <a:defRPr sz="2400">
                  <a:solidFill>
                    <a:srgbClr val="000000"/>
                  </a:solidFill>
                  <a:latin typeface="Times"/>
                  <a:ea typeface="Times"/>
                  <a:cs typeface="Times"/>
                  <a:sym typeface="Times"/>
                </a:defRPr>
              </a:pPr>
              <a:r>
                <a:t>Sort jobs by finish time and renumber so that  </a:t>
              </a:r>
              <a:r>
                <a:rPr i="1"/>
                <a:t>f</a:t>
              </a:r>
              <a:r>
                <a:rPr baseline="-5999"/>
                <a:t>1</a:t>
              </a:r>
              <a:r>
                <a:t>  ≤   </a:t>
              </a:r>
              <a:r>
                <a:rPr i="1"/>
                <a:t>f</a:t>
              </a:r>
              <a:r>
                <a:rPr baseline="-5999"/>
                <a:t>2  </a:t>
              </a:r>
              <a:r>
                <a:t> ≤  …  ≤  </a:t>
              </a:r>
              <a:r>
                <a:rPr i="1"/>
                <a:t> f</a:t>
              </a:r>
              <a:r>
                <a:rPr i="1" baseline="-5999"/>
                <a:t>n</a:t>
              </a:r>
              <a:r>
                <a:t>.</a:t>
              </a:r>
            </a:p>
            <a:p>
              <a:pPr algn="l">
                <a:lnSpc>
                  <a:spcPct val="100000"/>
                </a:lnSpc>
                <a:spcBef>
                  <a:spcPts val="1200"/>
                </a:spcBef>
                <a:defRPr sz="2400">
                  <a:solidFill>
                    <a:srgbClr val="000000"/>
                  </a:solidFill>
                  <a:latin typeface="Times"/>
                  <a:ea typeface="Times"/>
                  <a:cs typeface="Times"/>
                  <a:sym typeface="Times"/>
                </a:defRPr>
              </a:pPr>
              <a:r>
                <a:t>Compute  </a:t>
              </a:r>
              <a:r>
                <a:rPr i="1"/>
                <a:t>p</a:t>
              </a:r>
              <a:r>
                <a:t>[1], </a:t>
              </a:r>
              <a:r>
                <a:rPr i="1"/>
                <a:t>p</a:t>
              </a:r>
              <a:r>
                <a:t>[2], …, </a:t>
              </a:r>
              <a:r>
                <a:rPr i="1"/>
                <a:t>p</a:t>
              </a:r>
              <a:r>
                <a:t>[</a:t>
              </a:r>
              <a:r>
                <a:rPr i="1"/>
                <a:t>n</a:t>
              </a:r>
              <a:r>
                <a:t>] via binary search.</a:t>
              </a:r>
            </a:p>
            <a:p>
              <a:pPr algn="l">
                <a:lnSpc>
                  <a:spcPct val="100000"/>
                </a:lnSpc>
                <a:spcBef>
                  <a:spcPts val="1200"/>
                </a:spcBef>
                <a:buClrTx/>
                <a:buFontTx/>
                <a:defRPr sz="2400">
                  <a:solidFill>
                    <a:srgbClr val="000000"/>
                  </a:solidFill>
                  <a:latin typeface="Times"/>
                  <a:ea typeface="Times"/>
                  <a:cs typeface="Times"/>
                  <a:sym typeface="Times"/>
                </a:defRPr>
              </a:pPr>
              <a:r>
                <a:rPr i="1" spc="239"/>
                <a:t>M</a:t>
              </a:r>
              <a:r>
                <a:rPr spc="240"/>
                <a:t>[0</a:t>
              </a:r>
              <a:r>
                <a:t>] ← 0.</a:t>
              </a:r>
              <a:endParaRPr sz="100"/>
            </a:p>
            <a:p>
              <a:pPr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Return</a:t>
              </a:r>
              <a:r>
                <a:rPr i="1" cap="small">
                  <a:solidFill>
                    <a:srgbClr val="003F83"/>
                  </a:solidFill>
                </a:rPr>
                <a:t>  </a:t>
              </a:r>
              <a:r>
                <a:rPr cap="small"/>
                <a:t>M-Compute-Opt</a:t>
              </a:r>
              <a:r>
                <a:t>(</a:t>
              </a:r>
              <a:r>
                <a:rPr i="1"/>
                <a:t>n</a:t>
              </a:r>
              <a:r>
                <a:t>).</a:t>
              </a:r>
            </a:p>
          </p:txBody>
        </p:sp>
        <p:grpSp>
          <p:nvGrpSpPr>
            <p:cNvPr id="381" name="成组"/>
            <p:cNvGrpSpPr/>
            <p:nvPr/>
          </p:nvGrpSpPr>
          <p:grpSpPr>
            <a:xfrm>
              <a:off x="1842557" y="2037988"/>
              <a:ext cx="2344507" cy="297231"/>
              <a:chOff x="0" y="247426"/>
              <a:chExt cx="2344505" cy="297229"/>
            </a:xfrm>
          </p:grpSpPr>
          <p:sp>
            <p:nvSpPr>
              <p:cNvPr id="379" name="global array"/>
              <p:cNvSpPr txBox="1"/>
              <p:nvPr/>
            </p:nvSpPr>
            <p:spPr>
              <a:xfrm>
                <a:off x="800054" y="247426"/>
                <a:ext cx="1544452" cy="29723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noAutofit/>
              </a:bodyPr>
              <a:lstStyle>
                <a:lvl1pPr>
                  <a:lnSpc>
                    <a:spcPct val="140000"/>
                  </a:lnSpc>
                </a:lvl1pPr>
              </a:lstStyle>
              <a:p>
                <a:r>
                  <a:t>global array</a:t>
                </a:r>
              </a:p>
            </p:txBody>
          </p:sp>
          <p:sp>
            <p:nvSpPr>
              <p:cNvPr id="380" name="线条"/>
              <p:cNvSpPr/>
              <p:nvPr/>
            </p:nvSpPr>
            <p:spPr>
              <a:xfrm>
                <a:off x="0" y="386182"/>
                <a:ext cx="775002" cy="1"/>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37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37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37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37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2" nodeType="clickEffect">
                                  <p:stCondLst>
                                    <p:cond delay="0"/>
                                  </p:stCondLst>
                                  <p:iterate>
                                    <p:tmAbs val="0"/>
                                  </p:iterate>
                                  <p:childTnLst>
                                    <p:set>
                                      <p:cBhvr>
                                        <p:cTn id="20" fill="hold"/>
                                        <p:tgtEl>
                                          <p:spTgt spid="38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3" nodeType="clickEffect">
                                  <p:stCondLst>
                                    <p:cond delay="0"/>
                                  </p:stCondLst>
                                  <p:iterate>
                                    <p:tmAbs val="0"/>
                                  </p:iterate>
                                  <p:childTnLst>
                                    <p:set>
                                      <p:cBhvr>
                                        <p:cTn id="24" fill="hold"/>
                                        <p:tgtEl>
                                          <p:spTgt spid="3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 grpId="1" build="p" bldLvl="5" animBg="1" advAuto="0"/>
      <p:bldP spid="377" grpId="3" animBg="1" advAuto="0"/>
      <p:bldP spid="382" grpId="2"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385" name="Weighted interval scheduling:  running time"/>
          <p:cNvSpPr txBox="1">
            <a:spLocks noGrp="1"/>
          </p:cNvSpPr>
          <p:nvPr>
            <p:ph type="title"/>
          </p:nvPr>
        </p:nvSpPr>
        <p:spPr>
          <a:prstGeom prst="rect">
            <a:avLst/>
          </a:prstGeom>
        </p:spPr>
        <p:txBody>
          <a:bodyPr/>
          <a:lstStyle/>
          <a:p>
            <a:r>
              <a:t>Weighted interval scheduling:  running time</a:t>
            </a:r>
          </a:p>
        </p:txBody>
      </p:sp>
      <p:sp>
        <p:nvSpPr>
          <p:cNvPr id="386" name="Claim.  Memoized version of algorithm takes O(n log n) time.…"/>
          <p:cNvSpPr txBox="1">
            <a:spLocks noGrp="1"/>
          </p:cNvSpPr>
          <p:nvPr>
            <p:ph type="body" idx="1"/>
          </p:nvPr>
        </p:nvSpPr>
        <p:spPr>
          <a:prstGeom prst="rect">
            <a:avLst/>
          </a:prstGeom>
        </p:spPr>
        <p:txBody>
          <a:bodyPr/>
          <a:lstStyle/>
          <a:p>
            <a:r>
              <a:rPr dirty="0"/>
              <a:t>Claim.  </a:t>
            </a:r>
            <a:r>
              <a:rPr dirty="0" err="1">
                <a:solidFill>
                  <a:srgbClr val="000000"/>
                </a:solidFill>
              </a:rPr>
              <a:t>Memoized</a:t>
            </a:r>
            <a:r>
              <a:rPr dirty="0">
                <a:solidFill>
                  <a:srgbClr val="000000"/>
                </a:solidFill>
              </a:rPr>
              <a:t> version of algorithm takes </a:t>
            </a:r>
            <a:r>
              <a:rPr i="1" dirty="0">
                <a:solidFill>
                  <a:srgbClr val="000000"/>
                </a:solidFill>
                <a:latin typeface="Times"/>
                <a:ea typeface="Times"/>
                <a:cs typeface="Times"/>
                <a:sym typeface="Times"/>
              </a:rPr>
              <a:t>O</a:t>
            </a:r>
            <a:r>
              <a:rPr dirty="0">
                <a:solidFill>
                  <a:srgbClr val="000000"/>
                </a:solidFill>
                <a:latin typeface="Times"/>
                <a:ea typeface="Times"/>
                <a:cs typeface="Times"/>
                <a:sym typeface="Times"/>
              </a:rPr>
              <a:t>(</a:t>
            </a:r>
            <a:r>
              <a:rPr i="1" dirty="0">
                <a:solidFill>
                  <a:srgbClr val="000000"/>
                </a:solidFill>
                <a:latin typeface="Times"/>
                <a:ea typeface="Times"/>
                <a:cs typeface="Times"/>
                <a:sym typeface="Times"/>
              </a:rPr>
              <a:t>n</a:t>
            </a:r>
            <a:r>
              <a:rPr dirty="0">
                <a:solidFill>
                  <a:srgbClr val="000000"/>
                </a:solidFill>
                <a:latin typeface="Times"/>
                <a:ea typeface="Times"/>
                <a:cs typeface="Times"/>
                <a:sym typeface="Times"/>
              </a:rPr>
              <a:t> log </a:t>
            </a:r>
            <a:r>
              <a:rPr i="1" dirty="0">
                <a:solidFill>
                  <a:srgbClr val="000000"/>
                </a:solidFill>
                <a:latin typeface="Times"/>
                <a:ea typeface="Times"/>
                <a:cs typeface="Times"/>
                <a:sym typeface="Times"/>
              </a:rPr>
              <a:t>n</a:t>
            </a:r>
            <a:r>
              <a:rPr dirty="0">
                <a:solidFill>
                  <a:srgbClr val="000000"/>
                </a:solidFill>
                <a:latin typeface="Times"/>
                <a:ea typeface="Times"/>
                <a:cs typeface="Times"/>
                <a:sym typeface="Times"/>
              </a:rPr>
              <a:t>)</a:t>
            </a:r>
            <a:r>
              <a:rPr dirty="0">
                <a:solidFill>
                  <a:srgbClr val="000000"/>
                </a:solidFill>
              </a:rPr>
              <a:t> time.</a:t>
            </a:r>
          </a:p>
          <a:p>
            <a:r>
              <a:rPr dirty="0"/>
              <a:t>Pf.</a:t>
            </a:r>
          </a:p>
          <a:p>
            <a:pPr lvl="1"/>
            <a:r>
              <a:rPr dirty="0"/>
              <a:t>Sort by finish time:</a:t>
            </a:r>
            <a:r>
              <a:rPr lang="zh-CN" altLang="en-US" dirty="0"/>
              <a:t> 𝚹</a:t>
            </a:r>
            <a:r>
              <a:rPr dirty="0">
                <a:latin typeface="Times"/>
                <a:ea typeface="Times"/>
                <a:cs typeface="Times"/>
                <a:sym typeface="Times"/>
              </a:rPr>
              <a:t>(</a:t>
            </a:r>
            <a:r>
              <a:rPr i="1" dirty="0">
                <a:latin typeface="Times"/>
                <a:ea typeface="Times"/>
                <a:cs typeface="Times"/>
                <a:sym typeface="Times"/>
              </a:rPr>
              <a:t>n</a:t>
            </a:r>
            <a:r>
              <a:rPr dirty="0">
                <a:latin typeface="Times"/>
                <a:ea typeface="Times"/>
                <a:cs typeface="Times"/>
                <a:sym typeface="Times"/>
              </a:rPr>
              <a:t> log </a:t>
            </a:r>
            <a:r>
              <a:rPr i="1" dirty="0">
                <a:latin typeface="Times"/>
                <a:ea typeface="Times"/>
                <a:cs typeface="Times"/>
                <a:sym typeface="Times"/>
              </a:rPr>
              <a:t>n</a:t>
            </a:r>
            <a:r>
              <a:rPr dirty="0">
                <a:latin typeface="Times"/>
                <a:ea typeface="Times"/>
                <a:cs typeface="Times"/>
                <a:sym typeface="Times"/>
              </a:rPr>
              <a:t>)</a:t>
            </a:r>
            <a:r>
              <a:rPr dirty="0"/>
              <a:t> via merge</a:t>
            </a:r>
            <a:r>
              <a:rPr lang="zh-CN" altLang="en-US" dirty="0"/>
              <a:t> </a:t>
            </a:r>
            <a:r>
              <a:rPr dirty="0"/>
              <a:t>sort.</a:t>
            </a:r>
          </a:p>
          <a:p>
            <a:pPr lvl="1"/>
            <a:r>
              <a:rPr dirty="0"/>
              <a:t>Compute </a:t>
            </a:r>
            <a:r>
              <a:rPr i="1" dirty="0">
                <a:latin typeface="Times"/>
                <a:ea typeface="Times"/>
                <a:cs typeface="Times"/>
                <a:sym typeface="Times"/>
              </a:rPr>
              <a:t>p</a:t>
            </a:r>
            <a:r>
              <a:rPr spc="240" dirty="0">
                <a:latin typeface="Times"/>
                <a:ea typeface="Times"/>
                <a:cs typeface="Times"/>
                <a:sym typeface="Times"/>
              </a:rPr>
              <a:t>[</a:t>
            </a:r>
            <a:r>
              <a:rPr i="1" spc="239" dirty="0">
                <a:latin typeface="Times"/>
                <a:ea typeface="Times"/>
                <a:cs typeface="Times"/>
                <a:sym typeface="Times"/>
              </a:rPr>
              <a:t>j</a:t>
            </a:r>
            <a:r>
              <a:rPr dirty="0">
                <a:latin typeface="Times"/>
                <a:ea typeface="Times"/>
                <a:cs typeface="Times"/>
                <a:sym typeface="Times"/>
              </a:rPr>
              <a:t>] </a:t>
            </a:r>
            <a:r>
              <a:rPr dirty="0"/>
              <a:t>for each </a:t>
            </a:r>
            <a:r>
              <a:rPr i="1" dirty="0">
                <a:latin typeface="Times"/>
                <a:ea typeface="Times"/>
                <a:cs typeface="Times"/>
                <a:sym typeface="Times"/>
              </a:rPr>
              <a:t>j</a:t>
            </a:r>
            <a:r>
              <a:rPr spc="240" dirty="0">
                <a:latin typeface="Times"/>
                <a:ea typeface="Times"/>
                <a:cs typeface="Times"/>
                <a:sym typeface="Times"/>
              </a:rPr>
              <a:t> </a:t>
            </a:r>
            <a:r>
              <a:rPr dirty="0"/>
              <a:t>:  </a:t>
            </a:r>
            <a:r>
              <a:rPr i="1" dirty="0">
                <a:latin typeface="Times"/>
                <a:ea typeface="Times"/>
                <a:cs typeface="Times"/>
                <a:sym typeface="Times"/>
              </a:rPr>
              <a:t>O</a:t>
            </a:r>
            <a:r>
              <a:rPr dirty="0">
                <a:latin typeface="Times"/>
                <a:ea typeface="Times"/>
                <a:cs typeface="Times"/>
                <a:sym typeface="Times"/>
              </a:rPr>
              <a:t>(</a:t>
            </a:r>
            <a:r>
              <a:rPr i="1" dirty="0">
                <a:latin typeface="Times"/>
                <a:ea typeface="Times"/>
                <a:cs typeface="Times"/>
                <a:sym typeface="Times"/>
              </a:rPr>
              <a:t>n</a:t>
            </a:r>
            <a:r>
              <a:rPr dirty="0">
                <a:latin typeface="Times"/>
                <a:ea typeface="Times"/>
                <a:cs typeface="Times"/>
                <a:sym typeface="Times"/>
              </a:rPr>
              <a:t> log </a:t>
            </a:r>
            <a:r>
              <a:rPr i="1" dirty="0">
                <a:latin typeface="Times"/>
                <a:ea typeface="Times"/>
                <a:cs typeface="Times"/>
                <a:sym typeface="Times"/>
              </a:rPr>
              <a:t>n</a:t>
            </a:r>
            <a:r>
              <a:rPr dirty="0">
                <a:latin typeface="Times"/>
                <a:ea typeface="Times"/>
                <a:cs typeface="Times"/>
                <a:sym typeface="Times"/>
              </a:rPr>
              <a:t>)</a:t>
            </a:r>
            <a:r>
              <a:rPr dirty="0"/>
              <a:t> via binary search.</a:t>
            </a:r>
            <a:br>
              <a:rPr dirty="0"/>
            </a:br>
            <a:endParaRPr dirty="0"/>
          </a:p>
          <a:p>
            <a:pPr lvl="1"/>
            <a:r>
              <a:rPr cap="small" dirty="0">
                <a:latin typeface="Times"/>
                <a:ea typeface="Times"/>
                <a:cs typeface="Times"/>
                <a:sym typeface="Times"/>
              </a:rPr>
              <a:t>M-Compute-</a:t>
            </a:r>
            <a:r>
              <a:rPr cap="small" dirty="0" err="1">
                <a:latin typeface="Times"/>
                <a:ea typeface="Times"/>
                <a:cs typeface="Times"/>
                <a:sym typeface="Times"/>
              </a:rPr>
              <a:t>Opt</a:t>
            </a:r>
            <a:r>
              <a:rPr spc="240" dirty="0">
                <a:latin typeface="Times"/>
                <a:ea typeface="Times"/>
                <a:cs typeface="Times"/>
                <a:sym typeface="Times"/>
              </a:rPr>
              <a:t>(</a:t>
            </a:r>
            <a:r>
              <a:rPr i="1" spc="240" dirty="0">
                <a:latin typeface="Times"/>
                <a:ea typeface="Times"/>
                <a:cs typeface="Times"/>
                <a:sym typeface="Times"/>
              </a:rPr>
              <a:t>j</a:t>
            </a:r>
            <a:r>
              <a:rPr dirty="0">
                <a:latin typeface="Times"/>
                <a:ea typeface="Times"/>
                <a:cs typeface="Times"/>
                <a:sym typeface="Times"/>
              </a:rPr>
              <a:t>)</a:t>
            </a:r>
            <a:r>
              <a:rPr dirty="0"/>
              <a:t>:  each invocation takes </a:t>
            </a:r>
            <a:r>
              <a:rPr i="1" dirty="0">
                <a:latin typeface="Times"/>
                <a:ea typeface="Times"/>
                <a:cs typeface="Times"/>
                <a:sym typeface="Times"/>
              </a:rPr>
              <a:t>O</a:t>
            </a:r>
            <a:r>
              <a:rPr dirty="0">
                <a:latin typeface="Times"/>
                <a:ea typeface="Times"/>
                <a:cs typeface="Times"/>
                <a:sym typeface="Times"/>
              </a:rPr>
              <a:t>(1)</a:t>
            </a:r>
            <a:r>
              <a:rPr dirty="0"/>
              <a:t> time and either</a:t>
            </a:r>
          </a:p>
          <a:p>
            <a:pPr lvl="2"/>
            <a:r>
              <a:rPr dirty="0"/>
              <a:t>(1) returns an initialized value </a:t>
            </a:r>
            <a:r>
              <a:rPr i="1" spc="239" dirty="0">
                <a:latin typeface="Times"/>
                <a:ea typeface="Times"/>
                <a:cs typeface="Times"/>
                <a:sym typeface="Times"/>
              </a:rPr>
              <a:t>M</a:t>
            </a:r>
            <a:r>
              <a:rPr spc="239" dirty="0">
                <a:latin typeface="Times"/>
                <a:ea typeface="Times"/>
                <a:cs typeface="Times"/>
                <a:sym typeface="Times"/>
              </a:rPr>
              <a:t>[</a:t>
            </a:r>
            <a:r>
              <a:rPr i="1" spc="239" dirty="0">
                <a:latin typeface="Times"/>
                <a:ea typeface="Times"/>
                <a:cs typeface="Times"/>
                <a:sym typeface="Times"/>
              </a:rPr>
              <a:t>j</a:t>
            </a:r>
            <a:r>
              <a:rPr dirty="0">
                <a:latin typeface="Times"/>
                <a:ea typeface="Times"/>
                <a:cs typeface="Times"/>
                <a:sym typeface="Times"/>
              </a:rPr>
              <a:t>]</a:t>
            </a:r>
          </a:p>
          <a:p>
            <a:pPr lvl="2"/>
            <a:r>
              <a:rPr dirty="0"/>
              <a:t>(2) initializes </a:t>
            </a:r>
            <a:r>
              <a:rPr i="1" spc="239" dirty="0">
                <a:latin typeface="Times"/>
                <a:ea typeface="Times"/>
                <a:cs typeface="Times"/>
                <a:sym typeface="Times"/>
              </a:rPr>
              <a:t>M</a:t>
            </a:r>
            <a:r>
              <a:rPr spc="239" dirty="0">
                <a:latin typeface="Times"/>
                <a:ea typeface="Times"/>
                <a:cs typeface="Times"/>
                <a:sym typeface="Times"/>
              </a:rPr>
              <a:t>[</a:t>
            </a:r>
            <a:r>
              <a:rPr i="1" spc="239" dirty="0">
                <a:latin typeface="Times"/>
                <a:ea typeface="Times"/>
                <a:cs typeface="Times"/>
                <a:sym typeface="Times"/>
              </a:rPr>
              <a:t>j</a:t>
            </a:r>
            <a:r>
              <a:rPr dirty="0">
                <a:latin typeface="Times"/>
                <a:ea typeface="Times"/>
                <a:cs typeface="Times"/>
                <a:sym typeface="Times"/>
              </a:rPr>
              <a:t>]</a:t>
            </a:r>
            <a:r>
              <a:rPr dirty="0"/>
              <a:t> and makes two recursive calls</a:t>
            </a:r>
            <a:br>
              <a:rPr dirty="0"/>
            </a:br>
            <a:endParaRPr dirty="0"/>
          </a:p>
          <a:p>
            <a:pPr lvl="1"/>
            <a:r>
              <a:rPr dirty="0"/>
              <a:t>Progress measure </a:t>
            </a:r>
            <a:r>
              <a:rPr dirty="0" err="1">
                <a:latin typeface="Times"/>
                <a:ea typeface="Times"/>
                <a:cs typeface="Times"/>
                <a:sym typeface="Times"/>
              </a:rPr>
              <a:t>Φ</a:t>
            </a:r>
            <a:r>
              <a:rPr dirty="0">
                <a:latin typeface="Times"/>
                <a:ea typeface="Times"/>
                <a:cs typeface="Times"/>
                <a:sym typeface="Times"/>
              </a:rPr>
              <a:t> = #</a:t>
            </a:r>
            <a:r>
              <a:rPr dirty="0"/>
              <a:t> initialized entries among </a:t>
            </a:r>
            <a:r>
              <a:rPr i="1" spc="239" dirty="0">
                <a:latin typeface="Times"/>
                <a:ea typeface="Times"/>
                <a:cs typeface="Times"/>
                <a:sym typeface="Times"/>
              </a:rPr>
              <a:t>M</a:t>
            </a:r>
            <a:r>
              <a:rPr dirty="0">
                <a:latin typeface="Times"/>
                <a:ea typeface="Times"/>
                <a:cs typeface="Times"/>
                <a:sym typeface="Times"/>
              </a:rPr>
              <a:t>[</a:t>
            </a:r>
            <a:r>
              <a:rPr spc="239" dirty="0">
                <a:latin typeface="Times"/>
                <a:ea typeface="Times"/>
                <a:cs typeface="Times"/>
                <a:sym typeface="Times"/>
              </a:rPr>
              <a:t>1.</a:t>
            </a:r>
            <a:r>
              <a:rPr spc="432" dirty="0">
                <a:latin typeface="Times"/>
                <a:ea typeface="Times"/>
                <a:cs typeface="Times"/>
                <a:sym typeface="Times"/>
              </a:rPr>
              <a:t>.</a:t>
            </a:r>
            <a:r>
              <a:rPr i="1" spc="239" dirty="0">
                <a:latin typeface="Times"/>
                <a:ea typeface="Times"/>
                <a:cs typeface="Times"/>
                <a:sym typeface="Times"/>
              </a:rPr>
              <a:t>n</a:t>
            </a:r>
            <a:r>
              <a:rPr dirty="0">
                <a:latin typeface="Times"/>
                <a:ea typeface="Times"/>
                <a:cs typeface="Times"/>
                <a:sym typeface="Times"/>
              </a:rPr>
              <a:t>]</a:t>
            </a:r>
            <a:r>
              <a:rPr dirty="0"/>
              <a:t>.</a:t>
            </a:r>
          </a:p>
          <a:p>
            <a:pPr lvl="2"/>
            <a:r>
              <a:rPr dirty="0"/>
              <a:t>initially </a:t>
            </a:r>
            <a:r>
              <a:rPr dirty="0" err="1">
                <a:latin typeface="Times"/>
                <a:ea typeface="Times"/>
                <a:cs typeface="Times"/>
                <a:sym typeface="Times"/>
              </a:rPr>
              <a:t>Φ</a:t>
            </a:r>
            <a:r>
              <a:rPr dirty="0">
                <a:latin typeface="Times"/>
                <a:ea typeface="Times"/>
                <a:cs typeface="Times"/>
                <a:sym typeface="Times"/>
              </a:rPr>
              <a:t> = 0</a:t>
            </a:r>
            <a:r>
              <a:rPr dirty="0"/>
              <a:t>; throughout </a:t>
            </a:r>
            <a:r>
              <a:rPr dirty="0" err="1">
                <a:latin typeface="Times"/>
                <a:ea typeface="Times"/>
                <a:cs typeface="Times"/>
                <a:sym typeface="Times"/>
              </a:rPr>
              <a:t>Φ</a:t>
            </a:r>
            <a:r>
              <a:rPr dirty="0">
                <a:latin typeface="Times"/>
                <a:ea typeface="Times"/>
                <a:cs typeface="Times"/>
                <a:sym typeface="Times"/>
              </a:rPr>
              <a:t>  ≤  </a:t>
            </a:r>
            <a:r>
              <a:rPr i="1" dirty="0">
                <a:latin typeface="Times"/>
                <a:ea typeface="Times"/>
                <a:cs typeface="Times"/>
                <a:sym typeface="Times"/>
              </a:rPr>
              <a:t>n</a:t>
            </a:r>
            <a:r>
              <a:rPr dirty="0"/>
              <a:t>. </a:t>
            </a:r>
          </a:p>
          <a:p>
            <a:pPr lvl="2"/>
            <a:r>
              <a:rPr dirty="0"/>
              <a:t>increases </a:t>
            </a:r>
            <a:r>
              <a:rPr dirty="0" err="1">
                <a:latin typeface="Times"/>
                <a:ea typeface="Times"/>
                <a:cs typeface="Times"/>
                <a:sym typeface="Times"/>
              </a:rPr>
              <a:t>Φ</a:t>
            </a:r>
            <a:r>
              <a:rPr dirty="0"/>
              <a:t> by </a:t>
            </a:r>
            <a:r>
              <a:rPr dirty="0">
                <a:latin typeface="Times"/>
                <a:ea typeface="Times"/>
                <a:cs typeface="Times"/>
                <a:sym typeface="Times"/>
              </a:rPr>
              <a:t>1</a:t>
            </a:r>
            <a:r>
              <a:rPr dirty="0"/>
              <a:t>  </a:t>
            </a:r>
            <a:r>
              <a:rPr dirty="0">
                <a:latin typeface="Times"/>
                <a:ea typeface="Times"/>
                <a:cs typeface="Times"/>
                <a:sym typeface="Times"/>
              </a:rPr>
              <a:t>⇒</a:t>
            </a:r>
            <a:r>
              <a:rPr dirty="0"/>
              <a:t>  </a:t>
            </a:r>
            <a:r>
              <a:rPr dirty="0">
                <a:latin typeface="Times"/>
                <a:ea typeface="Times"/>
                <a:cs typeface="Times"/>
                <a:sym typeface="Times"/>
              </a:rPr>
              <a:t>≤</a:t>
            </a:r>
            <a:r>
              <a:rPr dirty="0"/>
              <a:t> </a:t>
            </a:r>
            <a:r>
              <a:rPr dirty="0">
                <a:latin typeface="Times"/>
                <a:ea typeface="Times"/>
                <a:cs typeface="Times"/>
                <a:sym typeface="Times"/>
              </a:rPr>
              <a:t>2</a:t>
            </a:r>
            <a:r>
              <a:rPr i="1" dirty="0">
                <a:latin typeface="Times"/>
                <a:ea typeface="Times"/>
                <a:cs typeface="Times"/>
                <a:sym typeface="Times"/>
              </a:rPr>
              <a:t>n</a:t>
            </a:r>
            <a:r>
              <a:rPr dirty="0"/>
              <a:t> recursive calls.</a:t>
            </a:r>
            <a:br>
              <a:rPr dirty="0"/>
            </a:br>
            <a:endParaRPr dirty="0"/>
          </a:p>
          <a:p>
            <a:pPr lvl="1"/>
            <a:r>
              <a:rPr dirty="0"/>
              <a:t>Overall running time of </a:t>
            </a:r>
            <a:r>
              <a:rPr cap="small" dirty="0">
                <a:latin typeface="Times"/>
                <a:ea typeface="Times"/>
                <a:cs typeface="Times"/>
                <a:sym typeface="Times"/>
              </a:rPr>
              <a:t>M-Compute-</a:t>
            </a:r>
            <a:r>
              <a:rPr cap="small" dirty="0" err="1">
                <a:latin typeface="Times"/>
                <a:ea typeface="Times"/>
                <a:cs typeface="Times"/>
                <a:sym typeface="Times"/>
              </a:rPr>
              <a:t>Opt</a:t>
            </a:r>
            <a:r>
              <a:rPr dirty="0">
                <a:latin typeface="Times"/>
                <a:ea typeface="Times"/>
                <a:cs typeface="Times"/>
                <a:sym typeface="Times"/>
              </a:rPr>
              <a:t>(</a:t>
            </a:r>
            <a:r>
              <a:rPr i="1" dirty="0">
                <a:latin typeface="Times"/>
                <a:ea typeface="Times"/>
                <a:cs typeface="Times"/>
                <a:sym typeface="Times"/>
              </a:rPr>
              <a:t>n</a:t>
            </a:r>
            <a:r>
              <a:rPr dirty="0">
                <a:latin typeface="Times"/>
                <a:ea typeface="Times"/>
                <a:cs typeface="Times"/>
                <a:sym typeface="Times"/>
              </a:rPr>
              <a:t>)</a:t>
            </a:r>
            <a:r>
              <a:rPr dirty="0"/>
              <a:t> is </a:t>
            </a:r>
            <a:r>
              <a:rPr i="1" dirty="0">
                <a:latin typeface="Times"/>
                <a:ea typeface="Times"/>
                <a:cs typeface="Times"/>
                <a:sym typeface="Times"/>
              </a:rPr>
              <a:t>O</a:t>
            </a:r>
            <a:r>
              <a:rPr dirty="0">
                <a:latin typeface="Times"/>
                <a:ea typeface="Times"/>
                <a:cs typeface="Times"/>
                <a:sym typeface="Times"/>
              </a:rPr>
              <a:t>(</a:t>
            </a:r>
            <a:r>
              <a:rPr i="1" dirty="0">
                <a:latin typeface="Times"/>
                <a:ea typeface="Times"/>
                <a:cs typeface="Times"/>
                <a:sym typeface="Times"/>
              </a:rPr>
              <a:t>n</a:t>
            </a:r>
            <a:r>
              <a:rPr dirty="0">
                <a:latin typeface="Times"/>
                <a:ea typeface="Times"/>
                <a:cs typeface="Times"/>
                <a:sym typeface="Times"/>
              </a:rPr>
              <a:t>)</a:t>
            </a:r>
            <a:r>
              <a:rPr dirty="0"/>
              <a:t>.   ▪</a:t>
            </a:r>
          </a:p>
        </p:txBody>
      </p:sp>
      <p:sp>
        <p:nvSpPr>
          <p:cNvPr id="387"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22</a:t>
            </a:fld>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392" name="Weighted interval scheduling:  finding a solution"/>
          <p:cNvSpPr txBox="1">
            <a:spLocks noGrp="1"/>
          </p:cNvSpPr>
          <p:nvPr>
            <p:ph type="title"/>
          </p:nvPr>
        </p:nvSpPr>
        <p:spPr>
          <a:prstGeom prst="rect">
            <a:avLst/>
          </a:prstGeom>
        </p:spPr>
        <p:txBody>
          <a:bodyPr/>
          <a:lstStyle/>
          <a:p>
            <a:r>
              <a:t>Weighted interval scheduling:  finding a solution</a:t>
            </a:r>
          </a:p>
        </p:txBody>
      </p:sp>
      <p:sp>
        <p:nvSpPr>
          <p:cNvPr id="393" name="Q.  DP algorithm computes optimal value. How to find optimal solution?…"/>
          <p:cNvSpPr txBox="1">
            <a:spLocks noGrp="1"/>
          </p:cNvSpPr>
          <p:nvPr>
            <p:ph type="body" idx="1"/>
          </p:nvPr>
        </p:nvSpPr>
        <p:spPr>
          <a:prstGeom prst="rect">
            <a:avLst/>
          </a:prstGeom>
        </p:spPr>
        <p:txBody>
          <a:bodyPr/>
          <a:lstStyle/>
          <a:p>
            <a:r>
              <a:t>Q.  </a:t>
            </a:r>
            <a:r>
              <a:rPr>
                <a:solidFill>
                  <a:srgbClr val="000000"/>
                </a:solidFill>
              </a:rPr>
              <a:t>DP algorithm computes optimal value. How to find optimal solution?</a:t>
            </a:r>
          </a:p>
          <a:p>
            <a:r>
              <a:t>A.  </a:t>
            </a:r>
            <a:r>
              <a:rPr>
                <a:solidFill>
                  <a:srgbClr val="000000"/>
                </a:solidFill>
              </a:rPr>
              <a:t>Make a second pass by calling </a:t>
            </a:r>
            <a:r>
              <a:rPr cap="small">
                <a:solidFill>
                  <a:srgbClr val="000000"/>
                </a:solidFill>
                <a:latin typeface="Times"/>
                <a:ea typeface="Times"/>
                <a:cs typeface="Times"/>
                <a:sym typeface="Times"/>
              </a:rPr>
              <a:t>Find-Solution</a:t>
            </a:r>
            <a:r>
              <a:rPr>
                <a:solidFill>
                  <a:srgbClr val="000000"/>
                </a:solidFill>
                <a:latin typeface="Times"/>
                <a:ea typeface="Times"/>
                <a:cs typeface="Times"/>
                <a:sym typeface="Times"/>
              </a:rPr>
              <a:t>(</a:t>
            </a:r>
            <a:r>
              <a:rPr i="1">
                <a:solidFill>
                  <a:srgbClr val="000000"/>
                </a:solidFill>
                <a:latin typeface="Times"/>
                <a:ea typeface="Times"/>
                <a:cs typeface="Times"/>
                <a:sym typeface="Times"/>
              </a:rPr>
              <a:t>n</a:t>
            </a:r>
            <a:r>
              <a:rPr>
                <a:solidFill>
                  <a:srgbClr val="000000"/>
                </a:solidFill>
                <a:latin typeface="Times"/>
                <a:ea typeface="Times"/>
                <a:cs typeface="Times"/>
                <a:sym typeface="Times"/>
              </a:rPr>
              <a:t>)</a:t>
            </a:r>
            <a:r>
              <a:rPr>
                <a:solidFill>
                  <a:srgbClr val="000000"/>
                </a:solidFill>
              </a:rPr>
              <a:t>.</a:t>
            </a:r>
          </a:p>
          <a:p>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r>
              <a:t>Analysis.</a:t>
            </a:r>
            <a:r>
              <a:rPr>
                <a:solidFill>
                  <a:srgbClr val="000000"/>
                </a:solidFill>
              </a:rPr>
              <a:t>  # of recursive calls </a:t>
            </a:r>
            <a:r>
              <a:rPr>
                <a:solidFill>
                  <a:srgbClr val="000000"/>
                </a:solidFill>
                <a:latin typeface="Times"/>
                <a:ea typeface="Times"/>
                <a:cs typeface="Times"/>
                <a:sym typeface="Times"/>
              </a:rPr>
              <a:t>≤ </a:t>
            </a:r>
            <a:r>
              <a:rPr i="1">
                <a:solidFill>
                  <a:srgbClr val="000000"/>
                </a:solidFill>
                <a:latin typeface="Times"/>
                <a:ea typeface="Times"/>
                <a:cs typeface="Times"/>
                <a:sym typeface="Times"/>
              </a:rPr>
              <a:t>n</a:t>
            </a:r>
            <a:r>
              <a:rPr>
                <a:solidFill>
                  <a:srgbClr val="000000"/>
                </a:solidFill>
                <a:latin typeface="Times"/>
                <a:ea typeface="Times"/>
                <a:cs typeface="Times"/>
                <a:sym typeface="Times"/>
              </a:rPr>
              <a:t>  ⇒  </a:t>
            </a:r>
            <a:r>
              <a:rPr i="1">
                <a:solidFill>
                  <a:srgbClr val="000000"/>
                </a:solidFill>
                <a:latin typeface="Times"/>
                <a:ea typeface="Times"/>
                <a:cs typeface="Times"/>
                <a:sym typeface="Times"/>
              </a:rPr>
              <a:t>O</a:t>
            </a:r>
            <a:r>
              <a:rPr>
                <a:solidFill>
                  <a:srgbClr val="000000"/>
                </a:solidFill>
                <a:latin typeface="Times"/>
                <a:ea typeface="Times"/>
                <a:cs typeface="Times"/>
                <a:sym typeface="Times"/>
              </a:rPr>
              <a:t>(</a:t>
            </a:r>
            <a:r>
              <a:rPr i="1">
                <a:solidFill>
                  <a:srgbClr val="000000"/>
                </a:solidFill>
                <a:latin typeface="Times"/>
                <a:ea typeface="Times"/>
                <a:cs typeface="Times"/>
                <a:sym typeface="Times"/>
              </a:rPr>
              <a:t>n</a:t>
            </a:r>
            <a:r>
              <a:rPr>
                <a:solidFill>
                  <a:srgbClr val="000000"/>
                </a:solidFill>
                <a:latin typeface="Times"/>
                <a:ea typeface="Times"/>
                <a:cs typeface="Times"/>
                <a:sym typeface="Times"/>
              </a:rPr>
              <a:t>)</a:t>
            </a:r>
            <a:r>
              <a:rPr>
                <a:solidFill>
                  <a:srgbClr val="000000"/>
                </a:solidFill>
              </a:rPr>
              <a:t>.</a:t>
            </a:r>
          </a:p>
        </p:txBody>
      </p:sp>
      <p:sp>
        <p:nvSpPr>
          <p:cNvPr id="394"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23</a:t>
            </a:fld>
            <a:endParaRPr/>
          </a:p>
        </p:txBody>
      </p:sp>
      <p:sp>
        <p:nvSpPr>
          <p:cNvPr id="395" name="Find-Solution(j)…"/>
          <p:cNvSpPr txBox="1"/>
          <p:nvPr/>
        </p:nvSpPr>
        <p:spPr>
          <a:xfrm>
            <a:off x="3157120" y="2659539"/>
            <a:ext cx="6509993" cy="4276677"/>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92100" tIns="292100" rIns="292100" bIns="292100">
            <a:spAutoFit/>
          </a:bodyPr>
          <a:lstStyle/>
          <a:p>
            <a:pPr algn="l">
              <a:lnSpc>
                <a:spcPct val="100000"/>
              </a:lnSpc>
              <a:spcBef>
                <a:spcPts val="1200"/>
              </a:spcBef>
              <a:defRPr sz="2400" i="1">
                <a:solidFill>
                  <a:srgbClr val="000000"/>
                </a:solidFill>
                <a:latin typeface="Times"/>
                <a:ea typeface="Times"/>
                <a:cs typeface="Times"/>
                <a:sym typeface="Times"/>
              </a:defRPr>
            </a:pPr>
            <a:r>
              <a:rPr i="0" cap="small">
                <a:solidFill>
                  <a:srgbClr val="003F83"/>
                </a:solidFill>
              </a:rPr>
              <a:t>Find-Solution</a:t>
            </a:r>
            <a:r>
              <a:rPr i="0" spc="240"/>
              <a:t>(</a:t>
            </a:r>
            <a:r>
              <a:rPr spc="240"/>
              <a:t>j</a:t>
            </a:r>
            <a:r>
              <a:rPr i="0"/>
              <a:t>)</a:t>
            </a:r>
            <a:r>
              <a:t>  </a:t>
            </a:r>
            <a:endParaRPr sz="100"/>
          </a:p>
          <a:p>
            <a:pPr algn="l">
              <a:lnSpc>
                <a:spcPct val="100000"/>
              </a:lnSpc>
              <a:spcBef>
                <a:spcPts val="1200"/>
              </a:spcBef>
              <a:defRPr sz="2400">
                <a:solidFill>
                  <a:srgbClr val="000000"/>
                </a:solidFill>
                <a:latin typeface="Times"/>
                <a:ea typeface="Times"/>
                <a:cs typeface="Times"/>
                <a:sym typeface="Times"/>
              </a:defRPr>
            </a:pPr>
            <a:r>
              <a:rPr sz="10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If</a:t>
            </a:r>
            <a:r>
              <a:rPr i="1" cap="small">
                <a:solidFill>
                  <a:srgbClr val="003F83"/>
                </a:solidFill>
              </a:rPr>
              <a:t>  </a:t>
            </a:r>
            <a:r>
              <a:t>(</a:t>
            </a:r>
            <a:r>
              <a:rPr i="1"/>
              <a:t>j</a:t>
            </a:r>
            <a:r>
              <a:t> = 0)</a:t>
            </a:r>
          </a:p>
          <a:p>
            <a:pPr lvl="1"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Return</a:t>
            </a:r>
            <a:r>
              <a:rPr i="1" cap="small">
                <a:solidFill>
                  <a:srgbClr val="003F83"/>
                </a:solidFill>
              </a:rPr>
              <a:t>  </a:t>
            </a:r>
            <a:r>
              <a:rPr sz="2200"/>
              <a:t>∅</a:t>
            </a:r>
            <a:r>
              <a:t>.</a:t>
            </a: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Else if</a:t>
            </a:r>
            <a:r>
              <a:rPr i="1" cap="small">
                <a:solidFill>
                  <a:srgbClr val="003F83"/>
                </a:solidFill>
              </a:rPr>
              <a:t>  </a:t>
            </a:r>
            <a:r>
              <a:rPr cap="small">
                <a:solidFill>
                  <a:srgbClr val="003F83"/>
                </a:solidFill>
              </a:rPr>
              <a:t>(</a:t>
            </a:r>
            <a:r>
              <a:rPr i="1"/>
              <a:t>w</a:t>
            </a:r>
            <a:r>
              <a:rPr i="1" baseline="-5999"/>
              <a:t>j</a:t>
            </a:r>
            <a:r>
              <a:rPr i="1" baseline="31999"/>
              <a:t> </a:t>
            </a:r>
            <a:r>
              <a:t> + </a:t>
            </a:r>
            <a:r>
              <a:rPr i="1" spc="239"/>
              <a:t>M</a:t>
            </a:r>
            <a:r>
              <a:rPr spc="240"/>
              <a:t>[</a:t>
            </a:r>
            <a:r>
              <a:rPr i="1"/>
              <a:t>p</a:t>
            </a:r>
            <a:r>
              <a:rPr spc="240"/>
              <a:t>[</a:t>
            </a:r>
            <a:r>
              <a:rPr i="1" spc="240"/>
              <a:t>j</a:t>
            </a:r>
            <a:r>
              <a:t>]]  &gt;  </a:t>
            </a:r>
            <a:r>
              <a:rPr i="1" spc="239"/>
              <a:t>M</a:t>
            </a:r>
            <a:r>
              <a:t>[</a:t>
            </a:r>
            <a:r>
              <a:rPr baseline="-5999"/>
              <a:t> </a:t>
            </a:r>
            <a:r>
              <a:rPr i="1"/>
              <a:t>j</a:t>
            </a:r>
            <a:r>
              <a:rPr i="1" baseline="31999"/>
              <a:t> </a:t>
            </a:r>
            <a:r>
              <a:t>–</a:t>
            </a:r>
            <a:r>
              <a:rPr i="1" baseline="31999"/>
              <a:t> </a:t>
            </a:r>
            <a:r>
              <a:t>1])</a:t>
            </a:r>
          </a:p>
          <a:p>
            <a:pPr lvl="1"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Return</a:t>
            </a:r>
            <a:r>
              <a:rPr i="1" cap="small">
                <a:solidFill>
                  <a:srgbClr val="003F83"/>
                </a:solidFill>
              </a:rPr>
              <a:t>  </a:t>
            </a:r>
            <a:r>
              <a:t>{ </a:t>
            </a:r>
            <a:r>
              <a:rPr i="1"/>
              <a:t>j</a:t>
            </a:r>
            <a:r>
              <a:t> } ∪  </a:t>
            </a:r>
            <a:r>
              <a:rPr cap="small"/>
              <a:t>Find-Solution</a:t>
            </a:r>
            <a:r>
              <a:t>(</a:t>
            </a:r>
            <a:r>
              <a:rPr i="1"/>
              <a:t>p</a:t>
            </a:r>
            <a:r>
              <a:rPr spc="240"/>
              <a:t>[</a:t>
            </a:r>
            <a:r>
              <a:rPr i="1" spc="240"/>
              <a:t>j</a:t>
            </a:r>
            <a:r>
              <a:t>]).</a:t>
            </a: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Else</a:t>
            </a:r>
            <a:endParaRPr i="1" cap="small">
              <a:solidFill>
                <a:srgbClr val="003F83"/>
              </a:solidFill>
            </a:endParaRPr>
          </a:p>
          <a:p>
            <a:pPr lvl="1"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Return</a:t>
            </a:r>
            <a:r>
              <a:rPr i="1" cap="small">
                <a:solidFill>
                  <a:srgbClr val="003F83"/>
                </a:solidFill>
              </a:rPr>
              <a:t>  </a:t>
            </a:r>
            <a:r>
              <a:rPr cap="small"/>
              <a:t>Find-Solution</a:t>
            </a:r>
            <a:r>
              <a:t>(</a:t>
            </a:r>
            <a:r>
              <a:rPr baseline="-5999"/>
              <a:t> </a:t>
            </a:r>
            <a:r>
              <a:rPr i="1"/>
              <a:t>j</a:t>
            </a:r>
            <a:r>
              <a:rPr i="1" baseline="31999"/>
              <a:t> </a:t>
            </a:r>
            <a:r>
              <a:t>–</a:t>
            </a:r>
            <a:r>
              <a:rPr i="1" baseline="31999"/>
              <a:t> </a:t>
            </a:r>
            <a:r>
              <a:t>1).</a:t>
            </a:r>
          </a:p>
        </p:txBody>
      </p:sp>
      <p:sp>
        <p:nvSpPr>
          <p:cNvPr id="396" name="M[j] = max { M[j – 1],  wj  + M[p[j]]  }."/>
          <p:cNvSpPr txBox="1"/>
          <p:nvPr/>
        </p:nvSpPr>
        <p:spPr>
          <a:xfrm>
            <a:off x="3901157" y="7127510"/>
            <a:ext cx="5039371" cy="4699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lgn="l">
              <a:lnSpc>
                <a:spcPct val="100000"/>
              </a:lnSpc>
              <a:spcBef>
                <a:spcPts val="1200"/>
              </a:spcBef>
              <a:buClrTx/>
              <a:buFontTx/>
              <a:defRPr sz="2400">
                <a:solidFill>
                  <a:srgbClr val="000000"/>
                </a:solidFill>
                <a:latin typeface="Times"/>
                <a:ea typeface="Times"/>
                <a:cs typeface="Times"/>
                <a:sym typeface="Times"/>
              </a:defRPr>
            </a:pPr>
            <a:r>
              <a:rPr i="1" spc="239"/>
              <a:t>M</a:t>
            </a:r>
            <a:r>
              <a:rPr spc="240"/>
              <a:t>[</a:t>
            </a:r>
            <a:r>
              <a:rPr i="1" spc="240"/>
              <a:t>j</a:t>
            </a:r>
            <a:r>
              <a:t>] = max { </a:t>
            </a:r>
            <a:r>
              <a:rPr i="1"/>
              <a:t>M</a:t>
            </a:r>
            <a:r>
              <a:t>[</a:t>
            </a:r>
            <a:r>
              <a:rPr i="1"/>
              <a:t>j</a:t>
            </a:r>
            <a:r>
              <a:rPr i="1" baseline="31999"/>
              <a:t> </a:t>
            </a:r>
            <a:r>
              <a:t>–</a:t>
            </a:r>
            <a:r>
              <a:rPr i="1" baseline="31999"/>
              <a:t> </a:t>
            </a:r>
            <a:r>
              <a:t>1],  </a:t>
            </a:r>
            <a:r>
              <a:rPr i="1"/>
              <a:t>w</a:t>
            </a:r>
            <a:r>
              <a:rPr i="1" baseline="-5999"/>
              <a:t>j</a:t>
            </a:r>
            <a:r>
              <a:rPr i="1" baseline="31999"/>
              <a:t> </a:t>
            </a:r>
            <a:r>
              <a:t> + </a:t>
            </a:r>
            <a:r>
              <a:rPr i="1" cap="small"/>
              <a:t>M</a:t>
            </a:r>
            <a:r>
              <a:rPr cap="small"/>
              <a:t>[</a:t>
            </a:r>
            <a:r>
              <a:rPr i="1"/>
              <a:t>p</a:t>
            </a:r>
            <a:r>
              <a:rPr spc="240"/>
              <a:t>[</a:t>
            </a:r>
            <a:r>
              <a:rPr i="1" spc="240"/>
              <a:t>j</a:t>
            </a:r>
            <a:r>
              <a:t>]]  }.</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401" name="Weighted interval scheduling:  bottom-up dynamic programming"/>
          <p:cNvSpPr txBox="1">
            <a:spLocks noGrp="1"/>
          </p:cNvSpPr>
          <p:nvPr>
            <p:ph type="title"/>
          </p:nvPr>
        </p:nvSpPr>
        <p:spPr>
          <a:prstGeom prst="rect">
            <a:avLst/>
          </a:prstGeom>
        </p:spPr>
        <p:txBody>
          <a:bodyPr/>
          <a:lstStyle/>
          <a:p>
            <a:r>
              <a:t>Weighted interval scheduling:  bottom-up dynamic programming</a:t>
            </a:r>
          </a:p>
        </p:txBody>
      </p:sp>
      <p:sp>
        <p:nvSpPr>
          <p:cNvPr id="402" name="Bottom-up dynamic programming.  Unwind recursion.…"/>
          <p:cNvSpPr txBox="1">
            <a:spLocks noGrp="1"/>
          </p:cNvSpPr>
          <p:nvPr>
            <p:ph type="body" idx="1"/>
          </p:nvPr>
        </p:nvSpPr>
        <p:spPr>
          <a:prstGeom prst="rect">
            <a:avLst/>
          </a:prstGeom>
        </p:spPr>
        <p:txBody>
          <a:bodyPr/>
          <a:lstStyle/>
          <a:p>
            <a:r>
              <a:t>Bottom-up dynamic programming.  </a:t>
            </a:r>
            <a:r>
              <a:rPr>
                <a:solidFill>
                  <a:srgbClr val="000000"/>
                </a:solidFill>
              </a:rPr>
              <a:t>Unwind recursion.</a:t>
            </a:r>
          </a:p>
          <a:p>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br>
              <a:rPr>
                <a:solidFill>
                  <a:srgbClr val="000000"/>
                </a:solidFill>
              </a:rPr>
            </a:br>
            <a:r>
              <a:t>Running time.  </a:t>
            </a:r>
            <a:r>
              <a:rPr>
                <a:solidFill>
                  <a:srgbClr val="000000"/>
                </a:solidFill>
              </a:rPr>
              <a:t>The bottom-up version takes </a:t>
            </a:r>
            <a:r>
              <a:rPr i="1">
                <a:solidFill>
                  <a:srgbClr val="000000"/>
                </a:solidFill>
                <a:latin typeface="Times"/>
                <a:ea typeface="Times"/>
                <a:cs typeface="Times"/>
                <a:sym typeface="Times"/>
              </a:rPr>
              <a:t>O</a:t>
            </a:r>
            <a:r>
              <a:rPr>
                <a:solidFill>
                  <a:srgbClr val="000000"/>
                </a:solidFill>
                <a:latin typeface="Times"/>
                <a:ea typeface="Times"/>
                <a:cs typeface="Times"/>
                <a:sym typeface="Times"/>
              </a:rPr>
              <a:t>(</a:t>
            </a:r>
            <a:r>
              <a:rPr i="1">
                <a:solidFill>
                  <a:srgbClr val="000000"/>
                </a:solidFill>
                <a:latin typeface="Times"/>
                <a:ea typeface="Times"/>
                <a:cs typeface="Times"/>
                <a:sym typeface="Times"/>
              </a:rPr>
              <a:t>n</a:t>
            </a:r>
            <a:r>
              <a:rPr>
                <a:solidFill>
                  <a:srgbClr val="000000"/>
                </a:solidFill>
                <a:latin typeface="Times"/>
                <a:ea typeface="Times"/>
                <a:cs typeface="Times"/>
                <a:sym typeface="Times"/>
              </a:rPr>
              <a:t> log </a:t>
            </a:r>
            <a:r>
              <a:rPr i="1">
                <a:solidFill>
                  <a:srgbClr val="000000"/>
                </a:solidFill>
                <a:latin typeface="Times"/>
                <a:ea typeface="Times"/>
                <a:cs typeface="Times"/>
                <a:sym typeface="Times"/>
              </a:rPr>
              <a:t>n</a:t>
            </a:r>
            <a:r>
              <a:rPr>
                <a:solidFill>
                  <a:srgbClr val="000000"/>
                </a:solidFill>
                <a:latin typeface="Times"/>
                <a:ea typeface="Times"/>
                <a:cs typeface="Times"/>
                <a:sym typeface="Times"/>
              </a:rPr>
              <a:t>)</a:t>
            </a:r>
            <a:r>
              <a:rPr>
                <a:solidFill>
                  <a:srgbClr val="000000"/>
                </a:solidFill>
              </a:rPr>
              <a:t> time.</a:t>
            </a:r>
          </a:p>
        </p:txBody>
      </p:sp>
      <p:sp>
        <p:nvSpPr>
          <p:cNvPr id="403"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24</a:t>
            </a:fld>
            <a:endParaRPr/>
          </a:p>
        </p:txBody>
      </p:sp>
      <p:sp>
        <p:nvSpPr>
          <p:cNvPr id="404" name="Bottom-Up(n, s1, …, sn, f1, …, fn, w1, …, wn)…"/>
          <p:cNvSpPr txBox="1"/>
          <p:nvPr/>
        </p:nvSpPr>
        <p:spPr>
          <a:xfrm>
            <a:off x="2032000" y="3009900"/>
            <a:ext cx="8940800" cy="4081066"/>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92100" tIns="292100" rIns="292100" bIns="292100">
            <a:spAutoFit/>
          </a:bodyPr>
          <a:lstStyle/>
          <a:p>
            <a:pPr algn="l">
              <a:lnSpc>
                <a:spcPct val="100000"/>
              </a:lnSpc>
              <a:spcBef>
                <a:spcPts val="1200"/>
              </a:spcBef>
              <a:defRPr sz="2400" i="1">
                <a:solidFill>
                  <a:srgbClr val="000000"/>
                </a:solidFill>
                <a:latin typeface="Times"/>
                <a:ea typeface="Times"/>
                <a:cs typeface="Times"/>
                <a:sym typeface="Times"/>
              </a:defRPr>
            </a:pPr>
            <a:r>
              <a:rPr i="0" cap="small">
                <a:solidFill>
                  <a:srgbClr val="003F83"/>
                </a:solidFill>
              </a:rPr>
              <a:t>Bottom-Up</a:t>
            </a:r>
            <a:r>
              <a:rPr i="0"/>
              <a:t>(</a:t>
            </a:r>
            <a:r>
              <a:t>n</a:t>
            </a:r>
            <a:r>
              <a:rPr i="0"/>
              <a:t>, </a:t>
            </a:r>
            <a:r>
              <a:t>s</a:t>
            </a:r>
            <a:r>
              <a:rPr i="0" baseline="-5999"/>
              <a:t>1</a:t>
            </a:r>
            <a:r>
              <a:rPr i="0"/>
              <a:t>, …, </a:t>
            </a:r>
            <a:r>
              <a:t>s</a:t>
            </a:r>
            <a:r>
              <a:rPr baseline="-5999"/>
              <a:t>n</a:t>
            </a:r>
            <a:r>
              <a:rPr i="0"/>
              <a:t>, </a:t>
            </a:r>
            <a:r>
              <a:t>f</a:t>
            </a:r>
            <a:r>
              <a:rPr i="0" baseline="-5999"/>
              <a:t>1</a:t>
            </a:r>
            <a:r>
              <a:rPr i="0"/>
              <a:t>, …, </a:t>
            </a:r>
            <a:r>
              <a:t>f</a:t>
            </a:r>
            <a:r>
              <a:rPr baseline="-5999"/>
              <a:t>n</a:t>
            </a:r>
            <a:r>
              <a:rPr i="0"/>
              <a:t>, </a:t>
            </a:r>
            <a:r>
              <a:t>w</a:t>
            </a:r>
            <a:r>
              <a:rPr i="0" baseline="-5999"/>
              <a:t>1</a:t>
            </a:r>
            <a:r>
              <a:rPr i="0"/>
              <a:t>, …, </a:t>
            </a:r>
            <a:r>
              <a:t>w</a:t>
            </a:r>
            <a:r>
              <a:rPr baseline="-5999"/>
              <a:t>n</a:t>
            </a:r>
            <a:r>
              <a:rPr i="0"/>
              <a:t>)</a:t>
            </a:r>
            <a:r>
              <a:t>                          </a:t>
            </a:r>
            <a:endParaRPr sz="100"/>
          </a:p>
          <a:p>
            <a:pPr algn="l">
              <a:lnSpc>
                <a:spcPct val="100000"/>
              </a:lnSpc>
              <a:spcBef>
                <a:spcPts val="1200"/>
              </a:spcBef>
              <a:defRPr sz="2400">
                <a:solidFill>
                  <a:srgbClr val="000000"/>
                </a:solidFill>
                <a:latin typeface="Times"/>
                <a:ea typeface="Times"/>
                <a:cs typeface="Times"/>
                <a:sym typeface="Times"/>
              </a:defRPr>
            </a:pPr>
            <a:r>
              <a:rPr sz="10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a:p>
            <a:pPr algn="l">
              <a:lnSpc>
                <a:spcPct val="100000"/>
              </a:lnSpc>
              <a:spcBef>
                <a:spcPts val="1200"/>
              </a:spcBef>
              <a:defRPr sz="2400">
                <a:solidFill>
                  <a:srgbClr val="000000"/>
                </a:solidFill>
                <a:latin typeface="Times"/>
                <a:ea typeface="Times"/>
                <a:cs typeface="Times"/>
                <a:sym typeface="Times"/>
              </a:defRPr>
            </a:pPr>
            <a:r>
              <a:t>Sort jobs by finish time and renumber so that  </a:t>
            </a:r>
            <a:r>
              <a:rPr i="1"/>
              <a:t>f</a:t>
            </a:r>
            <a:r>
              <a:rPr baseline="-5999"/>
              <a:t>1</a:t>
            </a:r>
            <a:r>
              <a:t>  ≤   </a:t>
            </a:r>
            <a:r>
              <a:rPr i="1"/>
              <a:t>f</a:t>
            </a:r>
            <a:r>
              <a:rPr baseline="-5999"/>
              <a:t>2  </a:t>
            </a:r>
            <a:r>
              <a:t> ≤  …  ≤  </a:t>
            </a:r>
            <a:r>
              <a:rPr i="1"/>
              <a:t> f</a:t>
            </a:r>
            <a:r>
              <a:rPr i="1" baseline="-5999"/>
              <a:t>n</a:t>
            </a:r>
            <a:r>
              <a:t>.</a:t>
            </a:r>
          </a:p>
          <a:p>
            <a:pPr algn="l">
              <a:lnSpc>
                <a:spcPct val="100000"/>
              </a:lnSpc>
              <a:spcBef>
                <a:spcPts val="1200"/>
              </a:spcBef>
              <a:defRPr sz="2400">
                <a:solidFill>
                  <a:srgbClr val="000000"/>
                </a:solidFill>
                <a:latin typeface="Times"/>
                <a:ea typeface="Times"/>
                <a:cs typeface="Times"/>
                <a:sym typeface="Times"/>
              </a:defRPr>
            </a:pPr>
            <a:r>
              <a:t>Compute  </a:t>
            </a:r>
            <a:r>
              <a:rPr i="1"/>
              <a:t>p</a:t>
            </a:r>
            <a:r>
              <a:t>[1], </a:t>
            </a:r>
            <a:r>
              <a:rPr i="1"/>
              <a:t>p</a:t>
            </a:r>
            <a:r>
              <a:t>[2], …, </a:t>
            </a:r>
            <a:r>
              <a:rPr i="1"/>
              <a:t>p</a:t>
            </a:r>
            <a:r>
              <a:t>[</a:t>
            </a:r>
            <a:r>
              <a:rPr i="1"/>
              <a:t>n</a:t>
            </a:r>
            <a:r>
              <a:t>].</a:t>
            </a:r>
          </a:p>
          <a:p>
            <a:pPr algn="l">
              <a:lnSpc>
                <a:spcPct val="100000"/>
              </a:lnSpc>
              <a:spcBef>
                <a:spcPts val="1200"/>
              </a:spcBef>
              <a:defRPr sz="2400">
                <a:solidFill>
                  <a:srgbClr val="000000"/>
                </a:solidFill>
                <a:latin typeface="Times"/>
                <a:ea typeface="Times"/>
                <a:cs typeface="Times"/>
                <a:sym typeface="Times"/>
              </a:defRPr>
            </a:pPr>
            <a:r>
              <a:rPr i="1" spc="239"/>
              <a:t>M</a:t>
            </a:r>
            <a:r>
              <a:rPr spc="240"/>
              <a:t>[0</a:t>
            </a:r>
            <a:r>
              <a:t>] ← 0.</a:t>
            </a: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For</a:t>
            </a:r>
            <a:r>
              <a:rPr i="1" cap="small">
                <a:solidFill>
                  <a:srgbClr val="003F83"/>
                </a:solidFill>
              </a:rPr>
              <a:t> </a:t>
            </a:r>
            <a:r>
              <a:rPr i="1"/>
              <a:t>j</a:t>
            </a:r>
            <a:r>
              <a:t> = 1 </a:t>
            </a:r>
            <a:r>
              <a:rPr cap="small">
                <a:solidFill>
                  <a:srgbClr val="003F83"/>
                </a:solidFill>
              </a:rPr>
              <a:t>to</a:t>
            </a:r>
            <a:r>
              <a:t> </a:t>
            </a:r>
            <a:r>
              <a:rPr i="1"/>
              <a:t>n</a:t>
            </a:r>
          </a:p>
          <a:p>
            <a:pPr lvl="1" algn="l">
              <a:lnSpc>
                <a:spcPct val="100000"/>
              </a:lnSpc>
              <a:spcBef>
                <a:spcPts val="1200"/>
              </a:spcBef>
              <a:buClrTx/>
              <a:buFontTx/>
              <a:defRPr sz="2400">
                <a:solidFill>
                  <a:srgbClr val="000000"/>
                </a:solidFill>
                <a:latin typeface="Times"/>
                <a:ea typeface="Times"/>
                <a:cs typeface="Times"/>
                <a:sym typeface="Times"/>
              </a:defRPr>
            </a:pPr>
            <a:r>
              <a:rPr i="1" spc="239"/>
              <a:t>M</a:t>
            </a:r>
            <a:r>
              <a:rPr spc="240"/>
              <a:t>[</a:t>
            </a:r>
            <a:r>
              <a:rPr i="1" spc="240"/>
              <a:t>j</a:t>
            </a:r>
            <a:r>
              <a:t>] ←  max { </a:t>
            </a:r>
            <a:r>
              <a:rPr i="1" spc="239"/>
              <a:t>M</a:t>
            </a:r>
            <a:r>
              <a:t>[</a:t>
            </a:r>
            <a:r>
              <a:rPr baseline="-5999"/>
              <a:t> </a:t>
            </a:r>
            <a:r>
              <a:rPr i="1"/>
              <a:t>j</a:t>
            </a:r>
            <a:r>
              <a:rPr i="1" baseline="31999"/>
              <a:t> </a:t>
            </a:r>
            <a:r>
              <a:t>–</a:t>
            </a:r>
            <a:r>
              <a:rPr i="1" baseline="31999"/>
              <a:t> </a:t>
            </a:r>
            <a:r>
              <a:t>1],  </a:t>
            </a:r>
            <a:r>
              <a:rPr i="1"/>
              <a:t>w</a:t>
            </a:r>
            <a:r>
              <a:rPr i="1" baseline="-5999"/>
              <a:t>j</a:t>
            </a:r>
            <a:r>
              <a:rPr i="1" baseline="31999"/>
              <a:t> </a:t>
            </a:r>
            <a:r>
              <a:t> + </a:t>
            </a:r>
            <a:r>
              <a:rPr i="1" spc="239"/>
              <a:t>M</a:t>
            </a:r>
            <a:r>
              <a:rPr spc="240"/>
              <a:t>[</a:t>
            </a:r>
            <a:r>
              <a:rPr i="1"/>
              <a:t>p</a:t>
            </a:r>
            <a:r>
              <a:rPr spc="240"/>
              <a:t>[</a:t>
            </a:r>
            <a:r>
              <a:rPr i="1" spc="240"/>
              <a:t>j</a:t>
            </a:r>
            <a:r>
              <a:t>]]  }.</a:t>
            </a:r>
          </a:p>
          <a:p>
            <a:pPr algn="l">
              <a:lnSpc>
                <a:spcPct val="100000"/>
              </a:lnSpc>
              <a:spcBef>
                <a:spcPts val="1200"/>
              </a:spcBef>
              <a:defRPr sz="2400">
                <a:solidFill>
                  <a:srgbClr val="000000"/>
                </a:solidFill>
                <a:latin typeface="Times"/>
                <a:ea typeface="Times"/>
                <a:cs typeface="Times"/>
                <a:sym typeface="Times"/>
              </a:defRPr>
            </a:pPr>
            <a:r>
              <a:rPr sz="10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p:txBody>
      </p:sp>
      <p:grpSp>
        <p:nvGrpSpPr>
          <p:cNvPr id="407" name="成组"/>
          <p:cNvGrpSpPr/>
          <p:nvPr/>
        </p:nvGrpSpPr>
        <p:grpSpPr>
          <a:xfrm>
            <a:off x="5530850" y="5126611"/>
            <a:ext cx="2316256" cy="1270001"/>
            <a:chOff x="213822" y="0"/>
            <a:chExt cx="2316255" cy="1270000"/>
          </a:xfrm>
        </p:grpSpPr>
        <p:sp>
          <p:nvSpPr>
            <p:cNvPr id="405" name="previously computed values"/>
            <p:cNvSpPr/>
            <p:nvPr/>
          </p:nvSpPr>
          <p:spPr>
            <a:xfrm>
              <a:off x="1260078" y="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lnSpc>
                  <a:spcPct val="140000"/>
                </a:lnSpc>
              </a:lvl1pPr>
            </a:lstStyle>
            <a:p>
              <a:r>
                <a:t>previously computed values</a:t>
              </a:r>
            </a:p>
          </p:txBody>
        </p:sp>
        <p:sp>
          <p:nvSpPr>
            <p:cNvPr id="406" name="线条"/>
            <p:cNvSpPr/>
            <p:nvPr/>
          </p:nvSpPr>
          <p:spPr>
            <a:xfrm flipV="1">
              <a:off x="213822" y="298591"/>
              <a:ext cx="351528" cy="486219"/>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408" name="线条"/>
          <p:cNvSpPr/>
          <p:nvPr/>
        </p:nvSpPr>
        <p:spPr>
          <a:xfrm flipH="1" flipV="1">
            <a:off x="6538407" y="5425202"/>
            <a:ext cx="351528" cy="486219"/>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线条"/>
          <p:cNvSpPr/>
          <p:nvPr/>
        </p:nvSpPr>
        <p:spPr>
          <a:xfrm flipV="1">
            <a:off x="825500" y="990492"/>
            <a:ext cx="11366500" cy="108"/>
          </a:xfrm>
          <a:prstGeom prst="line">
            <a:avLst/>
          </a:prstGeom>
          <a:ln w="12700">
            <a:solidFill>
              <a:srgbClr val="000000"/>
            </a:solidFill>
          </a:ln>
        </p:spPr>
        <p:txBody>
          <a:bodyPr lIns="0" tIns="0" rIns="0" bIns="0"/>
          <a:lstStyle/>
          <a:p>
            <a:pPr algn="l" defTabSz="457200">
              <a:lnSpc>
                <a:spcPct val="100000"/>
              </a:lnSpc>
              <a:buClrTx/>
              <a:buFontTx/>
              <a:tabLst/>
              <a:defRPr sz="1200">
                <a:solidFill>
                  <a:srgbClr val="000000"/>
                </a:solidFill>
              </a:defRPr>
            </a:pPr>
            <a:endParaRPr/>
          </a:p>
        </p:txBody>
      </p:sp>
      <p:sp>
        <p:nvSpPr>
          <p:cNvPr id="413" name="House coloring problem"/>
          <p:cNvSpPr txBox="1">
            <a:spLocks noGrp="1"/>
          </p:cNvSpPr>
          <p:nvPr>
            <p:ph type="title"/>
          </p:nvPr>
        </p:nvSpPr>
        <p:spPr>
          <a:prstGeom prst="rect">
            <a:avLst/>
          </a:prstGeom>
        </p:spPr>
        <p:txBody>
          <a:bodyPr/>
          <a:lstStyle/>
          <a:p>
            <a:r>
              <a:t>House coloring problem</a:t>
            </a:r>
          </a:p>
        </p:txBody>
      </p:sp>
      <p:sp>
        <p:nvSpPr>
          <p:cNvPr id="414" name="Goal.  Paint a row of n houses red, green, or blue so that…"/>
          <p:cNvSpPr txBox="1">
            <a:spLocks noGrp="1"/>
          </p:cNvSpPr>
          <p:nvPr>
            <p:ph type="body" idx="1"/>
          </p:nvPr>
        </p:nvSpPr>
        <p:spPr>
          <a:prstGeom prst="rect">
            <a:avLst/>
          </a:prstGeom>
        </p:spPr>
        <p:txBody>
          <a:bodyPr/>
          <a:lstStyle/>
          <a:p>
            <a:r>
              <a:t>Goal.  </a:t>
            </a:r>
            <a:r>
              <a:rPr>
                <a:solidFill>
                  <a:srgbClr val="000000"/>
                </a:solidFill>
                <a:uFill>
                  <a:solidFill>
                    <a:srgbClr val="000000"/>
                  </a:solidFill>
                </a:uFill>
              </a:rPr>
              <a:t>Paint a row of </a:t>
            </a:r>
            <a:r>
              <a:rPr i="1">
                <a:solidFill>
                  <a:srgbClr val="000000"/>
                </a:solidFill>
                <a:uFill>
                  <a:solidFill>
                    <a:srgbClr val="000000"/>
                  </a:solidFill>
                </a:uFill>
                <a:latin typeface="Times"/>
                <a:ea typeface="Times"/>
                <a:cs typeface="Times"/>
                <a:sym typeface="Times"/>
              </a:rPr>
              <a:t>n</a:t>
            </a:r>
            <a:r>
              <a:rPr>
                <a:solidFill>
                  <a:srgbClr val="000000"/>
                </a:solidFill>
                <a:uFill>
                  <a:solidFill>
                    <a:srgbClr val="000000"/>
                  </a:solidFill>
                </a:uFill>
              </a:rPr>
              <a:t> houses red, green, or blue so that</a:t>
            </a:r>
          </a:p>
          <a:p>
            <a:pPr lvl="1"/>
            <a:r>
              <a:t>No two adjacent houses have the same color.</a:t>
            </a:r>
          </a:p>
          <a:p>
            <a:pPr lvl="1"/>
            <a:r>
              <a:t>Minimize total cost, where </a:t>
            </a:r>
            <a:r>
              <a:rPr i="1">
                <a:latin typeface="Times"/>
                <a:ea typeface="Times"/>
                <a:cs typeface="Times"/>
                <a:sym typeface="Times"/>
              </a:rPr>
              <a:t>cost</a:t>
            </a:r>
            <a:r>
              <a:rPr>
                <a:latin typeface="Times"/>
                <a:ea typeface="Times"/>
                <a:cs typeface="Times"/>
                <a:sym typeface="Times"/>
              </a:rPr>
              <a:t>(</a:t>
            </a:r>
            <a:r>
              <a:rPr i="1">
                <a:latin typeface="Times"/>
                <a:ea typeface="Times"/>
                <a:cs typeface="Times"/>
                <a:sym typeface="Times"/>
              </a:rPr>
              <a:t>i</a:t>
            </a:r>
            <a:r>
              <a:rPr>
                <a:latin typeface="Times"/>
                <a:ea typeface="Times"/>
                <a:cs typeface="Times"/>
                <a:sym typeface="Times"/>
              </a:rPr>
              <a:t>, </a:t>
            </a:r>
            <a:r>
              <a:rPr i="1">
                <a:latin typeface="Times"/>
                <a:ea typeface="Times"/>
                <a:cs typeface="Times"/>
                <a:sym typeface="Times"/>
              </a:rPr>
              <a:t>color</a:t>
            </a:r>
            <a:r>
              <a:rPr>
                <a:latin typeface="Times"/>
                <a:ea typeface="Times"/>
                <a:cs typeface="Times"/>
                <a:sym typeface="Times"/>
              </a:rPr>
              <a:t>)</a:t>
            </a:r>
            <a:r>
              <a:t> is cost to paint </a:t>
            </a:r>
            <a:r>
              <a:rPr i="1">
                <a:latin typeface="Times"/>
                <a:ea typeface="Times"/>
                <a:cs typeface="Times"/>
                <a:sym typeface="Times"/>
              </a:rPr>
              <a:t>i</a:t>
            </a:r>
            <a:r>
              <a:t> given color.</a:t>
            </a:r>
          </a:p>
        </p:txBody>
      </p:sp>
      <p:sp>
        <p:nvSpPr>
          <p:cNvPr id="415"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25</a:t>
            </a:fld>
            <a:endParaRPr/>
          </a:p>
        </p:txBody>
      </p:sp>
      <p:pic>
        <p:nvPicPr>
          <p:cNvPr id="416" name="interview-white.pdf" descr="interview-white.pdf"/>
          <p:cNvPicPr>
            <a:picLocks noChangeAspect="1"/>
          </p:cNvPicPr>
          <p:nvPr/>
        </p:nvPicPr>
        <p:blipFill>
          <a:blip r:embed="rId3"/>
          <a:stretch>
            <a:fillRect/>
          </a:stretch>
        </p:blipFill>
        <p:spPr>
          <a:xfrm>
            <a:off x="11493500" y="382872"/>
            <a:ext cx="687389" cy="468505"/>
          </a:xfrm>
          <a:prstGeom prst="rect">
            <a:avLst/>
          </a:prstGeom>
          <a:ln w="12700">
            <a:miter lim="400000"/>
          </a:ln>
        </p:spPr>
      </p:pic>
      <p:pic>
        <p:nvPicPr>
          <p:cNvPr id="417" name="blue-house.pdf" descr="blue-house.pdf"/>
          <p:cNvPicPr>
            <a:picLocks noChangeAspect="1"/>
          </p:cNvPicPr>
          <p:nvPr/>
        </p:nvPicPr>
        <p:blipFill>
          <a:blip r:embed="rId4"/>
          <a:stretch>
            <a:fillRect/>
          </a:stretch>
        </p:blipFill>
        <p:spPr>
          <a:xfrm>
            <a:off x="5207000" y="4140200"/>
            <a:ext cx="1270000" cy="1204311"/>
          </a:xfrm>
          <a:prstGeom prst="rect">
            <a:avLst/>
          </a:prstGeom>
          <a:ln w="12700"/>
        </p:spPr>
      </p:pic>
      <p:pic>
        <p:nvPicPr>
          <p:cNvPr id="418" name="green-house.pdf" descr="green-house.pdf"/>
          <p:cNvPicPr>
            <a:picLocks noChangeAspect="1"/>
          </p:cNvPicPr>
          <p:nvPr/>
        </p:nvPicPr>
        <p:blipFill>
          <a:blip r:embed="rId5"/>
          <a:stretch>
            <a:fillRect/>
          </a:stretch>
        </p:blipFill>
        <p:spPr>
          <a:xfrm>
            <a:off x="1955800" y="4140200"/>
            <a:ext cx="1270000" cy="1204311"/>
          </a:xfrm>
          <a:prstGeom prst="rect">
            <a:avLst/>
          </a:prstGeom>
          <a:ln w="12700"/>
        </p:spPr>
      </p:pic>
      <p:pic>
        <p:nvPicPr>
          <p:cNvPr id="419" name="red-house.pdf" descr="red-house.pdf"/>
          <p:cNvPicPr>
            <a:picLocks noChangeAspect="1"/>
          </p:cNvPicPr>
          <p:nvPr/>
        </p:nvPicPr>
        <p:blipFill>
          <a:blip r:embed="rId6"/>
          <a:stretch>
            <a:fillRect/>
          </a:stretch>
        </p:blipFill>
        <p:spPr>
          <a:xfrm>
            <a:off x="3581400" y="4140200"/>
            <a:ext cx="1270000" cy="1204311"/>
          </a:xfrm>
          <a:prstGeom prst="rect">
            <a:avLst/>
          </a:prstGeom>
          <a:ln w="12700"/>
        </p:spPr>
      </p:pic>
      <p:pic>
        <p:nvPicPr>
          <p:cNvPr id="420" name="blue-house.pdf" descr="blue-house.pdf"/>
          <p:cNvPicPr>
            <a:picLocks noChangeAspect="1"/>
          </p:cNvPicPr>
          <p:nvPr/>
        </p:nvPicPr>
        <p:blipFill>
          <a:blip r:embed="rId4"/>
          <a:stretch>
            <a:fillRect/>
          </a:stretch>
        </p:blipFill>
        <p:spPr>
          <a:xfrm>
            <a:off x="8458200" y="4140200"/>
            <a:ext cx="1270000" cy="1204311"/>
          </a:xfrm>
          <a:prstGeom prst="rect">
            <a:avLst/>
          </a:prstGeom>
          <a:ln w="12700"/>
        </p:spPr>
      </p:pic>
      <p:pic>
        <p:nvPicPr>
          <p:cNvPr id="421" name="red-house.pdf" descr="red-house.pdf"/>
          <p:cNvPicPr>
            <a:picLocks noChangeAspect="1"/>
          </p:cNvPicPr>
          <p:nvPr/>
        </p:nvPicPr>
        <p:blipFill>
          <a:blip r:embed="rId6"/>
          <a:stretch>
            <a:fillRect/>
          </a:stretch>
        </p:blipFill>
        <p:spPr>
          <a:xfrm>
            <a:off x="6832600" y="4140200"/>
            <a:ext cx="1270000" cy="1204311"/>
          </a:xfrm>
          <a:prstGeom prst="rect">
            <a:avLst/>
          </a:prstGeom>
          <a:ln w="12700"/>
        </p:spPr>
      </p:pic>
      <p:pic>
        <p:nvPicPr>
          <p:cNvPr id="422" name="green-house.pdf" descr="green-house.pdf"/>
          <p:cNvPicPr>
            <a:picLocks noChangeAspect="1"/>
          </p:cNvPicPr>
          <p:nvPr/>
        </p:nvPicPr>
        <p:blipFill>
          <a:blip r:embed="rId5"/>
          <a:stretch>
            <a:fillRect/>
          </a:stretch>
        </p:blipFill>
        <p:spPr>
          <a:xfrm>
            <a:off x="10083800" y="4140200"/>
            <a:ext cx="1270000" cy="1204311"/>
          </a:xfrm>
          <a:prstGeom prst="rect">
            <a:avLst/>
          </a:prstGeom>
          <a:ln w="12700"/>
        </p:spPr>
      </p:pic>
      <p:graphicFrame>
        <p:nvGraphicFramePr>
          <p:cNvPr id="423" name="表格"/>
          <p:cNvGraphicFramePr/>
          <p:nvPr/>
        </p:nvGraphicFramePr>
        <p:xfrm>
          <a:off x="1054100" y="6003925"/>
          <a:ext cx="10477498" cy="2324099"/>
        </p:xfrm>
        <a:graphic>
          <a:graphicData uri="http://schemas.openxmlformats.org/drawingml/2006/table">
            <a:tbl>
              <a:tblPr firstRow="1">
                <a:tableStyleId>{8F44A2F1-9E1F-4B54-A3A2-5F16C0AD49E2}</a:tableStyleId>
              </a:tblPr>
              <a:tblGrid>
                <a:gridCol w="743812">
                  <a:extLst>
                    <a:ext uri="{9D8B030D-6E8A-4147-A177-3AD203B41FA5}">
                      <a16:colId xmlns:a16="http://schemas.microsoft.com/office/drawing/2014/main" val="20000"/>
                    </a:ext>
                  </a:extLst>
                </a:gridCol>
                <a:gridCol w="1622281">
                  <a:extLst>
                    <a:ext uri="{9D8B030D-6E8A-4147-A177-3AD203B41FA5}">
                      <a16:colId xmlns:a16="http://schemas.microsoft.com/office/drawing/2014/main" val="20001"/>
                    </a:ext>
                  </a:extLst>
                </a:gridCol>
                <a:gridCol w="1622281">
                  <a:extLst>
                    <a:ext uri="{9D8B030D-6E8A-4147-A177-3AD203B41FA5}">
                      <a16:colId xmlns:a16="http://schemas.microsoft.com/office/drawing/2014/main" val="20002"/>
                    </a:ext>
                  </a:extLst>
                </a:gridCol>
                <a:gridCol w="1622281">
                  <a:extLst>
                    <a:ext uri="{9D8B030D-6E8A-4147-A177-3AD203B41FA5}">
                      <a16:colId xmlns:a16="http://schemas.microsoft.com/office/drawing/2014/main" val="20003"/>
                    </a:ext>
                  </a:extLst>
                </a:gridCol>
                <a:gridCol w="1622281">
                  <a:extLst>
                    <a:ext uri="{9D8B030D-6E8A-4147-A177-3AD203B41FA5}">
                      <a16:colId xmlns:a16="http://schemas.microsoft.com/office/drawing/2014/main" val="20004"/>
                    </a:ext>
                  </a:extLst>
                </a:gridCol>
                <a:gridCol w="1622281">
                  <a:extLst>
                    <a:ext uri="{9D8B030D-6E8A-4147-A177-3AD203B41FA5}">
                      <a16:colId xmlns:a16="http://schemas.microsoft.com/office/drawing/2014/main" val="20005"/>
                    </a:ext>
                  </a:extLst>
                </a:gridCol>
                <a:gridCol w="1622281">
                  <a:extLst>
                    <a:ext uri="{9D8B030D-6E8A-4147-A177-3AD203B41FA5}">
                      <a16:colId xmlns:a16="http://schemas.microsoft.com/office/drawing/2014/main" val="20006"/>
                    </a:ext>
                  </a:extLst>
                </a:gridCol>
              </a:tblGrid>
              <a:tr h="585800">
                <a:tc>
                  <a:txBody>
                    <a:bodyPr/>
                    <a:lstStyle/>
                    <a:p>
                      <a:pPr marL="58702" marR="58702" defTabSz="1295400">
                        <a:lnSpc>
                          <a:spcPct val="130000"/>
                        </a:lnSpc>
                        <a:tabLst/>
                        <a:defRPr sz="2000">
                          <a:uFill>
                            <a:solidFill>
                              <a:srgbClr val="000000"/>
                            </a:solidFill>
                          </a:uFill>
                        </a:defRPr>
                      </a:pPr>
                      <a:endParaRPr/>
                    </a:p>
                  </a:txBody>
                  <a:tcPr marL="50800" marR="50800" marT="50800" marB="50800" anchor="ctr" horzOverflow="overflow">
                    <a:lnL w="28575">
                      <a:miter lim="400000"/>
                    </a:lnL>
                    <a:noFill/>
                  </a:tcPr>
                </a:tc>
                <a:tc>
                  <a:txBody>
                    <a:bodyPr/>
                    <a:lstStyle/>
                    <a:p>
                      <a:pPr marL="58702" marR="58702" defTabSz="1295400">
                        <a:lnSpc>
                          <a:spcPct val="130000"/>
                        </a:lnSpc>
                        <a:tabLst/>
                        <a:defRPr sz="1800">
                          <a:solidFill>
                            <a:srgbClr val="000000"/>
                          </a:solidFill>
                        </a:defRPr>
                      </a:pPr>
                      <a:r>
                        <a:rPr sz="2000">
                          <a:solidFill>
                            <a:srgbClr val="FFFFFF"/>
                          </a:solidFill>
                          <a:uFill>
                            <a:solidFill>
                              <a:srgbClr val="000000"/>
                            </a:solidFill>
                          </a:uFill>
                        </a:rPr>
                        <a:t>A</a:t>
                      </a:r>
                    </a:p>
                  </a:txBody>
                  <a:tcPr marL="50800" marR="50800" marT="50800" marB="50800" anchor="ctr" horzOverflow="overflow">
                    <a:solidFill>
                      <a:srgbClr val="000000"/>
                    </a:solidFill>
                  </a:tcPr>
                </a:tc>
                <a:tc>
                  <a:txBody>
                    <a:bodyPr/>
                    <a:lstStyle/>
                    <a:p>
                      <a:pPr marL="58702" marR="58702" defTabSz="1295400">
                        <a:lnSpc>
                          <a:spcPct val="130000"/>
                        </a:lnSpc>
                        <a:tabLst/>
                        <a:defRPr sz="1800">
                          <a:solidFill>
                            <a:srgbClr val="000000"/>
                          </a:solidFill>
                        </a:defRPr>
                      </a:pPr>
                      <a:r>
                        <a:rPr sz="2000">
                          <a:solidFill>
                            <a:srgbClr val="FFFFFF"/>
                          </a:solidFill>
                          <a:uFill>
                            <a:solidFill>
                              <a:srgbClr val="000000"/>
                            </a:solidFill>
                          </a:uFill>
                        </a:rPr>
                        <a:t>B</a:t>
                      </a:r>
                    </a:p>
                  </a:txBody>
                  <a:tcPr marL="50800" marR="50800" marT="50800" marB="50800" anchor="ctr" horzOverflow="overflow">
                    <a:solidFill>
                      <a:srgbClr val="000000"/>
                    </a:solidFill>
                  </a:tcPr>
                </a:tc>
                <a:tc>
                  <a:txBody>
                    <a:bodyPr/>
                    <a:lstStyle/>
                    <a:p>
                      <a:pPr marL="58702" marR="58702" defTabSz="1295400">
                        <a:lnSpc>
                          <a:spcPct val="130000"/>
                        </a:lnSpc>
                        <a:tabLst/>
                        <a:defRPr sz="1800">
                          <a:solidFill>
                            <a:srgbClr val="000000"/>
                          </a:solidFill>
                        </a:defRPr>
                      </a:pPr>
                      <a:r>
                        <a:rPr sz="2000">
                          <a:solidFill>
                            <a:srgbClr val="FFFFFF"/>
                          </a:solidFill>
                          <a:uFill>
                            <a:solidFill>
                              <a:srgbClr val="000000"/>
                            </a:solidFill>
                          </a:uFill>
                        </a:rPr>
                        <a:t>C</a:t>
                      </a:r>
                    </a:p>
                  </a:txBody>
                  <a:tcPr marL="50800" marR="50800" marT="50800" marB="50800" anchor="ctr" horzOverflow="overflow">
                    <a:solidFill>
                      <a:srgbClr val="000000"/>
                    </a:solidFill>
                  </a:tcPr>
                </a:tc>
                <a:tc>
                  <a:txBody>
                    <a:bodyPr/>
                    <a:lstStyle/>
                    <a:p>
                      <a:pPr marL="58702" marR="58702" defTabSz="1295400">
                        <a:lnSpc>
                          <a:spcPct val="130000"/>
                        </a:lnSpc>
                        <a:tabLst/>
                        <a:defRPr sz="1800">
                          <a:solidFill>
                            <a:srgbClr val="000000"/>
                          </a:solidFill>
                        </a:defRPr>
                      </a:pPr>
                      <a:r>
                        <a:rPr sz="2000">
                          <a:solidFill>
                            <a:srgbClr val="FFFFFF"/>
                          </a:solidFill>
                          <a:uFill>
                            <a:solidFill>
                              <a:srgbClr val="000000"/>
                            </a:solidFill>
                          </a:uFill>
                        </a:rPr>
                        <a:t>D</a:t>
                      </a:r>
                    </a:p>
                  </a:txBody>
                  <a:tcPr marL="50800" marR="50800" marT="50800" marB="50800" anchor="ctr" horzOverflow="overflow">
                    <a:solidFill>
                      <a:srgbClr val="000000"/>
                    </a:solidFill>
                  </a:tcPr>
                </a:tc>
                <a:tc>
                  <a:txBody>
                    <a:bodyPr/>
                    <a:lstStyle/>
                    <a:p>
                      <a:pPr marL="58702" marR="58702" defTabSz="1295400">
                        <a:lnSpc>
                          <a:spcPct val="130000"/>
                        </a:lnSpc>
                        <a:tabLst/>
                        <a:defRPr sz="1800">
                          <a:solidFill>
                            <a:srgbClr val="000000"/>
                          </a:solidFill>
                        </a:defRPr>
                      </a:pPr>
                      <a:r>
                        <a:rPr sz="2000">
                          <a:solidFill>
                            <a:srgbClr val="FFFFFF"/>
                          </a:solidFill>
                          <a:uFill>
                            <a:solidFill>
                              <a:srgbClr val="000000"/>
                            </a:solidFill>
                          </a:uFill>
                        </a:rPr>
                        <a:t>E</a:t>
                      </a:r>
                    </a:p>
                  </a:txBody>
                  <a:tcPr marL="50800" marR="50800" marT="50800" marB="50800" anchor="ctr" horzOverflow="overflow">
                    <a:solidFill>
                      <a:srgbClr val="000000"/>
                    </a:solidFill>
                  </a:tcPr>
                </a:tc>
                <a:tc>
                  <a:txBody>
                    <a:bodyPr/>
                    <a:lstStyle/>
                    <a:p>
                      <a:pPr marL="58702" marR="58702" defTabSz="1295400">
                        <a:lnSpc>
                          <a:spcPct val="130000"/>
                        </a:lnSpc>
                        <a:tabLst/>
                        <a:defRPr sz="1800">
                          <a:solidFill>
                            <a:srgbClr val="000000"/>
                          </a:solidFill>
                        </a:defRPr>
                      </a:pPr>
                      <a:r>
                        <a:rPr sz="2000">
                          <a:solidFill>
                            <a:srgbClr val="FFFFFF"/>
                          </a:solidFill>
                          <a:uFill>
                            <a:solidFill>
                              <a:srgbClr val="000000"/>
                            </a:solidFill>
                          </a:uFill>
                        </a:rPr>
                        <a:t>F</a:t>
                      </a:r>
                    </a:p>
                  </a:txBody>
                  <a:tcPr marL="50800" marR="50800" marT="50800" marB="50800" anchor="ctr" horzOverflow="overflow">
                    <a:lnR w="28575">
                      <a:miter lim="400000"/>
                    </a:lnR>
                    <a:solidFill>
                      <a:srgbClr val="000000"/>
                    </a:solidFill>
                  </a:tcPr>
                </a:tc>
                <a:extLst>
                  <a:ext uri="{0D108BD9-81ED-4DB2-BD59-A6C34878D82A}">
                    <a16:rowId xmlns:a16="http://schemas.microsoft.com/office/drawing/2014/main" val="10000"/>
                  </a:ext>
                </a:extLst>
              </a:tr>
              <a:tr h="579433">
                <a:tc>
                  <a:txBody>
                    <a:bodyPr/>
                    <a:lstStyle/>
                    <a:p>
                      <a:pPr marL="58702" marR="58702" defTabSz="1295400">
                        <a:lnSpc>
                          <a:spcPct val="130000"/>
                        </a:lnSpc>
                        <a:tabLst/>
                        <a:defRPr sz="2000">
                          <a:solidFill>
                            <a:srgbClr val="8D3124"/>
                          </a:solidFill>
                          <a:uFill>
                            <a:solidFill>
                              <a:srgbClr val="000000"/>
                            </a:solidFill>
                          </a:uFill>
                        </a:defRPr>
                      </a:pPr>
                      <a:endParaRPr/>
                    </a:p>
                  </a:txBody>
                  <a:tcPr marL="50800" marR="50800" marT="50800" marB="50800" anchor="ctr" horzOverflow="overflow">
                    <a:lnL w="28575">
                      <a:miter lim="400000"/>
                    </a:lnL>
                    <a:solidFill>
                      <a:srgbClr val="A11D21"/>
                    </a:solidFill>
                  </a:tcPr>
                </a:tc>
                <a:tc>
                  <a:txBody>
                    <a:bodyPr/>
                    <a:lstStyle/>
                    <a:p>
                      <a:pPr marL="58702" marR="58702" defTabSz="1295400">
                        <a:lnSpc>
                          <a:spcPct val="130000"/>
                        </a:lnSpc>
                        <a:tabLst/>
                        <a:defRPr sz="1800"/>
                      </a:pPr>
                      <a:r>
                        <a:rPr sz="2000">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sz="2000">
                          <a:uFill>
                            <a:solidFill>
                              <a:srgbClr val="000000"/>
                            </a:solidFill>
                          </a:uFill>
                        </a:rPr>
                        <a:t>6</a:t>
                      </a:r>
                    </a:p>
                  </a:txBody>
                  <a:tcPr marL="50800" marR="50800" marT="50800" marB="50800" anchor="ctr" horzOverflow="overflow"/>
                </a:tc>
                <a:tc>
                  <a:txBody>
                    <a:bodyPr/>
                    <a:lstStyle/>
                    <a:p>
                      <a:pPr marL="58702" marR="58702" defTabSz="1295400">
                        <a:lnSpc>
                          <a:spcPct val="130000"/>
                        </a:lnSpc>
                        <a:tabLst/>
                        <a:defRPr sz="1800"/>
                      </a:pPr>
                      <a:r>
                        <a:rPr sz="2000">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sz="2000">
                          <a:uFill>
                            <a:solidFill>
                              <a:srgbClr val="000000"/>
                            </a:solidFill>
                          </a:uFill>
                        </a:rPr>
                        <a:t>8</a:t>
                      </a:r>
                    </a:p>
                  </a:txBody>
                  <a:tcPr marL="50800" marR="50800" marT="50800" marB="50800" anchor="ctr" horzOverflow="overflow"/>
                </a:tc>
                <a:tc>
                  <a:txBody>
                    <a:bodyPr/>
                    <a:lstStyle/>
                    <a:p>
                      <a:pPr marL="58702" marR="58702" defTabSz="1295400">
                        <a:lnSpc>
                          <a:spcPct val="130000"/>
                        </a:lnSpc>
                        <a:tabLst/>
                        <a:defRPr sz="1800"/>
                      </a:pPr>
                      <a:r>
                        <a:rPr sz="2000">
                          <a:uFill>
                            <a:solidFill>
                              <a:srgbClr val="000000"/>
                            </a:solidFill>
                          </a:uFill>
                        </a:rPr>
                        <a:t>9</a:t>
                      </a:r>
                    </a:p>
                  </a:txBody>
                  <a:tcPr marL="50800" marR="50800" marT="50800" marB="50800" anchor="ctr" horzOverflow="overflow"/>
                </a:tc>
                <a:tc>
                  <a:txBody>
                    <a:bodyPr/>
                    <a:lstStyle/>
                    <a:p>
                      <a:pPr marL="58702" marR="58702" defTabSz="1295400">
                        <a:lnSpc>
                          <a:spcPct val="130000"/>
                        </a:lnSpc>
                        <a:tabLst/>
                        <a:defRPr sz="1800"/>
                      </a:pPr>
                      <a:r>
                        <a:rPr sz="2000">
                          <a:uFill>
                            <a:solidFill>
                              <a:srgbClr val="000000"/>
                            </a:solidFill>
                          </a:uFill>
                        </a:rPr>
                        <a:t>20</a:t>
                      </a:r>
                    </a:p>
                  </a:txBody>
                  <a:tcPr marL="50800" marR="50800" marT="50800" marB="50800" anchor="ctr" horzOverflow="overflow">
                    <a:lnR w="28575">
                      <a:miter lim="400000"/>
                    </a:lnR>
                  </a:tcPr>
                </a:tc>
                <a:extLst>
                  <a:ext uri="{0D108BD9-81ED-4DB2-BD59-A6C34878D82A}">
                    <a16:rowId xmlns:a16="http://schemas.microsoft.com/office/drawing/2014/main" val="10001"/>
                  </a:ext>
                </a:extLst>
              </a:tr>
              <a:tr h="579433">
                <a:tc>
                  <a:txBody>
                    <a:bodyPr/>
                    <a:lstStyle/>
                    <a:p>
                      <a:pPr marL="58702" marR="58702" defTabSz="1295400">
                        <a:lnSpc>
                          <a:spcPct val="130000"/>
                        </a:lnSpc>
                        <a:tabLst/>
                        <a:defRPr sz="2000">
                          <a:solidFill>
                            <a:srgbClr val="007919"/>
                          </a:solidFill>
                          <a:uFill>
                            <a:solidFill>
                              <a:srgbClr val="000000"/>
                            </a:solidFill>
                          </a:uFill>
                        </a:defRPr>
                      </a:pPr>
                      <a:endParaRPr/>
                    </a:p>
                  </a:txBody>
                  <a:tcPr marL="50800" marR="50800" marT="50800" marB="50800" anchor="ctr" horzOverflow="overflow">
                    <a:lnL w="28575">
                      <a:miter lim="400000"/>
                    </a:lnL>
                    <a:solidFill>
                      <a:srgbClr val="0A8441"/>
                    </a:solidFill>
                  </a:tcPr>
                </a:tc>
                <a:tc>
                  <a:txBody>
                    <a:bodyPr/>
                    <a:lstStyle/>
                    <a:p>
                      <a:pPr marL="58702" marR="58702" defTabSz="1295400">
                        <a:lnSpc>
                          <a:spcPct val="130000"/>
                        </a:lnSpc>
                        <a:tabLst/>
                        <a:defRPr sz="1800"/>
                      </a:pPr>
                      <a:r>
                        <a:rPr sz="2000">
                          <a:uFill>
                            <a:solidFill>
                              <a:srgbClr val="000000"/>
                            </a:solidFill>
                          </a:uFill>
                        </a:rPr>
                        <a:t>3</a:t>
                      </a:r>
                    </a:p>
                  </a:txBody>
                  <a:tcPr marL="50800" marR="50800" marT="50800" marB="50800" anchor="ctr" horzOverflow="overflow"/>
                </a:tc>
                <a:tc>
                  <a:txBody>
                    <a:bodyPr/>
                    <a:lstStyle/>
                    <a:p>
                      <a:pPr marL="58702" marR="58702" defTabSz="1295400">
                        <a:lnSpc>
                          <a:spcPct val="130000"/>
                        </a:lnSpc>
                        <a:tabLst/>
                        <a:defRPr sz="1800"/>
                      </a:pPr>
                      <a:r>
                        <a:rPr sz="2000">
                          <a:uFill>
                            <a:solidFill>
                              <a:srgbClr val="000000"/>
                            </a:solidFill>
                          </a:uFill>
                        </a:rPr>
                        <a:t>8</a:t>
                      </a:r>
                    </a:p>
                  </a:txBody>
                  <a:tcPr marL="50800" marR="50800" marT="50800" marB="50800" anchor="ctr" horzOverflow="overflow"/>
                </a:tc>
                <a:tc>
                  <a:txBody>
                    <a:bodyPr/>
                    <a:lstStyle/>
                    <a:p>
                      <a:pPr marL="58702" marR="58702" defTabSz="1295400">
                        <a:lnSpc>
                          <a:spcPct val="130000"/>
                        </a:lnSpc>
                        <a:tabLst/>
                        <a:defRPr sz="1800"/>
                      </a:pPr>
                      <a:r>
                        <a:rPr sz="2000">
                          <a:uFill>
                            <a:solidFill>
                              <a:srgbClr val="000000"/>
                            </a:solidFill>
                          </a:uFill>
                        </a:rPr>
                        <a:t>9</a:t>
                      </a:r>
                    </a:p>
                  </a:txBody>
                  <a:tcPr marL="50800" marR="50800" marT="50800" marB="50800" anchor="ctr" horzOverflow="overflow"/>
                </a:tc>
                <a:tc>
                  <a:txBody>
                    <a:bodyPr/>
                    <a:lstStyle/>
                    <a:p>
                      <a:pPr marL="58702" marR="58702" defTabSz="1295400">
                        <a:lnSpc>
                          <a:spcPct val="130000"/>
                        </a:lnSpc>
                        <a:tabLst/>
                        <a:defRPr sz="1800"/>
                      </a:pPr>
                      <a:r>
                        <a:rPr sz="2000">
                          <a:uFill>
                            <a:solidFill>
                              <a:srgbClr val="000000"/>
                            </a:solidFill>
                          </a:uFill>
                        </a:rPr>
                        <a:t>22</a:t>
                      </a:r>
                    </a:p>
                  </a:txBody>
                  <a:tcPr marL="50800" marR="50800" marT="50800" marB="50800" anchor="ctr" horzOverflow="overflow"/>
                </a:tc>
                <a:tc>
                  <a:txBody>
                    <a:bodyPr/>
                    <a:lstStyle/>
                    <a:p>
                      <a:pPr marL="58702" marR="58702" defTabSz="1295400">
                        <a:lnSpc>
                          <a:spcPct val="130000"/>
                        </a:lnSpc>
                        <a:tabLst/>
                        <a:defRPr sz="1800"/>
                      </a:pPr>
                      <a:r>
                        <a:rPr sz="2000">
                          <a:uFill>
                            <a:solidFill>
                              <a:srgbClr val="000000"/>
                            </a:solidFill>
                          </a:uFill>
                        </a:rPr>
                        <a:t>12</a:t>
                      </a:r>
                    </a:p>
                  </a:txBody>
                  <a:tcPr marL="50800" marR="50800" marT="50800" marB="50800" anchor="ctr" horzOverflow="overflow"/>
                </a:tc>
                <a:tc>
                  <a:txBody>
                    <a:bodyPr/>
                    <a:lstStyle/>
                    <a:p>
                      <a:pPr marL="58702" marR="58702" defTabSz="1295400">
                        <a:lnSpc>
                          <a:spcPct val="130000"/>
                        </a:lnSpc>
                        <a:tabLst/>
                        <a:defRPr sz="1800"/>
                      </a:pPr>
                      <a:r>
                        <a:rPr sz="2000">
                          <a:uFill>
                            <a:solidFill>
                              <a:srgbClr val="000000"/>
                            </a:solidFill>
                          </a:uFill>
                        </a:rPr>
                        <a:t>8</a:t>
                      </a:r>
                    </a:p>
                  </a:txBody>
                  <a:tcPr marL="50800" marR="50800" marT="50800" marB="50800" anchor="ctr" horzOverflow="overflow">
                    <a:lnR w="28575">
                      <a:miter lim="400000"/>
                    </a:lnR>
                  </a:tcPr>
                </a:tc>
                <a:extLst>
                  <a:ext uri="{0D108BD9-81ED-4DB2-BD59-A6C34878D82A}">
                    <a16:rowId xmlns:a16="http://schemas.microsoft.com/office/drawing/2014/main" val="10002"/>
                  </a:ext>
                </a:extLst>
              </a:tr>
              <a:tr h="579433">
                <a:tc>
                  <a:txBody>
                    <a:bodyPr/>
                    <a:lstStyle/>
                    <a:p>
                      <a:pPr marL="58702" marR="58702" defTabSz="1295400">
                        <a:lnSpc>
                          <a:spcPct val="130000"/>
                        </a:lnSpc>
                        <a:tabLst/>
                        <a:defRPr sz="2000">
                          <a:solidFill>
                            <a:srgbClr val="0048AA"/>
                          </a:solidFill>
                          <a:uFill>
                            <a:solidFill>
                              <a:srgbClr val="000000"/>
                            </a:solidFill>
                          </a:uFill>
                        </a:defRPr>
                      </a:pPr>
                      <a:endParaRPr/>
                    </a:p>
                  </a:txBody>
                  <a:tcPr marL="50800" marR="50800" marT="50800" marB="50800" anchor="ctr" horzOverflow="overflow">
                    <a:lnL w="28575">
                      <a:miter lim="400000"/>
                    </a:lnL>
                    <a:lnB w="28575">
                      <a:miter lim="400000"/>
                    </a:lnB>
                    <a:solidFill>
                      <a:srgbClr val="343E98"/>
                    </a:solidFill>
                  </a:tcPr>
                </a:tc>
                <a:tc>
                  <a:txBody>
                    <a:bodyPr/>
                    <a:lstStyle/>
                    <a:p>
                      <a:pPr marL="58702" marR="58702" defTabSz="1295400">
                        <a:lnSpc>
                          <a:spcPct val="130000"/>
                        </a:lnSpc>
                        <a:tabLst/>
                        <a:defRPr sz="1800"/>
                      </a:pPr>
                      <a:r>
                        <a:rPr sz="2000">
                          <a:uFill>
                            <a:solidFill>
                              <a:srgbClr val="000000"/>
                            </a:solidFill>
                          </a:uFill>
                        </a:rPr>
                        <a:t>16</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sz="2000">
                          <a:uFill>
                            <a:solidFill>
                              <a:srgbClr val="000000"/>
                            </a:solidFill>
                          </a:uFill>
                        </a:rPr>
                        <a:t>10</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sz="2000">
                          <a:uFill>
                            <a:solidFill>
                              <a:srgbClr val="000000"/>
                            </a:solidFill>
                          </a:uFill>
                        </a:rPr>
                        <a:t>4</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sz="2000">
                          <a:uFill>
                            <a:solidFill>
                              <a:srgbClr val="000000"/>
                            </a:solidFill>
                          </a:uFill>
                        </a:rPr>
                        <a:t>2</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sz="2000">
                          <a:uFill>
                            <a:solidFill>
                              <a:srgbClr val="000000"/>
                            </a:solidFill>
                          </a:uFill>
                        </a:rPr>
                        <a:t>5</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sz="2000">
                          <a:uFill>
                            <a:solidFill>
                              <a:srgbClr val="000000"/>
                            </a:solidFill>
                          </a:uFill>
                        </a:rPr>
                        <a:t>7</a:t>
                      </a:r>
                    </a:p>
                  </a:txBody>
                  <a:tcPr marL="50800" marR="50800" marT="50800" marB="50800" anchor="ctr" horzOverflow="overflow">
                    <a:lnR w="28575">
                      <a:miter lim="400000"/>
                    </a:lnR>
                    <a:lnB w="28575">
                      <a:miter lim="400000"/>
                    </a:lnB>
                  </a:tcPr>
                </a:tc>
                <a:extLst>
                  <a:ext uri="{0D108BD9-81ED-4DB2-BD59-A6C34878D82A}">
                    <a16:rowId xmlns:a16="http://schemas.microsoft.com/office/drawing/2014/main" val="10003"/>
                  </a:ext>
                </a:extLst>
              </a:tr>
            </a:tbl>
          </a:graphicData>
        </a:graphic>
      </p:graphicFrame>
      <p:sp>
        <p:nvSpPr>
          <p:cNvPr id="424" name="cost to paint house i the given color"/>
          <p:cNvSpPr txBox="1"/>
          <p:nvPr/>
        </p:nvSpPr>
        <p:spPr>
          <a:xfrm>
            <a:off x="1841500" y="8572500"/>
            <a:ext cx="9639300" cy="330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spAutoFit/>
          </a:bodyPr>
          <a:lstStyle>
            <a:lvl1pPr marL="58702" marR="58702" defTabSz="1295400">
              <a:lnSpc>
                <a:spcPct val="150000"/>
              </a:lnSpc>
              <a:buClrTx/>
              <a:buFontTx/>
              <a:tabLst/>
              <a:defRPr b="1">
                <a:solidFill>
                  <a:srgbClr val="000000"/>
                </a:solidFill>
                <a:uFill>
                  <a:solidFill>
                    <a:srgbClr val="000000"/>
                  </a:solidFill>
                </a:uFill>
                <a:latin typeface="Lucida Grande"/>
                <a:ea typeface="Lucida Grande"/>
                <a:cs typeface="Lucida Grande"/>
                <a:sym typeface="Lucida Grande"/>
              </a:defRPr>
            </a:lvl1pPr>
          </a:lstStyle>
          <a:p>
            <a:r>
              <a:t>cost to paint house i the given color</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线条"/>
          <p:cNvSpPr/>
          <p:nvPr/>
        </p:nvSpPr>
        <p:spPr>
          <a:xfrm flipV="1">
            <a:off x="825500" y="990492"/>
            <a:ext cx="11366500" cy="108"/>
          </a:xfrm>
          <a:prstGeom prst="line">
            <a:avLst/>
          </a:prstGeom>
          <a:ln w="12700">
            <a:solidFill>
              <a:srgbClr val="000000"/>
            </a:solidFill>
          </a:ln>
        </p:spPr>
        <p:txBody>
          <a:bodyPr lIns="0" tIns="0" rIns="0" bIns="0"/>
          <a:lstStyle/>
          <a:p>
            <a:pPr algn="l" defTabSz="457200">
              <a:lnSpc>
                <a:spcPct val="100000"/>
              </a:lnSpc>
              <a:buClrTx/>
              <a:buFontTx/>
              <a:tabLst/>
              <a:defRPr sz="1200">
                <a:solidFill>
                  <a:srgbClr val="000000"/>
                </a:solidFill>
              </a:defRPr>
            </a:pPr>
            <a:endParaRPr/>
          </a:p>
        </p:txBody>
      </p:sp>
      <p:sp>
        <p:nvSpPr>
          <p:cNvPr id="429" name="House coloring problem"/>
          <p:cNvSpPr txBox="1">
            <a:spLocks noGrp="1"/>
          </p:cNvSpPr>
          <p:nvPr>
            <p:ph type="title"/>
          </p:nvPr>
        </p:nvSpPr>
        <p:spPr>
          <a:prstGeom prst="rect">
            <a:avLst/>
          </a:prstGeom>
        </p:spPr>
        <p:txBody>
          <a:bodyPr/>
          <a:lstStyle/>
          <a:p>
            <a:r>
              <a:t>House coloring problem</a:t>
            </a:r>
          </a:p>
        </p:txBody>
      </p:sp>
      <p:sp>
        <p:nvSpPr>
          <p:cNvPr id="430" name="Subproblems.…"/>
          <p:cNvSpPr txBox="1">
            <a:spLocks noGrp="1"/>
          </p:cNvSpPr>
          <p:nvPr>
            <p:ph type="body" idx="1"/>
          </p:nvPr>
        </p:nvSpPr>
        <p:spPr>
          <a:prstGeom prst="rect">
            <a:avLst/>
          </a:prstGeom>
        </p:spPr>
        <p:txBody>
          <a:bodyPr/>
          <a:lstStyle/>
          <a:p>
            <a:r>
              <a:t>Subproblems.</a:t>
            </a:r>
          </a:p>
          <a:p>
            <a:pPr lvl="1"/>
            <a:r>
              <a:rPr i="1">
                <a:latin typeface="Times"/>
                <a:ea typeface="Times"/>
                <a:cs typeface="Times"/>
                <a:sym typeface="Times"/>
              </a:rPr>
              <a:t>R</a:t>
            </a:r>
            <a:r>
              <a:rPr>
                <a:latin typeface="Times"/>
                <a:ea typeface="Times"/>
                <a:cs typeface="Times"/>
                <a:sym typeface="Times"/>
              </a:rPr>
              <a:t>[</a:t>
            </a:r>
            <a:r>
              <a:rPr i="1">
                <a:latin typeface="Times"/>
                <a:ea typeface="Times"/>
                <a:cs typeface="Times"/>
                <a:sym typeface="Times"/>
              </a:rPr>
              <a:t>i</a:t>
            </a:r>
            <a:r>
              <a:rPr>
                <a:latin typeface="Times"/>
                <a:ea typeface="Times"/>
                <a:cs typeface="Times"/>
                <a:sym typeface="Times"/>
              </a:rPr>
              <a:t>]	= </a:t>
            </a:r>
            <a:r>
              <a:t> min cost to paint houses </a:t>
            </a:r>
            <a:r>
              <a:rPr>
                <a:latin typeface="Times"/>
                <a:ea typeface="Times"/>
                <a:cs typeface="Times"/>
                <a:sym typeface="Times"/>
              </a:rPr>
              <a:t>1, …, </a:t>
            </a:r>
            <a:r>
              <a:rPr i="1">
                <a:latin typeface="Times"/>
                <a:ea typeface="Times"/>
                <a:cs typeface="Times"/>
                <a:sym typeface="Times"/>
              </a:rPr>
              <a:t>i</a:t>
            </a:r>
            <a:r>
              <a:t> with </a:t>
            </a:r>
            <a:r>
              <a:rPr i="1">
                <a:latin typeface="Times"/>
                <a:ea typeface="Times"/>
                <a:cs typeface="Times"/>
                <a:sym typeface="Times"/>
              </a:rPr>
              <a:t>i</a:t>
            </a:r>
            <a:r>
              <a:t> red.</a:t>
            </a:r>
            <a:endParaRPr>
              <a:solidFill>
                <a:srgbClr val="005493"/>
              </a:solidFill>
              <a:uFill>
                <a:solidFill>
                  <a:srgbClr val="0048AA"/>
                </a:solidFill>
              </a:uFill>
            </a:endParaRPr>
          </a:p>
          <a:p>
            <a:pPr lvl="1"/>
            <a:r>
              <a:rPr i="1">
                <a:latin typeface="Times"/>
                <a:ea typeface="Times"/>
                <a:cs typeface="Times"/>
                <a:sym typeface="Times"/>
              </a:rPr>
              <a:t>G</a:t>
            </a:r>
            <a:r>
              <a:rPr>
                <a:latin typeface="Times"/>
                <a:ea typeface="Times"/>
                <a:cs typeface="Times"/>
                <a:sym typeface="Times"/>
              </a:rPr>
              <a:t>[</a:t>
            </a:r>
            <a:r>
              <a:rPr i="1">
                <a:latin typeface="Times"/>
                <a:ea typeface="Times"/>
                <a:cs typeface="Times"/>
                <a:sym typeface="Times"/>
              </a:rPr>
              <a:t>i</a:t>
            </a:r>
            <a:r>
              <a:rPr>
                <a:latin typeface="Times"/>
                <a:ea typeface="Times"/>
                <a:cs typeface="Times"/>
                <a:sym typeface="Times"/>
              </a:rPr>
              <a:t>]	= </a:t>
            </a:r>
            <a:r>
              <a:t> min cost to paint houses </a:t>
            </a:r>
            <a:r>
              <a:rPr>
                <a:latin typeface="Times"/>
                <a:ea typeface="Times"/>
                <a:cs typeface="Times"/>
                <a:sym typeface="Times"/>
              </a:rPr>
              <a:t>1, …, </a:t>
            </a:r>
            <a:r>
              <a:rPr i="1">
                <a:latin typeface="Times"/>
                <a:ea typeface="Times"/>
                <a:cs typeface="Times"/>
                <a:sym typeface="Times"/>
              </a:rPr>
              <a:t>i</a:t>
            </a:r>
            <a:r>
              <a:t> with </a:t>
            </a:r>
            <a:r>
              <a:rPr i="1">
                <a:latin typeface="Times"/>
                <a:ea typeface="Times"/>
                <a:cs typeface="Times"/>
                <a:sym typeface="Times"/>
              </a:rPr>
              <a:t>i</a:t>
            </a:r>
            <a:r>
              <a:t> green.</a:t>
            </a:r>
            <a:endParaRPr>
              <a:solidFill>
                <a:srgbClr val="005493"/>
              </a:solidFill>
              <a:uFill>
                <a:solidFill>
                  <a:srgbClr val="0048AA"/>
                </a:solidFill>
              </a:uFill>
            </a:endParaRPr>
          </a:p>
          <a:p>
            <a:pPr lvl="1"/>
            <a:r>
              <a:rPr i="1">
                <a:latin typeface="Times"/>
                <a:ea typeface="Times"/>
                <a:cs typeface="Times"/>
                <a:sym typeface="Times"/>
              </a:rPr>
              <a:t>B</a:t>
            </a:r>
            <a:r>
              <a:rPr>
                <a:latin typeface="Times"/>
                <a:ea typeface="Times"/>
                <a:cs typeface="Times"/>
                <a:sym typeface="Times"/>
              </a:rPr>
              <a:t>[</a:t>
            </a:r>
            <a:r>
              <a:rPr i="1">
                <a:latin typeface="Times"/>
                <a:ea typeface="Times"/>
                <a:cs typeface="Times"/>
                <a:sym typeface="Times"/>
              </a:rPr>
              <a:t>i</a:t>
            </a:r>
            <a:r>
              <a:rPr>
                <a:latin typeface="Times"/>
                <a:ea typeface="Times"/>
                <a:cs typeface="Times"/>
                <a:sym typeface="Times"/>
              </a:rPr>
              <a:t>]	= </a:t>
            </a:r>
            <a:r>
              <a:t> min cost to paint houses </a:t>
            </a:r>
            <a:r>
              <a:rPr>
                <a:latin typeface="Times"/>
                <a:ea typeface="Times"/>
                <a:cs typeface="Times"/>
                <a:sym typeface="Times"/>
              </a:rPr>
              <a:t>1, …, </a:t>
            </a:r>
            <a:r>
              <a:rPr i="1">
                <a:latin typeface="Times"/>
                <a:ea typeface="Times"/>
                <a:cs typeface="Times"/>
                <a:sym typeface="Times"/>
              </a:rPr>
              <a:t>i</a:t>
            </a:r>
            <a:r>
              <a:t> with </a:t>
            </a:r>
            <a:r>
              <a:rPr i="1">
                <a:latin typeface="Times"/>
                <a:ea typeface="Times"/>
                <a:cs typeface="Times"/>
                <a:sym typeface="Times"/>
              </a:rPr>
              <a:t>i</a:t>
            </a:r>
            <a:r>
              <a:t> blue.</a:t>
            </a:r>
          </a:p>
          <a:p>
            <a:pPr lvl="1"/>
            <a:r>
              <a:t>Optimal cost = </a:t>
            </a:r>
            <a:r>
              <a:rPr>
                <a:latin typeface="Times"/>
                <a:ea typeface="Times"/>
                <a:cs typeface="Times"/>
                <a:sym typeface="Times"/>
              </a:rPr>
              <a:t>min { </a:t>
            </a:r>
            <a:r>
              <a:rPr i="1">
                <a:latin typeface="Times"/>
                <a:ea typeface="Times"/>
                <a:cs typeface="Times"/>
                <a:sym typeface="Times"/>
              </a:rPr>
              <a:t>R</a:t>
            </a:r>
            <a:r>
              <a:rPr>
                <a:latin typeface="Times"/>
                <a:ea typeface="Times"/>
                <a:cs typeface="Times"/>
                <a:sym typeface="Times"/>
              </a:rPr>
              <a:t>[</a:t>
            </a:r>
            <a:r>
              <a:rPr i="1">
                <a:latin typeface="Times"/>
                <a:ea typeface="Times"/>
                <a:cs typeface="Times"/>
                <a:sym typeface="Times"/>
              </a:rPr>
              <a:t>n</a:t>
            </a:r>
            <a:r>
              <a:rPr>
                <a:latin typeface="Times"/>
                <a:ea typeface="Times"/>
                <a:cs typeface="Times"/>
                <a:sym typeface="Times"/>
              </a:rPr>
              <a:t>], </a:t>
            </a:r>
            <a:r>
              <a:rPr i="1">
                <a:latin typeface="Times"/>
                <a:ea typeface="Times"/>
                <a:cs typeface="Times"/>
                <a:sym typeface="Times"/>
              </a:rPr>
              <a:t>G</a:t>
            </a:r>
            <a:r>
              <a:rPr>
                <a:latin typeface="Times"/>
                <a:ea typeface="Times"/>
                <a:cs typeface="Times"/>
                <a:sym typeface="Times"/>
              </a:rPr>
              <a:t>[</a:t>
            </a:r>
            <a:r>
              <a:rPr i="1">
                <a:latin typeface="Times"/>
                <a:ea typeface="Times"/>
                <a:cs typeface="Times"/>
                <a:sym typeface="Times"/>
              </a:rPr>
              <a:t>n</a:t>
            </a:r>
            <a:r>
              <a:rPr>
                <a:latin typeface="Times"/>
                <a:ea typeface="Times"/>
                <a:cs typeface="Times"/>
                <a:sym typeface="Times"/>
              </a:rPr>
              <a:t>], </a:t>
            </a:r>
            <a:r>
              <a:rPr i="1">
                <a:latin typeface="Times"/>
                <a:ea typeface="Times"/>
                <a:cs typeface="Times"/>
                <a:sym typeface="Times"/>
              </a:rPr>
              <a:t>B</a:t>
            </a:r>
            <a:r>
              <a:rPr>
                <a:latin typeface="Times"/>
                <a:ea typeface="Times"/>
                <a:cs typeface="Times"/>
                <a:sym typeface="Times"/>
              </a:rPr>
              <a:t>[</a:t>
            </a:r>
            <a:r>
              <a:rPr i="1">
                <a:latin typeface="Times"/>
                <a:ea typeface="Times"/>
                <a:cs typeface="Times"/>
                <a:sym typeface="Times"/>
              </a:rPr>
              <a:t>n</a:t>
            </a:r>
            <a:r>
              <a:rPr>
                <a:latin typeface="Times"/>
                <a:ea typeface="Times"/>
                <a:cs typeface="Times"/>
                <a:sym typeface="Times"/>
              </a:rPr>
              <a:t>] }</a:t>
            </a:r>
            <a:r>
              <a:t>.</a:t>
            </a:r>
            <a:endParaRPr>
              <a:solidFill>
                <a:srgbClr val="005493"/>
              </a:solidFill>
              <a:uFill>
                <a:solidFill>
                  <a:srgbClr val="0048AA"/>
                </a:solidFill>
              </a:uFill>
            </a:endParaRPr>
          </a:p>
          <a:p>
            <a:br/>
            <a:r>
              <a:t>Dynamic programming equation.</a:t>
            </a:r>
          </a:p>
          <a:p>
            <a:pPr lvl="1">
              <a:defRPr>
                <a:latin typeface="Times"/>
                <a:ea typeface="Times"/>
                <a:cs typeface="Times"/>
                <a:sym typeface="Times"/>
              </a:defRPr>
            </a:pPr>
            <a:r>
              <a:rPr i="1" spc="96"/>
              <a:t>R</a:t>
            </a:r>
            <a:r>
              <a:t>[</a:t>
            </a:r>
            <a:r>
              <a:rPr i="1"/>
              <a:t>i </a:t>
            </a:r>
            <a:r>
              <a:t>+ 1]  =  </a:t>
            </a:r>
            <a:r>
              <a:rPr i="1"/>
              <a:t>cost</a:t>
            </a:r>
            <a:r>
              <a:t>(</a:t>
            </a:r>
            <a:r>
              <a:rPr i="1"/>
              <a:t>i+</a:t>
            </a:r>
            <a:r>
              <a:t>1, </a:t>
            </a:r>
            <a:r>
              <a:rPr i="1"/>
              <a:t>red</a:t>
            </a:r>
            <a:r>
              <a:t>)     +  min { </a:t>
            </a:r>
            <a:r>
              <a:rPr i="1"/>
              <a:t>B</a:t>
            </a:r>
            <a:r>
              <a:t>[</a:t>
            </a:r>
            <a:r>
              <a:rPr i="1"/>
              <a:t>i</a:t>
            </a:r>
            <a:r>
              <a:t>], </a:t>
            </a:r>
            <a:r>
              <a:rPr i="1"/>
              <a:t>G</a:t>
            </a:r>
            <a:r>
              <a:t>[</a:t>
            </a:r>
            <a:r>
              <a:rPr i="1"/>
              <a:t>i</a:t>
            </a:r>
            <a:r>
              <a:t>] }</a:t>
            </a:r>
          </a:p>
          <a:p>
            <a:pPr lvl="1">
              <a:defRPr>
                <a:latin typeface="Times"/>
                <a:ea typeface="Times"/>
                <a:cs typeface="Times"/>
                <a:sym typeface="Times"/>
              </a:defRPr>
            </a:pPr>
            <a:r>
              <a:rPr i="1"/>
              <a:t>G</a:t>
            </a:r>
            <a:r>
              <a:t>[</a:t>
            </a:r>
            <a:r>
              <a:rPr i="1"/>
              <a:t>i </a:t>
            </a:r>
            <a:r>
              <a:t>+ 1]  =  </a:t>
            </a:r>
            <a:r>
              <a:rPr i="1"/>
              <a:t>cost</a:t>
            </a:r>
            <a:r>
              <a:t>(</a:t>
            </a:r>
            <a:r>
              <a:rPr i="1"/>
              <a:t>i+</a:t>
            </a:r>
            <a:r>
              <a:t>1, </a:t>
            </a:r>
            <a:r>
              <a:rPr i="1"/>
              <a:t>green</a:t>
            </a:r>
            <a:r>
              <a:t>) +  min { </a:t>
            </a:r>
            <a:r>
              <a:rPr i="1"/>
              <a:t>R</a:t>
            </a:r>
            <a:r>
              <a:t>[</a:t>
            </a:r>
            <a:r>
              <a:rPr i="1"/>
              <a:t>i</a:t>
            </a:r>
            <a:r>
              <a:t>], </a:t>
            </a:r>
            <a:r>
              <a:rPr i="1"/>
              <a:t>B</a:t>
            </a:r>
            <a:r>
              <a:t>[</a:t>
            </a:r>
            <a:r>
              <a:rPr i="1"/>
              <a:t>i</a:t>
            </a:r>
            <a:r>
              <a:t>] }</a:t>
            </a:r>
          </a:p>
          <a:p>
            <a:pPr lvl="1">
              <a:defRPr>
                <a:latin typeface="Times"/>
                <a:ea typeface="Times"/>
                <a:cs typeface="Times"/>
                <a:sym typeface="Times"/>
              </a:defRPr>
            </a:pPr>
            <a:r>
              <a:rPr i="1" spc="192"/>
              <a:t>B</a:t>
            </a:r>
            <a:r>
              <a:t>[</a:t>
            </a:r>
            <a:r>
              <a:rPr i="1"/>
              <a:t>i </a:t>
            </a:r>
            <a:r>
              <a:t>+ 1]  =  </a:t>
            </a:r>
            <a:r>
              <a:rPr i="1"/>
              <a:t>cost</a:t>
            </a:r>
            <a:r>
              <a:t>(</a:t>
            </a:r>
            <a:r>
              <a:rPr i="1"/>
              <a:t>i+</a:t>
            </a:r>
            <a:r>
              <a:t>1, </a:t>
            </a:r>
            <a:r>
              <a:rPr i="1"/>
              <a:t>blue</a:t>
            </a:r>
            <a:r>
              <a:t>)  </a:t>
            </a:r>
            <a:r>
              <a:rPr baseline="-5999"/>
              <a:t>  </a:t>
            </a:r>
            <a:r>
              <a:t>+  min { </a:t>
            </a:r>
            <a:r>
              <a:rPr i="1"/>
              <a:t>R</a:t>
            </a:r>
            <a:r>
              <a:t>[</a:t>
            </a:r>
            <a:r>
              <a:rPr i="1"/>
              <a:t>i</a:t>
            </a:r>
            <a:r>
              <a:t>], </a:t>
            </a:r>
            <a:r>
              <a:rPr i="1"/>
              <a:t>G</a:t>
            </a:r>
            <a:r>
              <a:t>[</a:t>
            </a:r>
            <a:r>
              <a:rPr i="1"/>
              <a:t>i</a:t>
            </a:r>
            <a:r>
              <a:t>] }</a:t>
            </a:r>
          </a:p>
          <a:p>
            <a:br/>
            <a:r>
              <a:t>Running time.  </a:t>
            </a:r>
            <a:r>
              <a:rPr i="1">
                <a:solidFill>
                  <a:srgbClr val="000000"/>
                </a:solidFill>
                <a:uFill>
                  <a:solidFill>
                    <a:srgbClr val="000000"/>
                  </a:solidFill>
                </a:uFill>
                <a:latin typeface="Times"/>
                <a:ea typeface="Times"/>
                <a:cs typeface="Times"/>
                <a:sym typeface="Times"/>
              </a:rPr>
              <a:t>O</a:t>
            </a:r>
            <a:r>
              <a:rPr>
                <a:solidFill>
                  <a:srgbClr val="000000"/>
                </a:solidFill>
                <a:uFill>
                  <a:solidFill>
                    <a:srgbClr val="000000"/>
                  </a:solidFill>
                </a:uFill>
                <a:latin typeface="Times"/>
                <a:ea typeface="Times"/>
                <a:cs typeface="Times"/>
                <a:sym typeface="Times"/>
              </a:rPr>
              <a:t>(</a:t>
            </a:r>
            <a:r>
              <a:rPr i="1">
                <a:solidFill>
                  <a:srgbClr val="000000"/>
                </a:solidFill>
                <a:uFill>
                  <a:solidFill>
                    <a:srgbClr val="000000"/>
                  </a:solidFill>
                </a:uFill>
                <a:latin typeface="Times"/>
                <a:ea typeface="Times"/>
                <a:cs typeface="Times"/>
                <a:sym typeface="Times"/>
              </a:rPr>
              <a:t>n)</a:t>
            </a:r>
            <a:r>
              <a:rPr>
                <a:solidFill>
                  <a:srgbClr val="000000"/>
                </a:solidFill>
                <a:uFill>
                  <a:solidFill>
                    <a:srgbClr val="000000"/>
                  </a:solidFill>
                </a:uFill>
              </a:rPr>
              <a:t>.</a:t>
            </a:r>
          </a:p>
        </p:txBody>
      </p:sp>
      <p:sp>
        <p:nvSpPr>
          <p:cNvPr id="431"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26</a:t>
            </a:fld>
            <a:endParaRPr/>
          </a:p>
        </p:txBody>
      </p:sp>
      <p:pic>
        <p:nvPicPr>
          <p:cNvPr id="432" name="interview-white.pdf" descr="interview-white.pdf"/>
          <p:cNvPicPr>
            <a:picLocks noChangeAspect="1"/>
          </p:cNvPicPr>
          <p:nvPr/>
        </p:nvPicPr>
        <p:blipFill>
          <a:blip r:embed="rId3"/>
          <a:stretch>
            <a:fillRect/>
          </a:stretch>
        </p:blipFill>
        <p:spPr>
          <a:xfrm>
            <a:off x="11493500" y="382872"/>
            <a:ext cx="687389" cy="468505"/>
          </a:xfrm>
          <a:prstGeom prst="rect">
            <a:avLst/>
          </a:prstGeom>
          <a:ln w="12700">
            <a:miter lim="400000"/>
          </a:ln>
        </p:spPr>
      </p:pic>
      <p:grpSp>
        <p:nvGrpSpPr>
          <p:cNvPr id="436" name="成组"/>
          <p:cNvGrpSpPr/>
          <p:nvPr/>
        </p:nvGrpSpPr>
        <p:grpSpPr>
          <a:xfrm>
            <a:off x="7531100" y="5803900"/>
            <a:ext cx="2400300" cy="1308100"/>
            <a:chOff x="0" y="0"/>
            <a:chExt cx="2400300" cy="1308100"/>
          </a:xfrm>
        </p:grpSpPr>
        <p:sp>
          <p:nvSpPr>
            <p:cNvPr id="433" name="overlapping…"/>
            <p:cNvSpPr/>
            <p:nvPr/>
          </p:nvSpPr>
          <p:spPr>
            <a:xfrm>
              <a:off x="1130300" y="38100"/>
              <a:ext cx="1270000"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p>
              <a:pPr marL="58702" marR="58702" algn="l" defTabSz="1295400">
                <a:lnSpc>
                  <a:spcPct val="150000"/>
                </a:lnSpc>
                <a:buClrTx/>
                <a:buFontTx/>
                <a:tabLst/>
                <a:defRPr>
                  <a:uFill>
                    <a:solidFill>
                      <a:srgbClr val="8D3124"/>
                    </a:solidFill>
                  </a:uFill>
                </a:defRPr>
              </a:pPr>
              <a:r>
                <a:t>overlapping</a:t>
              </a:r>
            </a:p>
            <a:p>
              <a:pPr marL="58702" marR="58702" algn="l" defTabSz="1295400">
                <a:lnSpc>
                  <a:spcPct val="150000"/>
                </a:lnSpc>
                <a:buClrTx/>
                <a:buFontTx/>
                <a:tabLst/>
                <a:defRPr>
                  <a:uFill>
                    <a:solidFill>
                      <a:srgbClr val="8D3124"/>
                    </a:solidFill>
                  </a:uFill>
                </a:defRPr>
              </a:pPr>
              <a:r>
                <a:t>subproblems</a:t>
              </a:r>
            </a:p>
          </p:txBody>
        </p:sp>
        <p:sp>
          <p:nvSpPr>
            <p:cNvPr id="434" name="线条"/>
            <p:cNvSpPr/>
            <p:nvPr/>
          </p:nvSpPr>
          <p:spPr>
            <a:xfrm>
              <a:off x="0" y="0"/>
              <a:ext cx="1113677" cy="346803"/>
            </a:xfrm>
            <a:prstGeom prst="line">
              <a:avLst/>
            </a:prstGeom>
            <a:noFill/>
            <a:ln w="25400" cap="flat">
              <a:solidFill>
                <a:srgbClr val="8D3124"/>
              </a:solidFill>
              <a:prstDash val="solid"/>
              <a:round/>
              <a:headEnd type="triangle"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435" name="线条"/>
            <p:cNvSpPr/>
            <p:nvPr/>
          </p:nvSpPr>
          <p:spPr>
            <a:xfrm flipV="1">
              <a:off x="0" y="342900"/>
              <a:ext cx="1115067" cy="345713"/>
            </a:xfrm>
            <a:prstGeom prst="line">
              <a:avLst/>
            </a:prstGeom>
            <a:noFill/>
            <a:ln w="25400" cap="flat">
              <a:solidFill>
                <a:srgbClr val="8D3124"/>
              </a:solidFill>
              <a:prstDash val="solid"/>
              <a:round/>
              <a:headEnd type="triangle"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线条"/>
          <p:cNvSpPr/>
          <p:nvPr/>
        </p:nvSpPr>
        <p:spPr>
          <a:xfrm flipV="1">
            <a:off x="825500" y="990492"/>
            <a:ext cx="11366500" cy="108"/>
          </a:xfrm>
          <a:prstGeom prst="line">
            <a:avLst/>
          </a:prstGeom>
          <a:ln w="12700">
            <a:solidFill>
              <a:srgbClr val="000000"/>
            </a:solidFill>
          </a:ln>
        </p:spPr>
        <p:txBody>
          <a:bodyPr lIns="0" tIns="0" rIns="0" bIns="0"/>
          <a:lstStyle/>
          <a:p>
            <a:pPr algn="l" defTabSz="457200">
              <a:lnSpc>
                <a:spcPct val="100000"/>
              </a:lnSpc>
              <a:buClrTx/>
              <a:buFontTx/>
              <a:tabLst/>
              <a:defRPr sz="1200">
                <a:solidFill>
                  <a:srgbClr val="000000"/>
                </a:solidFill>
              </a:defRPr>
            </a:pPr>
            <a:endParaRPr/>
          </a:p>
        </p:txBody>
      </p:sp>
      <p:sp>
        <p:nvSpPr>
          <p:cNvPr id="441" name="Maximum subarray problem"/>
          <p:cNvSpPr txBox="1">
            <a:spLocks noGrp="1"/>
          </p:cNvSpPr>
          <p:nvPr>
            <p:ph type="title"/>
          </p:nvPr>
        </p:nvSpPr>
        <p:spPr>
          <a:prstGeom prst="rect">
            <a:avLst/>
          </a:prstGeom>
        </p:spPr>
        <p:txBody>
          <a:bodyPr/>
          <a:lstStyle/>
          <a:p>
            <a:r>
              <a:t>Maximum subarray problem</a:t>
            </a:r>
          </a:p>
        </p:txBody>
      </p:sp>
      <p:sp>
        <p:nvSpPr>
          <p:cNvPr id="442" name="Goal.  Given an array x of n integer (positive or negative), find a contiguous subarray whose sum is maximum.…"/>
          <p:cNvSpPr txBox="1">
            <a:spLocks noGrp="1"/>
          </p:cNvSpPr>
          <p:nvPr>
            <p:ph type="body" idx="1"/>
          </p:nvPr>
        </p:nvSpPr>
        <p:spPr>
          <a:prstGeom prst="rect">
            <a:avLst/>
          </a:prstGeom>
        </p:spPr>
        <p:txBody>
          <a:bodyPr/>
          <a:lstStyle/>
          <a:p>
            <a:r>
              <a:rPr dirty="0"/>
              <a:t>Goal.  </a:t>
            </a:r>
            <a:r>
              <a:rPr dirty="0">
                <a:solidFill>
                  <a:srgbClr val="000000"/>
                </a:solidFill>
                <a:uFill>
                  <a:solidFill>
                    <a:srgbClr val="000000"/>
                  </a:solidFill>
                </a:uFill>
              </a:rPr>
              <a:t>Given an array </a:t>
            </a:r>
            <a:r>
              <a:rPr i="1" dirty="0">
                <a:solidFill>
                  <a:srgbClr val="000000"/>
                </a:solidFill>
                <a:uFill>
                  <a:solidFill>
                    <a:srgbClr val="000000"/>
                  </a:solidFill>
                </a:uFill>
                <a:latin typeface="Times"/>
                <a:ea typeface="Times"/>
                <a:cs typeface="Times"/>
                <a:sym typeface="Times"/>
              </a:rPr>
              <a:t>x </a:t>
            </a:r>
            <a:r>
              <a:rPr dirty="0">
                <a:solidFill>
                  <a:srgbClr val="000000"/>
                </a:solidFill>
                <a:uFill>
                  <a:solidFill>
                    <a:srgbClr val="000000"/>
                  </a:solidFill>
                </a:uFill>
              </a:rPr>
              <a:t>of </a:t>
            </a:r>
            <a:r>
              <a:rPr i="1" dirty="0">
                <a:solidFill>
                  <a:srgbClr val="000000"/>
                </a:solidFill>
                <a:uFill>
                  <a:solidFill>
                    <a:srgbClr val="000000"/>
                  </a:solidFill>
                </a:uFill>
                <a:latin typeface="Times"/>
                <a:ea typeface="Times"/>
                <a:cs typeface="Times"/>
                <a:sym typeface="Times"/>
              </a:rPr>
              <a:t>n</a:t>
            </a:r>
            <a:r>
              <a:rPr dirty="0">
                <a:solidFill>
                  <a:srgbClr val="000000"/>
                </a:solidFill>
                <a:uFill>
                  <a:solidFill>
                    <a:srgbClr val="000000"/>
                  </a:solidFill>
                </a:uFill>
              </a:rPr>
              <a:t> integer (positive or negative), find a contiguous subarray whose sum is maximum.</a:t>
            </a:r>
          </a:p>
          <a:p>
            <a:br>
              <a:rPr dirty="0">
                <a:solidFill>
                  <a:srgbClr val="000000"/>
                </a:solidFill>
                <a:uFill>
                  <a:solidFill>
                    <a:srgbClr val="000000"/>
                  </a:solidFill>
                </a:uFill>
              </a:rPr>
            </a:br>
            <a:br>
              <a:rPr dirty="0">
                <a:solidFill>
                  <a:srgbClr val="000000"/>
                </a:solidFill>
                <a:uFill>
                  <a:solidFill>
                    <a:srgbClr val="000000"/>
                  </a:solidFill>
                </a:uFill>
              </a:rPr>
            </a:br>
            <a:br>
              <a:rPr dirty="0">
                <a:solidFill>
                  <a:srgbClr val="000000"/>
                </a:solidFill>
                <a:uFill>
                  <a:solidFill>
                    <a:srgbClr val="000000"/>
                  </a:solidFill>
                </a:uFill>
              </a:rPr>
            </a:br>
            <a:br>
              <a:rPr dirty="0">
                <a:solidFill>
                  <a:srgbClr val="000000"/>
                </a:solidFill>
                <a:uFill>
                  <a:solidFill>
                    <a:srgbClr val="000000"/>
                  </a:solidFill>
                </a:uFill>
              </a:rPr>
            </a:br>
            <a:br>
              <a:rPr dirty="0">
                <a:solidFill>
                  <a:srgbClr val="000000"/>
                </a:solidFill>
                <a:uFill>
                  <a:solidFill>
                    <a:srgbClr val="000000"/>
                  </a:solidFill>
                </a:uFill>
              </a:rPr>
            </a:br>
            <a:br>
              <a:rPr dirty="0">
                <a:solidFill>
                  <a:srgbClr val="000000"/>
                </a:solidFill>
                <a:uFill>
                  <a:solidFill>
                    <a:srgbClr val="000000"/>
                  </a:solidFill>
                </a:uFill>
              </a:rPr>
            </a:br>
            <a:br>
              <a:rPr dirty="0">
                <a:solidFill>
                  <a:srgbClr val="000000"/>
                </a:solidFill>
                <a:uFill>
                  <a:solidFill>
                    <a:srgbClr val="000000"/>
                  </a:solidFill>
                </a:uFill>
              </a:rPr>
            </a:br>
            <a:br>
              <a:rPr dirty="0">
                <a:solidFill>
                  <a:srgbClr val="000000"/>
                </a:solidFill>
                <a:uFill>
                  <a:solidFill>
                    <a:srgbClr val="000000"/>
                  </a:solidFill>
                </a:uFill>
              </a:rPr>
            </a:br>
            <a:br>
              <a:rPr dirty="0">
                <a:solidFill>
                  <a:srgbClr val="000000"/>
                </a:solidFill>
                <a:uFill>
                  <a:solidFill>
                    <a:srgbClr val="000000"/>
                  </a:solidFill>
                </a:uFill>
              </a:rPr>
            </a:br>
            <a:br>
              <a:rPr dirty="0">
                <a:solidFill>
                  <a:srgbClr val="000000"/>
                </a:solidFill>
                <a:uFill>
                  <a:solidFill>
                    <a:srgbClr val="000000"/>
                  </a:solidFill>
                </a:uFill>
              </a:rPr>
            </a:br>
            <a:r>
              <a:rPr dirty="0"/>
              <a:t>Applications.  </a:t>
            </a:r>
            <a:r>
              <a:rPr dirty="0">
                <a:solidFill>
                  <a:srgbClr val="000000"/>
                </a:solidFill>
              </a:rPr>
              <a:t>Computer vision, d</a:t>
            </a:r>
            <a:r>
              <a:rPr dirty="0">
                <a:solidFill>
                  <a:srgbClr val="000000"/>
                </a:solidFill>
                <a:uFill>
                  <a:solidFill>
                    <a:srgbClr val="000000"/>
                  </a:solidFill>
                </a:uFill>
              </a:rPr>
              <a:t>ata mining,</a:t>
            </a:r>
            <a:br>
              <a:rPr dirty="0">
                <a:solidFill>
                  <a:srgbClr val="000000"/>
                </a:solidFill>
                <a:uFill>
                  <a:solidFill>
                    <a:srgbClr val="000000"/>
                  </a:solidFill>
                </a:uFill>
              </a:rPr>
            </a:br>
            <a:r>
              <a:rPr dirty="0">
                <a:solidFill>
                  <a:srgbClr val="000000"/>
                </a:solidFill>
                <a:uFill>
                  <a:solidFill>
                    <a:srgbClr val="000000"/>
                  </a:solidFill>
                </a:uFill>
              </a:rPr>
              <a:t>genomic sequence analysis, technical job interviews, ….</a:t>
            </a:r>
          </a:p>
        </p:txBody>
      </p:sp>
      <p:sp>
        <p:nvSpPr>
          <p:cNvPr id="443"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27</a:t>
            </a:fld>
            <a:endParaRPr/>
          </a:p>
        </p:txBody>
      </p:sp>
      <p:pic>
        <p:nvPicPr>
          <p:cNvPr id="444" name="interview-white.pdf" descr="interview-white.pdf"/>
          <p:cNvPicPr>
            <a:picLocks noChangeAspect="1"/>
          </p:cNvPicPr>
          <p:nvPr/>
        </p:nvPicPr>
        <p:blipFill>
          <a:blip r:embed="rId2"/>
          <a:stretch>
            <a:fillRect/>
          </a:stretch>
        </p:blipFill>
        <p:spPr>
          <a:xfrm>
            <a:off x="11493500" y="382872"/>
            <a:ext cx="687389" cy="468505"/>
          </a:xfrm>
          <a:prstGeom prst="rect">
            <a:avLst/>
          </a:prstGeom>
          <a:ln w="12700">
            <a:miter lim="400000"/>
          </a:ln>
        </p:spPr>
      </p:pic>
      <p:graphicFrame>
        <p:nvGraphicFramePr>
          <p:cNvPr id="445" name="表格"/>
          <p:cNvGraphicFramePr/>
          <p:nvPr/>
        </p:nvGraphicFramePr>
        <p:xfrm>
          <a:off x="1382028" y="3390291"/>
          <a:ext cx="10204935" cy="579433"/>
        </p:xfrm>
        <a:graphic>
          <a:graphicData uri="http://schemas.openxmlformats.org/drawingml/2006/table">
            <a:tbl>
              <a:tblPr>
                <a:tableStyleId>{8F44A2F1-9E1F-4B54-A3A2-5F16C0AD49E2}</a:tableStyleId>
              </a:tblPr>
              <a:tblGrid>
                <a:gridCol w="680329">
                  <a:extLst>
                    <a:ext uri="{9D8B030D-6E8A-4147-A177-3AD203B41FA5}">
                      <a16:colId xmlns:a16="http://schemas.microsoft.com/office/drawing/2014/main" val="20000"/>
                    </a:ext>
                  </a:extLst>
                </a:gridCol>
                <a:gridCol w="680329">
                  <a:extLst>
                    <a:ext uri="{9D8B030D-6E8A-4147-A177-3AD203B41FA5}">
                      <a16:colId xmlns:a16="http://schemas.microsoft.com/office/drawing/2014/main" val="20001"/>
                    </a:ext>
                  </a:extLst>
                </a:gridCol>
                <a:gridCol w="680329">
                  <a:extLst>
                    <a:ext uri="{9D8B030D-6E8A-4147-A177-3AD203B41FA5}">
                      <a16:colId xmlns:a16="http://schemas.microsoft.com/office/drawing/2014/main" val="20002"/>
                    </a:ext>
                  </a:extLst>
                </a:gridCol>
                <a:gridCol w="680329">
                  <a:extLst>
                    <a:ext uri="{9D8B030D-6E8A-4147-A177-3AD203B41FA5}">
                      <a16:colId xmlns:a16="http://schemas.microsoft.com/office/drawing/2014/main" val="20003"/>
                    </a:ext>
                  </a:extLst>
                </a:gridCol>
                <a:gridCol w="680329">
                  <a:extLst>
                    <a:ext uri="{9D8B030D-6E8A-4147-A177-3AD203B41FA5}">
                      <a16:colId xmlns:a16="http://schemas.microsoft.com/office/drawing/2014/main" val="20004"/>
                    </a:ext>
                  </a:extLst>
                </a:gridCol>
                <a:gridCol w="680329">
                  <a:extLst>
                    <a:ext uri="{9D8B030D-6E8A-4147-A177-3AD203B41FA5}">
                      <a16:colId xmlns:a16="http://schemas.microsoft.com/office/drawing/2014/main" val="20005"/>
                    </a:ext>
                  </a:extLst>
                </a:gridCol>
                <a:gridCol w="680329">
                  <a:extLst>
                    <a:ext uri="{9D8B030D-6E8A-4147-A177-3AD203B41FA5}">
                      <a16:colId xmlns:a16="http://schemas.microsoft.com/office/drawing/2014/main" val="20006"/>
                    </a:ext>
                  </a:extLst>
                </a:gridCol>
                <a:gridCol w="680329">
                  <a:extLst>
                    <a:ext uri="{9D8B030D-6E8A-4147-A177-3AD203B41FA5}">
                      <a16:colId xmlns:a16="http://schemas.microsoft.com/office/drawing/2014/main" val="20007"/>
                    </a:ext>
                  </a:extLst>
                </a:gridCol>
                <a:gridCol w="680329">
                  <a:extLst>
                    <a:ext uri="{9D8B030D-6E8A-4147-A177-3AD203B41FA5}">
                      <a16:colId xmlns:a16="http://schemas.microsoft.com/office/drawing/2014/main" val="20008"/>
                    </a:ext>
                  </a:extLst>
                </a:gridCol>
                <a:gridCol w="680329">
                  <a:extLst>
                    <a:ext uri="{9D8B030D-6E8A-4147-A177-3AD203B41FA5}">
                      <a16:colId xmlns:a16="http://schemas.microsoft.com/office/drawing/2014/main" val="20009"/>
                    </a:ext>
                  </a:extLst>
                </a:gridCol>
                <a:gridCol w="680329">
                  <a:extLst>
                    <a:ext uri="{9D8B030D-6E8A-4147-A177-3AD203B41FA5}">
                      <a16:colId xmlns:a16="http://schemas.microsoft.com/office/drawing/2014/main" val="20010"/>
                    </a:ext>
                  </a:extLst>
                </a:gridCol>
                <a:gridCol w="680329">
                  <a:extLst>
                    <a:ext uri="{9D8B030D-6E8A-4147-A177-3AD203B41FA5}">
                      <a16:colId xmlns:a16="http://schemas.microsoft.com/office/drawing/2014/main" val="20011"/>
                    </a:ext>
                  </a:extLst>
                </a:gridCol>
                <a:gridCol w="680329">
                  <a:extLst>
                    <a:ext uri="{9D8B030D-6E8A-4147-A177-3AD203B41FA5}">
                      <a16:colId xmlns:a16="http://schemas.microsoft.com/office/drawing/2014/main" val="20012"/>
                    </a:ext>
                  </a:extLst>
                </a:gridCol>
                <a:gridCol w="680329">
                  <a:extLst>
                    <a:ext uri="{9D8B030D-6E8A-4147-A177-3AD203B41FA5}">
                      <a16:colId xmlns:a16="http://schemas.microsoft.com/office/drawing/2014/main" val="20013"/>
                    </a:ext>
                  </a:extLst>
                </a:gridCol>
                <a:gridCol w="680329">
                  <a:extLst>
                    <a:ext uri="{9D8B030D-6E8A-4147-A177-3AD203B41FA5}">
                      <a16:colId xmlns:a16="http://schemas.microsoft.com/office/drawing/2014/main" val="20014"/>
                    </a:ext>
                  </a:extLst>
                </a:gridCol>
              </a:tblGrid>
              <a:tr h="579433">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12</a:t>
                      </a:r>
                    </a:p>
                  </a:txBody>
                  <a:tcPr marL="50800" marR="50800" marT="50800" marB="50800" anchor="ctr" horzOverflow="overflow">
                    <a:lnL w="28575">
                      <a:miter lim="400000"/>
                    </a:lnL>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5</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−1</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31</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−61</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59</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26</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−53</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58</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97</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−93</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−23</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84</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−15</a:t>
                      </a:r>
                    </a:p>
                  </a:txBody>
                  <a:tcPr marL="50800" marR="50800" marT="50800" marB="50800" anchor="ctr" horzOverflow="overflow">
                    <a:lnT w="28575">
                      <a:miter lim="400000"/>
                    </a:lnT>
                    <a:lnB w="28575">
                      <a:miter lim="400000"/>
                    </a:lnB>
                  </a:tcPr>
                </a:tc>
                <a:tc>
                  <a:txBody>
                    <a:bodyPr/>
                    <a:lstStyle/>
                    <a:p>
                      <a:pPr marL="58702" marR="58702" defTabSz="1295400">
                        <a:lnSpc>
                          <a:spcPct val="130000"/>
                        </a:lnSpc>
                        <a:tabLst/>
                        <a:defRPr sz="1800"/>
                      </a:pPr>
                      <a:r>
                        <a:rPr sz="2000">
                          <a:uFill>
                            <a:solidFill>
                              <a:srgbClr val="000000"/>
                            </a:solidFill>
                          </a:uFill>
                          <a:latin typeface="Times"/>
                          <a:ea typeface="Times"/>
                          <a:cs typeface="Times"/>
                          <a:sym typeface="Times"/>
                        </a:rPr>
                        <a:t>6</a:t>
                      </a:r>
                    </a:p>
                  </a:txBody>
                  <a:tcPr marL="50800" marR="50800" marT="50800" marB="50800" anchor="ctr" horzOverflow="overflow">
                    <a:lnR w="28575">
                      <a:miter lim="400000"/>
                    </a:lnR>
                    <a:lnT w="28575">
                      <a:miter lim="400000"/>
                    </a:lnT>
                    <a:lnB w="28575">
                      <a:miter lim="400000"/>
                    </a:lnB>
                  </a:tcPr>
                </a:tc>
                <a:extLst>
                  <a:ext uri="{0D108BD9-81ED-4DB2-BD59-A6C34878D82A}">
                    <a16:rowId xmlns:a16="http://schemas.microsoft.com/office/drawing/2014/main" val="10000"/>
                  </a:ext>
                </a:extLst>
              </a:tr>
            </a:tbl>
          </a:graphicData>
        </a:graphic>
      </p:graphicFrame>
      <p:grpSp>
        <p:nvGrpSpPr>
          <p:cNvPr id="448" name="成组"/>
          <p:cNvGrpSpPr/>
          <p:nvPr/>
        </p:nvGrpSpPr>
        <p:grpSpPr>
          <a:xfrm>
            <a:off x="4783677" y="3407754"/>
            <a:ext cx="3401649" cy="1060849"/>
            <a:chOff x="0" y="0"/>
            <a:chExt cx="3401648" cy="1060848"/>
          </a:xfrm>
        </p:grpSpPr>
        <p:sp>
          <p:nvSpPr>
            <p:cNvPr id="446" name="矩形"/>
            <p:cNvSpPr/>
            <p:nvPr/>
          </p:nvSpPr>
          <p:spPr>
            <a:xfrm>
              <a:off x="0" y="0"/>
              <a:ext cx="3401649" cy="544509"/>
            </a:xfrm>
            <a:prstGeom prst="rect">
              <a:avLst/>
            </a:prstGeom>
            <a:noFill/>
            <a:ln w="63500" cap="flat">
              <a:solidFill>
                <a:srgbClr val="A34431"/>
              </a:solidFill>
              <a:prstDash val="solid"/>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447" name="187"/>
            <p:cNvSpPr txBox="1"/>
            <p:nvPr/>
          </p:nvSpPr>
          <p:spPr>
            <a:xfrm>
              <a:off x="1390922" y="692548"/>
              <a:ext cx="566702" cy="3683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ctr">
              <a:spAutoFit/>
            </a:bodyPr>
            <a:lstStyle>
              <a:lvl1pPr>
                <a:defRPr sz="1800" b="1">
                  <a:latin typeface="Lucida Grande"/>
                  <a:ea typeface="Lucida Grande"/>
                  <a:cs typeface="Lucida Grande"/>
                  <a:sym typeface="Lucida Grande"/>
                </a:defRPr>
              </a:lvl1pPr>
            </a:lstStyle>
            <a:p>
              <a:r>
                <a:t>187</a:t>
              </a:r>
            </a:p>
          </p:txBody>
        </p:sp>
      </p:grpSp>
      <p:pic>
        <p:nvPicPr>
          <p:cNvPr id="449" name="图像" descr="图像"/>
          <p:cNvPicPr>
            <a:picLocks noChangeAspect="1"/>
          </p:cNvPicPr>
          <p:nvPr/>
        </p:nvPicPr>
        <p:blipFill>
          <a:blip r:embed="rId3"/>
          <a:stretch>
            <a:fillRect/>
          </a:stretch>
        </p:blipFill>
        <p:spPr>
          <a:xfrm>
            <a:off x="9932885" y="6364315"/>
            <a:ext cx="1947517" cy="2639665"/>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442">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3" nodeType="afterEffect">
                                  <p:stCondLst>
                                    <p:cond delay="0"/>
                                  </p:stCondLst>
                                  <p:iterate>
                                    <p:tmAbs val="0"/>
                                  </p:iterate>
                                  <p:childTnLst>
                                    <p:set>
                                      <p:cBhvr>
                                        <p:cTn id="13" fill="hold"/>
                                        <p:tgtEl>
                                          <p:spTgt spid="4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 grpId="2" build="p" bldLvl="5" animBg="1" advAuto="0"/>
      <p:bldP spid="448" grpId="1" animBg="1" advAuto="0"/>
      <p:bldP spid="449" grpId="3" animBg="1" advAuto="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线条"/>
          <p:cNvSpPr/>
          <p:nvPr/>
        </p:nvSpPr>
        <p:spPr>
          <a:xfrm flipV="1">
            <a:off x="825500" y="990492"/>
            <a:ext cx="11366500" cy="108"/>
          </a:xfrm>
          <a:prstGeom prst="line">
            <a:avLst/>
          </a:prstGeom>
          <a:ln w="12700">
            <a:solidFill>
              <a:srgbClr val="000000"/>
            </a:solidFill>
          </a:ln>
        </p:spPr>
        <p:txBody>
          <a:bodyPr lIns="0" tIns="0" rIns="0" bIns="0"/>
          <a:lstStyle/>
          <a:p>
            <a:pPr algn="l" defTabSz="457200">
              <a:lnSpc>
                <a:spcPct val="100000"/>
              </a:lnSpc>
              <a:buClrTx/>
              <a:buFontTx/>
              <a:tabLst/>
              <a:defRPr sz="1200">
                <a:solidFill>
                  <a:srgbClr val="000000"/>
                </a:solidFill>
              </a:defRPr>
            </a:pPr>
            <a:endParaRPr/>
          </a:p>
        </p:txBody>
      </p:sp>
      <p:sp>
        <p:nvSpPr>
          <p:cNvPr id="452" name="Kadane’s algorithm"/>
          <p:cNvSpPr txBox="1">
            <a:spLocks noGrp="1"/>
          </p:cNvSpPr>
          <p:nvPr>
            <p:ph type="title"/>
          </p:nvPr>
        </p:nvSpPr>
        <p:spPr>
          <a:prstGeom prst="rect">
            <a:avLst/>
          </a:prstGeom>
        </p:spPr>
        <p:txBody>
          <a:bodyPr/>
          <a:lstStyle/>
          <a:p>
            <a:r>
              <a:t>Kadane’s algorithm</a:t>
            </a:r>
          </a:p>
        </p:txBody>
      </p:sp>
      <p:sp>
        <p:nvSpPr>
          <p:cNvPr id="453" name="Def.  OPT(i) = max sum of any subarray of x whose rightmost         index is i.…"/>
          <p:cNvSpPr txBox="1">
            <a:spLocks noGrp="1"/>
          </p:cNvSpPr>
          <p:nvPr>
            <p:ph type="body" idx="1"/>
          </p:nvPr>
        </p:nvSpPr>
        <p:spPr>
          <a:prstGeom prst="rect">
            <a:avLst/>
          </a:prstGeom>
        </p:spPr>
        <p:txBody>
          <a:bodyPr/>
          <a:lstStyle/>
          <a:p>
            <a:r>
              <a:t>Def.  </a:t>
            </a:r>
            <a:r>
              <a:rPr i="1">
                <a:solidFill>
                  <a:srgbClr val="000000"/>
                </a:solidFill>
                <a:latin typeface="Times"/>
                <a:ea typeface="Times"/>
                <a:cs typeface="Times"/>
                <a:sym typeface="Times"/>
              </a:rPr>
              <a:t>OPT</a:t>
            </a:r>
            <a:r>
              <a:rPr spc="240">
                <a:solidFill>
                  <a:srgbClr val="000000"/>
                </a:solidFill>
                <a:latin typeface="Times"/>
                <a:ea typeface="Times"/>
                <a:cs typeface="Times"/>
                <a:sym typeface="Times"/>
              </a:rPr>
              <a:t>(</a:t>
            </a:r>
            <a:r>
              <a:rPr i="1" spc="240">
                <a:solidFill>
                  <a:srgbClr val="000000"/>
                </a:solidFill>
                <a:latin typeface="Times"/>
                <a:ea typeface="Times"/>
                <a:cs typeface="Times"/>
                <a:sym typeface="Times"/>
              </a:rPr>
              <a:t>i</a:t>
            </a:r>
            <a:r>
              <a:rPr>
                <a:solidFill>
                  <a:srgbClr val="000000"/>
                </a:solidFill>
                <a:latin typeface="Times"/>
                <a:ea typeface="Times"/>
                <a:cs typeface="Times"/>
                <a:sym typeface="Times"/>
              </a:rPr>
              <a:t>) = </a:t>
            </a:r>
            <a:r>
              <a:rPr>
                <a:solidFill>
                  <a:srgbClr val="000000"/>
                </a:solidFill>
              </a:rPr>
              <a:t>max sum of any subarray of </a:t>
            </a:r>
            <a:r>
              <a:rPr i="1">
                <a:solidFill>
                  <a:srgbClr val="000000"/>
                </a:solidFill>
                <a:latin typeface="Times"/>
                <a:ea typeface="Times"/>
                <a:cs typeface="Times"/>
                <a:sym typeface="Times"/>
              </a:rPr>
              <a:t>x</a:t>
            </a:r>
            <a:r>
              <a:rPr>
                <a:solidFill>
                  <a:srgbClr val="000000"/>
                </a:solidFill>
              </a:rPr>
              <a:t> whose rightmost</a:t>
            </a:r>
            <a:br>
              <a:rPr>
                <a:solidFill>
                  <a:srgbClr val="000000"/>
                </a:solidFill>
              </a:rPr>
            </a:br>
            <a:r>
              <a:rPr>
                <a:solidFill>
                  <a:srgbClr val="000000"/>
                </a:solidFill>
              </a:rPr>
              <a:t>        index is </a:t>
            </a:r>
            <a:r>
              <a:rPr i="1">
                <a:solidFill>
                  <a:srgbClr val="000000"/>
                </a:solidFill>
                <a:latin typeface="Times"/>
                <a:ea typeface="Times"/>
                <a:cs typeface="Times"/>
                <a:sym typeface="Times"/>
              </a:rPr>
              <a:t>i</a:t>
            </a:r>
            <a:r>
              <a:rPr>
                <a:solidFill>
                  <a:srgbClr val="000000"/>
                </a:solidFill>
              </a:rPr>
              <a:t>.</a:t>
            </a:r>
          </a:p>
          <a:p>
            <a:br>
              <a:rPr>
                <a:solidFill>
                  <a:srgbClr val="000000"/>
                </a:solidFill>
              </a:rPr>
            </a:br>
            <a:r>
              <a:t>Goal.</a:t>
            </a:r>
            <a:endParaRPr>
              <a:solidFill>
                <a:srgbClr val="000000"/>
              </a:solidFill>
            </a:endParaRPr>
          </a:p>
          <a:p>
            <a:br/>
            <a:r>
              <a:t>Bellman equation.</a:t>
            </a:r>
            <a:endParaRPr>
              <a:solidFill>
                <a:srgbClr val="000000"/>
              </a:solidFill>
              <a:latin typeface="Times"/>
              <a:ea typeface="Times"/>
              <a:cs typeface="Times"/>
              <a:sym typeface="Times"/>
            </a:endParaRPr>
          </a:p>
          <a:p>
            <a:br>
              <a:rPr>
                <a:solidFill>
                  <a:srgbClr val="000000"/>
                </a:solidFill>
                <a:latin typeface="Times"/>
                <a:ea typeface="Times"/>
                <a:cs typeface="Times"/>
                <a:sym typeface="Times"/>
              </a:rPr>
            </a:br>
            <a:br/>
            <a:r>
              <a:t>Running time.  </a:t>
            </a:r>
            <a:r>
              <a:rPr i="1" spc="96">
                <a:solidFill>
                  <a:srgbClr val="000000"/>
                </a:solidFill>
                <a:latin typeface="Times"/>
                <a:ea typeface="Times"/>
                <a:cs typeface="Times"/>
                <a:sym typeface="Times"/>
              </a:rPr>
              <a:t>O</a:t>
            </a:r>
            <a:r>
              <a:rPr>
                <a:solidFill>
                  <a:srgbClr val="000000"/>
                </a:solidFill>
                <a:latin typeface="Times"/>
                <a:ea typeface="Times"/>
                <a:cs typeface="Times"/>
                <a:sym typeface="Times"/>
              </a:rPr>
              <a:t>(</a:t>
            </a:r>
            <a:r>
              <a:rPr i="1">
                <a:solidFill>
                  <a:srgbClr val="000000"/>
                </a:solidFill>
                <a:latin typeface="Times"/>
                <a:ea typeface="Times"/>
                <a:cs typeface="Times"/>
                <a:sym typeface="Times"/>
              </a:rPr>
              <a:t>n</a:t>
            </a:r>
            <a:r>
              <a:rPr>
                <a:solidFill>
                  <a:srgbClr val="000000"/>
                </a:solidFill>
                <a:latin typeface="Times"/>
                <a:ea typeface="Times"/>
                <a:cs typeface="Times"/>
                <a:sym typeface="Times"/>
              </a:rPr>
              <a:t>).</a:t>
            </a:r>
          </a:p>
        </p:txBody>
      </p:sp>
      <p:sp>
        <p:nvSpPr>
          <p:cNvPr id="454"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28</a:t>
            </a:fld>
            <a:endParaRPr/>
          </a:p>
        </p:txBody>
      </p:sp>
      <p:pic>
        <p:nvPicPr>
          <p:cNvPr id="455" name="interview-white.pdf" descr="interview-white.pdf"/>
          <p:cNvPicPr>
            <a:picLocks noChangeAspect="1"/>
          </p:cNvPicPr>
          <p:nvPr/>
        </p:nvPicPr>
        <p:blipFill>
          <a:blip r:embed="rId3"/>
          <a:stretch>
            <a:fillRect/>
          </a:stretch>
        </p:blipFill>
        <p:spPr>
          <a:xfrm>
            <a:off x="11493500" y="382872"/>
            <a:ext cx="687389" cy="468505"/>
          </a:xfrm>
          <a:prstGeom prst="rect">
            <a:avLst/>
          </a:prstGeom>
          <a:ln w="12700">
            <a:miter lim="400000"/>
          </a:ln>
        </p:spPr>
      </p:pic>
      <p:grpSp>
        <p:nvGrpSpPr>
          <p:cNvPr id="458" name="成组"/>
          <p:cNvGrpSpPr/>
          <p:nvPr/>
        </p:nvGrpSpPr>
        <p:grpSpPr>
          <a:xfrm>
            <a:off x="6741274" y="5230217"/>
            <a:ext cx="1270001" cy="1879542"/>
            <a:chOff x="507938" y="0"/>
            <a:chExt cx="1270000" cy="1879541"/>
          </a:xfrm>
        </p:grpSpPr>
        <p:sp>
          <p:nvSpPr>
            <p:cNvPr id="456" name="take only…"/>
            <p:cNvSpPr/>
            <p:nvPr/>
          </p:nvSpPr>
          <p:spPr>
            <a:xfrm>
              <a:off x="507938" y="609541"/>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p>
              <a:pPr marL="58702" marR="58702" defTabSz="1295400">
                <a:lnSpc>
                  <a:spcPts val="2000"/>
                </a:lnSpc>
                <a:buClrTx/>
                <a:buFontTx/>
                <a:tabLst/>
                <a:defRPr>
                  <a:uFill>
                    <a:solidFill>
                      <a:srgbClr val="8D3124"/>
                    </a:solidFill>
                  </a:uFill>
                </a:defRPr>
              </a:pPr>
              <a:r>
                <a:t>take only</a:t>
              </a:r>
            </a:p>
            <a:p>
              <a:pPr marL="58702" marR="58702" defTabSz="1295400">
                <a:lnSpc>
                  <a:spcPts val="2000"/>
                </a:lnSpc>
                <a:buClrTx/>
                <a:buFontTx/>
                <a:tabLst/>
                <a:defRPr>
                  <a:uFill>
                    <a:solidFill>
                      <a:srgbClr val="8D3124"/>
                    </a:solidFill>
                  </a:uFill>
                </a:defRPr>
              </a:pPr>
              <a:r>
                <a:t>element </a:t>
              </a:r>
              <a:r>
                <a:rPr sz="1800" i="1">
                  <a:latin typeface="Times"/>
                  <a:ea typeface="Times"/>
                  <a:cs typeface="Times"/>
                  <a:sym typeface="Times"/>
                </a:rPr>
                <a:t>i</a:t>
              </a:r>
            </a:p>
          </p:txBody>
        </p:sp>
        <p:sp>
          <p:nvSpPr>
            <p:cNvPr id="457" name="线条"/>
            <p:cNvSpPr/>
            <p:nvPr/>
          </p:nvSpPr>
          <p:spPr>
            <a:xfrm flipH="1">
              <a:off x="547250" y="-1"/>
              <a:ext cx="1" cy="515983"/>
            </a:xfrm>
            <a:prstGeom prst="line">
              <a:avLst/>
            </a:prstGeom>
            <a:noFill/>
            <a:ln w="25400" cap="flat">
              <a:solidFill>
                <a:srgbClr val="8D3124"/>
              </a:solidFill>
              <a:prstDash val="solid"/>
              <a:round/>
              <a:headEnd type="triangle"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grpSp>
        <p:nvGrpSpPr>
          <p:cNvPr id="461" name="成组"/>
          <p:cNvGrpSpPr/>
          <p:nvPr/>
        </p:nvGrpSpPr>
        <p:grpSpPr>
          <a:xfrm>
            <a:off x="8901485" y="5230217"/>
            <a:ext cx="2018090" cy="1879542"/>
            <a:chOff x="563912" y="0"/>
            <a:chExt cx="2018088" cy="1879541"/>
          </a:xfrm>
        </p:grpSpPr>
        <p:sp>
          <p:nvSpPr>
            <p:cNvPr id="459" name="take element i…"/>
            <p:cNvSpPr/>
            <p:nvPr/>
          </p:nvSpPr>
          <p:spPr>
            <a:xfrm>
              <a:off x="1312001" y="609541"/>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p>
              <a:pPr marL="58702" marR="58702" defTabSz="1295400">
                <a:lnSpc>
                  <a:spcPts val="2000"/>
                </a:lnSpc>
                <a:buClrTx/>
                <a:buFontTx/>
                <a:tabLst/>
                <a:defRPr>
                  <a:uFill>
                    <a:solidFill>
                      <a:srgbClr val="8D3124"/>
                    </a:solidFill>
                  </a:uFill>
                </a:defRPr>
              </a:pPr>
              <a:r>
                <a:t>take element </a:t>
              </a:r>
              <a:r>
                <a:rPr sz="1800" i="1">
                  <a:latin typeface="Times"/>
                  <a:ea typeface="Times"/>
                  <a:cs typeface="Times"/>
                  <a:sym typeface="Times"/>
                </a:rPr>
                <a:t>i</a:t>
              </a:r>
              <a:endParaRPr sz="1800">
                <a:latin typeface="Times"/>
                <a:ea typeface="Times"/>
                <a:cs typeface="Times"/>
                <a:sym typeface="Times"/>
              </a:endParaRPr>
            </a:p>
            <a:p>
              <a:pPr marL="58702" marR="58702" defTabSz="1295400">
                <a:lnSpc>
                  <a:spcPts val="2000"/>
                </a:lnSpc>
                <a:buClrTx/>
                <a:buFontTx/>
                <a:tabLst/>
                <a:defRPr>
                  <a:uFill>
                    <a:solidFill>
                      <a:srgbClr val="8D3124"/>
                    </a:solidFill>
                  </a:uFill>
                </a:defRPr>
              </a:pPr>
              <a:r>
                <a:t>together with best subarray</a:t>
              </a:r>
            </a:p>
            <a:p>
              <a:pPr marL="58702" marR="58702" defTabSz="1295400">
                <a:lnSpc>
                  <a:spcPts val="2000"/>
                </a:lnSpc>
                <a:buClrTx/>
                <a:buFontTx/>
                <a:tabLst/>
                <a:defRPr>
                  <a:uFill>
                    <a:solidFill>
                      <a:srgbClr val="8D3124"/>
                    </a:solidFill>
                  </a:uFill>
                </a:defRPr>
              </a:pPr>
              <a:r>
                <a:t>ending at index </a:t>
              </a:r>
              <a:r>
                <a:rPr sz="1800" i="1">
                  <a:latin typeface="Times"/>
                  <a:ea typeface="Times"/>
                  <a:cs typeface="Times"/>
                  <a:sym typeface="Times"/>
                </a:rPr>
                <a:t>i </a:t>
              </a:r>
              <a:r>
                <a:rPr sz="1800">
                  <a:latin typeface="Times"/>
                  <a:ea typeface="Times"/>
                  <a:cs typeface="Times"/>
                  <a:sym typeface="Times"/>
                </a:rPr>
                <a:t>− 1</a:t>
              </a:r>
            </a:p>
          </p:txBody>
        </p:sp>
        <p:sp>
          <p:nvSpPr>
            <p:cNvPr id="460" name="线条"/>
            <p:cNvSpPr/>
            <p:nvPr/>
          </p:nvSpPr>
          <p:spPr>
            <a:xfrm>
              <a:off x="563912" y="-1"/>
              <a:ext cx="195607" cy="511047"/>
            </a:xfrm>
            <a:prstGeom prst="line">
              <a:avLst/>
            </a:prstGeom>
            <a:noFill/>
            <a:ln w="25400" cap="flat">
              <a:solidFill>
                <a:srgbClr val="8D3124"/>
              </a:solidFill>
              <a:prstDash val="solid"/>
              <a:round/>
              <a:headEnd type="triangle"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pic>
        <p:nvPicPr>
          <p:cNvPr id="462" name="图像" descr="图像"/>
          <p:cNvPicPr>
            <a:picLocks noChangeAspect="1"/>
          </p:cNvPicPr>
          <p:nvPr/>
        </p:nvPicPr>
        <p:blipFill>
          <a:blip r:embed="rId4"/>
          <a:srcRect l="13016" t="2979" r="21157" b="23498"/>
          <a:stretch>
            <a:fillRect/>
          </a:stretch>
        </p:blipFill>
        <p:spPr>
          <a:xfrm>
            <a:off x="10950573" y="1828799"/>
            <a:ext cx="1304927" cy="1440658"/>
          </a:xfrm>
          <a:custGeom>
            <a:avLst/>
            <a:gdLst/>
            <a:ahLst/>
            <a:cxnLst>
              <a:cxn ang="0">
                <a:pos x="wd2" y="hd2"/>
              </a:cxn>
              <a:cxn ang="5400000">
                <a:pos x="wd2" y="hd2"/>
              </a:cxn>
              <a:cxn ang="10800000">
                <a:pos x="wd2" y="hd2"/>
              </a:cxn>
              <a:cxn ang="16200000">
                <a:pos x="wd2" y="hd2"/>
              </a:cxn>
            </a:cxnLst>
            <a:rect l="0" t="0" r="r" b="b"/>
            <a:pathLst>
              <a:path w="21594" h="21600" extrusionOk="0">
                <a:moveTo>
                  <a:pt x="4269" y="0"/>
                </a:moveTo>
                <a:cubicBezTo>
                  <a:pt x="3043" y="0"/>
                  <a:pt x="2416" y="2"/>
                  <a:pt x="1760" y="190"/>
                </a:cubicBezTo>
                <a:cubicBezTo>
                  <a:pt x="1038" y="429"/>
                  <a:pt x="473" y="940"/>
                  <a:pt x="210" y="1595"/>
                </a:cubicBezTo>
                <a:cubicBezTo>
                  <a:pt x="1" y="2193"/>
                  <a:pt x="0" y="2759"/>
                  <a:pt x="0" y="3868"/>
                </a:cubicBezTo>
                <a:lnTo>
                  <a:pt x="0" y="17714"/>
                </a:lnTo>
                <a:cubicBezTo>
                  <a:pt x="0" y="18840"/>
                  <a:pt x="1" y="19401"/>
                  <a:pt x="210" y="19999"/>
                </a:cubicBezTo>
                <a:cubicBezTo>
                  <a:pt x="473" y="20654"/>
                  <a:pt x="1038" y="21171"/>
                  <a:pt x="1760" y="21410"/>
                </a:cubicBezTo>
                <a:cubicBezTo>
                  <a:pt x="2420" y="21599"/>
                  <a:pt x="3046" y="21600"/>
                  <a:pt x="4269" y="21600"/>
                </a:cubicBezTo>
                <a:lnTo>
                  <a:pt x="17312" y="21600"/>
                </a:lnTo>
                <a:cubicBezTo>
                  <a:pt x="18555" y="21600"/>
                  <a:pt x="19174" y="21599"/>
                  <a:pt x="19834" y="21410"/>
                </a:cubicBezTo>
                <a:cubicBezTo>
                  <a:pt x="20556" y="21171"/>
                  <a:pt x="21128" y="20654"/>
                  <a:pt x="21391" y="19999"/>
                </a:cubicBezTo>
                <a:cubicBezTo>
                  <a:pt x="21600" y="19401"/>
                  <a:pt x="21594" y="18841"/>
                  <a:pt x="21594" y="17732"/>
                </a:cubicBezTo>
                <a:lnTo>
                  <a:pt x="21594" y="3886"/>
                </a:lnTo>
                <a:cubicBezTo>
                  <a:pt x="21594" y="2760"/>
                  <a:pt x="21600" y="2193"/>
                  <a:pt x="21391" y="1595"/>
                </a:cubicBezTo>
                <a:cubicBezTo>
                  <a:pt x="21128" y="940"/>
                  <a:pt x="20556" y="429"/>
                  <a:pt x="19834" y="190"/>
                </a:cubicBezTo>
                <a:cubicBezTo>
                  <a:pt x="19174" y="1"/>
                  <a:pt x="18556" y="0"/>
                  <a:pt x="17332" y="0"/>
                </a:cubicBezTo>
                <a:lnTo>
                  <a:pt x="4289" y="0"/>
                </a:lnTo>
                <a:lnTo>
                  <a:pt x="4269" y="0"/>
                </a:lnTo>
                <a:close/>
              </a:path>
            </a:pathLst>
          </a:custGeom>
          <a:ln w="12700">
            <a:miter lim="400000"/>
          </a:ln>
        </p:spPr>
      </p:pic>
      <p:pic>
        <p:nvPicPr>
          <p:cNvPr id="463" name="图像" descr="图像"/>
          <p:cNvPicPr>
            <a:picLocks noChangeAspect="1"/>
          </p:cNvPicPr>
          <p:nvPr/>
        </p:nvPicPr>
        <p:blipFill>
          <a:blip r:embed="rId5"/>
          <a:stretch>
            <a:fillRect/>
          </a:stretch>
        </p:blipFill>
        <p:spPr>
          <a:xfrm>
            <a:off x="3909185" y="4148720"/>
            <a:ext cx="6972301" cy="927101"/>
          </a:xfrm>
          <a:prstGeom prst="rect">
            <a:avLst/>
          </a:prstGeom>
          <a:ln w="12700">
            <a:miter lim="400000"/>
          </a:ln>
        </p:spPr>
      </p:pic>
      <p:pic>
        <p:nvPicPr>
          <p:cNvPr id="464" name="图像" descr="图像"/>
          <p:cNvPicPr>
            <a:picLocks noChangeAspect="1"/>
          </p:cNvPicPr>
          <p:nvPr/>
        </p:nvPicPr>
        <p:blipFill>
          <a:blip r:embed="rId6"/>
          <a:stretch>
            <a:fillRect/>
          </a:stretch>
        </p:blipFill>
        <p:spPr>
          <a:xfrm>
            <a:off x="1848849" y="3447450"/>
            <a:ext cx="1701801" cy="431801"/>
          </a:xfrm>
          <a:prstGeom prst="rect">
            <a:avLst/>
          </a:prstGeom>
          <a:ln w="12700">
            <a:miter lim="400000"/>
          </a:ln>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Goal.  Given an n-by-n matrix A, find a rectangle whose sum is maximum.…"/>
          <p:cNvSpPr txBox="1">
            <a:spLocks noGrp="1"/>
          </p:cNvSpPr>
          <p:nvPr>
            <p:ph type="body" idx="1"/>
          </p:nvPr>
        </p:nvSpPr>
        <p:spPr>
          <a:prstGeom prst="rect">
            <a:avLst/>
          </a:prstGeom>
        </p:spPr>
        <p:txBody>
          <a:bodyPr/>
          <a:lstStyle/>
          <a:p>
            <a:r>
              <a:t>Goal.  </a:t>
            </a:r>
            <a:r>
              <a:rPr>
                <a:solidFill>
                  <a:srgbClr val="000000"/>
                </a:solidFill>
                <a:uFill>
                  <a:solidFill>
                    <a:srgbClr val="000000"/>
                  </a:solidFill>
                </a:uFill>
              </a:rPr>
              <a:t>Given an </a:t>
            </a:r>
            <a:r>
              <a:rPr i="1">
                <a:solidFill>
                  <a:srgbClr val="000000"/>
                </a:solidFill>
                <a:uFill>
                  <a:solidFill>
                    <a:srgbClr val="000000"/>
                  </a:solidFill>
                </a:uFill>
                <a:latin typeface="Times"/>
                <a:ea typeface="Times"/>
                <a:cs typeface="Times"/>
                <a:sym typeface="Times"/>
              </a:rPr>
              <a:t>n</a:t>
            </a:r>
            <a:r>
              <a:rPr>
                <a:solidFill>
                  <a:srgbClr val="000000"/>
                </a:solidFill>
                <a:uFill>
                  <a:solidFill>
                    <a:srgbClr val="000000"/>
                  </a:solidFill>
                </a:uFill>
              </a:rPr>
              <a:t>-by-</a:t>
            </a:r>
            <a:r>
              <a:rPr i="1">
                <a:solidFill>
                  <a:srgbClr val="000000"/>
                </a:solidFill>
                <a:uFill>
                  <a:solidFill>
                    <a:srgbClr val="000000"/>
                  </a:solidFill>
                </a:uFill>
                <a:latin typeface="Times"/>
                <a:ea typeface="Times"/>
                <a:cs typeface="Times"/>
                <a:sym typeface="Times"/>
              </a:rPr>
              <a:t>n</a:t>
            </a:r>
            <a:r>
              <a:rPr>
                <a:solidFill>
                  <a:srgbClr val="000000"/>
                </a:solidFill>
                <a:uFill>
                  <a:solidFill>
                    <a:srgbClr val="000000"/>
                  </a:solidFill>
                </a:uFill>
              </a:rPr>
              <a:t> matrix </a:t>
            </a:r>
            <a:r>
              <a:rPr i="1">
                <a:solidFill>
                  <a:srgbClr val="000000"/>
                </a:solidFill>
                <a:uFill>
                  <a:solidFill>
                    <a:srgbClr val="000000"/>
                  </a:solidFill>
                </a:uFill>
                <a:latin typeface="Times"/>
                <a:ea typeface="Times"/>
                <a:cs typeface="Times"/>
                <a:sym typeface="Times"/>
              </a:rPr>
              <a:t>A</a:t>
            </a:r>
            <a:r>
              <a:rPr>
                <a:solidFill>
                  <a:srgbClr val="000000"/>
                </a:solidFill>
                <a:uFill>
                  <a:solidFill>
                    <a:srgbClr val="000000"/>
                  </a:solidFill>
                </a:uFill>
              </a:rPr>
              <a:t>, find a rectangle whose sum is maximum.</a:t>
            </a:r>
          </a:p>
          <a:p>
            <a:br>
              <a:rPr>
                <a:solidFill>
                  <a:srgbClr val="000000"/>
                </a:solidFill>
                <a:uFill>
                  <a:solidFill>
                    <a:srgbClr val="000000"/>
                  </a:solidFill>
                </a:uFill>
              </a:rPr>
            </a:br>
            <a:br>
              <a:rPr>
                <a:solidFill>
                  <a:srgbClr val="000000"/>
                </a:solidFill>
                <a:uFill>
                  <a:solidFill>
                    <a:srgbClr val="000000"/>
                  </a:solidFill>
                </a:uFill>
              </a:rPr>
            </a:br>
            <a:br>
              <a:rPr>
                <a:solidFill>
                  <a:srgbClr val="000000"/>
                </a:solidFill>
                <a:uFill>
                  <a:solidFill>
                    <a:srgbClr val="000000"/>
                  </a:solidFill>
                </a:uFill>
              </a:rPr>
            </a:br>
            <a:br>
              <a:rPr>
                <a:solidFill>
                  <a:srgbClr val="000000"/>
                </a:solidFill>
                <a:uFill>
                  <a:solidFill>
                    <a:srgbClr val="000000"/>
                  </a:solidFill>
                </a:uFill>
              </a:rPr>
            </a:br>
            <a:br>
              <a:rPr>
                <a:solidFill>
                  <a:srgbClr val="000000"/>
                </a:solidFill>
                <a:uFill>
                  <a:solidFill>
                    <a:srgbClr val="000000"/>
                  </a:solidFill>
                </a:uFill>
              </a:rPr>
            </a:br>
            <a:br>
              <a:rPr>
                <a:solidFill>
                  <a:srgbClr val="000000"/>
                </a:solidFill>
                <a:uFill>
                  <a:solidFill>
                    <a:srgbClr val="000000"/>
                  </a:solidFill>
                </a:uFill>
              </a:rPr>
            </a:br>
            <a:br>
              <a:rPr>
                <a:solidFill>
                  <a:srgbClr val="000000"/>
                </a:solidFill>
                <a:uFill>
                  <a:solidFill>
                    <a:srgbClr val="000000"/>
                  </a:solidFill>
                </a:uFill>
              </a:rPr>
            </a:br>
            <a:br>
              <a:rPr>
                <a:solidFill>
                  <a:srgbClr val="000000"/>
                </a:solidFill>
                <a:uFill>
                  <a:solidFill>
                    <a:srgbClr val="000000"/>
                  </a:solidFill>
                </a:uFill>
              </a:rPr>
            </a:br>
            <a:br>
              <a:rPr>
                <a:solidFill>
                  <a:srgbClr val="000000"/>
                </a:solidFill>
                <a:uFill>
                  <a:solidFill>
                    <a:srgbClr val="000000"/>
                  </a:solidFill>
                </a:uFill>
              </a:rPr>
            </a:br>
            <a:br>
              <a:rPr>
                <a:solidFill>
                  <a:srgbClr val="000000"/>
                </a:solidFill>
                <a:uFill>
                  <a:solidFill>
                    <a:srgbClr val="000000"/>
                  </a:solidFill>
                </a:uFill>
              </a:rPr>
            </a:br>
            <a:br>
              <a:rPr>
                <a:solidFill>
                  <a:srgbClr val="000000"/>
                </a:solidFill>
                <a:uFill>
                  <a:solidFill>
                    <a:srgbClr val="000000"/>
                  </a:solidFill>
                </a:uFill>
              </a:rPr>
            </a:br>
            <a:r>
              <a:t>Applications.  </a:t>
            </a:r>
            <a:r>
              <a:rPr>
                <a:solidFill>
                  <a:srgbClr val="000000"/>
                </a:solidFill>
              </a:rPr>
              <a:t>Databases, image processing, maximum likelihood estimation, </a:t>
            </a:r>
            <a:r>
              <a:rPr>
                <a:solidFill>
                  <a:srgbClr val="000000"/>
                </a:solidFill>
                <a:uFill>
                  <a:solidFill>
                    <a:srgbClr val="000000"/>
                  </a:solidFill>
                </a:uFill>
              </a:rPr>
              <a:t>technical job interviews,</a:t>
            </a:r>
            <a:r>
              <a:rPr>
                <a:solidFill>
                  <a:srgbClr val="000000"/>
                </a:solidFill>
              </a:rPr>
              <a:t> …</a:t>
            </a:r>
          </a:p>
        </p:txBody>
      </p:sp>
      <p:pic>
        <p:nvPicPr>
          <p:cNvPr id="469" name="图像" descr="图像"/>
          <p:cNvPicPr>
            <a:picLocks noChangeAspect="1"/>
          </p:cNvPicPr>
          <p:nvPr/>
        </p:nvPicPr>
        <p:blipFill>
          <a:blip r:embed="rId3"/>
          <a:stretch>
            <a:fillRect/>
          </a:stretch>
        </p:blipFill>
        <p:spPr>
          <a:xfrm>
            <a:off x="3002637" y="3215708"/>
            <a:ext cx="5956301" cy="3289301"/>
          </a:xfrm>
          <a:prstGeom prst="rect">
            <a:avLst/>
          </a:prstGeom>
          <a:ln w="12700">
            <a:miter lim="400000"/>
          </a:ln>
        </p:spPr>
      </p:pic>
      <p:sp>
        <p:nvSpPr>
          <p:cNvPr id="470" name="线条"/>
          <p:cNvSpPr/>
          <p:nvPr/>
        </p:nvSpPr>
        <p:spPr>
          <a:xfrm flipV="1">
            <a:off x="825500" y="990492"/>
            <a:ext cx="11366500" cy="108"/>
          </a:xfrm>
          <a:prstGeom prst="line">
            <a:avLst/>
          </a:prstGeom>
          <a:ln w="12700">
            <a:solidFill>
              <a:srgbClr val="000000"/>
            </a:solidFill>
          </a:ln>
        </p:spPr>
        <p:txBody>
          <a:bodyPr lIns="0" tIns="0" rIns="0" bIns="0"/>
          <a:lstStyle/>
          <a:p>
            <a:pPr algn="l" defTabSz="457200">
              <a:lnSpc>
                <a:spcPct val="100000"/>
              </a:lnSpc>
              <a:buClrTx/>
              <a:buFontTx/>
              <a:tabLst/>
              <a:defRPr sz="1200">
                <a:solidFill>
                  <a:srgbClr val="000000"/>
                </a:solidFill>
              </a:defRPr>
            </a:pPr>
            <a:endParaRPr/>
          </a:p>
        </p:txBody>
      </p:sp>
      <p:sp>
        <p:nvSpPr>
          <p:cNvPr id="471" name="Maximum rectangle problem"/>
          <p:cNvSpPr txBox="1">
            <a:spLocks noGrp="1"/>
          </p:cNvSpPr>
          <p:nvPr>
            <p:ph type="title"/>
          </p:nvPr>
        </p:nvSpPr>
        <p:spPr>
          <a:prstGeom prst="rect">
            <a:avLst/>
          </a:prstGeom>
        </p:spPr>
        <p:txBody>
          <a:bodyPr/>
          <a:lstStyle/>
          <a:p>
            <a:r>
              <a:t>Maximum rectangle problem</a:t>
            </a:r>
          </a:p>
        </p:txBody>
      </p:sp>
      <p:sp>
        <p:nvSpPr>
          <p:cNvPr id="472"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29</a:t>
            </a:fld>
            <a:endParaRPr/>
          </a:p>
        </p:txBody>
      </p:sp>
      <p:pic>
        <p:nvPicPr>
          <p:cNvPr id="473" name="interview-white.pdf" descr="interview-white.pdf"/>
          <p:cNvPicPr>
            <a:picLocks noChangeAspect="1"/>
          </p:cNvPicPr>
          <p:nvPr/>
        </p:nvPicPr>
        <p:blipFill>
          <a:blip r:embed="rId4"/>
          <a:stretch>
            <a:fillRect/>
          </a:stretch>
        </p:blipFill>
        <p:spPr>
          <a:xfrm>
            <a:off x="11493500" y="382872"/>
            <a:ext cx="687389" cy="468505"/>
          </a:xfrm>
          <a:prstGeom prst="rect">
            <a:avLst/>
          </a:prstGeom>
          <a:ln w="12700">
            <a:miter lim="400000"/>
          </a:ln>
        </p:spPr>
      </p:pic>
      <p:grpSp>
        <p:nvGrpSpPr>
          <p:cNvPr id="476" name="成组"/>
          <p:cNvGrpSpPr/>
          <p:nvPr/>
        </p:nvGrpSpPr>
        <p:grpSpPr>
          <a:xfrm>
            <a:off x="5455534" y="3611814"/>
            <a:ext cx="2081033" cy="3523790"/>
            <a:chOff x="0" y="0"/>
            <a:chExt cx="2081032" cy="3523789"/>
          </a:xfrm>
        </p:grpSpPr>
        <p:sp>
          <p:nvSpPr>
            <p:cNvPr id="474" name="矩形"/>
            <p:cNvSpPr/>
            <p:nvPr/>
          </p:nvSpPr>
          <p:spPr>
            <a:xfrm>
              <a:off x="0" y="0"/>
              <a:ext cx="2081033" cy="2948796"/>
            </a:xfrm>
            <a:prstGeom prst="rect">
              <a:avLst/>
            </a:prstGeom>
            <a:noFill/>
            <a:ln w="63500" cap="flat">
              <a:solidFill>
                <a:srgbClr val="A34431"/>
              </a:solidFill>
              <a:prstDash val="solid"/>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475" name="13"/>
            <p:cNvSpPr txBox="1"/>
            <p:nvPr/>
          </p:nvSpPr>
          <p:spPr>
            <a:xfrm>
              <a:off x="870665" y="3155489"/>
              <a:ext cx="415902" cy="3683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ctr">
              <a:spAutoFit/>
            </a:bodyPr>
            <a:lstStyle>
              <a:lvl1pPr>
                <a:defRPr sz="1800" b="1">
                  <a:latin typeface="Lucida Grande"/>
                  <a:ea typeface="Lucida Grande"/>
                  <a:cs typeface="Lucida Grande"/>
                  <a:sym typeface="Lucida Grande"/>
                </a:defRPr>
              </a:lvl1pPr>
            </a:lstStyle>
            <a:p>
              <a:r>
                <a:t>13</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4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46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 grpId="2" build="p" bldLvl="5" animBg="1" advAuto="0"/>
      <p:bldP spid="476" grpId="1" animBg="1" advAuto="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3" name="成组"/>
          <p:cNvGrpSpPr/>
          <p:nvPr/>
        </p:nvGrpSpPr>
        <p:grpSpPr>
          <a:xfrm>
            <a:off x="5135554" y="2371218"/>
            <a:ext cx="1759773" cy="3229482"/>
            <a:chOff x="0" y="0"/>
            <a:chExt cx="1759772" cy="3229481"/>
          </a:xfrm>
        </p:grpSpPr>
        <p:sp>
          <p:nvSpPr>
            <p:cNvPr id="480" name="矩形"/>
            <p:cNvSpPr/>
            <p:nvPr/>
          </p:nvSpPr>
          <p:spPr>
            <a:xfrm>
              <a:off x="0" y="413823"/>
              <a:ext cx="1759773" cy="2815659"/>
            </a:xfrm>
            <a:prstGeom prst="rect">
              <a:avLst/>
            </a:prstGeom>
            <a:solidFill>
              <a:srgbClr val="FBE8E5"/>
            </a:solidFill>
            <a:ln w="12700" cap="flat">
              <a:noFill/>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481" name="j"/>
            <p:cNvSpPr txBox="1"/>
            <p:nvPr/>
          </p:nvSpPr>
          <p:spPr>
            <a:xfrm>
              <a:off x="307361" y="5581"/>
              <a:ext cx="177814" cy="39370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ctr">
              <a:spAutoFit/>
            </a:bodyPr>
            <a:lstStyle>
              <a:lvl1pPr>
                <a:defRPr sz="1800" i="1">
                  <a:latin typeface="Times"/>
                  <a:ea typeface="Times"/>
                  <a:cs typeface="Times"/>
                  <a:sym typeface="Times"/>
                </a:defRPr>
              </a:lvl1pPr>
            </a:lstStyle>
            <a:p>
              <a:r>
                <a:t>j</a:t>
              </a:r>
            </a:p>
          </p:txBody>
        </p:sp>
        <p:sp>
          <p:nvSpPr>
            <p:cNvPr id="482" name="j′"/>
            <p:cNvSpPr txBox="1"/>
            <p:nvPr/>
          </p:nvSpPr>
          <p:spPr>
            <a:xfrm>
              <a:off x="1372591" y="-1"/>
              <a:ext cx="257154" cy="404864"/>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ctr">
              <a:spAutoFit/>
            </a:bodyPr>
            <a:lstStyle/>
            <a:p>
              <a:pPr>
                <a:defRPr sz="1800" i="1">
                  <a:latin typeface="Times"/>
                  <a:ea typeface="Times"/>
                  <a:cs typeface="Times"/>
                  <a:sym typeface="Times"/>
                </a:defRPr>
              </a:pPr>
              <a:r>
                <a:rPr spc="180"/>
                <a:t>j</a:t>
              </a:r>
              <a:r>
                <a:t>′</a:t>
              </a:r>
            </a:p>
          </p:txBody>
        </p:sp>
      </p:grpSp>
      <p:sp>
        <p:nvSpPr>
          <p:cNvPr id="484" name="Assumption.  Suppose you knew the left and right column indices j and j′.…"/>
          <p:cNvSpPr txBox="1">
            <a:spLocks noGrp="1"/>
          </p:cNvSpPr>
          <p:nvPr>
            <p:ph type="body" idx="1"/>
          </p:nvPr>
        </p:nvSpPr>
        <p:spPr>
          <a:prstGeom prst="rect">
            <a:avLst/>
          </a:prstGeom>
        </p:spPr>
        <p:txBody>
          <a:bodyPr/>
          <a:lstStyle/>
          <a:p>
            <a:r>
              <a:t>Assumption.  </a:t>
            </a:r>
            <a:r>
              <a:rPr>
                <a:solidFill>
                  <a:srgbClr val="000000"/>
                </a:solidFill>
              </a:rPr>
              <a:t>Suppose you knew the left and right column indices </a:t>
            </a:r>
            <a:r>
              <a:rPr i="1">
                <a:solidFill>
                  <a:srgbClr val="000000"/>
                </a:solidFill>
                <a:latin typeface="Times"/>
                <a:ea typeface="Times"/>
                <a:cs typeface="Times"/>
                <a:sym typeface="Times"/>
              </a:rPr>
              <a:t>j</a:t>
            </a:r>
            <a:r>
              <a:rPr>
                <a:solidFill>
                  <a:srgbClr val="000000"/>
                </a:solidFill>
              </a:rPr>
              <a:t> and </a:t>
            </a:r>
            <a:r>
              <a:rPr i="1" spc="240">
                <a:solidFill>
                  <a:srgbClr val="000000"/>
                </a:solidFill>
                <a:latin typeface="Times"/>
                <a:ea typeface="Times"/>
                <a:cs typeface="Times"/>
                <a:sym typeface="Times"/>
              </a:rPr>
              <a:t>j</a:t>
            </a:r>
            <a:r>
              <a:rPr>
                <a:solidFill>
                  <a:srgbClr val="000000"/>
                </a:solidFill>
                <a:latin typeface="Times"/>
                <a:ea typeface="Times"/>
                <a:cs typeface="Times"/>
                <a:sym typeface="Times"/>
              </a:rPr>
              <a:t>′</a:t>
            </a:r>
            <a:r>
              <a:rPr>
                <a:solidFill>
                  <a:srgbClr val="000000"/>
                </a:solidFill>
              </a:rPr>
              <a:t>.</a:t>
            </a:r>
            <a:br>
              <a:rPr>
                <a:solidFill>
                  <a:srgbClr val="000000"/>
                </a:solidFill>
                <a:latin typeface="Times"/>
                <a:ea typeface="Times"/>
                <a:cs typeface="Times"/>
                <a:sym typeface="Times"/>
              </a:rPr>
            </a:br>
            <a:br>
              <a:rPr>
                <a:solidFill>
                  <a:srgbClr val="000000"/>
                </a:solidFill>
                <a:latin typeface="Times"/>
                <a:ea typeface="Times"/>
                <a:cs typeface="Times"/>
                <a:sym typeface="Times"/>
              </a:rPr>
            </a:br>
            <a:br>
              <a:rPr>
                <a:solidFill>
                  <a:srgbClr val="000000"/>
                </a:solidFill>
                <a:latin typeface="Times"/>
                <a:ea typeface="Times"/>
                <a:cs typeface="Times"/>
                <a:sym typeface="Times"/>
              </a:rPr>
            </a:br>
            <a:br>
              <a:rPr>
                <a:solidFill>
                  <a:srgbClr val="000000"/>
                </a:solidFill>
                <a:latin typeface="Times"/>
                <a:ea typeface="Times"/>
                <a:cs typeface="Times"/>
                <a:sym typeface="Times"/>
              </a:rPr>
            </a:br>
            <a:br>
              <a:rPr>
                <a:solidFill>
                  <a:srgbClr val="000000"/>
                </a:solidFill>
                <a:latin typeface="Times"/>
                <a:ea typeface="Times"/>
                <a:cs typeface="Times"/>
                <a:sym typeface="Times"/>
              </a:rPr>
            </a:br>
            <a:br>
              <a:rPr>
                <a:solidFill>
                  <a:srgbClr val="000000"/>
                </a:solidFill>
                <a:latin typeface="Times"/>
                <a:ea typeface="Times"/>
                <a:cs typeface="Times"/>
                <a:sym typeface="Times"/>
              </a:rPr>
            </a:br>
            <a:br>
              <a:rPr>
                <a:solidFill>
                  <a:srgbClr val="000000"/>
                </a:solidFill>
                <a:latin typeface="Times"/>
                <a:ea typeface="Times"/>
                <a:cs typeface="Times"/>
                <a:sym typeface="Times"/>
              </a:rPr>
            </a:br>
            <a:endParaRPr>
              <a:solidFill>
                <a:srgbClr val="000000"/>
              </a:solidFill>
              <a:latin typeface="Times"/>
              <a:ea typeface="Times"/>
              <a:cs typeface="Times"/>
              <a:sym typeface="Times"/>
            </a:endParaRPr>
          </a:p>
          <a:p>
            <a:r>
              <a:t>An </a:t>
            </a:r>
            <a:r>
              <a:rPr i="1">
                <a:latin typeface="Times"/>
                <a:ea typeface="Times"/>
                <a:cs typeface="Times"/>
                <a:sym typeface="Times"/>
              </a:rPr>
              <a:t>O</a:t>
            </a:r>
            <a:r>
              <a:rPr>
                <a:latin typeface="Times"/>
                <a:ea typeface="Times"/>
                <a:cs typeface="Times"/>
                <a:sym typeface="Times"/>
              </a:rPr>
              <a:t>(</a:t>
            </a:r>
            <a:r>
              <a:rPr i="1">
                <a:latin typeface="Times"/>
                <a:ea typeface="Times"/>
                <a:cs typeface="Times"/>
                <a:sym typeface="Times"/>
              </a:rPr>
              <a:t>n</a:t>
            </a:r>
            <a:r>
              <a:rPr baseline="44499">
                <a:latin typeface="Times"/>
                <a:ea typeface="Times"/>
                <a:cs typeface="Times"/>
                <a:sym typeface="Times"/>
              </a:rPr>
              <a:t>3</a:t>
            </a:r>
            <a:r>
              <a:rPr>
                <a:latin typeface="Times"/>
                <a:ea typeface="Times"/>
                <a:cs typeface="Times"/>
                <a:sym typeface="Times"/>
              </a:rPr>
              <a:t>)</a:t>
            </a:r>
            <a:r>
              <a:t> algorithm.</a:t>
            </a:r>
          </a:p>
          <a:p>
            <a:pPr lvl="1"/>
            <a:r>
              <a:t>Precompute cumulative row sums                     .</a:t>
            </a:r>
          </a:p>
          <a:p>
            <a:pPr lvl="1"/>
            <a:r>
              <a:t>For each </a:t>
            </a:r>
            <a:r>
              <a:rPr i="1">
                <a:latin typeface="Times"/>
                <a:ea typeface="Times"/>
                <a:cs typeface="Times"/>
                <a:sym typeface="Times"/>
              </a:rPr>
              <a:t>j </a:t>
            </a:r>
            <a:r>
              <a:rPr>
                <a:latin typeface="Times"/>
                <a:ea typeface="Times"/>
                <a:cs typeface="Times"/>
                <a:sym typeface="Times"/>
              </a:rPr>
              <a:t>&lt; </a:t>
            </a:r>
            <a:r>
              <a:rPr i="1" spc="240">
                <a:latin typeface="Times"/>
                <a:ea typeface="Times"/>
                <a:cs typeface="Times"/>
                <a:sym typeface="Times"/>
              </a:rPr>
              <a:t>j</a:t>
            </a:r>
            <a:r>
              <a:rPr>
                <a:latin typeface="Times"/>
                <a:ea typeface="Times"/>
                <a:cs typeface="Times"/>
                <a:sym typeface="Times"/>
              </a:rPr>
              <a:t>′ :</a:t>
            </a:r>
          </a:p>
          <a:p>
            <a:pPr lvl="2"/>
            <a:r>
              <a:t>define array </a:t>
            </a:r>
            <a:r>
              <a:rPr i="1">
                <a:latin typeface="Times"/>
                <a:ea typeface="Times"/>
                <a:cs typeface="Times"/>
                <a:sym typeface="Times"/>
              </a:rPr>
              <a:t>x</a:t>
            </a:r>
            <a:r>
              <a:t> using row-sum differences:</a:t>
            </a:r>
          </a:p>
          <a:p>
            <a:pPr lvl="2"/>
            <a:r>
              <a:t>run Kadane’s algorithm in array </a:t>
            </a:r>
            <a:r>
              <a:rPr i="1">
                <a:latin typeface="Times"/>
                <a:ea typeface="Times"/>
                <a:cs typeface="Times"/>
                <a:sym typeface="Times"/>
              </a:rPr>
              <a:t>x</a:t>
            </a:r>
          </a:p>
          <a:p>
            <a:br/>
            <a:r>
              <a:t>Open problem.  </a:t>
            </a:r>
            <a:r>
              <a:rPr i="1">
                <a:solidFill>
                  <a:srgbClr val="000000"/>
                </a:solidFill>
                <a:latin typeface="Times"/>
                <a:ea typeface="Times"/>
                <a:cs typeface="Times"/>
                <a:sym typeface="Times"/>
              </a:rPr>
              <a:t>O</a:t>
            </a:r>
            <a:r>
              <a:rPr>
                <a:solidFill>
                  <a:srgbClr val="000000"/>
                </a:solidFill>
                <a:latin typeface="Times"/>
                <a:ea typeface="Times"/>
                <a:cs typeface="Times"/>
                <a:sym typeface="Times"/>
              </a:rPr>
              <a:t>(</a:t>
            </a:r>
            <a:r>
              <a:rPr i="1">
                <a:solidFill>
                  <a:srgbClr val="000000"/>
                </a:solidFill>
                <a:latin typeface="Times"/>
                <a:ea typeface="Times"/>
                <a:cs typeface="Times"/>
                <a:sym typeface="Times"/>
              </a:rPr>
              <a:t>n</a:t>
            </a:r>
            <a:r>
              <a:rPr baseline="44499">
                <a:solidFill>
                  <a:srgbClr val="000000"/>
                </a:solidFill>
                <a:latin typeface="Times"/>
                <a:ea typeface="Times"/>
                <a:cs typeface="Times"/>
                <a:sym typeface="Times"/>
              </a:rPr>
              <a:t>3−ε</a:t>
            </a:r>
            <a:r>
              <a:rPr>
                <a:solidFill>
                  <a:srgbClr val="000000"/>
                </a:solidFill>
                <a:latin typeface="Times"/>
                <a:ea typeface="Times"/>
                <a:cs typeface="Times"/>
                <a:sym typeface="Times"/>
              </a:rPr>
              <a:t>)</a:t>
            </a:r>
            <a:r>
              <a:rPr>
                <a:solidFill>
                  <a:srgbClr val="000000"/>
                </a:solidFill>
              </a:rPr>
              <a:t> for any constant </a:t>
            </a:r>
            <a:r>
              <a:rPr>
                <a:solidFill>
                  <a:srgbClr val="000000"/>
                </a:solidFill>
                <a:latin typeface="Times"/>
                <a:ea typeface="Times"/>
                <a:cs typeface="Times"/>
                <a:sym typeface="Times"/>
              </a:rPr>
              <a:t>ε &gt; 0</a:t>
            </a:r>
            <a:r>
              <a:rPr>
                <a:solidFill>
                  <a:srgbClr val="000000"/>
                </a:solidFill>
              </a:rPr>
              <a:t>.</a:t>
            </a:r>
          </a:p>
        </p:txBody>
      </p:sp>
      <p:pic>
        <p:nvPicPr>
          <p:cNvPr id="485" name="图像" descr="图像"/>
          <p:cNvPicPr>
            <a:picLocks noChangeAspect="1"/>
          </p:cNvPicPr>
          <p:nvPr/>
        </p:nvPicPr>
        <p:blipFill>
          <a:blip r:embed="rId3"/>
          <a:stretch>
            <a:fillRect/>
          </a:stretch>
        </p:blipFill>
        <p:spPr>
          <a:xfrm>
            <a:off x="3231237" y="2872808"/>
            <a:ext cx="4798239" cy="2649773"/>
          </a:xfrm>
          <a:prstGeom prst="rect">
            <a:avLst/>
          </a:prstGeom>
          <a:ln w="12700">
            <a:miter lim="400000"/>
          </a:ln>
        </p:spPr>
      </p:pic>
      <p:sp>
        <p:nvSpPr>
          <p:cNvPr id="486" name="线条"/>
          <p:cNvSpPr/>
          <p:nvPr/>
        </p:nvSpPr>
        <p:spPr>
          <a:xfrm flipV="1">
            <a:off x="825500" y="990492"/>
            <a:ext cx="11366500" cy="108"/>
          </a:xfrm>
          <a:prstGeom prst="line">
            <a:avLst/>
          </a:prstGeom>
          <a:ln w="12700">
            <a:solidFill>
              <a:srgbClr val="000000"/>
            </a:solidFill>
          </a:ln>
        </p:spPr>
        <p:txBody>
          <a:bodyPr lIns="0" tIns="0" rIns="0" bIns="0"/>
          <a:lstStyle/>
          <a:p>
            <a:pPr algn="l" defTabSz="457200">
              <a:lnSpc>
                <a:spcPct val="100000"/>
              </a:lnSpc>
              <a:buClrTx/>
              <a:buFontTx/>
              <a:tabLst/>
              <a:defRPr sz="1200">
                <a:solidFill>
                  <a:srgbClr val="000000"/>
                </a:solidFill>
              </a:defRPr>
            </a:pPr>
            <a:endParaRPr/>
          </a:p>
        </p:txBody>
      </p:sp>
      <p:sp>
        <p:nvSpPr>
          <p:cNvPr id="487" name="Bentley’s algorithm"/>
          <p:cNvSpPr txBox="1">
            <a:spLocks noGrp="1"/>
          </p:cNvSpPr>
          <p:nvPr>
            <p:ph type="title"/>
          </p:nvPr>
        </p:nvSpPr>
        <p:spPr>
          <a:prstGeom prst="rect">
            <a:avLst/>
          </a:prstGeom>
        </p:spPr>
        <p:txBody>
          <a:bodyPr/>
          <a:lstStyle/>
          <a:p>
            <a:r>
              <a:t>Bentley’s algorithm</a:t>
            </a:r>
          </a:p>
        </p:txBody>
      </p:sp>
      <p:sp>
        <p:nvSpPr>
          <p:cNvPr id="488"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30</a:t>
            </a:fld>
            <a:endParaRPr/>
          </a:p>
        </p:txBody>
      </p:sp>
      <p:pic>
        <p:nvPicPr>
          <p:cNvPr id="489" name="interview-white.pdf" descr="interview-white.pdf"/>
          <p:cNvPicPr>
            <a:picLocks noChangeAspect="1"/>
          </p:cNvPicPr>
          <p:nvPr/>
        </p:nvPicPr>
        <p:blipFill>
          <a:blip r:embed="rId4"/>
          <a:stretch>
            <a:fillRect/>
          </a:stretch>
        </p:blipFill>
        <p:spPr>
          <a:xfrm>
            <a:off x="11493500" y="382872"/>
            <a:ext cx="687389" cy="468505"/>
          </a:xfrm>
          <a:prstGeom prst="rect">
            <a:avLst/>
          </a:prstGeom>
          <a:ln w="12700">
            <a:miter lim="400000"/>
          </a:ln>
        </p:spPr>
      </p:pic>
      <p:pic>
        <p:nvPicPr>
          <p:cNvPr id="490" name="图像" descr="图像"/>
          <p:cNvPicPr>
            <a:picLocks noChangeAspect="1"/>
          </p:cNvPicPr>
          <p:nvPr/>
        </p:nvPicPr>
        <p:blipFill>
          <a:blip r:embed="rId5"/>
          <a:stretch>
            <a:fillRect/>
          </a:stretch>
        </p:blipFill>
        <p:spPr>
          <a:xfrm>
            <a:off x="6605990" y="6138625"/>
            <a:ext cx="1803401" cy="914401"/>
          </a:xfrm>
          <a:prstGeom prst="rect">
            <a:avLst/>
          </a:prstGeom>
          <a:ln w="12700">
            <a:miter lim="400000"/>
          </a:ln>
        </p:spPr>
      </p:pic>
      <p:grpSp>
        <p:nvGrpSpPr>
          <p:cNvPr id="493" name="成组"/>
          <p:cNvGrpSpPr/>
          <p:nvPr/>
        </p:nvGrpSpPr>
        <p:grpSpPr>
          <a:xfrm>
            <a:off x="10229485" y="5658511"/>
            <a:ext cx="2402475" cy="1616892"/>
            <a:chOff x="117335" y="0"/>
            <a:chExt cx="2402473" cy="1616890"/>
          </a:xfrm>
        </p:grpSpPr>
        <p:sp>
          <p:nvSpPr>
            <p:cNvPr id="491" name="solve maximum…"/>
            <p:cNvSpPr/>
            <p:nvPr/>
          </p:nvSpPr>
          <p:spPr>
            <a:xfrm>
              <a:off x="1249808" y="346890"/>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p>
              <a:pPr marL="58702" marR="58702" defTabSz="1295400">
                <a:lnSpc>
                  <a:spcPts val="2000"/>
                </a:lnSpc>
                <a:buClrTx/>
                <a:buFontTx/>
                <a:tabLst/>
                <a:defRPr>
                  <a:uFill>
                    <a:solidFill>
                      <a:srgbClr val="8D3124"/>
                    </a:solidFill>
                  </a:uFill>
                </a:defRPr>
              </a:pPr>
              <a:r>
                <a:t>solve maximum</a:t>
              </a:r>
            </a:p>
            <a:p>
              <a:pPr marL="58702" marR="58702" defTabSz="1295400">
                <a:lnSpc>
                  <a:spcPts val="2000"/>
                </a:lnSpc>
                <a:buClrTx/>
                <a:buFontTx/>
                <a:tabLst/>
                <a:defRPr>
                  <a:uFill>
                    <a:solidFill>
                      <a:srgbClr val="8D3124"/>
                    </a:solidFill>
                  </a:uFill>
                </a:defRPr>
              </a:pPr>
              <a:r>
                <a:t>subarray problem</a:t>
              </a:r>
            </a:p>
            <a:p>
              <a:pPr marL="58702" marR="58702" defTabSz="1295400">
                <a:lnSpc>
                  <a:spcPts val="2000"/>
                </a:lnSpc>
                <a:buClrTx/>
                <a:buFontTx/>
                <a:tabLst/>
                <a:defRPr>
                  <a:uFill>
                    <a:solidFill>
                      <a:srgbClr val="8D3124"/>
                    </a:solidFill>
                  </a:uFill>
                </a:defRPr>
              </a:pPr>
              <a:r>
                <a:t>in this array</a:t>
              </a:r>
            </a:p>
          </p:txBody>
        </p:sp>
        <p:sp>
          <p:nvSpPr>
            <p:cNvPr id="492" name="线条"/>
            <p:cNvSpPr/>
            <p:nvPr/>
          </p:nvSpPr>
          <p:spPr>
            <a:xfrm>
              <a:off x="117335" y="-1"/>
              <a:ext cx="201335" cy="476032"/>
            </a:xfrm>
            <a:prstGeom prst="line">
              <a:avLst/>
            </a:prstGeom>
            <a:noFill/>
            <a:ln w="25400" cap="flat">
              <a:solidFill>
                <a:srgbClr val="8D3124"/>
              </a:solidFill>
              <a:prstDash val="solid"/>
              <a:round/>
              <a:headEnd type="triangle"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grpSp>
        <p:nvGrpSpPr>
          <p:cNvPr id="497" name="成组"/>
          <p:cNvGrpSpPr/>
          <p:nvPr/>
        </p:nvGrpSpPr>
        <p:grpSpPr>
          <a:xfrm>
            <a:off x="9027321" y="2867094"/>
            <a:ext cx="3102768" cy="2654301"/>
            <a:chOff x="0" y="0"/>
            <a:chExt cx="3102766" cy="2654300"/>
          </a:xfrm>
        </p:grpSpPr>
        <p:pic>
          <p:nvPicPr>
            <p:cNvPr id="494" name="图像" descr="图像"/>
            <p:cNvPicPr>
              <a:picLocks noChangeAspect="1"/>
            </p:cNvPicPr>
            <p:nvPr/>
          </p:nvPicPr>
          <p:blipFill>
            <a:blip r:embed="rId6"/>
            <a:stretch>
              <a:fillRect/>
            </a:stretch>
          </p:blipFill>
          <p:spPr>
            <a:xfrm>
              <a:off x="0" y="0"/>
              <a:ext cx="1414261" cy="2654300"/>
            </a:xfrm>
            <a:prstGeom prst="rect">
              <a:avLst/>
            </a:prstGeom>
            <a:ln w="12700" cap="flat">
              <a:noFill/>
              <a:miter lim="400000"/>
            </a:ln>
            <a:effectLst/>
          </p:spPr>
        </p:pic>
        <p:sp>
          <p:nvSpPr>
            <p:cNvPr id="495" name="0 − 5 − 2"/>
            <p:cNvSpPr txBox="1"/>
            <p:nvPr/>
          </p:nvSpPr>
          <p:spPr>
            <a:xfrm>
              <a:off x="2100419" y="460598"/>
              <a:ext cx="1002348" cy="361951"/>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numCol="1" anchor="t">
              <a:spAutoFit/>
            </a:bodyPr>
            <a:lstStyle>
              <a:lvl1pPr marL="58702" marR="58702" defTabSz="1295400">
                <a:lnSpc>
                  <a:spcPts val="2000"/>
                </a:lnSpc>
                <a:buClrTx/>
                <a:buFontTx/>
                <a:tabLst/>
                <a:defRPr sz="1800">
                  <a:uFill>
                    <a:solidFill>
                      <a:srgbClr val="8D3124"/>
                    </a:solidFill>
                  </a:uFill>
                  <a:latin typeface="Times"/>
                  <a:ea typeface="Times"/>
                  <a:cs typeface="Times"/>
                  <a:sym typeface="Times"/>
                </a:defRPr>
              </a:lvl1pPr>
            </a:lstStyle>
            <a:p>
              <a:r>
                <a:t>0 − 5 − 2</a:t>
              </a:r>
            </a:p>
          </p:txBody>
        </p:sp>
        <p:sp>
          <p:nvSpPr>
            <p:cNvPr id="496" name="线条"/>
            <p:cNvSpPr/>
            <p:nvPr/>
          </p:nvSpPr>
          <p:spPr>
            <a:xfrm>
              <a:off x="1215193" y="231246"/>
              <a:ext cx="829854" cy="347815"/>
            </a:xfrm>
            <a:prstGeom prst="line">
              <a:avLst/>
            </a:prstGeom>
            <a:noFill/>
            <a:ln w="25400" cap="flat">
              <a:solidFill>
                <a:srgbClr val="8D3124"/>
              </a:solidFill>
              <a:prstDash val="solid"/>
              <a:round/>
              <a:headEnd type="triangle"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pic>
        <p:nvPicPr>
          <p:cNvPr id="498" name="图像" descr="图像"/>
          <p:cNvPicPr>
            <a:picLocks noChangeAspect="1"/>
          </p:cNvPicPr>
          <p:nvPr/>
        </p:nvPicPr>
        <p:blipFill>
          <a:blip r:embed="rId7"/>
          <a:stretch>
            <a:fillRect/>
          </a:stretch>
        </p:blipFill>
        <p:spPr>
          <a:xfrm>
            <a:off x="8121180" y="7417730"/>
            <a:ext cx="1905001" cy="317501"/>
          </a:xfrm>
          <a:prstGeom prst="rect">
            <a:avLst/>
          </a:prstGeom>
          <a:ln w="12700">
            <a:miter lim="400000"/>
          </a:ln>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2" name="KleinbergTardosCover.pdf" descr="KleinbergTardosCover.pdf"/>
          <p:cNvPicPr>
            <a:picLocks noChangeAspect="1"/>
          </p:cNvPicPr>
          <p:nvPr/>
        </p:nvPicPr>
        <p:blipFill>
          <a:blip r:embed="rId2">
            <a:alphaModFix amt="50000"/>
          </a:blip>
          <a:srcRect l="1755" t="7594" r="1755" b="7594"/>
          <a:stretch>
            <a:fillRect/>
          </a:stretch>
        </p:blipFill>
        <p:spPr>
          <a:xfrm>
            <a:off x="655880" y="1764307"/>
            <a:ext cx="4445201" cy="5056414"/>
          </a:xfrm>
          <a:prstGeom prst="rect">
            <a:avLst/>
          </a:prstGeom>
          <a:ln w="12700">
            <a:miter lim="400000"/>
          </a:ln>
        </p:spPr>
      </p:pic>
      <p:pic>
        <p:nvPicPr>
          <p:cNvPr id="503" name="Aw_COLOR_web_logo.png" descr="Aw_COLOR_web_logo.png"/>
          <p:cNvPicPr>
            <a:picLocks noChangeAspect="1"/>
          </p:cNvPicPr>
          <p:nvPr/>
        </p:nvPicPr>
        <p:blipFill>
          <a:blip r:embed="rId3">
            <a:alphaModFix amt="33000"/>
          </a:blip>
          <a:stretch>
            <a:fillRect/>
          </a:stretch>
        </p:blipFill>
        <p:spPr>
          <a:xfrm>
            <a:off x="4164381" y="1892300"/>
            <a:ext cx="737819" cy="812800"/>
          </a:xfrm>
          <a:prstGeom prst="rect">
            <a:avLst/>
          </a:prstGeom>
          <a:ln w="12700">
            <a:miter lim="400000"/>
          </a:ln>
        </p:spPr>
      </p:pic>
      <p:sp>
        <p:nvSpPr>
          <p:cNvPr id="504" name="线条"/>
          <p:cNvSpPr/>
          <p:nvPr/>
        </p:nvSpPr>
        <p:spPr>
          <a:xfrm>
            <a:off x="5778500" y="2349500"/>
            <a:ext cx="6515101" cy="1"/>
          </a:xfrm>
          <a:prstGeom prst="line">
            <a:avLst/>
          </a:prstGeom>
          <a:ln w="25400">
            <a:solidFill>
              <a:srgbClr val="000000"/>
            </a:solidFill>
            <a:miter lim="400000"/>
          </a:ln>
        </p:spPr>
        <p:txBody>
          <a:bodyPr lIns="50800" tIns="50800" rIns="50800" bIns="50800" anchor="ctr"/>
          <a:lstStyle/>
          <a:p>
            <a:pPr algn="l" defTabSz="457200">
              <a:lnSpc>
                <a:spcPct val="100000"/>
              </a:lnSpc>
              <a:buClrTx/>
              <a:buFontTx/>
              <a:tabLst/>
              <a:defRPr sz="1200">
                <a:solidFill>
                  <a:srgbClr val="000000"/>
                </a:solidFill>
              </a:defRPr>
            </a:pPr>
            <a:endParaRPr/>
          </a:p>
        </p:txBody>
      </p:sp>
      <p:sp>
        <p:nvSpPr>
          <p:cNvPr id="505" name="Dynamic Programming I"/>
          <p:cNvSpPr txBox="1">
            <a:spLocks noGrp="1"/>
          </p:cNvSpPr>
          <p:nvPr>
            <p:ph type="title"/>
          </p:nvPr>
        </p:nvSpPr>
        <p:spPr>
          <a:prstGeom prst="rect">
            <a:avLst/>
          </a:prstGeom>
        </p:spPr>
        <p:txBody>
          <a:bodyPr/>
          <a:lstStyle/>
          <a:p>
            <a:r>
              <a:rPr dirty="0"/>
              <a:t>Dynamic Programming</a:t>
            </a:r>
          </a:p>
        </p:txBody>
      </p:sp>
      <p:sp>
        <p:nvSpPr>
          <p:cNvPr id="506" name="weighted interval scheduling…"/>
          <p:cNvSpPr txBox="1">
            <a:spLocks noGrp="1"/>
          </p:cNvSpPr>
          <p:nvPr>
            <p:ph type="body" sz="half" idx="1"/>
          </p:nvPr>
        </p:nvSpPr>
        <p:spPr>
          <a:prstGeom prst="rect">
            <a:avLst/>
          </a:prstGeom>
        </p:spPr>
        <p:txBody>
          <a:bodyPr/>
          <a:lstStyle/>
          <a:p>
            <a:pPr lvl="1"/>
            <a:r>
              <a:t>weighted interval scheduling</a:t>
            </a:r>
          </a:p>
          <a:p>
            <a:r>
              <a:t>segmented least squares</a:t>
            </a:r>
          </a:p>
          <a:p>
            <a:pPr lvl="1"/>
            <a:r>
              <a:t>knapsack problem</a:t>
            </a:r>
          </a:p>
        </p:txBody>
      </p:sp>
      <p:sp>
        <p:nvSpPr>
          <p:cNvPr id="507" name="Section 6.3"/>
          <p:cNvSpPr txBox="1">
            <a:spLocks noGrp="1"/>
          </p:cNvSpPr>
          <p:nvPr>
            <p:ph type="body" idx="13"/>
          </p:nvPr>
        </p:nvSpPr>
        <p:spPr>
          <a:prstGeom prst="rect">
            <a:avLst/>
          </a:prstGeom>
        </p:spPr>
        <p:txBody>
          <a:bodyPr/>
          <a:lstStyle/>
          <a:p>
            <a:r>
              <a:t>Section 6.3</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510" name="Least squares"/>
          <p:cNvSpPr txBox="1">
            <a:spLocks noGrp="1"/>
          </p:cNvSpPr>
          <p:nvPr>
            <p:ph type="title"/>
          </p:nvPr>
        </p:nvSpPr>
        <p:spPr>
          <a:prstGeom prst="rect">
            <a:avLst/>
          </a:prstGeom>
        </p:spPr>
        <p:txBody>
          <a:bodyPr/>
          <a:lstStyle/>
          <a:p>
            <a:r>
              <a:t>Least squares</a:t>
            </a:r>
          </a:p>
        </p:txBody>
      </p:sp>
      <p:sp>
        <p:nvSpPr>
          <p:cNvPr id="511" name="Least squares.  Foundational problem in statistics.…"/>
          <p:cNvSpPr txBox="1">
            <a:spLocks noGrp="1"/>
          </p:cNvSpPr>
          <p:nvPr>
            <p:ph type="body" idx="1"/>
          </p:nvPr>
        </p:nvSpPr>
        <p:spPr>
          <a:prstGeom prst="rect">
            <a:avLst/>
          </a:prstGeom>
        </p:spPr>
        <p:txBody>
          <a:bodyPr/>
          <a:lstStyle/>
          <a:p>
            <a:r>
              <a:t>Least squares.  </a:t>
            </a:r>
            <a:r>
              <a:rPr>
                <a:solidFill>
                  <a:srgbClr val="000000"/>
                </a:solidFill>
              </a:rPr>
              <a:t>Foundational problem in statistics.</a:t>
            </a:r>
          </a:p>
          <a:p>
            <a:pPr lvl="1"/>
            <a:r>
              <a:t>Given </a:t>
            </a:r>
            <a:r>
              <a:rPr i="1">
                <a:latin typeface="Times"/>
                <a:ea typeface="Times"/>
                <a:cs typeface="Times"/>
                <a:sym typeface="Times"/>
              </a:rPr>
              <a:t>n</a:t>
            </a:r>
            <a:r>
              <a:t> points in the plane:  </a:t>
            </a:r>
            <a:r>
              <a:rPr>
                <a:latin typeface="Times"/>
                <a:ea typeface="Times"/>
                <a:cs typeface="Times"/>
                <a:sym typeface="Times"/>
              </a:rPr>
              <a:t>(</a:t>
            </a:r>
            <a:r>
              <a:rPr i="1">
                <a:latin typeface="Times"/>
                <a:ea typeface="Times"/>
                <a:cs typeface="Times"/>
                <a:sym typeface="Times"/>
              </a:rPr>
              <a:t>x</a:t>
            </a:r>
            <a:r>
              <a:rPr baseline="-5999">
                <a:latin typeface="Times"/>
                <a:ea typeface="Times"/>
                <a:cs typeface="Times"/>
                <a:sym typeface="Times"/>
              </a:rPr>
              <a:t>1</a:t>
            </a:r>
            <a:r>
              <a:rPr>
                <a:latin typeface="Times"/>
                <a:ea typeface="Times"/>
                <a:cs typeface="Times"/>
                <a:sym typeface="Times"/>
              </a:rPr>
              <a:t>, </a:t>
            </a:r>
            <a:r>
              <a:rPr i="1">
                <a:latin typeface="Times"/>
                <a:ea typeface="Times"/>
                <a:cs typeface="Times"/>
                <a:sym typeface="Times"/>
              </a:rPr>
              <a:t>y</a:t>
            </a:r>
            <a:r>
              <a:rPr baseline="-5999">
                <a:latin typeface="Times"/>
                <a:ea typeface="Times"/>
                <a:cs typeface="Times"/>
                <a:sym typeface="Times"/>
              </a:rPr>
              <a:t>1</a:t>
            </a:r>
            <a:r>
              <a:rPr>
                <a:latin typeface="Times"/>
                <a:ea typeface="Times"/>
                <a:cs typeface="Times"/>
                <a:sym typeface="Times"/>
              </a:rPr>
              <a:t>), (</a:t>
            </a:r>
            <a:r>
              <a:rPr i="1">
                <a:latin typeface="Times"/>
                <a:ea typeface="Times"/>
                <a:cs typeface="Times"/>
                <a:sym typeface="Times"/>
              </a:rPr>
              <a:t>x</a:t>
            </a:r>
            <a:r>
              <a:rPr baseline="-5999">
                <a:latin typeface="Times"/>
                <a:ea typeface="Times"/>
                <a:cs typeface="Times"/>
                <a:sym typeface="Times"/>
              </a:rPr>
              <a:t>2</a:t>
            </a:r>
            <a:r>
              <a:rPr>
                <a:latin typeface="Times"/>
                <a:ea typeface="Times"/>
                <a:cs typeface="Times"/>
                <a:sym typeface="Times"/>
              </a:rPr>
              <a:t>, </a:t>
            </a:r>
            <a:r>
              <a:rPr i="1">
                <a:latin typeface="Times"/>
                <a:ea typeface="Times"/>
                <a:cs typeface="Times"/>
                <a:sym typeface="Times"/>
              </a:rPr>
              <a:t>y</a:t>
            </a:r>
            <a:r>
              <a:rPr baseline="-5999">
                <a:latin typeface="Times"/>
                <a:ea typeface="Times"/>
                <a:cs typeface="Times"/>
                <a:sym typeface="Times"/>
              </a:rPr>
              <a:t>2</a:t>
            </a:r>
            <a:r>
              <a:rPr>
                <a:latin typeface="Times"/>
                <a:ea typeface="Times"/>
                <a:cs typeface="Times"/>
                <a:sym typeface="Times"/>
              </a:rPr>
              <a:t>) , …, (</a:t>
            </a:r>
            <a:r>
              <a:rPr i="1">
                <a:latin typeface="Times"/>
                <a:ea typeface="Times"/>
                <a:cs typeface="Times"/>
                <a:sym typeface="Times"/>
              </a:rPr>
              <a:t>x</a:t>
            </a:r>
            <a:r>
              <a:rPr i="1" baseline="-5999">
                <a:latin typeface="Times"/>
                <a:ea typeface="Times"/>
                <a:cs typeface="Times"/>
                <a:sym typeface="Times"/>
              </a:rPr>
              <a:t>n</a:t>
            </a:r>
            <a:r>
              <a:rPr>
                <a:latin typeface="Times"/>
                <a:ea typeface="Times"/>
                <a:cs typeface="Times"/>
                <a:sym typeface="Times"/>
              </a:rPr>
              <a:t>, </a:t>
            </a:r>
            <a:r>
              <a:rPr i="1">
                <a:latin typeface="Times"/>
                <a:ea typeface="Times"/>
                <a:cs typeface="Times"/>
                <a:sym typeface="Times"/>
              </a:rPr>
              <a:t>y</a:t>
            </a:r>
            <a:r>
              <a:rPr i="1" baseline="-5999">
                <a:latin typeface="Times"/>
                <a:ea typeface="Times"/>
                <a:cs typeface="Times"/>
                <a:sym typeface="Times"/>
              </a:rPr>
              <a:t>n</a:t>
            </a:r>
            <a:r>
              <a:rPr>
                <a:latin typeface="Times"/>
                <a:ea typeface="Times"/>
                <a:cs typeface="Times"/>
                <a:sym typeface="Times"/>
              </a:rPr>
              <a:t>)</a:t>
            </a:r>
            <a:r>
              <a:t>.</a:t>
            </a:r>
          </a:p>
          <a:p>
            <a:pPr lvl="1"/>
            <a:r>
              <a:t>Find a line </a:t>
            </a:r>
            <a:r>
              <a:rPr i="1">
                <a:latin typeface="Times"/>
                <a:ea typeface="Times"/>
                <a:cs typeface="Times"/>
                <a:sym typeface="Times"/>
              </a:rPr>
              <a:t>y</a:t>
            </a:r>
            <a:r>
              <a:rPr>
                <a:latin typeface="Times"/>
                <a:ea typeface="Times"/>
                <a:cs typeface="Times"/>
                <a:sym typeface="Times"/>
              </a:rPr>
              <a:t> = </a:t>
            </a:r>
            <a:r>
              <a:rPr i="1">
                <a:latin typeface="Times"/>
                <a:ea typeface="Times"/>
                <a:cs typeface="Times"/>
                <a:sym typeface="Times"/>
              </a:rPr>
              <a:t>ax</a:t>
            </a:r>
            <a:r>
              <a:rPr>
                <a:latin typeface="Times"/>
                <a:ea typeface="Times"/>
                <a:cs typeface="Times"/>
                <a:sym typeface="Times"/>
              </a:rPr>
              <a:t> + </a:t>
            </a:r>
            <a:r>
              <a:rPr i="1">
                <a:latin typeface="Times"/>
                <a:ea typeface="Times"/>
                <a:cs typeface="Times"/>
                <a:sym typeface="Times"/>
              </a:rPr>
              <a:t>b</a:t>
            </a:r>
            <a:r>
              <a:t> that minimizes the sum of the squared error: </a:t>
            </a:r>
          </a:p>
          <a:p>
            <a:br/>
            <a:br/>
            <a:br/>
            <a:br/>
            <a:br/>
            <a:br/>
            <a:br/>
            <a:br/>
            <a:br/>
            <a:r>
              <a:t>Solution.  </a:t>
            </a:r>
            <a:r>
              <a:rPr>
                <a:solidFill>
                  <a:srgbClr val="000000"/>
                </a:solidFill>
              </a:rPr>
              <a:t>Calculus  </a:t>
            </a:r>
            <a:r>
              <a:rPr>
                <a:solidFill>
                  <a:srgbClr val="000000"/>
                </a:solidFill>
                <a:latin typeface="Times"/>
                <a:ea typeface="Times"/>
                <a:cs typeface="Times"/>
                <a:sym typeface="Times"/>
              </a:rPr>
              <a:t>⇒</a:t>
            </a:r>
            <a:r>
              <a:rPr>
                <a:solidFill>
                  <a:srgbClr val="000000"/>
                </a:solidFill>
              </a:rPr>
              <a:t>  min error is achieved when</a:t>
            </a:r>
          </a:p>
        </p:txBody>
      </p:sp>
      <p:grpSp>
        <p:nvGrpSpPr>
          <p:cNvPr id="531" name="成组"/>
          <p:cNvGrpSpPr/>
          <p:nvPr/>
        </p:nvGrpSpPr>
        <p:grpSpPr>
          <a:xfrm>
            <a:off x="7727808" y="3454400"/>
            <a:ext cx="5090777" cy="3889023"/>
            <a:chOff x="12705" y="0"/>
            <a:chExt cx="5090775" cy="3889022"/>
          </a:xfrm>
        </p:grpSpPr>
        <p:sp>
          <p:nvSpPr>
            <p:cNvPr id="512" name="线条"/>
            <p:cNvSpPr/>
            <p:nvPr/>
          </p:nvSpPr>
          <p:spPr>
            <a:xfrm>
              <a:off x="351339" y="15240"/>
              <a:ext cx="2258" cy="2716107"/>
            </a:xfrm>
            <a:prstGeom prst="line">
              <a:avLst/>
            </a:prstGeom>
            <a:noFill/>
            <a:ln w="12700" cap="flat">
              <a:solidFill>
                <a:srgbClr val="000000"/>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513" name="线条"/>
            <p:cNvSpPr/>
            <p:nvPr/>
          </p:nvSpPr>
          <p:spPr>
            <a:xfrm>
              <a:off x="12705" y="2459735"/>
              <a:ext cx="3869832" cy="2259"/>
            </a:xfrm>
            <a:prstGeom prst="line">
              <a:avLst/>
            </a:prstGeom>
            <a:noFill/>
            <a:ln w="12700" cap="flat">
              <a:solidFill>
                <a:srgbClr val="000000"/>
              </a:solidFill>
              <a:prstDash val="solid"/>
              <a:miter lim="400000"/>
              <a:tail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514" name="线条"/>
            <p:cNvSpPr/>
            <p:nvPr/>
          </p:nvSpPr>
          <p:spPr>
            <a:xfrm flipV="1">
              <a:off x="61599" y="15240"/>
              <a:ext cx="3578281" cy="2227208"/>
            </a:xfrm>
            <a:prstGeom prst="line">
              <a:avLst/>
            </a:prstGeom>
            <a:noFill/>
            <a:ln w="38100" cap="flat">
              <a:solidFill>
                <a:srgbClr val="003F83"/>
              </a:solidFill>
              <a:prstDash val="solid"/>
              <a:miter lim="400000"/>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515" name="线条"/>
            <p:cNvSpPr/>
            <p:nvPr/>
          </p:nvSpPr>
          <p:spPr>
            <a:xfrm>
              <a:off x="1961202" y="777560"/>
              <a:ext cx="3623" cy="273422"/>
            </a:xfrm>
            <a:prstGeom prst="line">
              <a:avLst/>
            </a:prstGeom>
            <a:noFill/>
            <a:ln w="25400" cap="flat">
              <a:solidFill>
                <a:srgbClr val="8D3124"/>
              </a:solidFill>
              <a:prstDash val="solid"/>
              <a:miter lim="400000"/>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nvGrpSpPr>
            <p:cNvPr id="528" name="成组"/>
            <p:cNvGrpSpPr/>
            <p:nvPr/>
          </p:nvGrpSpPr>
          <p:grpSpPr>
            <a:xfrm>
              <a:off x="883734" y="169152"/>
              <a:ext cx="2368619" cy="1747363"/>
              <a:chOff x="0" y="0"/>
              <a:chExt cx="2368618" cy="1747362"/>
            </a:xfrm>
          </p:grpSpPr>
          <p:sp>
            <p:nvSpPr>
              <p:cNvPr id="516" name="椭圆形"/>
              <p:cNvSpPr/>
              <p:nvPr/>
            </p:nvSpPr>
            <p:spPr>
              <a:xfrm>
                <a:off x="240846" y="1312785"/>
                <a:ext cx="97788" cy="108645"/>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17" name="椭圆形"/>
              <p:cNvSpPr/>
              <p:nvPr/>
            </p:nvSpPr>
            <p:spPr>
              <a:xfrm>
                <a:off x="628372" y="823886"/>
                <a:ext cx="97788" cy="108645"/>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18" name="椭圆形"/>
              <p:cNvSpPr/>
              <p:nvPr/>
            </p:nvSpPr>
            <p:spPr>
              <a:xfrm>
                <a:off x="1256744" y="769563"/>
                <a:ext cx="97789" cy="108646"/>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19" name="椭圆形"/>
              <p:cNvSpPr/>
              <p:nvPr/>
            </p:nvSpPr>
            <p:spPr>
              <a:xfrm>
                <a:off x="0" y="1638718"/>
                <a:ext cx="95977" cy="108645"/>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20" name="椭圆形"/>
              <p:cNvSpPr/>
              <p:nvPr/>
            </p:nvSpPr>
            <p:spPr>
              <a:xfrm>
                <a:off x="532396" y="1204140"/>
                <a:ext cx="95978" cy="108646"/>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21" name="椭圆形"/>
              <p:cNvSpPr/>
              <p:nvPr/>
            </p:nvSpPr>
            <p:spPr>
              <a:xfrm>
                <a:off x="1693164" y="497953"/>
                <a:ext cx="95977" cy="108645"/>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22" name="椭圆形"/>
              <p:cNvSpPr/>
              <p:nvPr/>
            </p:nvSpPr>
            <p:spPr>
              <a:xfrm>
                <a:off x="822135" y="1095496"/>
                <a:ext cx="95978" cy="108645"/>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23" name="椭圆形"/>
              <p:cNvSpPr/>
              <p:nvPr/>
            </p:nvSpPr>
            <p:spPr>
              <a:xfrm>
                <a:off x="2078880" y="334986"/>
                <a:ext cx="97788" cy="108645"/>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24" name="椭圆形"/>
              <p:cNvSpPr/>
              <p:nvPr/>
            </p:nvSpPr>
            <p:spPr>
              <a:xfrm>
                <a:off x="1023142" y="507007"/>
                <a:ext cx="95977" cy="108645"/>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25" name="椭圆形"/>
              <p:cNvSpPr/>
              <p:nvPr/>
            </p:nvSpPr>
            <p:spPr>
              <a:xfrm>
                <a:off x="1886927" y="172020"/>
                <a:ext cx="95977" cy="108645"/>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26" name="椭圆形"/>
              <p:cNvSpPr/>
              <p:nvPr/>
            </p:nvSpPr>
            <p:spPr>
              <a:xfrm>
                <a:off x="1461372" y="577625"/>
                <a:ext cx="97788" cy="108645"/>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27" name="椭圆形"/>
              <p:cNvSpPr/>
              <p:nvPr/>
            </p:nvSpPr>
            <p:spPr>
              <a:xfrm>
                <a:off x="2270831" y="0"/>
                <a:ext cx="97788" cy="108645"/>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grpSp>
        <p:sp>
          <p:nvSpPr>
            <p:cNvPr id="529" name="x"/>
            <p:cNvSpPr/>
            <p:nvPr/>
          </p:nvSpPr>
          <p:spPr>
            <a:xfrm>
              <a:off x="3833480" y="2619022"/>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defRPr sz="1800" i="1">
                  <a:solidFill>
                    <a:srgbClr val="000000"/>
                  </a:solidFill>
                  <a:latin typeface="Times"/>
                  <a:ea typeface="Times"/>
                  <a:cs typeface="Times"/>
                  <a:sym typeface="Times"/>
                </a:defRPr>
              </a:lvl1pPr>
            </a:lstStyle>
            <a:p>
              <a:r>
                <a:t>x</a:t>
              </a:r>
            </a:p>
          </p:txBody>
        </p:sp>
        <p:sp>
          <p:nvSpPr>
            <p:cNvPr id="530" name="y"/>
            <p:cNvSpPr/>
            <p:nvPr/>
          </p:nvSpPr>
          <p:spPr>
            <a:xfrm>
              <a:off x="63500" y="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defRPr sz="1800" i="1">
                  <a:solidFill>
                    <a:srgbClr val="000000"/>
                  </a:solidFill>
                  <a:latin typeface="Times"/>
                  <a:ea typeface="Times"/>
                  <a:cs typeface="Times"/>
                  <a:sym typeface="Times"/>
                </a:defRPr>
              </a:lvl1pPr>
            </a:lstStyle>
            <a:p>
              <a:r>
                <a:t>y</a:t>
              </a:r>
            </a:p>
          </p:txBody>
        </p:sp>
      </p:grpSp>
      <p:sp>
        <p:nvSpPr>
          <p:cNvPr id="532"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32</a:t>
            </a:fld>
            <a:endParaRPr/>
          </a:p>
        </p:txBody>
      </p:sp>
      <p:pic>
        <p:nvPicPr>
          <p:cNvPr id="533" name="图像" descr="图像"/>
          <p:cNvPicPr>
            <a:picLocks noChangeAspect="1"/>
          </p:cNvPicPr>
          <p:nvPr/>
        </p:nvPicPr>
        <p:blipFill>
          <a:blip r:embed="rId3"/>
          <a:stretch>
            <a:fillRect/>
          </a:stretch>
        </p:blipFill>
        <p:spPr>
          <a:xfrm>
            <a:off x="1875793" y="8170736"/>
            <a:ext cx="7581901" cy="749301"/>
          </a:xfrm>
          <a:prstGeom prst="rect">
            <a:avLst/>
          </a:prstGeom>
          <a:ln w="12700">
            <a:miter lim="400000"/>
          </a:ln>
        </p:spPr>
      </p:pic>
      <p:pic>
        <p:nvPicPr>
          <p:cNvPr id="534" name="图像" descr="图像"/>
          <p:cNvPicPr>
            <a:picLocks noChangeAspect="1"/>
          </p:cNvPicPr>
          <p:nvPr/>
        </p:nvPicPr>
        <p:blipFill>
          <a:blip r:embed="rId4"/>
          <a:stretch>
            <a:fillRect/>
          </a:stretch>
        </p:blipFill>
        <p:spPr>
          <a:xfrm>
            <a:off x="1647285" y="3028950"/>
            <a:ext cx="3644901" cy="850900"/>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11">
                                            <p:txEl>
                                              <p:pRg st="3" end="3"/>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1" grpId="1" build="p" animBg="1" advAuto="0"/>
      <p:bldP spid="533" grpId="2" animBg="1" advAuto="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539" name="Segmented least squares"/>
          <p:cNvSpPr txBox="1">
            <a:spLocks noGrp="1"/>
          </p:cNvSpPr>
          <p:nvPr>
            <p:ph type="title"/>
          </p:nvPr>
        </p:nvSpPr>
        <p:spPr>
          <a:prstGeom prst="rect">
            <a:avLst/>
          </a:prstGeom>
        </p:spPr>
        <p:txBody>
          <a:bodyPr/>
          <a:lstStyle/>
          <a:p>
            <a:r>
              <a:t>Segmented least squares</a:t>
            </a:r>
          </a:p>
        </p:txBody>
      </p:sp>
      <p:sp>
        <p:nvSpPr>
          <p:cNvPr id="540" name="Segmented least squares.…"/>
          <p:cNvSpPr txBox="1">
            <a:spLocks noGrp="1"/>
          </p:cNvSpPr>
          <p:nvPr>
            <p:ph type="body" idx="1"/>
          </p:nvPr>
        </p:nvSpPr>
        <p:spPr>
          <a:prstGeom prst="rect">
            <a:avLst/>
          </a:prstGeom>
        </p:spPr>
        <p:txBody>
          <a:bodyPr/>
          <a:lstStyle/>
          <a:p>
            <a:r>
              <a:t>Segmented least squares.</a:t>
            </a:r>
          </a:p>
          <a:p>
            <a:pPr lvl="1"/>
            <a:r>
              <a:t>Points lie roughly on a sequence of several line segments.</a:t>
            </a:r>
          </a:p>
          <a:p>
            <a:pPr lvl="1"/>
            <a:r>
              <a:t>Given </a:t>
            </a:r>
            <a:r>
              <a:rPr i="1">
                <a:latin typeface="Times"/>
                <a:ea typeface="Times"/>
                <a:cs typeface="Times"/>
                <a:sym typeface="Times"/>
              </a:rPr>
              <a:t>n</a:t>
            </a:r>
            <a:r>
              <a:t> points in the plane:  </a:t>
            </a:r>
            <a:r>
              <a:rPr>
                <a:latin typeface="Times"/>
                <a:ea typeface="Times"/>
                <a:cs typeface="Times"/>
                <a:sym typeface="Times"/>
              </a:rPr>
              <a:t>(</a:t>
            </a:r>
            <a:r>
              <a:rPr i="1">
                <a:latin typeface="Times"/>
                <a:ea typeface="Times"/>
                <a:cs typeface="Times"/>
                <a:sym typeface="Times"/>
              </a:rPr>
              <a:t>x</a:t>
            </a:r>
            <a:r>
              <a:rPr baseline="-5999">
                <a:latin typeface="Times"/>
                <a:ea typeface="Times"/>
                <a:cs typeface="Times"/>
                <a:sym typeface="Times"/>
              </a:rPr>
              <a:t>1</a:t>
            </a:r>
            <a:r>
              <a:rPr>
                <a:latin typeface="Times"/>
                <a:ea typeface="Times"/>
                <a:cs typeface="Times"/>
                <a:sym typeface="Times"/>
              </a:rPr>
              <a:t>, </a:t>
            </a:r>
            <a:r>
              <a:rPr i="1">
                <a:latin typeface="Times"/>
                <a:ea typeface="Times"/>
                <a:cs typeface="Times"/>
                <a:sym typeface="Times"/>
              </a:rPr>
              <a:t>y</a:t>
            </a:r>
            <a:r>
              <a:rPr baseline="-5999">
                <a:latin typeface="Times"/>
                <a:ea typeface="Times"/>
                <a:cs typeface="Times"/>
                <a:sym typeface="Times"/>
              </a:rPr>
              <a:t>1</a:t>
            </a:r>
            <a:r>
              <a:rPr>
                <a:latin typeface="Times"/>
                <a:ea typeface="Times"/>
                <a:cs typeface="Times"/>
                <a:sym typeface="Times"/>
              </a:rPr>
              <a:t>), (</a:t>
            </a:r>
            <a:r>
              <a:rPr i="1">
                <a:latin typeface="Times"/>
                <a:ea typeface="Times"/>
                <a:cs typeface="Times"/>
                <a:sym typeface="Times"/>
              </a:rPr>
              <a:t>x</a:t>
            </a:r>
            <a:r>
              <a:rPr baseline="-5999">
                <a:latin typeface="Times"/>
                <a:ea typeface="Times"/>
                <a:cs typeface="Times"/>
                <a:sym typeface="Times"/>
              </a:rPr>
              <a:t>2</a:t>
            </a:r>
            <a:r>
              <a:rPr>
                <a:latin typeface="Times"/>
                <a:ea typeface="Times"/>
                <a:cs typeface="Times"/>
                <a:sym typeface="Times"/>
              </a:rPr>
              <a:t>, </a:t>
            </a:r>
            <a:r>
              <a:rPr i="1">
                <a:latin typeface="Times"/>
                <a:ea typeface="Times"/>
                <a:cs typeface="Times"/>
                <a:sym typeface="Times"/>
              </a:rPr>
              <a:t>y</a:t>
            </a:r>
            <a:r>
              <a:rPr baseline="-5999">
                <a:latin typeface="Times"/>
                <a:ea typeface="Times"/>
                <a:cs typeface="Times"/>
                <a:sym typeface="Times"/>
              </a:rPr>
              <a:t>2</a:t>
            </a:r>
            <a:r>
              <a:rPr>
                <a:latin typeface="Times"/>
                <a:ea typeface="Times"/>
                <a:cs typeface="Times"/>
                <a:sym typeface="Times"/>
              </a:rPr>
              <a:t>) , …, (</a:t>
            </a:r>
            <a:r>
              <a:rPr i="1">
                <a:latin typeface="Times"/>
                <a:ea typeface="Times"/>
                <a:cs typeface="Times"/>
                <a:sym typeface="Times"/>
              </a:rPr>
              <a:t>x</a:t>
            </a:r>
            <a:r>
              <a:rPr i="1" baseline="-5999">
                <a:latin typeface="Times"/>
                <a:ea typeface="Times"/>
                <a:cs typeface="Times"/>
                <a:sym typeface="Times"/>
              </a:rPr>
              <a:t>n</a:t>
            </a:r>
            <a:r>
              <a:rPr>
                <a:latin typeface="Times"/>
                <a:ea typeface="Times"/>
                <a:cs typeface="Times"/>
                <a:sym typeface="Times"/>
              </a:rPr>
              <a:t>, </a:t>
            </a:r>
            <a:r>
              <a:rPr i="1">
                <a:latin typeface="Times"/>
                <a:ea typeface="Times"/>
                <a:cs typeface="Times"/>
                <a:sym typeface="Times"/>
              </a:rPr>
              <a:t>y</a:t>
            </a:r>
            <a:r>
              <a:rPr i="1" baseline="-5999">
                <a:latin typeface="Times"/>
                <a:ea typeface="Times"/>
                <a:cs typeface="Times"/>
                <a:sym typeface="Times"/>
              </a:rPr>
              <a:t>n</a:t>
            </a:r>
            <a:r>
              <a:rPr>
                <a:latin typeface="Times"/>
                <a:ea typeface="Times"/>
                <a:cs typeface="Times"/>
                <a:sym typeface="Times"/>
              </a:rPr>
              <a:t>)</a:t>
            </a:r>
            <a:r>
              <a:t> with</a:t>
            </a:r>
            <a:br/>
            <a:r>
              <a:rPr i="1">
                <a:latin typeface="Times"/>
                <a:ea typeface="Times"/>
                <a:cs typeface="Times"/>
                <a:sym typeface="Times"/>
              </a:rPr>
              <a:t>x</a:t>
            </a:r>
            <a:r>
              <a:rPr baseline="-5999">
                <a:latin typeface="Times"/>
                <a:ea typeface="Times"/>
                <a:cs typeface="Times"/>
                <a:sym typeface="Times"/>
              </a:rPr>
              <a:t>1</a:t>
            </a:r>
            <a:r>
              <a:rPr>
                <a:latin typeface="Times"/>
                <a:ea typeface="Times"/>
                <a:cs typeface="Times"/>
                <a:sym typeface="Times"/>
              </a:rPr>
              <a:t> &lt; </a:t>
            </a:r>
            <a:r>
              <a:rPr i="1">
                <a:latin typeface="Times"/>
                <a:ea typeface="Times"/>
                <a:cs typeface="Times"/>
                <a:sym typeface="Times"/>
              </a:rPr>
              <a:t>x</a:t>
            </a:r>
            <a:r>
              <a:rPr baseline="-5999">
                <a:latin typeface="Times"/>
                <a:ea typeface="Times"/>
                <a:cs typeface="Times"/>
                <a:sym typeface="Times"/>
              </a:rPr>
              <a:t>2</a:t>
            </a:r>
            <a:r>
              <a:rPr>
                <a:latin typeface="Times"/>
                <a:ea typeface="Times"/>
                <a:cs typeface="Times"/>
                <a:sym typeface="Times"/>
              </a:rPr>
              <a:t> &lt; ... &lt; </a:t>
            </a:r>
            <a:r>
              <a:rPr i="1">
                <a:latin typeface="Times"/>
                <a:ea typeface="Times"/>
                <a:cs typeface="Times"/>
                <a:sym typeface="Times"/>
              </a:rPr>
              <a:t>x</a:t>
            </a:r>
            <a:r>
              <a:rPr i="1" baseline="-5999">
                <a:latin typeface="Times"/>
                <a:ea typeface="Times"/>
                <a:cs typeface="Times"/>
                <a:sym typeface="Times"/>
              </a:rPr>
              <a:t>n</a:t>
            </a:r>
            <a:r>
              <a:t>, find a sequence of lines that minimizes </a:t>
            </a:r>
            <a:r>
              <a:rPr i="1">
                <a:latin typeface="Times"/>
                <a:ea typeface="Times"/>
                <a:cs typeface="Times"/>
                <a:sym typeface="Times"/>
              </a:rPr>
              <a:t>f</a:t>
            </a:r>
            <a:r>
              <a:rPr i="1" baseline="-5999">
                <a:latin typeface="Times"/>
                <a:ea typeface="Times"/>
                <a:cs typeface="Times"/>
                <a:sym typeface="Times"/>
              </a:rPr>
              <a:t> </a:t>
            </a:r>
            <a:r>
              <a:rPr>
                <a:latin typeface="Times"/>
                <a:ea typeface="Times"/>
                <a:cs typeface="Times"/>
                <a:sym typeface="Times"/>
              </a:rPr>
              <a:t>(</a:t>
            </a:r>
            <a:r>
              <a:rPr i="1">
                <a:latin typeface="Times"/>
                <a:ea typeface="Times"/>
                <a:cs typeface="Times"/>
                <a:sym typeface="Times"/>
              </a:rPr>
              <a:t>x</a:t>
            </a:r>
            <a:r>
              <a:rPr>
                <a:latin typeface="Times"/>
                <a:ea typeface="Times"/>
                <a:cs typeface="Times"/>
                <a:sym typeface="Times"/>
              </a:rPr>
              <a:t>)</a:t>
            </a:r>
            <a:r>
              <a:t>.</a:t>
            </a:r>
          </a:p>
          <a:p>
            <a:br/>
            <a:r>
              <a:t>Q.  </a:t>
            </a:r>
            <a:r>
              <a:rPr>
                <a:solidFill>
                  <a:srgbClr val="000000"/>
                </a:solidFill>
              </a:rPr>
              <a:t>What is a reasonable choice for </a:t>
            </a:r>
            <a:r>
              <a:rPr i="1">
                <a:solidFill>
                  <a:srgbClr val="000000"/>
                </a:solidFill>
                <a:latin typeface="Times"/>
                <a:ea typeface="Times"/>
                <a:cs typeface="Times"/>
                <a:sym typeface="Times"/>
              </a:rPr>
              <a:t>f</a:t>
            </a:r>
            <a:r>
              <a:rPr i="1" baseline="-5999">
                <a:solidFill>
                  <a:srgbClr val="000000"/>
                </a:solidFill>
                <a:latin typeface="Times"/>
                <a:ea typeface="Times"/>
                <a:cs typeface="Times"/>
                <a:sym typeface="Times"/>
              </a:rPr>
              <a:t> </a:t>
            </a:r>
            <a:r>
              <a:rPr>
                <a:solidFill>
                  <a:srgbClr val="000000"/>
                </a:solidFill>
                <a:latin typeface="Times"/>
                <a:ea typeface="Times"/>
                <a:cs typeface="Times"/>
                <a:sym typeface="Times"/>
              </a:rPr>
              <a:t>(</a:t>
            </a:r>
            <a:r>
              <a:rPr i="1">
                <a:solidFill>
                  <a:srgbClr val="000000"/>
                </a:solidFill>
                <a:latin typeface="Times"/>
                <a:ea typeface="Times"/>
                <a:cs typeface="Times"/>
                <a:sym typeface="Times"/>
              </a:rPr>
              <a:t>x</a:t>
            </a:r>
            <a:r>
              <a:rPr>
                <a:solidFill>
                  <a:srgbClr val="000000"/>
                </a:solidFill>
                <a:latin typeface="Times"/>
                <a:ea typeface="Times"/>
                <a:cs typeface="Times"/>
                <a:sym typeface="Times"/>
              </a:rPr>
              <a:t>)</a:t>
            </a:r>
            <a:r>
              <a:rPr>
                <a:solidFill>
                  <a:srgbClr val="000000"/>
                </a:solidFill>
              </a:rPr>
              <a:t> to balance accuracy and parsimony?</a:t>
            </a:r>
          </a:p>
        </p:txBody>
      </p:sp>
      <p:grpSp>
        <p:nvGrpSpPr>
          <p:cNvPr id="575" name="成组"/>
          <p:cNvGrpSpPr/>
          <p:nvPr/>
        </p:nvGrpSpPr>
        <p:grpSpPr>
          <a:xfrm>
            <a:off x="1689100" y="5288562"/>
            <a:ext cx="7110358" cy="5207001"/>
            <a:chOff x="0" y="0"/>
            <a:chExt cx="7110357" cy="5207000"/>
          </a:xfrm>
        </p:grpSpPr>
        <p:sp>
          <p:nvSpPr>
            <p:cNvPr id="541" name="线条"/>
            <p:cNvSpPr/>
            <p:nvPr/>
          </p:nvSpPr>
          <p:spPr>
            <a:xfrm>
              <a:off x="461997" y="349391"/>
              <a:ext cx="2259" cy="3745654"/>
            </a:xfrm>
            <a:prstGeom prst="line">
              <a:avLst/>
            </a:prstGeom>
            <a:noFill/>
            <a:ln w="19050" cap="flat">
              <a:solidFill>
                <a:srgbClr val="000000"/>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542" name="线条"/>
            <p:cNvSpPr/>
            <p:nvPr/>
          </p:nvSpPr>
          <p:spPr>
            <a:xfrm>
              <a:off x="87206" y="3720253"/>
              <a:ext cx="5994401" cy="2259"/>
            </a:xfrm>
            <a:prstGeom prst="line">
              <a:avLst/>
            </a:prstGeom>
            <a:noFill/>
            <a:ln w="19050" cap="flat">
              <a:solidFill>
                <a:srgbClr val="000000"/>
              </a:solidFill>
              <a:prstDash val="solid"/>
              <a:miter lim="400000"/>
              <a:tail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nvGrpSpPr>
            <p:cNvPr id="568" name="成组"/>
            <p:cNvGrpSpPr/>
            <p:nvPr/>
          </p:nvGrpSpPr>
          <p:grpSpPr>
            <a:xfrm>
              <a:off x="836788" y="274884"/>
              <a:ext cx="4874826" cy="3070579"/>
              <a:chOff x="0" y="0"/>
              <a:chExt cx="4874824" cy="3070578"/>
            </a:xfrm>
          </p:grpSpPr>
          <p:sp>
            <p:nvSpPr>
              <p:cNvPr id="543" name="圆形"/>
              <p:cNvSpPr/>
              <p:nvPr/>
            </p:nvSpPr>
            <p:spPr>
              <a:xfrm>
                <a:off x="1499164" y="2246488"/>
                <a:ext cx="149015"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44" name="圆形"/>
              <p:cNvSpPr/>
              <p:nvPr/>
            </p:nvSpPr>
            <p:spPr>
              <a:xfrm>
                <a:off x="374791" y="2695787"/>
                <a:ext cx="149014"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45" name="圆形"/>
              <p:cNvSpPr/>
              <p:nvPr/>
            </p:nvSpPr>
            <p:spPr>
              <a:xfrm>
                <a:off x="1195211" y="2323253"/>
                <a:ext cx="149014"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46" name="圆形"/>
              <p:cNvSpPr/>
              <p:nvPr/>
            </p:nvSpPr>
            <p:spPr>
              <a:xfrm>
                <a:off x="824089" y="2546773"/>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47" name="圆形"/>
              <p:cNvSpPr/>
              <p:nvPr/>
            </p:nvSpPr>
            <p:spPr>
              <a:xfrm>
                <a:off x="1797191" y="2171982"/>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48" name="圆形"/>
              <p:cNvSpPr/>
              <p:nvPr/>
            </p:nvSpPr>
            <p:spPr>
              <a:xfrm>
                <a:off x="3896924" y="1871697"/>
                <a:ext cx="149014"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49" name="圆形"/>
              <p:cNvSpPr/>
              <p:nvPr/>
            </p:nvSpPr>
            <p:spPr>
              <a:xfrm>
                <a:off x="2397760" y="2171982"/>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50" name="圆形"/>
              <p:cNvSpPr/>
              <p:nvPr/>
            </p:nvSpPr>
            <p:spPr>
              <a:xfrm>
                <a:off x="4495236" y="598311"/>
                <a:ext cx="151272"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51" name="圆形"/>
              <p:cNvSpPr/>
              <p:nvPr/>
            </p:nvSpPr>
            <p:spPr>
              <a:xfrm>
                <a:off x="4194951" y="1269153"/>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52" name="圆形"/>
              <p:cNvSpPr/>
              <p:nvPr/>
            </p:nvSpPr>
            <p:spPr>
              <a:xfrm>
                <a:off x="4120445" y="1648178"/>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53" name="圆形"/>
              <p:cNvSpPr/>
              <p:nvPr/>
            </p:nvSpPr>
            <p:spPr>
              <a:xfrm>
                <a:off x="4271715" y="973102"/>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54" name="圆形"/>
              <p:cNvSpPr/>
              <p:nvPr/>
            </p:nvSpPr>
            <p:spPr>
              <a:xfrm>
                <a:off x="4420729" y="303953"/>
                <a:ext cx="149014"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55" name="圆形"/>
              <p:cNvSpPr/>
              <p:nvPr/>
            </p:nvSpPr>
            <p:spPr>
              <a:xfrm>
                <a:off x="3447627" y="2171982"/>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56" name="圆形"/>
              <p:cNvSpPr/>
              <p:nvPr/>
            </p:nvSpPr>
            <p:spPr>
              <a:xfrm>
                <a:off x="2847057" y="2097475"/>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57" name="圆形"/>
              <p:cNvSpPr/>
              <p:nvPr/>
            </p:nvSpPr>
            <p:spPr>
              <a:xfrm>
                <a:off x="2097475" y="2171982"/>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58" name="圆形"/>
              <p:cNvSpPr/>
              <p:nvPr/>
            </p:nvSpPr>
            <p:spPr>
              <a:xfrm>
                <a:off x="225778" y="2770293"/>
                <a:ext cx="149014"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59" name="圆形"/>
              <p:cNvSpPr/>
              <p:nvPr/>
            </p:nvSpPr>
            <p:spPr>
              <a:xfrm>
                <a:off x="973102" y="2397760"/>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60" name="圆形"/>
              <p:cNvSpPr/>
              <p:nvPr/>
            </p:nvSpPr>
            <p:spPr>
              <a:xfrm>
                <a:off x="3072836" y="2097475"/>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61" name="圆形"/>
              <p:cNvSpPr/>
              <p:nvPr/>
            </p:nvSpPr>
            <p:spPr>
              <a:xfrm>
                <a:off x="4569742" y="149013"/>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62" name="圆形"/>
              <p:cNvSpPr/>
              <p:nvPr/>
            </p:nvSpPr>
            <p:spPr>
              <a:xfrm>
                <a:off x="3820160" y="2171982"/>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63" name="圆形"/>
              <p:cNvSpPr/>
              <p:nvPr/>
            </p:nvSpPr>
            <p:spPr>
              <a:xfrm>
                <a:off x="2472266" y="2022969"/>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64" name="圆形"/>
              <p:cNvSpPr/>
              <p:nvPr/>
            </p:nvSpPr>
            <p:spPr>
              <a:xfrm>
                <a:off x="4271715" y="672817"/>
                <a:ext cx="149014"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65" name="圆形"/>
              <p:cNvSpPr/>
              <p:nvPr/>
            </p:nvSpPr>
            <p:spPr>
              <a:xfrm>
                <a:off x="4120445" y="898595"/>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66" name="圆形"/>
              <p:cNvSpPr/>
              <p:nvPr/>
            </p:nvSpPr>
            <p:spPr>
              <a:xfrm>
                <a:off x="4725811" y="0"/>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67" name="圆形"/>
              <p:cNvSpPr/>
              <p:nvPr/>
            </p:nvSpPr>
            <p:spPr>
              <a:xfrm>
                <a:off x="0" y="2921564"/>
                <a:ext cx="149014" cy="149015"/>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grpSp>
        <p:grpSp>
          <p:nvGrpSpPr>
            <p:cNvPr id="572" name="成组"/>
            <p:cNvGrpSpPr/>
            <p:nvPr/>
          </p:nvGrpSpPr>
          <p:grpSpPr>
            <a:xfrm>
              <a:off x="0" y="-1"/>
              <a:ext cx="5694116" cy="3596641"/>
              <a:chOff x="0" y="0"/>
              <a:chExt cx="5694115" cy="3596639"/>
            </a:xfrm>
          </p:grpSpPr>
          <p:sp>
            <p:nvSpPr>
              <p:cNvPr id="569" name="线条"/>
              <p:cNvSpPr/>
              <p:nvPr/>
            </p:nvSpPr>
            <p:spPr>
              <a:xfrm flipV="1">
                <a:off x="0" y="2547619"/>
                <a:ext cx="2472446" cy="1049021"/>
              </a:xfrm>
              <a:prstGeom prst="line">
                <a:avLst/>
              </a:prstGeom>
              <a:noFill/>
              <a:ln w="38100" cap="flat">
                <a:solidFill>
                  <a:srgbClr val="003F83"/>
                </a:solidFill>
                <a:prstDash val="solid"/>
                <a:miter lim="400000"/>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570" name="线条"/>
              <p:cNvSpPr/>
              <p:nvPr/>
            </p:nvSpPr>
            <p:spPr>
              <a:xfrm flipH="1">
                <a:off x="4795044" y="0"/>
                <a:ext cx="899072" cy="2472691"/>
              </a:xfrm>
              <a:prstGeom prst="line">
                <a:avLst/>
              </a:prstGeom>
              <a:noFill/>
              <a:ln w="38100" cap="flat">
                <a:solidFill>
                  <a:srgbClr val="003F83"/>
                </a:solidFill>
                <a:prstDash val="solid"/>
                <a:miter lim="400000"/>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571" name="线条"/>
              <p:cNvSpPr/>
              <p:nvPr/>
            </p:nvSpPr>
            <p:spPr>
              <a:xfrm flipV="1">
                <a:off x="2472444" y="2472690"/>
                <a:ext cx="2322601" cy="74931"/>
              </a:xfrm>
              <a:prstGeom prst="line">
                <a:avLst/>
              </a:prstGeom>
              <a:noFill/>
              <a:ln w="38100" cap="flat">
                <a:solidFill>
                  <a:srgbClr val="003F83"/>
                </a:solidFill>
                <a:prstDash val="solid"/>
                <a:miter lim="400000"/>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573" name="x"/>
            <p:cNvSpPr/>
            <p:nvPr/>
          </p:nvSpPr>
          <p:spPr>
            <a:xfrm>
              <a:off x="5840357" y="393700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defRPr sz="1800" i="1">
                  <a:solidFill>
                    <a:srgbClr val="000000"/>
                  </a:solidFill>
                  <a:latin typeface="Times"/>
                  <a:ea typeface="Times"/>
                  <a:cs typeface="Times"/>
                  <a:sym typeface="Times"/>
                </a:defRPr>
              </a:lvl1pPr>
            </a:lstStyle>
            <a:p>
              <a:r>
                <a:t>x</a:t>
              </a:r>
            </a:p>
          </p:txBody>
        </p:sp>
        <p:sp>
          <p:nvSpPr>
            <p:cNvPr id="574" name="y"/>
            <p:cNvSpPr/>
            <p:nvPr/>
          </p:nvSpPr>
          <p:spPr>
            <a:xfrm>
              <a:off x="183438" y="346850"/>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defRPr sz="1800" i="1">
                  <a:solidFill>
                    <a:srgbClr val="000000"/>
                  </a:solidFill>
                  <a:latin typeface="Times"/>
                  <a:ea typeface="Times"/>
                  <a:cs typeface="Times"/>
                  <a:sym typeface="Times"/>
                </a:defRPr>
              </a:lvl1pPr>
            </a:lstStyle>
            <a:p>
              <a:r>
                <a:t>y</a:t>
              </a:r>
            </a:p>
          </p:txBody>
        </p:sp>
      </p:grpSp>
      <p:sp>
        <p:nvSpPr>
          <p:cNvPr id="576"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33</a:t>
            </a:fld>
            <a:endParaRPr/>
          </a:p>
        </p:txBody>
      </p:sp>
      <p:grpSp>
        <p:nvGrpSpPr>
          <p:cNvPr id="581" name="成组"/>
          <p:cNvGrpSpPr/>
          <p:nvPr/>
        </p:nvGrpSpPr>
        <p:grpSpPr>
          <a:xfrm>
            <a:off x="8828758" y="4176042"/>
            <a:ext cx="3554606" cy="1767558"/>
            <a:chOff x="592673" y="0"/>
            <a:chExt cx="3554605" cy="1767557"/>
          </a:xfrm>
        </p:grpSpPr>
        <p:sp>
          <p:nvSpPr>
            <p:cNvPr id="577" name="goodness of fit"/>
            <p:cNvSpPr/>
            <p:nvPr/>
          </p:nvSpPr>
          <p:spPr>
            <a:xfrm>
              <a:off x="667196" y="491348"/>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r>
                <a:t>goodness of fit</a:t>
              </a:r>
            </a:p>
          </p:txBody>
        </p:sp>
        <p:sp>
          <p:nvSpPr>
            <p:cNvPr id="578" name="线条"/>
            <p:cNvSpPr/>
            <p:nvPr/>
          </p:nvSpPr>
          <p:spPr>
            <a:xfrm flipH="1">
              <a:off x="592673" y="0"/>
              <a:ext cx="1" cy="409601"/>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579" name="number of lines"/>
            <p:cNvSpPr/>
            <p:nvPr/>
          </p:nvSpPr>
          <p:spPr>
            <a:xfrm>
              <a:off x="2877279" y="497557"/>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r>
                <a:t>number of lines</a:t>
              </a:r>
            </a:p>
          </p:txBody>
        </p:sp>
        <p:sp>
          <p:nvSpPr>
            <p:cNvPr id="580" name="线条"/>
            <p:cNvSpPr/>
            <p:nvPr/>
          </p:nvSpPr>
          <p:spPr>
            <a:xfrm>
              <a:off x="2800215" y="2257"/>
              <a:ext cx="1" cy="409602"/>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540">
                                            <p:txEl>
                                              <p:pRg st="3" end="3"/>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5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 grpId="1" build="p" animBg="1" advAuto="0"/>
      <p:bldP spid="581" grpId="2"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584" name="Segmented least squares"/>
          <p:cNvSpPr txBox="1">
            <a:spLocks noGrp="1"/>
          </p:cNvSpPr>
          <p:nvPr>
            <p:ph type="title"/>
          </p:nvPr>
        </p:nvSpPr>
        <p:spPr>
          <a:prstGeom prst="rect">
            <a:avLst/>
          </a:prstGeom>
        </p:spPr>
        <p:txBody>
          <a:bodyPr/>
          <a:lstStyle/>
          <a:p>
            <a:r>
              <a:t>Segmented least squares</a:t>
            </a:r>
          </a:p>
        </p:txBody>
      </p:sp>
      <p:sp>
        <p:nvSpPr>
          <p:cNvPr id="585" name="Segmented least squares.…"/>
          <p:cNvSpPr txBox="1">
            <a:spLocks noGrp="1"/>
          </p:cNvSpPr>
          <p:nvPr>
            <p:ph type="body" idx="1"/>
          </p:nvPr>
        </p:nvSpPr>
        <p:spPr>
          <a:prstGeom prst="rect">
            <a:avLst/>
          </a:prstGeom>
        </p:spPr>
        <p:txBody>
          <a:bodyPr/>
          <a:lstStyle/>
          <a:p>
            <a:r>
              <a:t>Segmented least squares.</a:t>
            </a:r>
          </a:p>
          <a:p>
            <a:pPr lvl="1"/>
            <a:r>
              <a:t>Points lie roughly on a sequence of several line segments.</a:t>
            </a:r>
          </a:p>
          <a:p>
            <a:pPr lvl="1"/>
            <a:r>
              <a:t>Given </a:t>
            </a:r>
            <a:r>
              <a:rPr i="1">
                <a:latin typeface="Times"/>
                <a:ea typeface="Times"/>
                <a:cs typeface="Times"/>
                <a:sym typeface="Times"/>
              </a:rPr>
              <a:t>n</a:t>
            </a:r>
            <a:r>
              <a:t> points in the plane:  </a:t>
            </a:r>
            <a:r>
              <a:rPr>
                <a:latin typeface="Times"/>
                <a:ea typeface="Times"/>
                <a:cs typeface="Times"/>
                <a:sym typeface="Times"/>
              </a:rPr>
              <a:t>(</a:t>
            </a:r>
            <a:r>
              <a:rPr i="1">
                <a:latin typeface="Times"/>
                <a:ea typeface="Times"/>
                <a:cs typeface="Times"/>
                <a:sym typeface="Times"/>
              </a:rPr>
              <a:t>x</a:t>
            </a:r>
            <a:r>
              <a:rPr baseline="-5999">
                <a:latin typeface="Times"/>
                <a:ea typeface="Times"/>
                <a:cs typeface="Times"/>
                <a:sym typeface="Times"/>
              </a:rPr>
              <a:t>1</a:t>
            </a:r>
            <a:r>
              <a:rPr>
                <a:latin typeface="Times"/>
                <a:ea typeface="Times"/>
                <a:cs typeface="Times"/>
                <a:sym typeface="Times"/>
              </a:rPr>
              <a:t>, </a:t>
            </a:r>
            <a:r>
              <a:rPr i="1">
                <a:latin typeface="Times"/>
                <a:ea typeface="Times"/>
                <a:cs typeface="Times"/>
                <a:sym typeface="Times"/>
              </a:rPr>
              <a:t>y</a:t>
            </a:r>
            <a:r>
              <a:rPr baseline="-5999">
                <a:latin typeface="Times"/>
                <a:ea typeface="Times"/>
                <a:cs typeface="Times"/>
                <a:sym typeface="Times"/>
              </a:rPr>
              <a:t>1</a:t>
            </a:r>
            <a:r>
              <a:rPr>
                <a:latin typeface="Times"/>
                <a:ea typeface="Times"/>
                <a:cs typeface="Times"/>
                <a:sym typeface="Times"/>
              </a:rPr>
              <a:t>), (</a:t>
            </a:r>
            <a:r>
              <a:rPr i="1">
                <a:latin typeface="Times"/>
                <a:ea typeface="Times"/>
                <a:cs typeface="Times"/>
                <a:sym typeface="Times"/>
              </a:rPr>
              <a:t>x</a:t>
            </a:r>
            <a:r>
              <a:rPr baseline="-5999">
                <a:latin typeface="Times"/>
                <a:ea typeface="Times"/>
                <a:cs typeface="Times"/>
                <a:sym typeface="Times"/>
              </a:rPr>
              <a:t>2</a:t>
            </a:r>
            <a:r>
              <a:rPr>
                <a:latin typeface="Times"/>
                <a:ea typeface="Times"/>
                <a:cs typeface="Times"/>
                <a:sym typeface="Times"/>
              </a:rPr>
              <a:t>, </a:t>
            </a:r>
            <a:r>
              <a:rPr i="1">
                <a:latin typeface="Times"/>
                <a:ea typeface="Times"/>
                <a:cs typeface="Times"/>
                <a:sym typeface="Times"/>
              </a:rPr>
              <a:t>y</a:t>
            </a:r>
            <a:r>
              <a:rPr baseline="-5999">
                <a:latin typeface="Times"/>
                <a:ea typeface="Times"/>
                <a:cs typeface="Times"/>
                <a:sym typeface="Times"/>
              </a:rPr>
              <a:t>2</a:t>
            </a:r>
            <a:r>
              <a:rPr>
                <a:latin typeface="Times"/>
                <a:ea typeface="Times"/>
                <a:cs typeface="Times"/>
                <a:sym typeface="Times"/>
              </a:rPr>
              <a:t>) , …, (</a:t>
            </a:r>
            <a:r>
              <a:rPr i="1">
                <a:latin typeface="Times"/>
                <a:ea typeface="Times"/>
                <a:cs typeface="Times"/>
                <a:sym typeface="Times"/>
              </a:rPr>
              <a:t>x</a:t>
            </a:r>
            <a:r>
              <a:rPr i="1" baseline="-5999">
                <a:latin typeface="Times"/>
                <a:ea typeface="Times"/>
                <a:cs typeface="Times"/>
                <a:sym typeface="Times"/>
              </a:rPr>
              <a:t>n</a:t>
            </a:r>
            <a:r>
              <a:rPr>
                <a:latin typeface="Times"/>
                <a:ea typeface="Times"/>
                <a:cs typeface="Times"/>
                <a:sym typeface="Times"/>
              </a:rPr>
              <a:t>, </a:t>
            </a:r>
            <a:r>
              <a:rPr i="1">
                <a:latin typeface="Times"/>
                <a:ea typeface="Times"/>
                <a:cs typeface="Times"/>
                <a:sym typeface="Times"/>
              </a:rPr>
              <a:t>y</a:t>
            </a:r>
            <a:r>
              <a:rPr i="1" baseline="-5999">
                <a:latin typeface="Times"/>
                <a:ea typeface="Times"/>
                <a:cs typeface="Times"/>
                <a:sym typeface="Times"/>
              </a:rPr>
              <a:t>n</a:t>
            </a:r>
            <a:r>
              <a:rPr>
                <a:latin typeface="Times"/>
                <a:ea typeface="Times"/>
                <a:cs typeface="Times"/>
                <a:sym typeface="Times"/>
              </a:rPr>
              <a:t>)</a:t>
            </a:r>
            <a:r>
              <a:t> with</a:t>
            </a:r>
            <a:br/>
            <a:r>
              <a:rPr i="1">
                <a:latin typeface="Times"/>
                <a:ea typeface="Times"/>
                <a:cs typeface="Times"/>
                <a:sym typeface="Times"/>
              </a:rPr>
              <a:t>x</a:t>
            </a:r>
            <a:r>
              <a:rPr baseline="-5999">
                <a:latin typeface="Times"/>
                <a:ea typeface="Times"/>
                <a:cs typeface="Times"/>
                <a:sym typeface="Times"/>
              </a:rPr>
              <a:t>1</a:t>
            </a:r>
            <a:r>
              <a:rPr>
                <a:latin typeface="Times"/>
                <a:ea typeface="Times"/>
                <a:cs typeface="Times"/>
                <a:sym typeface="Times"/>
              </a:rPr>
              <a:t> &lt; </a:t>
            </a:r>
            <a:r>
              <a:rPr i="1">
                <a:latin typeface="Times"/>
                <a:ea typeface="Times"/>
                <a:cs typeface="Times"/>
                <a:sym typeface="Times"/>
              </a:rPr>
              <a:t>x</a:t>
            </a:r>
            <a:r>
              <a:rPr baseline="-5999">
                <a:latin typeface="Times"/>
                <a:ea typeface="Times"/>
                <a:cs typeface="Times"/>
                <a:sym typeface="Times"/>
              </a:rPr>
              <a:t>2</a:t>
            </a:r>
            <a:r>
              <a:rPr>
                <a:latin typeface="Times"/>
                <a:ea typeface="Times"/>
                <a:cs typeface="Times"/>
                <a:sym typeface="Times"/>
              </a:rPr>
              <a:t> &lt; ... &lt; </a:t>
            </a:r>
            <a:r>
              <a:rPr i="1">
                <a:latin typeface="Times"/>
                <a:ea typeface="Times"/>
                <a:cs typeface="Times"/>
                <a:sym typeface="Times"/>
              </a:rPr>
              <a:t>x</a:t>
            </a:r>
            <a:r>
              <a:rPr i="1" baseline="-5999">
                <a:latin typeface="Times"/>
                <a:ea typeface="Times"/>
                <a:cs typeface="Times"/>
                <a:sym typeface="Times"/>
              </a:rPr>
              <a:t>n</a:t>
            </a:r>
            <a:r>
              <a:t>, find a sequence of lines that minimizes </a:t>
            </a:r>
            <a:r>
              <a:rPr i="1">
                <a:latin typeface="Times"/>
                <a:ea typeface="Times"/>
                <a:cs typeface="Times"/>
                <a:sym typeface="Times"/>
              </a:rPr>
              <a:t>f</a:t>
            </a:r>
            <a:r>
              <a:rPr i="1" baseline="-5999">
                <a:latin typeface="Times"/>
                <a:ea typeface="Times"/>
                <a:cs typeface="Times"/>
                <a:sym typeface="Times"/>
              </a:rPr>
              <a:t> </a:t>
            </a:r>
            <a:r>
              <a:rPr>
                <a:latin typeface="Times"/>
                <a:ea typeface="Times"/>
                <a:cs typeface="Times"/>
                <a:sym typeface="Times"/>
              </a:rPr>
              <a:t>(</a:t>
            </a:r>
            <a:r>
              <a:rPr i="1">
                <a:latin typeface="Times"/>
                <a:ea typeface="Times"/>
                <a:cs typeface="Times"/>
                <a:sym typeface="Times"/>
              </a:rPr>
              <a:t>x</a:t>
            </a:r>
            <a:r>
              <a:rPr>
                <a:latin typeface="Times"/>
                <a:ea typeface="Times"/>
                <a:cs typeface="Times"/>
                <a:sym typeface="Times"/>
              </a:rPr>
              <a:t>)</a:t>
            </a:r>
            <a:r>
              <a:t>.</a:t>
            </a:r>
          </a:p>
          <a:p>
            <a:br/>
            <a:r>
              <a:t>Goal.  </a:t>
            </a:r>
            <a:r>
              <a:rPr>
                <a:solidFill>
                  <a:srgbClr val="000000"/>
                </a:solidFill>
              </a:rPr>
              <a:t>Minimize </a:t>
            </a:r>
            <a:r>
              <a:rPr i="1">
                <a:solidFill>
                  <a:srgbClr val="000000"/>
                </a:solidFill>
                <a:latin typeface="Times"/>
                <a:ea typeface="Times"/>
                <a:cs typeface="Times"/>
                <a:sym typeface="Times"/>
              </a:rPr>
              <a:t>f</a:t>
            </a:r>
            <a:r>
              <a:rPr i="1" baseline="-5999">
                <a:solidFill>
                  <a:srgbClr val="000000"/>
                </a:solidFill>
                <a:latin typeface="Times"/>
                <a:ea typeface="Times"/>
                <a:cs typeface="Times"/>
                <a:sym typeface="Times"/>
              </a:rPr>
              <a:t> </a:t>
            </a:r>
            <a:r>
              <a:rPr>
                <a:solidFill>
                  <a:srgbClr val="000000"/>
                </a:solidFill>
                <a:latin typeface="Times"/>
                <a:ea typeface="Times"/>
                <a:cs typeface="Times"/>
                <a:sym typeface="Times"/>
              </a:rPr>
              <a:t>(</a:t>
            </a:r>
            <a:r>
              <a:rPr i="1">
                <a:solidFill>
                  <a:srgbClr val="000000"/>
                </a:solidFill>
                <a:latin typeface="Times"/>
                <a:ea typeface="Times"/>
                <a:cs typeface="Times"/>
                <a:sym typeface="Times"/>
              </a:rPr>
              <a:t>x</a:t>
            </a:r>
            <a:r>
              <a:rPr>
                <a:solidFill>
                  <a:srgbClr val="000000"/>
                </a:solidFill>
                <a:latin typeface="Times"/>
                <a:ea typeface="Times"/>
                <a:cs typeface="Times"/>
                <a:sym typeface="Times"/>
              </a:rPr>
              <a:t>) = </a:t>
            </a:r>
            <a:r>
              <a:rPr i="1">
                <a:solidFill>
                  <a:srgbClr val="000000"/>
                </a:solidFill>
                <a:latin typeface="Times"/>
                <a:ea typeface="Times"/>
                <a:cs typeface="Times"/>
                <a:sym typeface="Times"/>
              </a:rPr>
              <a:t>E</a:t>
            </a:r>
            <a:r>
              <a:rPr>
                <a:solidFill>
                  <a:srgbClr val="000000"/>
                </a:solidFill>
                <a:latin typeface="Times"/>
                <a:ea typeface="Times"/>
                <a:cs typeface="Times"/>
                <a:sym typeface="Times"/>
              </a:rPr>
              <a:t> + </a:t>
            </a:r>
            <a:r>
              <a:rPr i="1">
                <a:solidFill>
                  <a:srgbClr val="000000"/>
                </a:solidFill>
                <a:latin typeface="Times"/>
                <a:ea typeface="Times"/>
                <a:cs typeface="Times"/>
                <a:sym typeface="Times"/>
              </a:rPr>
              <a:t>c L</a:t>
            </a:r>
            <a:r>
              <a:rPr>
                <a:solidFill>
                  <a:srgbClr val="000000"/>
                </a:solidFill>
              </a:rPr>
              <a:t> for some constant </a:t>
            </a:r>
            <a:r>
              <a:rPr i="1">
                <a:solidFill>
                  <a:srgbClr val="000000"/>
                </a:solidFill>
                <a:latin typeface="Times"/>
                <a:ea typeface="Times"/>
                <a:cs typeface="Times"/>
                <a:sym typeface="Times"/>
              </a:rPr>
              <a:t>c </a:t>
            </a:r>
            <a:r>
              <a:rPr>
                <a:solidFill>
                  <a:srgbClr val="000000"/>
                </a:solidFill>
                <a:latin typeface="Times"/>
                <a:ea typeface="Times"/>
                <a:cs typeface="Times"/>
                <a:sym typeface="Times"/>
              </a:rPr>
              <a:t>&gt; 0</a:t>
            </a:r>
            <a:r>
              <a:rPr>
                <a:solidFill>
                  <a:srgbClr val="000000"/>
                </a:solidFill>
              </a:rPr>
              <a:t>, where</a:t>
            </a:r>
          </a:p>
          <a:p>
            <a:pPr lvl="1"/>
            <a:r>
              <a:rPr i="1">
                <a:latin typeface="Times"/>
                <a:ea typeface="Times"/>
                <a:cs typeface="Times"/>
                <a:sym typeface="Times"/>
              </a:rPr>
              <a:t>E  = </a:t>
            </a:r>
            <a:r>
              <a:t>sum of the sums of the squared errors in each segment.</a:t>
            </a:r>
          </a:p>
          <a:p>
            <a:pPr lvl="1"/>
            <a:r>
              <a:rPr i="1">
                <a:latin typeface="Times"/>
                <a:ea typeface="Times"/>
                <a:cs typeface="Times"/>
                <a:sym typeface="Times"/>
              </a:rPr>
              <a:t>L  = </a:t>
            </a:r>
            <a:r>
              <a:t>number of lines.</a:t>
            </a:r>
          </a:p>
        </p:txBody>
      </p:sp>
      <p:grpSp>
        <p:nvGrpSpPr>
          <p:cNvPr id="620" name="成组"/>
          <p:cNvGrpSpPr/>
          <p:nvPr/>
        </p:nvGrpSpPr>
        <p:grpSpPr>
          <a:xfrm>
            <a:off x="1689100" y="5288562"/>
            <a:ext cx="7110358" cy="5207001"/>
            <a:chOff x="0" y="0"/>
            <a:chExt cx="7110357" cy="5207000"/>
          </a:xfrm>
        </p:grpSpPr>
        <p:sp>
          <p:nvSpPr>
            <p:cNvPr id="586" name="线条"/>
            <p:cNvSpPr/>
            <p:nvPr/>
          </p:nvSpPr>
          <p:spPr>
            <a:xfrm>
              <a:off x="461997" y="349391"/>
              <a:ext cx="2259" cy="3745654"/>
            </a:xfrm>
            <a:prstGeom prst="line">
              <a:avLst/>
            </a:prstGeom>
            <a:noFill/>
            <a:ln w="19050" cap="flat">
              <a:solidFill>
                <a:srgbClr val="000000"/>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587" name="线条"/>
            <p:cNvSpPr/>
            <p:nvPr/>
          </p:nvSpPr>
          <p:spPr>
            <a:xfrm>
              <a:off x="87206" y="3720253"/>
              <a:ext cx="5994401" cy="2259"/>
            </a:xfrm>
            <a:prstGeom prst="line">
              <a:avLst/>
            </a:prstGeom>
            <a:noFill/>
            <a:ln w="19050" cap="flat">
              <a:solidFill>
                <a:srgbClr val="000000"/>
              </a:solidFill>
              <a:prstDash val="solid"/>
              <a:miter lim="400000"/>
              <a:tail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nvGrpSpPr>
            <p:cNvPr id="613" name="成组"/>
            <p:cNvGrpSpPr/>
            <p:nvPr/>
          </p:nvGrpSpPr>
          <p:grpSpPr>
            <a:xfrm>
              <a:off x="836788" y="274884"/>
              <a:ext cx="4874826" cy="3070579"/>
              <a:chOff x="0" y="0"/>
              <a:chExt cx="4874824" cy="3070578"/>
            </a:xfrm>
          </p:grpSpPr>
          <p:sp>
            <p:nvSpPr>
              <p:cNvPr id="588" name="圆形"/>
              <p:cNvSpPr/>
              <p:nvPr/>
            </p:nvSpPr>
            <p:spPr>
              <a:xfrm>
                <a:off x="1499164" y="2246488"/>
                <a:ext cx="149015"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89" name="圆形"/>
              <p:cNvSpPr/>
              <p:nvPr/>
            </p:nvSpPr>
            <p:spPr>
              <a:xfrm>
                <a:off x="374791" y="2695787"/>
                <a:ext cx="149014"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90" name="圆形"/>
              <p:cNvSpPr/>
              <p:nvPr/>
            </p:nvSpPr>
            <p:spPr>
              <a:xfrm>
                <a:off x="1195211" y="2323253"/>
                <a:ext cx="149014"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91" name="圆形"/>
              <p:cNvSpPr/>
              <p:nvPr/>
            </p:nvSpPr>
            <p:spPr>
              <a:xfrm>
                <a:off x="824089" y="2546773"/>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92" name="圆形"/>
              <p:cNvSpPr/>
              <p:nvPr/>
            </p:nvSpPr>
            <p:spPr>
              <a:xfrm>
                <a:off x="1797191" y="2171982"/>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93" name="圆形"/>
              <p:cNvSpPr/>
              <p:nvPr/>
            </p:nvSpPr>
            <p:spPr>
              <a:xfrm>
                <a:off x="3896924" y="1871697"/>
                <a:ext cx="149014"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94" name="圆形"/>
              <p:cNvSpPr/>
              <p:nvPr/>
            </p:nvSpPr>
            <p:spPr>
              <a:xfrm>
                <a:off x="2397760" y="2171982"/>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95" name="圆形"/>
              <p:cNvSpPr/>
              <p:nvPr/>
            </p:nvSpPr>
            <p:spPr>
              <a:xfrm>
                <a:off x="4495236" y="598311"/>
                <a:ext cx="151272"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96" name="圆形"/>
              <p:cNvSpPr/>
              <p:nvPr/>
            </p:nvSpPr>
            <p:spPr>
              <a:xfrm>
                <a:off x="4194951" y="1269153"/>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97" name="圆形"/>
              <p:cNvSpPr/>
              <p:nvPr/>
            </p:nvSpPr>
            <p:spPr>
              <a:xfrm>
                <a:off x="4120445" y="1648178"/>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98" name="圆形"/>
              <p:cNvSpPr/>
              <p:nvPr/>
            </p:nvSpPr>
            <p:spPr>
              <a:xfrm>
                <a:off x="4271715" y="973102"/>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599" name="圆形"/>
              <p:cNvSpPr/>
              <p:nvPr/>
            </p:nvSpPr>
            <p:spPr>
              <a:xfrm>
                <a:off x="4420729" y="303953"/>
                <a:ext cx="149014"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00" name="圆形"/>
              <p:cNvSpPr/>
              <p:nvPr/>
            </p:nvSpPr>
            <p:spPr>
              <a:xfrm>
                <a:off x="3447627" y="2171982"/>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01" name="圆形"/>
              <p:cNvSpPr/>
              <p:nvPr/>
            </p:nvSpPr>
            <p:spPr>
              <a:xfrm>
                <a:off x="2847057" y="2097475"/>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02" name="圆形"/>
              <p:cNvSpPr/>
              <p:nvPr/>
            </p:nvSpPr>
            <p:spPr>
              <a:xfrm>
                <a:off x="2097475" y="2171982"/>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03" name="圆形"/>
              <p:cNvSpPr/>
              <p:nvPr/>
            </p:nvSpPr>
            <p:spPr>
              <a:xfrm>
                <a:off x="225778" y="2770293"/>
                <a:ext cx="149014"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04" name="圆形"/>
              <p:cNvSpPr/>
              <p:nvPr/>
            </p:nvSpPr>
            <p:spPr>
              <a:xfrm>
                <a:off x="973102" y="2397760"/>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05" name="圆形"/>
              <p:cNvSpPr/>
              <p:nvPr/>
            </p:nvSpPr>
            <p:spPr>
              <a:xfrm>
                <a:off x="3072836" y="2097475"/>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06" name="圆形"/>
              <p:cNvSpPr/>
              <p:nvPr/>
            </p:nvSpPr>
            <p:spPr>
              <a:xfrm>
                <a:off x="4569742" y="149013"/>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07" name="圆形"/>
              <p:cNvSpPr/>
              <p:nvPr/>
            </p:nvSpPr>
            <p:spPr>
              <a:xfrm>
                <a:off x="3820160" y="2171982"/>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08" name="圆形"/>
              <p:cNvSpPr/>
              <p:nvPr/>
            </p:nvSpPr>
            <p:spPr>
              <a:xfrm>
                <a:off x="2472266" y="2022969"/>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09" name="圆形"/>
              <p:cNvSpPr/>
              <p:nvPr/>
            </p:nvSpPr>
            <p:spPr>
              <a:xfrm>
                <a:off x="4271715" y="672817"/>
                <a:ext cx="149014" cy="151272"/>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10" name="圆形"/>
              <p:cNvSpPr/>
              <p:nvPr/>
            </p:nvSpPr>
            <p:spPr>
              <a:xfrm>
                <a:off x="4120445" y="898595"/>
                <a:ext cx="151272"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11" name="圆形"/>
              <p:cNvSpPr/>
              <p:nvPr/>
            </p:nvSpPr>
            <p:spPr>
              <a:xfrm>
                <a:off x="4725811" y="0"/>
                <a:ext cx="149014" cy="149014"/>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612" name="圆形"/>
              <p:cNvSpPr/>
              <p:nvPr/>
            </p:nvSpPr>
            <p:spPr>
              <a:xfrm>
                <a:off x="0" y="2921564"/>
                <a:ext cx="149014" cy="149015"/>
              </a:xfrm>
              <a:prstGeom prst="ellipse">
                <a:avLst/>
              </a:prstGeom>
              <a:noFill/>
              <a:ln w="952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grpSp>
        <p:grpSp>
          <p:nvGrpSpPr>
            <p:cNvPr id="617" name="成组"/>
            <p:cNvGrpSpPr/>
            <p:nvPr/>
          </p:nvGrpSpPr>
          <p:grpSpPr>
            <a:xfrm>
              <a:off x="0" y="-1"/>
              <a:ext cx="5694116" cy="3596641"/>
              <a:chOff x="0" y="0"/>
              <a:chExt cx="5694115" cy="3596639"/>
            </a:xfrm>
          </p:grpSpPr>
          <p:sp>
            <p:nvSpPr>
              <p:cNvPr id="614" name="线条"/>
              <p:cNvSpPr/>
              <p:nvPr/>
            </p:nvSpPr>
            <p:spPr>
              <a:xfrm flipV="1">
                <a:off x="0" y="2547619"/>
                <a:ext cx="2472446" cy="1049021"/>
              </a:xfrm>
              <a:prstGeom prst="line">
                <a:avLst/>
              </a:prstGeom>
              <a:noFill/>
              <a:ln w="38100" cap="flat">
                <a:solidFill>
                  <a:srgbClr val="003F83"/>
                </a:solidFill>
                <a:prstDash val="solid"/>
                <a:miter lim="400000"/>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615" name="线条"/>
              <p:cNvSpPr/>
              <p:nvPr/>
            </p:nvSpPr>
            <p:spPr>
              <a:xfrm flipH="1">
                <a:off x="4795044" y="0"/>
                <a:ext cx="899072" cy="2472691"/>
              </a:xfrm>
              <a:prstGeom prst="line">
                <a:avLst/>
              </a:prstGeom>
              <a:noFill/>
              <a:ln w="38100" cap="flat">
                <a:solidFill>
                  <a:srgbClr val="003F83"/>
                </a:solidFill>
                <a:prstDash val="solid"/>
                <a:miter lim="400000"/>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616" name="线条"/>
              <p:cNvSpPr/>
              <p:nvPr/>
            </p:nvSpPr>
            <p:spPr>
              <a:xfrm flipV="1">
                <a:off x="2472444" y="2472690"/>
                <a:ext cx="2322601" cy="74931"/>
              </a:xfrm>
              <a:prstGeom prst="line">
                <a:avLst/>
              </a:prstGeom>
              <a:noFill/>
              <a:ln w="38100" cap="flat">
                <a:solidFill>
                  <a:srgbClr val="003F83"/>
                </a:solidFill>
                <a:prstDash val="solid"/>
                <a:miter lim="400000"/>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618" name="x"/>
            <p:cNvSpPr/>
            <p:nvPr/>
          </p:nvSpPr>
          <p:spPr>
            <a:xfrm>
              <a:off x="5840357" y="393700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defRPr sz="1800" i="1">
                  <a:solidFill>
                    <a:srgbClr val="000000"/>
                  </a:solidFill>
                  <a:latin typeface="Times"/>
                  <a:ea typeface="Times"/>
                  <a:cs typeface="Times"/>
                  <a:sym typeface="Times"/>
                </a:defRPr>
              </a:lvl1pPr>
            </a:lstStyle>
            <a:p>
              <a:r>
                <a:t>x</a:t>
              </a:r>
            </a:p>
          </p:txBody>
        </p:sp>
        <p:sp>
          <p:nvSpPr>
            <p:cNvPr id="619" name="y"/>
            <p:cNvSpPr/>
            <p:nvPr/>
          </p:nvSpPr>
          <p:spPr>
            <a:xfrm>
              <a:off x="183438" y="346850"/>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defRPr sz="1800" i="1">
                  <a:solidFill>
                    <a:srgbClr val="000000"/>
                  </a:solidFill>
                  <a:latin typeface="Times"/>
                  <a:ea typeface="Times"/>
                  <a:cs typeface="Times"/>
                  <a:sym typeface="Times"/>
                </a:defRPr>
              </a:lvl1pPr>
            </a:lstStyle>
            <a:p>
              <a:r>
                <a:t>y</a:t>
              </a:r>
            </a:p>
          </p:txBody>
        </p:sp>
      </p:grpSp>
      <p:sp>
        <p:nvSpPr>
          <p:cNvPr id="621"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34</a:t>
            </a:fld>
            <a:endParaRP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624" name="Dynamic programming:  multiway choice"/>
          <p:cNvSpPr txBox="1">
            <a:spLocks noGrp="1"/>
          </p:cNvSpPr>
          <p:nvPr>
            <p:ph type="title"/>
          </p:nvPr>
        </p:nvSpPr>
        <p:spPr>
          <a:prstGeom prst="rect">
            <a:avLst/>
          </a:prstGeom>
        </p:spPr>
        <p:txBody>
          <a:bodyPr/>
          <a:lstStyle/>
          <a:p>
            <a:r>
              <a:t>Dynamic programming:  multiway choice</a:t>
            </a:r>
          </a:p>
        </p:txBody>
      </p:sp>
      <p:sp>
        <p:nvSpPr>
          <p:cNvPr id="625" name="Notation.…"/>
          <p:cNvSpPr txBox="1">
            <a:spLocks noGrp="1"/>
          </p:cNvSpPr>
          <p:nvPr>
            <p:ph type="body" idx="1"/>
          </p:nvPr>
        </p:nvSpPr>
        <p:spPr>
          <a:prstGeom prst="rect">
            <a:avLst/>
          </a:prstGeom>
        </p:spPr>
        <p:txBody>
          <a:bodyPr/>
          <a:lstStyle/>
          <a:p>
            <a:r>
              <a:t>Notation.</a:t>
            </a:r>
          </a:p>
          <a:p>
            <a:pPr lvl="1"/>
            <a:r>
              <a:rPr i="1">
                <a:latin typeface="Times"/>
                <a:ea typeface="Times"/>
                <a:cs typeface="Times"/>
                <a:sym typeface="Times"/>
              </a:rPr>
              <a:t>OPT</a:t>
            </a:r>
            <a:r>
              <a:rPr spc="240">
                <a:latin typeface="Times"/>
                <a:ea typeface="Times"/>
                <a:cs typeface="Times"/>
                <a:sym typeface="Times"/>
              </a:rPr>
              <a:t>(</a:t>
            </a:r>
            <a:r>
              <a:rPr i="1" spc="240">
                <a:latin typeface="Times"/>
                <a:ea typeface="Times"/>
                <a:cs typeface="Times"/>
                <a:sym typeface="Times"/>
              </a:rPr>
              <a:t>j</a:t>
            </a:r>
            <a:r>
              <a:rPr>
                <a:latin typeface="Times"/>
                <a:ea typeface="Times"/>
                <a:cs typeface="Times"/>
                <a:sym typeface="Times"/>
              </a:rPr>
              <a:t>)</a:t>
            </a:r>
            <a:r>
              <a:t>	= minimum cost for points </a:t>
            </a:r>
            <a:r>
              <a:rPr i="1">
                <a:latin typeface="Times"/>
                <a:ea typeface="Times"/>
                <a:cs typeface="Times"/>
                <a:sym typeface="Times"/>
              </a:rPr>
              <a:t>p</a:t>
            </a:r>
            <a:r>
              <a:rPr baseline="-5999">
                <a:latin typeface="Times"/>
                <a:ea typeface="Times"/>
                <a:cs typeface="Times"/>
                <a:sym typeface="Times"/>
              </a:rPr>
              <a:t>1</a:t>
            </a:r>
            <a:r>
              <a:rPr>
                <a:latin typeface="Times"/>
                <a:ea typeface="Times"/>
                <a:cs typeface="Times"/>
                <a:sym typeface="Times"/>
              </a:rPr>
              <a:t>, </a:t>
            </a:r>
            <a:r>
              <a:rPr i="1">
                <a:latin typeface="Times"/>
                <a:ea typeface="Times"/>
                <a:cs typeface="Times"/>
                <a:sym typeface="Times"/>
              </a:rPr>
              <a:t>p</a:t>
            </a:r>
            <a:r>
              <a:rPr baseline="-5999">
                <a:latin typeface="Times"/>
                <a:ea typeface="Times"/>
                <a:cs typeface="Times"/>
                <a:sym typeface="Times"/>
              </a:rPr>
              <a:t>2</a:t>
            </a:r>
            <a:r>
              <a:rPr>
                <a:latin typeface="Times"/>
                <a:ea typeface="Times"/>
                <a:cs typeface="Times"/>
                <a:sym typeface="Times"/>
              </a:rPr>
              <a:t>,  …, </a:t>
            </a:r>
            <a:r>
              <a:rPr i="1">
                <a:latin typeface="Times"/>
                <a:ea typeface="Times"/>
                <a:cs typeface="Times"/>
                <a:sym typeface="Times"/>
              </a:rPr>
              <a:t>p</a:t>
            </a:r>
            <a:r>
              <a:rPr i="1" baseline="-5999">
                <a:latin typeface="Times"/>
                <a:ea typeface="Times"/>
                <a:cs typeface="Times"/>
                <a:sym typeface="Times"/>
              </a:rPr>
              <a:t>j</a:t>
            </a:r>
            <a:r>
              <a:t>.</a:t>
            </a:r>
          </a:p>
          <a:p>
            <a:pPr lvl="1"/>
            <a:r>
              <a:rPr i="1">
                <a:latin typeface="Times"/>
                <a:ea typeface="Times"/>
                <a:cs typeface="Times"/>
                <a:sym typeface="Times"/>
              </a:rPr>
              <a:t>e</a:t>
            </a:r>
            <a:r>
              <a:rPr i="1" baseline="-5999">
                <a:latin typeface="Times"/>
                <a:ea typeface="Times"/>
                <a:cs typeface="Times"/>
                <a:sym typeface="Times"/>
              </a:rPr>
              <a:t>ij			</a:t>
            </a:r>
            <a:r>
              <a:t>= SSE for for points </a:t>
            </a:r>
            <a:r>
              <a:rPr i="1">
                <a:latin typeface="Times"/>
                <a:ea typeface="Times"/>
                <a:cs typeface="Times"/>
                <a:sym typeface="Times"/>
              </a:rPr>
              <a:t>p</a:t>
            </a:r>
            <a:r>
              <a:rPr i="1" baseline="-5999">
                <a:latin typeface="Times"/>
                <a:ea typeface="Times"/>
                <a:cs typeface="Times"/>
                <a:sym typeface="Times"/>
              </a:rPr>
              <a:t>i</a:t>
            </a:r>
            <a:r>
              <a:rPr>
                <a:latin typeface="Times"/>
                <a:ea typeface="Times"/>
                <a:cs typeface="Times"/>
                <a:sym typeface="Times"/>
              </a:rPr>
              <a:t>, </a:t>
            </a:r>
            <a:r>
              <a:rPr i="1">
                <a:latin typeface="Times"/>
                <a:ea typeface="Times"/>
                <a:cs typeface="Times"/>
                <a:sym typeface="Times"/>
              </a:rPr>
              <a:t>p</a:t>
            </a:r>
            <a:r>
              <a:rPr i="1" baseline="-5999">
                <a:latin typeface="Times"/>
                <a:ea typeface="Times"/>
                <a:cs typeface="Times"/>
                <a:sym typeface="Times"/>
              </a:rPr>
              <a:t>i+</a:t>
            </a:r>
            <a:r>
              <a:rPr baseline="-5999">
                <a:latin typeface="Times"/>
                <a:ea typeface="Times"/>
                <a:cs typeface="Times"/>
                <a:sym typeface="Times"/>
              </a:rPr>
              <a:t>1</a:t>
            </a:r>
            <a:r>
              <a:rPr>
                <a:latin typeface="Times"/>
                <a:ea typeface="Times"/>
                <a:cs typeface="Times"/>
                <a:sym typeface="Times"/>
              </a:rPr>
              <a:t>,  …, </a:t>
            </a:r>
            <a:r>
              <a:rPr i="1">
                <a:latin typeface="Times"/>
                <a:ea typeface="Times"/>
                <a:cs typeface="Times"/>
                <a:sym typeface="Times"/>
              </a:rPr>
              <a:t>p</a:t>
            </a:r>
            <a:r>
              <a:rPr i="1" baseline="-5999">
                <a:latin typeface="Times"/>
                <a:ea typeface="Times"/>
                <a:cs typeface="Times"/>
                <a:sym typeface="Times"/>
              </a:rPr>
              <a:t>j</a:t>
            </a:r>
            <a:r>
              <a:t>.</a:t>
            </a:r>
          </a:p>
          <a:p>
            <a:br/>
            <a:r>
              <a:t>To compute </a:t>
            </a:r>
            <a:r>
              <a:rPr i="1">
                <a:latin typeface="Times"/>
                <a:ea typeface="Times"/>
                <a:cs typeface="Times"/>
                <a:sym typeface="Times"/>
              </a:rPr>
              <a:t>OPT</a:t>
            </a:r>
            <a:r>
              <a:rPr spc="240">
                <a:latin typeface="Times"/>
                <a:ea typeface="Times"/>
                <a:cs typeface="Times"/>
                <a:sym typeface="Times"/>
              </a:rPr>
              <a:t>(</a:t>
            </a:r>
            <a:r>
              <a:rPr i="1" spc="240">
                <a:latin typeface="Times"/>
                <a:ea typeface="Times"/>
                <a:cs typeface="Times"/>
                <a:sym typeface="Times"/>
              </a:rPr>
              <a:t>j</a:t>
            </a:r>
            <a:r>
              <a:rPr>
                <a:latin typeface="Times"/>
                <a:ea typeface="Times"/>
                <a:cs typeface="Times"/>
                <a:sym typeface="Times"/>
              </a:rPr>
              <a:t>)</a:t>
            </a:r>
            <a:r>
              <a:t>:</a:t>
            </a:r>
          </a:p>
          <a:p>
            <a:pPr lvl="1"/>
            <a:r>
              <a:t>Last segment uses points </a:t>
            </a:r>
            <a:r>
              <a:rPr i="1">
                <a:latin typeface="Times"/>
                <a:ea typeface="Times"/>
                <a:cs typeface="Times"/>
                <a:sym typeface="Times"/>
              </a:rPr>
              <a:t>p</a:t>
            </a:r>
            <a:r>
              <a:rPr i="1" baseline="-5999">
                <a:latin typeface="Times"/>
                <a:ea typeface="Times"/>
                <a:cs typeface="Times"/>
                <a:sym typeface="Times"/>
              </a:rPr>
              <a:t>i</a:t>
            </a:r>
            <a:r>
              <a:rPr>
                <a:latin typeface="Times"/>
                <a:ea typeface="Times"/>
                <a:cs typeface="Times"/>
                <a:sym typeface="Times"/>
              </a:rPr>
              <a:t>, </a:t>
            </a:r>
            <a:r>
              <a:rPr i="1">
                <a:latin typeface="Times"/>
                <a:ea typeface="Times"/>
                <a:cs typeface="Times"/>
                <a:sym typeface="Times"/>
              </a:rPr>
              <a:t>p</a:t>
            </a:r>
            <a:r>
              <a:rPr i="1" baseline="-5999">
                <a:latin typeface="Times"/>
                <a:ea typeface="Times"/>
                <a:cs typeface="Times"/>
                <a:sym typeface="Times"/>
              </a:rPr>
              <a:t>i+</a:t>
            </a:r>
            <a:r>
              <a:rPr baseline="-5999">
                <a:latin typeface="Times"/>
                <a:ea typeface="Times"/>
                <a:cs typeface="Times"/>
                <a:sym typeface="Times"/>
              </a:rPr>
              <a:t>1</a:t>
            </a:r>
            <a:r>
              <a:rPr>
                <a:latin typeface="Times"/>
                <a:ea typeface="Times"/>
                <a:cs typeface="Times"/>
                <a:sym typeface="Times"/>
              </a:rPr>
              <a:t>,  …, </a:t>
            </a:r>
            <a:r>
              <a:rPr i="1">
                <a:latin typeface="Times"/>
                <a:ea typeface="Times"/>
                <a:cs typeface="Times"/>
                <a:sym typeface="Times"/>
              </a:rPr>
              <a:t>p</a:t>
            </a:r>
            <a:r>
              <a:rPr i="1" baseline="-5999">
                <a:latin typeface="Times"/>
                <a:ea typeface="Times"/>
                <a:cs typeface="Times"/>
                <a:sym typeface="Times"/>
              </a:rPr>
              <a:t>j</a:t>
            </a:r>
            <a:r>
              <a:t> for some </a:t>
            </a:r>
            <a:r>
              <a:rPr i="1">
                <a:latin typeface="Times"/>
                <a:ea typeface="Times"/>
                <a:cs typeface="Times"/>
                <a:sym typeface="Times"/>
              </a:rPr>
              <a:t>i </a:t>
            </a:r>
            <a:r>
              <a:rPr>
                <a:latin typeface="Times"/>
                <a:ea typeface="Times"/>
                <a:cs typeface="Times"/>
                <a:sym typeface="Times"/>
              </a:rPr>
              <a:t>≤</a:t>
            </a:r>
            <a:r>
              <a:rPr i="1">
                <a:latin typeface="Times"/>
                <a:ea typeface="Times"/>
                <a:cs typeface="Times"/>
                <a:sym typeface="Times"/>
              </a:rPr>
              <a:t> j</a:t>
            </a:r>
            <a:r>
              <a:t>.</a:t>
            </a:r>
          </a:p>
          <a:p>
            <a:pPr lvl="1"/>
            <a:r>
              <a:t>Cost = </a:t>
            </a:r>
            <a:r>
              <a:rPr i="1">
                <a:latin typeface="Times"/>
                <a:ea typeface="Times"/>
                <a:cs typeface="Times"/>
                <a:sym typeface="Times"/>
              </a:rPr>
              <a:t>e</a:t>
            </a:r>
            <a:r>
              <a:rPr i="1" baseline="-5999">
                <a:latin typeface="Times"/>
                <a:ea typeface="Times"/>
                <a:cs typeface="Times"/>
                <a:sym typeface="Times"/>
              </a:rPr>
              <a:t>ij</a:t>
            </a:r>
            <a:r>
              <a:rPr>
                <a:latin typeface="Times"/>
                <a:ea typeface="Times"/>
                <a:cs typeface="Times"/>
                <a:sym typeface="Times"/>
              </a:rPr>
              <a:t>  +  </a:t>
            </a:r>
            <a:r>
              <a:rPr i="1">
                <a:latin typeface="Times"/>
                <a:ea typeface="Times"/>
                <a:cs typeface="Times"/>
                <a:sym typeface="Times"/>
              </a:rPr>
              <a:t>c</a:t>
            </a:r>
            <a:r>
              <a:rPr>
                <a:latin typeface="Times"/>
                <a:ea typeface="Times"/>
                <a:cs typeface="Times"/>
                <a:sym typeface="Times"/>
              </a:rPr>
              <a:t>  +  </a:t>
            </a:r>
            <a:r>
              <a:rPr i="1">
                <a:latin typeface="Times"/>
                <a:ea typeface="Times"/>
                <a:cs typeface="Times"/>
                <a:sym typeface="Times"/>
              </a:rPr>
              <a:t>OPT</a:t>
            </a:r>
            <a:r>
              <a:rPr>
                <a:latin typeface="Times"/>
                <a:ea typeface="Times"/>
                <a:cs typeface="Times"/>
                <a:sym typeface="Times"/>
              </a:rPr>
              <a:t>(</a:t>
            </a:r>
            <a:r>
              <a:rPr i="1">
                <a:latin typeface="Times"/>
                <a:ea typeface="Times"/>
                <a:cs typeface="Times"/>
                <a:sym typeface="Times"/>
              </a:rPr>
              <a:t>i </a:t>
            </a:r>
            <a:r>
              <a:rPr>
                <a:latin typeface="Times"/>
                <a:ea typeface="Times"/>
                <a:cs typeface="Times"/>
                <a:sym typeface="Times"/>
              </a:rPr>
              <a:t>– 1)</a:t>
            </a:r>
            <a:r>
              <a:t>.</a:t>
            </a:r>
          </a:p>
          <a:p>
            <a:br/>
            <a:br/>
            <a:r>
              <a:t>Bellman equation.</a:t>
            </a:r>
          </a:p>
        </p:txBody>
      </p:sp>
      <p:sp>
        <p:nvSpPr>
          <p:cNvPr id="626"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35</a:t>
            </a:fld>
            <a:endParaRPr/>
          </a:p>
        </p:txBody>
      </p:sp>
      <p:grpSp>
        <p:nvGrpSpPr>
          <p:cNvPr id="629" name="成组"/>
          <p:cNvGrpSpPr/>
          <p:nvPr/>
        </p:nvGrpSpPr>
        <p:grpSpPr>
          <a:xfrm>
            <a:off x="5962644" y="4413673"/>
            <a:ext cx="3528754" cy="1270001"/>
            <a:chOff x="0" y="0"/>
            <a:chExt cx="3528752" cy="1270000"/>
          </a:xfrm>
        </p:grpSpPr>
        <p:sp>
          <p:nvSpPr>
            <p:cNvPr id="627" name="optimal substructure property…"/>
            <p:cNvSpPr/>
            <p:nvPr/>
          </p:nvSpPr>
          <p:spPr>
            <a:xfrm>
              <a:off x="2258752" y="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lnSpc>
                  <a:spcPct val="140000"/>
                </a:lnSpc>
              </a:pPr>
              <a:r>
                <a:t>optimal substructure property</a:t>
              </a:r>
            </a:p>
            <a:p>
              <a:pPr>
                <a:lnSpc>
                  <a:spcPct val="140000"/>
                </a:lnSpc>
              </a:pPr>
              <a:r>
                <a:t>(proof via exchange argument)</a:t>
              </a:r>
            </a:p>
          </p:txBody>
        </p:sp>
        <p:sp>
          <p:nvSpPr>
            <p:cNvPr id="628" name="线条"/>
            <p:cNvSpPr/>
            <p:nvPr/>
          </p:nvSpPr>
          <p:spPr>
            <a:xfrm flipV="1">
              <a:off x="0" y="76014"/>
              <a:ext cx="604033" cy="2"/>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pic>
        <p:nvPicPr>
          <p:cNvPr id="630" name="图像" descr="图像"/>
          <p:cNvPicPr>
            <a:picLocks noChangeAspect="1"/>
          </p:cNvPicPr>
          <p:nvPr/>
        </p:nvPicPr>
        <p:blipFill>
          <a:blip r:embed="rId3"/>
          <a:stretch>
            <a:fillRect/>
          </a:stretch>
        </p:blipFill>
        <p:spPr>
          <a:xfrm>
            <a:off x="2273294" y="6615787"/>
            <a:ext cx="7378701" cy="1130301"/>
          </a:xfrm>
          <a:prstGeom prst="rect">
            <a:avLst/>
          </a:prstGeom>
          <a:ln w="12700">
            <a:miter lim="400000"/>
          </a:ln>
        </p:spPr>
      </p:pic>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635" name="Segmented least squares algorithm"/>
          <p:cNvSpPr txBox="1">
            <a:spLocks noGrp="1"/>
          </p:cNvSpPr>
          <p:nvPr>
            <p:ph type="title"/>
          </p:nvPr>
        </p:nvSpPr>
        <p:spPr>
          <a:prstGeom prst="rect">
            <a:avLst/>
          </a:prstGeom>
        </p:spPr>
        <p:txBody>
          <a:bodyPr/>
          <a:lstStyle/>
          <a:p>
            <a:r>
              <a:t>Segmented least squares algorithm</a:t>
            </a:r>
          </a:p>
        </p:txBody>
      </p:sp>
      <p:sp>
        <p:nvSpPr>
          <p:cNvPr id="636" name="正文"/>
          <p:cNvSpPr txBox="1">
            <a:spLocks noGrp="1"/>
          </p:cNvSpPr>
          <p:nvPr>
            <p:ph type="body" idx="1"/>
          </p:nvPr>
        </p:nvSpPr>
        <p:spPr>
          <a:prstGeom prst="rect">
            <a:avLst/>
          </a:prstGeom>
        </p:spPr>
        <p:txBody>
          <a:bodyPr/>
          <a:lstStyle/>
          <a:p>
            <a:pPr lvl="1"/>
            <a:endParaRPr/>
          </a:p>
        </p:txBody>
      </p:sp>
      <p:sp>
        <p:nvSpPr>
          <p:cNvPr id="637"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36</a:t>
            </a:fld>
            <a:endParaRPr/>
          </a:p>
        </p:txBody>
      </p:sp>
      <p:sp>
        <p:nvSpPr>
          <p:cNvPr id="638" name="Segmented-Least-Squares(n, p1, …, pn, c)…"/>
          <p:cNvSpPr txBox="1"/>
          <p:nvPr/>
        </p:nvSpPr>
        <p:spPr>
          <a:xfrm>
            <a:off x="1346200" y="2413000"/>
            <a:ext cx="10160000" cy="5998766"/>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92100" tIns="292100" rIns="292100" bIns="292100">
            <a:spAutoFit/>
          </a:bodyPr>
          <a:lstStyle/>
          <a:p>
            <a:pPr algn="l">
              <a:lnSpc>
                <a:spcPct val="100000"/>
              </a:lnSpc>
              <a:spcBef>
                <a:spcPts val="1200"/>
              </a:spcBef>
              <a:defRPr sz="2400" i="1">
                <a:solidFill>
                  <a:srgbClr val="000000"/>
                </a:solidFill>
                <a:latin typeface="Times"/>
                <a:ea typeface="Times"/>
                <a:cs typeface="Times"/>
                <a:sym typeface="Times"/>
              </a:defRPr>
            </a:pPr>
            <a:r>
              <a:rPr i="0" cap="small">
                <a:solidFill>
                  <a:srgbClr val="003F83"/>
                </a:solidFill>
              </a:rPr>
              <a:t>Segmented-Least-Squares</a:t>
            </a:r>
            <a:r>
              <a:rPr i="0"/>
              <a:t>(</a:t>
            </a:r>
            <a:r>
              <a:t>n, p</a:t>
            </a:r>
            <a:r>
              <a:rPr i="0" baseline="-5999"/>
              <a:t>1</a:t>
            </a:r>
            <a:r>
              <a:rPr i="0"/>
              <a:t>, …, </a:t>
            </a:r>
            <a:r>
              <a:t>p</a:t>
            </a:r>
            <a:r>
              <a:rPr baseline="-5999"/>
              <a:t>n</a:t>
            </a:r>
            <a:r>
              <a:rPr i="0"/>
              <a:t>, </a:t>
            </a:r>
            <a:r>
              <a:t>c</a:t>
            </a:r>
            <a:r>
              <a:rPr i="0"/>
              <a:t>)</a:t>
            </a:r>
            <a:r>
              <a:t>                          </a:t>
            </a:r>
            <a:endParaRPr sz="100"/>
          </a:p>
          <a:p>
            <a:pPr algn="l">
              <a:lnSpc>
                <a:spcPct val="100000"/>
              </a:lnSpc>
              <a:spcBef>
                <a:spcPts val="1200"/>
              </a:spcBef>
              <a:defRPr sz="2400">
                <a:solidFill>
                  <a:srgbClr val="000000"/>
                </a:solidFill>
                <a:latin typeface="Times"/>
                <a:ea typeface="Times"/>
                <a:cs typeface="Times"/>
                <a:sym typeface="Times"/>
              </a:defRPr>
            </a:pPr>
            <a:r>
              <a:rPr sz="10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For</a:t>
            </a:r>
            <a:r>
              <a:rPr i="1" cap="small">
                <a:solidFill>
                  <a:srgbClr val="003F83"/>
                </a:solidFill>
              </a:rPr>
              <a:t>  </a:t>
            </a:r>
            <a:r>
              <a:t>j = 1 </a:t>
            </a:r>
            <a:r>
              <a:rPr cap="small">
                <a:solidFill>
                  <a:srgbClr val="003F83"/>
                </a:solidFill>
              </a:rPr>
              <a:t>to</a:t>
            </a:r>
            <a:r>
              <a:t>  </a:t>
            </a:r>
            <a:r>
              <a:rPr i="1"/>
              <a:t>n</a:t>
            </a:r>
          </a:p>
          <a:p>
            <a:pPr lvl="1"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For</a:t>
            </a:r>
            <a:r>
              <a:rPr i="1" cap="small">
                <a:solidFill>
                  <a:srgbClr val="003F83"/>
                </a:solidFill>
              </a:rPr>
              <a:t>  </a:t>
            </a:r>
            <a:r>
              <a:t>i = 1 </a:t>
            </a:r>
            <a:r>
              <a:rPr cap="small">
                <a:solidFill>
                  <a:srgbClr val="003F83"/>
                </a:solidFill>
              </a:rPr>
              <a:t>to</a:t>
            </a:r>
            <a:r>
              <a:rPr i="1" cap="small">
                <a:solidFill>
                  <a:srgbClr val="003F83"/>
                </a:solidFill>
              </a:rPr>
              <a:t> </a:t>
            </a:r>
            <a:r>
              <a:t> </a:t>
            </a:r>
            <a:r>
              <a:rPr i="1"/>
              <a:t>j</a:t>
            </a:r>
          </a:p>
          <a:p>
            <a:pPr lvl="2" algn="l">
              <a:lnSpc>
                <a:spcPct val="100000"/>
              </a:lnSpc>
              <a:spcBef>
                <a:spcPts val="1200"/>
              </a:spcBef>
              <a:buClrTx/>
              <a:buFontTx/>
              <a:defRPr sz="2400">
                <a:solidFill>
                  <a:srgbClr val="000000"/>
                </a:solidFill>
                <a:latin typeface="Times"/>
                <a:ea typeface="Times"/>
                <a:cs typeface="Times"/>
                <a:sym typeface="Times"/>
              </a:defRPr>
            </a:pPr>
            <a:r>
              <a:t>Compute the SSE </a:t>
            </a:r>
            <a:r>
              <a:rPr i="1"/>
              <a:t>e</a:t>
            </a:r>
            <a:r>
              <a:rPr i="1" baseline="-5999"/>
              <a:t>ij</a:t>
            </a:r>
            <a:r>
              <a:t> for the points </a:t>
            </a:r>
            <a:r>
              <a:rPr i="1"/>
              <a:t>p</a:t>
            </a:r>
            <a:r>
              <a:rPr i="1" baseline="-5999"/>
              <a:t>i</a:t>
            </a:r>
            <a:r>
              <a:t>, </a:t>
            </a:r>
            <a:r>
              <a:rPr i="1"/>
              <a:t>p</a:t>
            </a:r>
            <a:r>
              <a:rPr i="1" baseline="-5999"/>
              <a:t>i</a:t>
            </a:r>
            <a:r>
              <a:rPr baseline="-5999"/>
              <a:t>+1</a:t>
            </a:r>
            <a:r>
              <a:t>, …, </a:t>
            </a:r>
            <a:r>
              <a:rPr i="1"/>
              <a:t>p</a:t>
            </a:r>
            <a:r>
              <a:rPr i="1" baseline="-5999"/>
              <a:t>j</a:t>
            </a:r>
            <a:r>
              <a:t>.</a:t>
            </a:r>
          </a:p>
          <a:p>
            <a:pPr lvl="2" algn="l">
              <a:lnSpc>
                <a:spcPct val="100000"/>
              </a:lnSpc>
              <a:spcBef>
                <a:spcPts val="1200"/>
              </a:spcBef>
              <a:buClrTx/>
              <a:buFontTx/>
              <a:defRPr sz="2400">
                <a:solidFill>
                  <a:srgbClr val="000000"/>
                </a:solidFill>
                <a:latin typeface="Times"/>
                <a:ea typeface="Times"/>
                <a:cs typeface="Times"/>
                <a:sym typeface="Times"/>
              </a:defRPr>
            </a:pPr>
            <a:endParaRPr/>
          </a:p>
          <a:p>
            <a:pPr algn="l">
              <a:lnSpc>
                <a:spcPct val="100000"/>
              </a:lnSpc>
              <a:spcBef>
                <a:spcPts val="1200"/>
              </a:spcBef>
              <a:defRPr sz="2400">
                <a:solidFill>
                  <a:srgbClr val="000000"/>
                </a:solidFill>
                <a:latin typeface="Times"/>
                <a:ea typeface="Times"/>
                <a:cs typeface="Times"/>
                <a:sym typeface="Times"/>
              </a:defRPr>
            </a:pPr>
            <a:r>
              <a:rPr i="1" spc="240"/>
              <a:t>M</a:t>
            </a:r>
            <a:r>
              <a:rPr spc="240"/>
              <a:t>[</a:t>
            </a:r>
            <a:r>
              <a:t>0] ← 0.</a:t>
            </a: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For</a:t>
            </a:r>
            <a:r>
              <a:rPr i="1" cap="small">
                <a:solidFill>
                  <a:srgbClr val="003F83"/>
                </a:solidFill>
              </a:rPr>
              <a:t>  </a:t>
            </a:r>
            <a:r>
              <a:rPr i="1"/>
              <a:t>j</a:t>
            </a:r>
            <a:r>
              <a:t> = 1 </a:t>
            </a:r>
            <a:r>
              <a:rPr cap="small">
                <a:solidFill>
                  <a:srgbClr val="003F83"/>
                </a:solidFill>
              </a:rPr>
              <a:t>to</a:t>
            </a:r>
            <a:r>
              <a:rPr i="1" cap="small">
                <a:solidFill>
                  <a:srgbClr val="003F83"/>
                </a:solidFill>
              </a:rPr>
              <a:t> </a:t>
            </a:r>
            <a:r>
              <a:t> </a:t>
            </a:r>
            <a:r>
              <a:rPr i="1"/>
              <a:t>n</a:t>
            </a:r>
          </a:p>
          <a:p>
            <a:pPr lvl="1" algn="l">
              <a:lnSpc>
                <a:spcPct val="100000"/>
              </a:lnSpc>
              <a:spcBef>
                <a:spcPts val="1200"/>
              </a:spcBef>
              <a:buClrTx/>
              <a:buFontTx/>
              <a:defRPr sz="2400">
                <a:solidFill>
                  <a:srgbClr val="000000"/>
                </a:solidFill>
                <a:latin typeface="Times"/>
                <a:ea typeface="Times"/>
                <a:cs typeface="Times"/>
                <a:sym typeface="Times"/>
              </a:defRPr>
            </a:pPr>
            <a:r>
              <a:rPr i="1" spc="240"/>
              <a:t>M</a:t>
            </a:r>
            <a:r>
              <a:rPr spc="240"/>
              <a:t>[</a:t>
            </a:r>
            <a:r>
              <a:rPr i="1" spc="240"/>
              <a:t>j</a:t>
            </a:r>
            <a:r>
              <a:t>] ←  min </a:t>
            </a:r>
            <a:r>
              <a:rPr baseline="-5999"/>
              <a:t>1 ≤</a:t>
            </a:r>
            <a:r>
              <a:rPr i="1" baseline="-5999"/>
              <a:t> i</a:t>
            </a:r>
            <a:r>
              <a:rPr baseline="-5999"/>
              <a:t> ≤ </a:t>
            </a:r>
            <a:r>
              <a:rPr i="1" baseline="-5999"/>
              <a:t>j</a:t>
            </a:r>
            <a:r>
              <a:t>  { </a:t>
            </a:r>
            <a:r>
              <a:rPr i="1"/>
              <a:t>e</a:t>
            </a:r>
            <a:r>
              <a:rPr i="1" baseline="-5999"/>
              <a:t>ij</a:t>
            </a:r>
            <a:r>
              <a:rPr i="1" baseline="31999"/>
              <a:t> </a:t>
            </a:r>
            <a:r>
              <a:t> + </a:t>
            </a:r>
            <a:r>
              <a:rPr i="1"/>
              <a:t>c</a:t>
            </a:r>
            <a:r>
              <a:t> + </a:t>
            </a:r>
            <a:r>
              <a:rPr i="1" spc="240"/>
              <a:t>M</a:t>
            </a:r>
            <a:r>
              <a:rPr spc="240"/>
              <a:t>[</a:t>
            </a:r>
            <a:r>
              <a:rPr i="1"/>
              <a:t>i</a:t>
            </a:r>
            <a:r>
              <a:rPr i="1" baseline="31999"/>
              <a:t> </a:t>
            </a:r>
            <a:r>
              <a:t>–</a:t>
            </a:r>
            <a:r>
              <a:rPr i="1" baseline="31999"/>
              <a:t> </a:t>
            </a:r>
            <a:r>
              <a:t>1] }.</a:t>
            </a:r>
          </a:p>
          <a:p>
            <a:pPr lvl="1" algn="l">
              <a:lnSpc>
                <a:spcPct val="100000"/>
              </a:lnSpc>
              <a:spcBef>
                <a:spcPts val="1200"/>
              </a:spcBef>
              <a:buClrTx/>
              <a:buFontTx/>
              <a:defRPr sz="2400">
                <a:solidFill>
                  <a:srgbClr val="000000"/>
                </a:solidFill>
                <a:latin typeface="Times"/>
                <a:ea typeface="Times"/>
                <a:cs typeface="Times"/>
                <a:sym typeface="Times"/>
              </a:defRPr>
            </a:pPr>
            <a:endParaRP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Return</a:t>
            </a:r>
            <a:r>
              <a:rPr i="1" cap="small">
                <a:solidFill>
                  <a:srgbClr val="003F83"/>
                </a:solidFill>
              </a:rPr>
              <a:t> </a:t>
            </a:r>
            <a:r>
              <a:t> </a:t>
            </a:r>
            <a:r>
              <a:rPr i="1" spc="240"/>
              <a:t>M</a:t>
            </a:r>
            <a:r>
              <a:rPr spc="240"/>
              <a:t>[</a:t>
            </a:r>
            <a:r>
              <a:rPr i="1"/>
              <a:t>n</a:t>
            </a:r>
            <a:r>
              <a:t>].</a:t>
            </a:r>
          </a:p>
          <a:p>
            <a:pPr algn="l">
              <a:lnSpc>
                <a:spcPct val="100000"/>
              </a:lnSpc>
              <a:spcBef>
                <a:spcPts val="1200"/>
              </a:spcBef>
              <a:defRPr sz="2400">
                <a:solidFill>
                  <a:srgbClr val="000000"/>
                </a:solidFill>
                <a:latin typeface="Times"/>
                <a:ea typeface="Times"/>
                <a:cs typeface="Times"/>
                <a:sym typeface="Times"/>
              </a:defRPr>
            </a:pPr>
            <a:r>
              <a:rPr sz="10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p:txBody>
      </p:sp>
      <p:grpSp>
        <p:nvGrpSpPr>
          <p:cNvPr id="641" name="成组"/>
          <p:cNvGrpSpPr/>
          <p:nvPr/>
        </p:nvGrpSpPr>
        <p:grpSpPr>
          <a:xfrm>
            <a:off x="6559975" y="5805815"/>
            <a:ext cx="2613102" cy="1270001"/>
            <a:chOff x="62067" y="0"/>
            <a:chExt cx="2613101" cy="1270000"/>
          </a:xfrm>
        </p:grpSpPr>
        <p:sp>
          <p:nvSpPr>
            <p:cNvPr id="639" name="previously computed value"/>
            <p:cNvSpPr/>
            <p:nvPr/>
          </p:nvSpPr>
          <p:spPr>
            <a:xfrm>
              <a:off x="1405168" y="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lnSpc>
                  <a:spcPct val="140000"/>
                </a:lnSpc>
              </a:lvl1pPr>
            </a:lstStyle>
            <a:p>
              <a:r>
                <a:t>previously computed value</a:t>
              </a:r>
            </a:p>
          </p:txBody>
        </p:sp>
        <p:sp>
          <p:nvSpPr>
            <p:cNvPr id="640" name="线条"/>
            <p:cNvSpPr/>
            <p:nvPr/>
          </p:nvSpPr>
          <p:spPr>
            <a:xfrm flipV="1">
              <a:off x="62067" y="284566"/>
              <a:ext cx="227201" cy="371328"/>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3"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644" name="Segmented least squares analysis"/>
          <p:cNvSpPr txBox="1">
            <a:spLocks noGrp="1"/>
          </p:cNvSpPr>
          <p:nvPr>
            <p:ph type="title"/>
          </p:nvPr>
        </p:nvSpPr>
        <p:spPr>
          <a:prstGeom prst="rect">
            <a:avLst/>
          </a:prstGeom>
        </p:spPr>
        <p:txBody>
          <a:bodyPr/>
          <a:lstStyle/>
          <a:p>
            <a:r>
              <a:t>Segmented least squares analysis</a:t>
            </a:r>
          </a:p>
        </p:txBody>
      </p:sp>
      <p:sp>
        <p:nvSpPr>
          <p:cNvPr id="645" name="Theorem.  [Bellman 1961]  DP algorithm solves the segmented least squares problem in O(n3) time and O(n2) space.…"/>
          <p:cNvSpPr txBox="1">
            <a:spLocks noGrp="1"/>
          </p:cNvSpPr>
          <p:nvPr>
            <p:ph type="body" idx="1"/>
          </p:nvPr>
        </p:nvSpPr>
        <p:spPr>
          <a:prstGeom prst="rect">
            <a:avLst/>
          </a:prstGeom>
        </p:spPr>
        <p:txBody>
          <a:bodyPr/>
          <a:lstStyle/>
          <a:p>
            <a:r>
              <a:t>Theorem.  </a:t>
            </a:r>
            <a:r>
              <a:rPr>
                <a:solidFill>
                  <a:srgbClr val="606060"/>
                </a:solidFill>
              </a:rPr>
              <a:t>[Bellman 1961]</a:t>
            </a:r>
            <a:r>
              <a:t>  </a:t>
            </a:r>
            <a:r>
              <a:rPr>
                <a:solidFill>
                  <a:srgbClr val="000000"/>
                </a:solidFill>
              </a:rPr>
              <a:t>DP algorithm solves the segmented least squares problem in </a:t>
            </a:r>
            <a:r>
              <a:rPr i="1">
                <a:solidFill>
                  <a:srgbClr val="000000"/>
                </a:solidFill>
                <a:latin typeface="Times"/>
                <a:ea typeface="Times"/>
                <a:cs typeface="Times"/>
                <a:sym typeface="Times"/>
              </a:rPr>
              <a:t>O</a:t>
            </a:r>
            <a:r>
              <a:rPr>
                <a:solidFill>
                  <a:srgbClr val="000000"/>
                </a:solidFill>
                <a:latin typeface="Times"/>
                <a:ea typeface="Times"/>
                <a:cs typeface="Times"/>
                <a:sym typeface="Times"/>
              </a:rPr>
              <a:t>(</a:t>
            </a:r>
            <a:r>
              <a:rPr i="1">
                <a:solidFill>
                  <a:srgbClr val="000000"/>
                </a:solidFill>
                <a:latin typeface="Times"/>
                <a:ea typeface="Times"/>
                <a:cs typeface="Times"/>
                <a:sym typeface="Times"/>
              </a:rPr>
              <a:t>n</a:t>
            </a:r>
            <a:r>
              <a:rPr baseline="44499">
                <a:solidFill>
                  <a:srgbClr val="000000"/>
                </a:solidFill>
                <a:latin typeface="Times"/>
                <a:ea typeface="Times"/>
                <a:cs typeface="Times"/>
                <a:sym typeface="Times"/>
              </a:rPr>
              <a:t>3</a:t>
            </a:r>
            <a:r>
              <a:rPr>
                <a:solidFill>
                  <a:srgbClr val="000000"/>
                </a:solidFill>
                <a:latin typeface="Times"/>
                <a:ea typeface="Times"/>
                <a:cs typeface="Times"/>
                <a:sym typeface="Times"/>
              </a:rPr>
              <a:t>)</a:t>
            </a:r>
            <a:r>
              <a:rPr>
                <a:solidFill>
                  <a:srgbClr val="000000"/>
                </a:solidFill>
              </a:rPr>
              <a:t> time and </a:t>
            </a:r>
            <a:r>
              <a:rPr i="1">
                <a:solidFill>
                  <a:srgbClr val="000000"/>
                </a:solidFill>
                <a:latin typeface="Times"/>
                <a:ea typeface="Times"/>
                <a:cs typeface="Times"/>
                <a:sym typeface="Times"/>
              </a:rPr>
              <a:t>O</a:t>
            </a:r>
            <a:r>
              <a:rPr>
                <a:solidFill>
                  <a:srgbClr val="000000"/>
                </a:solidFill>
                <a:latin typeface="Times"/>
                <a:ea typeface="Times"/>
                <a:cs typeface="Times"/>
                <a:sym typeface="Times"/>
              </a:rPr>
              <a:t>(</a:t>
            </a:r>
            <a:r>
              <a:rPr i="1">
                <a:solidFill>
                  <a:srgbClr val="000000"/>
                </a:solidFill>
                <a:latin typeface="Times"/>
                <a:ea typeface="Times"/>
                <a:cs typeface="Times"/>
                <a:sym typeface="Times"/>
              </a:rPr>
              <a:t>n</a:t>
            </a:r>
            <a:r>
              <a:rPr baseline="44499">
                <a:solidFill>
                  <a:srgbClr val="000000"/>
                </a:solidFill>
                <a:latin typeface="Times"/>
                <a:ea typeface="Times"/>
                <a:cs typeface="Times"/>
                <a:sym typeface="Times"/>
              </a:rPr>
              <a:t>2</a:t>
            </a:r>
            <a:r>
              <a:rPr>
                <a:solidFill>
                  <a:srgbClr val="000000"/>
                </a:solidFill>
                <a:latin typeface="Times"/>
                <a:ea typeface="Times"/>
                <a:cs typeface="Times"/>
                <a:sym typeface="Times"/>
              </a:rPr>
              <a:t>)</a:t>
            </a:r>
            <a:r>
              <a:rPr>
                <a:solidFill>
                  <a:srgbClr val="000000"/>
                </a:solidFill>
              </a:rPr>
              <a:t> space.</a:t>
            </a:r>
          </a:p>
          <a:p>
            <a:br>
              <a:rPr>
                <a:solidFill>
                  <a:srgbClr val="000000"/>
                </a:solidFill>
              </a:rPr>
            </a:br>
            <a:r>
              <a:t>Pf.</a:t>
            </a:r>
            <a:endParaRPr>
              <a:solidFill>
                <a:srgbClr val="000000"/>
              </a:solidFill>
            </a:endParaRPr>
          </a:p>
          <a:p>
            <a:pPr lvl="1"/>
            <a:r>
              <a:t>Bottleneck = computing SSE </a:t>
            </a:r>
            <a:r>
              <a:rPr i="1">
                <a:latin typeface="Times"/>
                <a:ea typeface="Times"/>
                <a:cs typeface="Times"/>
                <a:sym typeface="Times"/>
              </a:rPr>
              <a:t>e</a:t>
            </a:r>
            <a:r>
              <a:rPr i="1" baseline="-5999">
                <a:latin typeface="Times"/>
                <a:ea typeface="Times"/>
                <a:cs typeface="Times"/>
                <a:sym typeface="Times"/>
              </a:rPr>
              <a:t>ij</a:t>
            </a:r>
            <a:r>
              <a:t> for each </a:t>
            </a:r>
            <a:r>
              <a:rPr i="1">
                <a:latin typeface="Times"/>
                <a:ea typeface="Times"/>
                <a:cs typeface="Times"/>
                <a:sym typeface="Times"/>
              </a:rPr>
              <a:t>i</a:t>
            </a:r>
            <a:r>
              <a:t> and </a:t>
            </a:r>
            <a:r>
              <a:rPr i="1">
                <a:latin typeface="Times"/>
                <a:ea typeface="Times"/>
                <a:cs typeface="Times"/>
                <a:sym typeface="Times"/>
              </a:rPr>
              <a:t>j</a:t>
            </a:r>
            <a:r>
              <a:t>.</a:t>
            </a:r>
            <a:br/>
            <a:br/>
            <a:br/>
            <a:br/>
            <a:endParaRPr/>
          </a:p>
          <a:p>
            <a:pPr lvl="1"/>
            <a:r>
              <a:rPr i="1">
                <a:latin typeface="Times"/>
                <a:ea typeface="Times"/>
                <a:cs typeface="Times"/>
                <a:sym typeface="Times"/>
              </a:rPr>
              <a:t>O</a:t>
            </a:r>
            <a:r>
              <a:rPr>
                <a:latin typeface="Times"/>
                <a:ea typeface="Times"/>
                <a:cs typeface="Times"/>
                <a:sym typeface="Times"/>
              </a:rPr>
              <a:t>(</a:t>
            </a:r>
            <a:r>
              <a:rPr i="1">
                <a:latin typeface="Times"/>
                <a:ea typeface="Times"/>
                <a:cs typeface="Times"/>
                <a:sym typeface="Times"/>
              </a:rPr>
              <a:t>n</a:t>
            </a:r>
            <a:r>
              <a:rPr>
                <a:latin typeface="Times"/>
                <a:ea typeface="Times"/>
                <a:cs typeface="Times"/>
                <a:sym typeface="Times"/>
              </a:rPr>
              <a:t>)</a:t>
            </a:r>
            <a:r>
              <a:t> to compute </a:t>
            </a:r>
            <a:r>
              <a:rPr i="1">
                <a:latin typeface="Times"/>
                <a:ea typeface="Times"/>
                <a:cs typeface="Times"/>
                <a:sym typeface="Times"/>
              </a:rPr>
              <a:t>e</a:t>
            </a:r>
            <a:r>
              <a:rPr i="1" baseline="-5999">
                <a:latin typeface="Times"/>
                <a:ea typeface="Times"/>
                <a:cs typeface="Times"/>
                <a:sym typeface="Times"/>
              </a:rPr>
              <a:t>ij</a:t>
            </a:r>
            <a:r>
              <a:t>.   ▪</a:t>
            </a:r>
          </a:p>
          <a:p>
            <a:br/>
            <a:br/>
            <a:r>
              <a:t>Remark.  </a:t>
            </a:r>
            <a:r>
              <a:rPr>
                <a:solidFill>
                  <a:srgbClr val="000000"/>
                </a:solidFill>
              </a:rPr>
              <a:t>Can be improved to </a:t>
            </a:r>
            <a:r>
              <a:rPr i="1">
                <a:solidFill>
                  <a:srgbClr val="000000"/>
                </a:solidFill>
                <a:latin typeface="Times"/>
                <a:ea typeface="Times"/>
                <a:cs typeface="Times"/>
                <a:sym typeface="Times"/>
              </a:rPr>
              <a:t>O</a:t>
            </a:r>
            <a:r>
              <a:rPr>
                <a:solidFill>
                  <a:srgbClr val="000000"/>
                </a:solidFill>
                <a:latin typeface="Times"/>
                <a:ea typeface="Times"/>
                <a:cs typeface="Times"/>
                <a:sym typeface="Times"/>
              </a:rPr>
              <a:t>(</a:t>
            </a:r>
            <a:r>
              <a:rPr i="1">
                <a:solidFill>
                  <a:srgbClr val="000000"/>
                </a:solidFill>
                <a:latin typeface="Times"/>
                <a:ea typeface="Times"/>
                <a:cs typeface="Times"/>
                <a:sym typeface="Times"/>
              </a:rPr>
              <a:t>n</a:t>
            </a:r>
            <a:r>
              <a:rPr baseline="44499">
                <a:solidFill>
                  <a:srgbClr val="000000"/>
                </a:solidFill>
                <a:latin typeface="Times"/>
                <a:ea typeface="Times"/>
                <a:cs typeface="Times"/>
                <a:sym typeface="Times"/>
              </a:rPr>
              <a:t>2</a:t>
            </a:r>
            <a:r>
              <a:rPr>
                <a:solidFill>
                  <a:srgbClr val="000000"/>
                </a:solidFill>
                <a:latin typeface="Times"/>
                <a:ea typeface="Times"/>
                <a:cs typeface="Times"/>
                <a:sym typeface="Times"/>
              </a:rPr>
              <a:t>)</a:t>
            </a:r>
            <a:r>
              <a:rPr>
                <a:solidFill>
                  <a:srgbClr val="000000"/>
                </a:solidFill>
              </a:rPr>
              <a:t> time.</a:t>
            </a:r>
          </a:p>
          <a:p>
            <a:pPr lvl="1"/>
            <a:r>
              <a:t>For each </a:t>
            </a:r>
            <a:r>
              <a:rPr i="1">
                <a:latin typeface="Times"/>
                <a:ea typeface="Times"/>
                <a:cs typeface="Times"/>
                <a:sym typeface="Times"/>
              </a:rPr>
              <a:t>i </a:t>
            </a:r>
            <a:r>
              <a:t>:  precompute cumulative sums                                            . </a:t>
            </a:r>
            <a:br/>
            <a:endParaRPr/>
          </a:p>
          <a:p>
            <a:pPr lvl="1"/>
            <a:r>
              <a:t>Using cumulative sums, can compute </a:t>
            </a:r>
            <a:r>
              <a:rPr i="1">
                <a:latin typeface="Times"/>
                <a:ea typeface="Times"/>
                <a:cs typeface="Times"/>
                <a:sym typeface="Times"/>
              </a:rPr>
              <a:t>e</a:t>
            </a:r>
            <a:r>
              <a:rPr i="1" baseline="-5999">
                <a:latin typeface="Times"/>
                <a:ea typeface="Times"/>
                <a:cs typeface="Times"/>
                <a:sym typeface="Times"/>
              </a:rPr>
              <a:t>ij</a:t>
            </a:r>
            <a:r>
              <a:t> in </a:t>
            </a:r>
            <a:r>
              <a:rPr i="1">
                <a:latin typeface="Times"/>
                <a:ea typeface="Times"/>
                <a:cs typeface="Times"/>
                <a:sym typeface="Times"/>
              </a:rPr>
              <a:t>O</a:t>
            </a:r>
            <a:r>
              <a:rPr>
                <a:latin typeface="Times"/>
                <a:ea typeface="Times"/>
                <a:cs typeface="Times"/>
                <a:sym typeface="Times"/>
              </a:rPr>
              <a:t>(1)</a:t>
            </a:r>
            <a:r>
              <a:t> time.</a:t>
            </a:r>
          </a:p>
        </p:txBody>
      </p:sp>
      <p:sp>
        <p:nvSpPr>
          <p:cNvPr id="646" name="幻灯片编号"/>
          <p:cNvSpPr txBox="1">
            <a:spLocks noGrp="1"/>
          </p:cNvSpPr>
          <p:nvPr>
            <p:ph type="sldNum" sz="quarter" idx="2"/>
          </p:nvPr>
        </p:nvSpPr>
        <p:spPr>
          <a:xfrm>
            <a:off x="12401525" y="9347200"/>
            <a:ext cx="190550" cy="25400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37</a:t>
            </a:fld>
            <a:endParaRPr/>
          </a:p>
        </p:txBody>
      </p:sp>
      <p:pic>
        <p:nvPicPr>
          <p:cNvPr id="647" name="图像" descr="图像"/>
          <p:cNvPicPr>
            <a:picLocks noChangeAspect="1"/>
          </p:cNvPicPr>
          <p:nvPr/>
        </p:nvPicPr>
        <p:blipFill>
          <a:blip r:embed="rId3"/>
          <a:stretch>
            <a:fillRect/>
          </a:stretch>
        </p:blipFill>
        <p:spPr>
          <a:xfrm>
            <a:off x="1918852" y="4228556"/>
            <a:ext cx="8750301" cy="749301"/>
          </a:xfrm>
          <a:prstGeom prst="rect">
            <a:avLst/>
          </a:prstGeom>
          <a:ln w="12700">
            <a:miter lim="400000"/>
          </a:ln>
        </p:spPr>
      </p:pic>
      <p:pic>
        <p:nvPicPr>
          <p:cNvPr id="648" name="图像" descr="图像"/>
          <p:cNvPicPr>
            <a:picLocks noChangeAspect="1"/>
          </p:cNvPicPr>
          <p:nvPr/>
        </p:nvPicPr>
        <p:blipFill>
          <a:blip r:embed="rId4"/>
          <a:stretch>
            <a:fillRect/>
          </a:stretch>
        </p:blipFill>
        <p:spPr>
          <a:xfrm>
            <a:off x="7765552" y="7467486"/>
            <a:ext cx="3972242" cy="744141"/>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64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64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64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645">
                                            <p:txEl>
                                              <p:pRg st="2" end="2"/>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2" nodeType="afterEffect">
                                  <p:stCondLst>
                                    <p:cond delay="0"/>
                                  </p:stCondLst>
                                  <p:iterate>
                                    <p:tmAbs val="0"/>
                                  </p:iterate>
                                  <p:childTnLst>
                                    <p:set>
                                      <p:cBhvr>
                                        <p:cTn id="19" fill="hold"/>
                                        <p:tgtEl>
                                          <p:spTgt spid="64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1" nodeType="clickEffect">
                                  <p:stCondLst>
                                    <p:cond delay="0"/>
                                  </p:stCondLst>
                                  <p:iterate>
                                    <p:tmAbs val="0"/>
                                  </p:iterate>
                                  <p:childTnLst>
                                    <p:set>
                                      <p:cBhvr>
                                        <p:cTn id="23" fill="hold"/>
                                        <p:tgtEl>
                                          <p:spTgt spid="645">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1" nodeType="clickEffect">
                                  <p:stCondLst>
                                    <p:cond delay="0"/>
                                  </p:stCondLst>
                                  <p:iterate>
                                    <p:tmAbs val="0"/>
                                  </p:iterate>
                                  <p:childTnLst>
                                    <p:set>
                                      <p:cBhvr>
                                        <p:cTn id="27" fill="hold"/>
                                        <p:tgtEl>
                                          <p:spTgt spid="645">
                                            <p:txEl>
                                              <p:pRg st="4" end="4"/>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1" nodeType="clickEffect">
                                  <p:stCondLst>
                                    <p:cond delay="0"/>
                                  </p:stCondLst>
                                  <p:iterate>
                                    <p:tmAbs val="0"/>
                                  </p:iterate>
                                  <p:childTnLst>
                                    <p:set>
                                      <p:cBhvr>
                                        <p:cTn id="31" fill="hold"/>
                                        <p:tgtEl>
                                          <p:spTgt spid="645">
                                            <p:txEl>
                                              <p:pRg st="5" end="5"/>
                                            </p:txEl>
                                          </p:spTgt>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3" nodeType="afterEffect">
                                  <p:stCondLst>
                                    <p:cond delay="0"/>
                                  </p:stCondLst>
                                  <p:iterate>
                                    <p:tmAbs val="0"/>
                                  </p:iterate>
                                  <p:childTnLst>
                                    <p:set>
                                      <p:cBhvr>
                                        <p:cTn id="34" fill="hold"/>
                                        <p:tgtEl>
                                          <p:spTgt spid="6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1" nodeType="clickEffect">
                                  <p:stCondLst>
                                    <p:cond delay="0"/>
                                  </p:stCondLst>
                                  <p:iterate>
                                    <p:tmAbs val="0"/>
                                  </p:iterate>
                                  <p:childTnLst>
                                    <p:set>
                                      <p:cBhvr>
                                        <p:cTn id="38" fill="hold"/>
                                        <p:tgtEl>
                                          <p:spTgt spid="64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 grpId="1" build="p" bldLvl="5" animBg="1" advAuto="0"/>
      <p:bldP spid="647" grpId="2" animBg="1" advAuto="0"/>
      <p:bldP spid="648" grpId="3" animBg="1" advAuto="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2" name="KleinbergTardosCover.pdf" descr="KleinbergTardosCover.pdf"/>
          <p:cNvPicPr>
            <a:picLocks noChangeAspect="1"/>
          </p:cNvPicPr>
          <p:nvPr/>
        </p:nvPicPr>
        <p:blipFill>
          <a:blip r:embed="rId2">
            <a:alphaModFix amt="50000"/>
          </a:blip>
          <a:srcRect l="1755" t="7594" r="1755" b="7594"/>
          <a:stretch>
            <a:fillRect/>
          </a:stretch>
        </p:blipFill>
        <p:spPr>
          <a:xfrm>
            <a:off x="655880" y="1764307"/>
            <a:ext cx="4445201" cy="5056414"/>
          </a:xfrm>
          <a:prstGeom prst="rect">
            <a:avLst/>
          </a:prstGeom>
          <a:ln w="12700">
            <a:miter lim="400000"/>
          </a:ln>
        </p:spPr>
      </p:pic>
      <p:pic>
        <p:nvPicPr>
          <p:cNvPr id="653" name="Aw_COLOR_web_logo.png" descr="Aw_COLOR_web_logo.png"/>
          <p:cNvPicPr>
            <a:picLocks noChangeAspect="1"/>
          </p:cNvPicPr>
          <p:nvPr/>
        </p:nvPicPr>
        <p:blipFill>
          <a:blip r:embed="rId3">
            <a:alphaModFix amt="33000"/>
          </a:blip>
          <a:stretch>
            <a:fillRect/>
          </a:stretch>
        </p:blipFill>
        <p:spPr>
          <a:xfrm>
            <a:off x="4164381" y="1892300"/>
            <a:ext cx="737819" cy="812800"/>
          </a:xfrm>
          <a:prstGeom prst="rect">
            <a:avLst/>
          </a:prstGeom>
          <a:ln w="12700">
            <a:miter lim="400000"/>
          </a:ln>
        </p:spPr>
      </p:pic>
      <p:sp>
        <p:nvSpPr>
          <p:cNvPr id="654" name="线条"/>
          <p:cNvSpPr/>
          <p:nvPr/>
        </p:nvSpPr>
        <p:spPr>
          <a:xfrm>
            <a:off x="5778500" y="2349500"/>
            <a:ext cx="6515101" cy="1"/>
          </a:xfrm>
          <a:prstGeom prst="line">
            <a:avLst/>
          </a:prstGeom>
          <a:ln w="25400">
            <a:solidFill>
              <a:srgbClr val="000000"/>
            </a:solidFill>
            <a:miter lim="400000"/>
          </a:ln>
        </p:spPr>
        <p:txBody>
          <a:bodyPr lIns="50800" tIns="50800" rIns="50800" bIns="50800" anchor="ctr"/>
          <a:lstStyle/>
          <a:p>
            <a:pPr algn="l" defTabSz="457200">
              <a:lnSpc>
                <a:spcPct val="100000"/>
              </a:lnSpc>
              <a:buClrTx/>
              <a:buFontTx/>
              <a:tabLst/>
              <a:defRPr sz="1200">
                <a:solidFill>
                  <a:srgbClr val="000000"/>
                </a:solidFill>
              </a:defRPr>
            </a:pPr>
            <a:endParaRPr/>
          </a:p>
        </p:txBody>
      </p:sp>
      <p:sp>
        <p:nvSpPr>
          <p:cNvPr id="655" name="6.  Dynamic Programming I"/>
          <p:cNvSpPr txBox="1">
            <a:spLocks noGrp="1"/>
          </p:cNvSpPr>
          <p:nvPr>
            <p:ph type="title"/>
          </p:nvPr>
        </p:nvSpPr>
        <p:spPr>
          <a:prstGeom prst="rect">
            <a:avLst/>
          </a:prstGeom>
        </p:spPr>
        <p:txBody>
          <a:bodyPr/>
          <a:lstStyle/>
          <a:p>
            <a:r>
              <a:rPr dirty="0"/>
              <a:t>Dynamic Programming</a:t>
            </a:r>
          </a:p>
        </p:txBody>
      </p:sp>
      <p:sp>
        <p:nvSpPr>
          <p:cNvPr id="656" name="weighted interval scheduling…"/>
          <p:cNvSpPr txBox="1">
            <a:spLocks noGrp="1"/>
          </p:cNvSpPr>
          <p:nvPr>
            <p:ph type="body" sz="half" idx="1"/>
          </p:nvPr>
        </p:nvSpPr>
        <p:spPr>
          <a:prstGeom prst="rect">
            <a:avLst/>
          </a:prstGeom>
        </p:spPr>
        <p:txBody>
          <a:bodyPr/>
          <a:lstStyle/>
          <a:p>
            <a:pPr lvl="1"/>
            <a:r>
              <a:rPr dirty="0"/>
              <a:t>weighted interval scheduling</a:t>
            </a:r>
          </a:p>
          <a:p>
            <a:pPr lvl="1"/>
            <a:r>
              <a:rPr dirty="0"/>
              <a:t>segmented least squares</a:t>
            </a:r>
          </a:p>
          <a:p>
            <a:r>
              <a:rPr dirty="0"/>
              <a:t>knapsack problem</a:t>
            </a:r>
          </a:p>
        </p:txBody>
      </p:sp>
      <p:sp>
        <p:nvSpPr>
          <p:cNvPr id="657" name="Section 6.4"/>
          <p:cNvSpPr txBox="1">
            <a:spLocks noGrp="1"/>
          </p:cNvSpPr>
          <p:nvPr>
            <p:ph type="body" idx="13"/>
          </p:nvPr>
        </p:nvSpPr>
        <p:spPr>
          <a:prstGeom prst="rect">
            <a:avLst/>
          </a:prstGeom>
        </p:spPr>
        <p:txBody>
          <a:bodyPr/>
          <a:lstStyle/>
          <a:p>
            <a:r>
              <a:t>Section 6.4</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660" name="Knapsack problem"/>
          <p:cNvSpPr txBox="1">
            <a:spLocks noGrp="1"/>
          </p:cNvSpPr>
          <p:nvPr>
            <p:ph type="title"/>
          </p:nvPr>
        </p:nvSpPr>
        <p:spPr>
          <a:prstGeom prst="rect">
            <a:avLst/>
          </a:prstGeom>
        </p:spPr>
        <p:txBody>
          <a:bodyPr/>
          <a:lstStyle/>
          <a:p>
            <a:r>
              <a:t>Knapsack problem</a:t>
            </a:r>
          </a:p>
        </p:txBody>
      </p:sp>
      <p:sp>
        <p:nvSpPr>
          <p:cNvPr id="661" name="Goal.  Pack knapsack so as to maximize total value.…"/>
          <p:cNvSpPr txBox="1">
            <a:spLocks noGrp="1"/>
          </p:cNvSpPr>
          <p:nvPr>
            <p:ph type="body" idx="1"/>
          </p:nvPr>
        </p:nvSpPr>
        <p:spPr>
          <a:prstGeom prst="rect">
            <a:avLst/>
          </a:prstGeom>
        </p:spPr>
        <p:txBody>
          <a:bodyPr/>
          <a:lstStyle/>
          <a:p>
            <a:r>
              <a:rPr dirty="0"/>
              <a:t>Goal. </a:t>
            </a:r>
            <a:r>
              <a:rPr dirty="0">
                <a:solidFill>
                  <a:srgbClr val="000000"/>
                </a:solidFill>
              </a:rPr>
              <a:t> Pack knapsack so as to maximize total value.</a:t>
            </a:r>
          </a:p>
          <a:p>
            <a:pPr lvl="1"/>
            <a:r>
              <a:rPr dirty="0"/>
              <a:t>There are </a:t>
            </a:r>
            <a:r>
              <a:rPr i="1" dirty="0">
                <a:latin typeface="Times"/>
                <a:ea typeface="Times"/>
                <a:cs typeface="Times"/>
                <a:sym typeface="Times"/>
              </a:rPr>
              <a:t>n</a:t>
            </a:r>
            <a:r>
              <a:rPr dirty="0"/>
              <a:t> items:  item </a:t>
            </a:r>
            <a:r>
              <a:rPr i="1" dirty="0" err="1">
                <a:latin typeface="Times"/>
                <a:ea typeface="Times"/>
                <a:cs typeface="Times"/>
                <a:sym typeface="Times"/>
              </a:rPr>
              <a:t>i</a:t>
            </a:r>
            <a:r>
              <a:rPr dirty="0"/>
              <a:t> provides value </a:t>
            </a:r>
            <a:r>
              <a:rPr i="1" dirty="0">
                <a:latin typeface="Times"/>
                <a:ea typeface="Times"/>
                <a:cs typeface="Times"/>
                <a:sym typeface="Times"/>
              </a:rPr>
              <a:t>v</a:t>
            </a:r>
            <a:r>
              <a:rPr i="1" baseline="-5999" dirty="0">
                <a:latin typeface="Times"/>
                <a:ea typeface="Times"/>
                <a:cs typeface="Times"/>
                <a:sym typeface="Times"/>
              </a:rPr>
              <a:t>i</a:t>
            </a:r>
            <a:r>
              <a:rPr dirty="0">
                <a:latin typeface="Times"/>
                <a:ea typeface="Times"/>
                <a:cs typeface="Times"/>
                <a:sym typeface="Times"/>
              </a:rPr>
              <a:t>  &gt; 0</a:t>
            </a:r>
            <a:r>
              <a:rPr dirty="0"/>
              <a:t> and weighs </a:t>
            </a:r>
            <a:r>
              <a:rPr i="1" dirty="0" err="1">
                <a:latin typeface="Times"/>
                <a:ea typeface="Times"/>
                <a:cs typeface="Times"/>
                <a:sym typeface="Times"/>
              </a:rPr>
              <a:t>w</a:t>
            </a:r>
            <a:r>
              <a:rPr i="1" baseline="-5999" dirty="0" err="1">
                <a:latin typeface="Times"/>
                <a:ea typeface="Times"/>
                <a:cs typeface="Times"/>
                <a:sym typeface="Times"/>
              </a:rPr>
              <a:t>i</a:t>
            </a:r>
            <a:r>
              <a:rPr dirty="0">
                <a:latin typeface="Times"/>
                <a:ea typeface="Times"/>
                <a:cs typeface="Times"/>
                <a:sym typeface="Times"/>
              </a:rPr>
              <a:t>  &gt; 0</a:t>
            </a:r>
            <a:r>
              <a:rPr dirty="0"/>
              <a:t>.</a:t>
            </a:r>
          </a:p>
          <a:p>
            <a:pPr lvl="1"/>
            <a:r>
              <a:rPr dirty="0"/>
              <a:t>Knapsack has weight capacity of </a:t>
            </a:r>
            <a:r>
              <a:rPr i="1" dirty="0">
                <a:latin typeface="Times"/>
                <a:ea typeface="Times"/>
                <a:cs typeface="Times"/>
                <a:sym typeface="Times"/>
              </a:rPr>
              <a:t>W</a:t>
            </a:r>
            <a:r>
              <a:rPr dirty="0"/>
              <a:t>.</a:t>
            </a:r>
          </a:p>
          <a:p>
            <a:endParaRPr dirty="0"/>
          </a:p>
          <a:p>
            <a:r>
              <a:rPr dirty="0"/>
              <a:t>Assumption. </a:t>
            </a:r>
            <a:r>
              <a:rPr dirty="0">
                <a:solidFill>
                  <a:srgbClr val="000000"/>
                </a:solidFill>
              </a:rPr>
              <a:t> All input values are integral.</a:t>
            </a:r>
          </a:p>
          <a:p>
            <a:br>
              <a:rPr dirty="0"/>
            </a:br>
            <a:r>
              <a:rPr dirty="0"/>
              <a:t>Ex.  </a:t>
            </a:r>
            <a:r>
              <a:rPr dirty="0">
                <a:solidFill>
                  <a:srgbClr val="000000"/>
                </a:solidFill>
                <a:latin typeface="Times"/>
                <a:ea typeface="Times"/>
                <a:cs typeface="Times"/>
                <a:sym typeface="Times"/>
              </a:rPr>
              <a:t>{ 1, 2, 5 }</a:t>
            </a:r>
            <a:r>
              <a:rPr dirty="0">
                <a:solidFill>
                  <a:srgbClr val="000000"/>
                </a:solidFill>
              </a:rPr>
              <a:t> has value $35 (and weight 10).</a:t>
            </a:r>
          </a:p>
          <a:p>
            <a:r>
              <a:rPr dirty="0"/>
              <a:t>Ex.  </a:t>
            </a:r>
            <a:r>
              <a:rPr dirty="0">
                <a:solidFill>
                  <a:srgbClr val="000000"/>
                </a:solidFill>
                <a:latin typeface="Times"/>
                <a:ea typeface="Times"/>
                <a:cs typeface="Times"/>
                <a:sym typeface="Times"/>
              </a:rPr>
              <a:t>{ 3, 4 }</a:t>
            </a:r>
            <a:r>
              <a:rPr dirty="0">
                <a:solidFill>
                  <a:srgbClr val="000000"/>
                </a:solidFill>
              </a:rPr>
              <a:t> has value $40 (and weight 11).</a:t>
            </a:r>
          </a:p>
        </p:txBody>
      </p:sp>
      <p:sp>
        <p:nvSpPr>
          <p:cNvPr id="662"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39</a:t>
            </a:fld>
            <a:endParaRPr/>
          </a:p>
        </p:txBody>
      </p:sp>
      <p:grpSp>
        <p:nvGrpSpPr>
          <p:cNvPr id="665" name="成组"/>
          <p:cNvGrpSpPr/>
          <p:nvPr/>
        </p:nvGrpSpPr>
        <p:grpSpPr>
          <a:xfrm>
            <a:off x="7628184" y="5598632"/>
            <a:ext cx="3227382" cy="3842549"/>
            <a:chOff x="0" y="0"/>
            <a:chExt cx="3227381" cy="3842548"/>
          </a:xfrm>
        </p:grpSpPr>
        <p:graphicFrame>
          <p:nvGraphicFramePr>
            <p:cNvPr id="663" name="表格"/>
            <p:cNvGraphicFramePr/>
            <p:nvPr/>
          </p:nvGraphicFramePr>
          <p:xfrm>
            <a:off x="0" y="0"/>
            <a:ext cx="3227381" cy="3001205"/>
          </p:xfrm>
          <a:graphic>
            <a:graphicData uri="http://schemas.openxmlformats.org/drawingml/2006/table">
              <a:tbl>
                <a:tblPr firstRow="1">
                  <a:tableStyleId>{8F44A2F1-9E1F-4B54-A3A2-5F16C0AD49E2}</a:tableStyleId>
                </a:tblPr>
                <a:tblGrid>
                  <a:gridCol w="1075794">
                    <a:extLst>
                      <a:ext uri="{9D8B030D-6E8A-4147-A177-3AD203B41FA5}">
                        <a16:colId xmlns:a16="http://schemas.microsoft.com/office/drawing/2014/main" val="20000"/>
                      </a:ext>
                    </a:extLst>
                  </a:gridCol>
                  <a:gridCol w="1075794">
                    <a:extLst>
                      <a:ext uri="{9D8B030D-6E8A-4147-A177-3AD203B41FA5}">
                        <a16:colId xmlns:a16="http://schemas.microsoft.com/office/drawing/2014/main" val="20001"/>
                      </a:ext>
                    </a:extLst>
                  </a:gridCol>
                  <a:gridCol w="1075794">
                    <a:extLst>
                      <a:ext uri="{9D8B030D-6E8A-4147-A177-3AD203B41FA5}">
                        <a16:colId xmlns:a16="http://schemas.microsoft.com/office/drawing/2014/main" val="20002"/>
                      </a:ext>
                    </a:extLst>
                  </a:gridCol>
                </a:tblGrid>
                <a:tr h="500201">
                  <a:tc>
                    <a:txBody>
                      <a:bodyPr/>
                      <a:lstStyle/>
                      <a:p>
                        <a:pPr marL="58702" marR="58702" defTabSz="1295400">
                          <a:buClrTx/>
                          <a:buFontTx/>
                          <a:tabLst/>
                          <a:defRPr sz="1800">
                            <a:solidFill>
                              <a:srgbClr val="000000"/>
                            </a:solidFill>
                          </a:defRPr>
                        </a:pPr>
                        <a:r>
                          <a:rPr sz="2200" i="1">
                            <a:uFill>
                              <a:solidFill>
                                <a:srgbClr val="000000"/>
                              </a:solidFill>
                            </a:uFill>
                            <a:latin typeface="Times"/>
                            <a:ea typeface="Times"/>
                            <a:cs typeface="Times"/>
                            <a:sym typeface="Times"/>
                          </a:rPr>
                          <a:t>i</a:t>
                        </a:r>
                      </a:p>
                    </a:txBody>
                    <a:tcPr marL="50800" marR="50800" marT="50800" marB="50800" anchor="ctr" horzOverflow="overflow">
                      <a:lnL w="28575">
                        <a:miter lim="400000"/>
                      </a:lnL>
                      <a:lnR w="28575">
                        <a:miter lim="400000"/>
                      </a:lnR>
                      <a:lnB w="12700">
                        <a:solidFill>
                          <a:srgbClr val="000000"/>
                        </a:solidFill>
                        <a:miter lim="400000"/>
                      </a:lnB>
                      <a:noFill/>
                    </a:tcPr>
                  </a:tc>
                  <a:tc>
                    <a:txBody>
                      <a:bodyPr/>
                      <a:lstStyle/>
                      <a:p>
                        <a:pPr marL="58702" marR="58702" defTabSz="1295400">
                          <a:buClrTx/>
                          <a:buFontTx/>
                          <a:tabLst/>
                          <a:defRPr sz="2200" i="1">
                            <a:solidFill>
                              <a:srgbClr val="000000"/>
                            </a:solidFill>
                            <a:uFill>
                              <a:solidFill>
                                <a:srgbClr val="000000"/>
                              </a:solidFill>
                            </a:uFill>
                            <a:latin typeface="Times"/>
                            <a:ea typeface="Times"/>
                            <a:cs typeface="Times"/>
                            <a:sym typeface="Times"/>
                          </a:defRPr>
                        </a:pPr>
                        <a:r>
                          <a:t>v</a:t>
                        </a:r>
                        <a:r>
                          <a:rPr baseline="-5999"/>
                          <a:t>i</a:t>
                        </a:r>
                      </a:p>
                    </a:txBody>
                    <a:tcPr marL="50800" marR="50800" marT="50800" marB="50800" anchor="ctr" horzOverflow="overflow">
                      <a:lnL w="28575">
                        <a:miter lim="400000"/>
                      </a:lnL>
                      <a:lnR w="28575">
                        <a:miter lim="400000"/>
                      </a:lnR>
                      <a:lnB w="12700">
                        <a:solidFill>
                          <a:srgbClr val="000000"/>
                        </a:solidFill>
                        <a:miter lim="400000"/>
                      </a:lnB>
                      <a:noFill/>
                    </a:tcPr>
                  </a:tc>
                  <a:tc>
                    <a:txBody>
                      <a:bodyPr/>
                      <a:lstStyle/>
                      <a:p>
                        <a:pPr marL="58702" marR="58702" defTabSz="1295400">
                          <a:buClrTx/>
                          <a:buFontTx/>
                          <a:tabLst/>
                          <a:defRPr sz="2200" i="1">
                            <a:solidFill>
                              <a:srgbClr val="000000"/>
                            </a:solidFill>
                            <a:uFill>
                              <a:solidFill>
                                <a:srgbClr val="000000"/>
                              </a:solidFill>
                            </a:uFill>
                            <a:latin typeface="Times"/>
                            <a:ea typeface="Times"/>
                            <a:cs typeface="Times"/>
                            <a:sym typeface="Times"/>
                          </a:defRPr>
                        </a:pPr>
                        <a:r>
                          <a:t>w</a:t>
                        </a:r>
                        <a:r>
                          <a:rPr baseline="-5999"/>
                          <a:t>i</a:t>
                        </a:r>
                      </a:p>
                    </a:txBody>
                    <a:tcPr marL="50800" marR="50800" marT="50800" marB="50800" anchor="ctr" horzOverflow="overflow">
                      <a:lnL w="28575">
                        <a:miter lim="400000"/>
                      </a:lnL>
                      <a:lnR w="28575">
                        <a:miter lim="400000"/>
                      </a:lnR>
                      <a:lnB w="12700">
                        <a:solidFill>
                          <a:srgbClr val="000000"/>
                        </a:solidFill>
                        <a:miter lim="400000"/>
                      </a:lnB>
                      <a:noFill/>
                    </a:tcPr>
                  </a:tc>
                  <a:extLst>
                    <a:ext uri="{0D108BD9-81ED-4DB2-BD59-A6C34878D82A}">
                      <a16:rowId xmlns:a16="http://schemas.microsoft.com/office/drawing/2014/main" val="10000"/>
                    </a:ext>
                  </a:extLst>
                </a:tr>
                <a:tr h="500201">
                  <a:tc>
                    <a:txBody>
                      <a:bodyPr/>
                      <a:lstStyle/>
                      <a:p>
                        <a:pPr marL="58702" marR="58702" defTabSz="1295400">
                          <a:buClrTx/>
                          <a:buFontTx/>
                          <a:tabLst/>
                          <a:defRPr sz="1800"/>
                        </a:pPr>
                        <a:r>
                          <a:rPr sz="2200">
                            <a:uFill>
                              <a:solidFill>
                                <a:srgbClr val="000000"/>
                              </a:solidFill>
                            </a:uFill>
                            <a:latin typeface="Times"/>
                            <a:ea typeface="Times"/>
                            <a:cs typeface="Times"/>
                            <a:sym typeface="Times"/>
                          </a:rPr>
                          <a:t>1</a:t>
                        </a:r>
                      </a:p>
                    </a:txBody>
                    <a:tcPr marL="50800" marR="50800" marT="50800" marB="50800" anchor="ctr" horzOverflow="overflow">
                      <a:lnL w="28575">
                        <a:miter lim="400000"/>
                      </a:lnL>
                      <a:lnR w="28575">
                        <a:miter lim="400000"/>
                      </a:lnR>
                      <a:lnT w="12700">
                        <a:solidFill>
                          <a:srgbClr val="000000"/>
                        </a:solidFill>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US$1</a:t>
                        </a:r>
                      </a:p>
                    </a:txBody>
                    <a:tcPr marL="50800" marR="50800" marT="50800" marB="50800" anchor="ctr" horzOverflow="overflow">
                      <a:lnL w="28575">
                        <a:miter lim="400000"/>
                      </a:lnL>
                      <a:lnR w="28575">
                        <a:miter lim="400000"/>
                      </a:lnR>
                      <a:lnT w="12700">
                        <a:solidFill>
                          <a:srgbClr val="000000"/>
                        </a:solidFill>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1 kg</a:t>
                        </a:r>
                      </a:p>
                    </a:txBody>
                    <a:tcPr marL="50800" marR="50800" marT="50800" marB="50800" anchor="ctr" horzOverflow="overflow">
                      <a:lnL w="28575">
                        <a:miter lim="400000"/>
                      </a:lnL>
                      <a:lnR w="28575">
                        <a:miter lim="400000"/>
                      </a:lnR>
                      <a:lnT w="12700">
                        <a:solidFill>
                          <a:srgbClr val="000000"/>
                        </a:solidFill>
                        <a:miter lim="400000"/>
                      </a:lnT>
                      <a:lnB w="28575">
                        <a:miter lim="400000"/>
                      </a:lnB>
                      <a:noFill/>
                    </a:tcPr>
                  </a:tc>
                  <a:extLst>
                    <a:ext uri="{0D108BD9-81ED-4DB2-BD59-A6C34878D82A}">
                      <a16:rowId xmlns:a16="http://schemas.microsoft.com/office/drawing/2014/main" val="10001"/>
                    </a:ext>
                  </a:extLst>
                </a:tr>
                <a:tr h="500201">
                  <a:tc>
                    <a:txBody>
                      <a:bodyPr/>
                      <a:lstStyle/>
                      <a:p>
                        <a:pPr marL="58702" marR="58702" defTabSz="1295400">
                          <a:buClrTx/>
                          <a:buFontTx/>
                          <a:tabLst/>
                          <a:defRPr sz="1800"/>
                        </a:pPr>
                        <a:r>
                          <a:rPr sz="2200">
                            <a:uFill>
                              <a:solidFill>
                                <a:srgbClr val="000000"/>
                              </a:solidFill>
                            </a:uFill>
                            <a:latin typeface="Times"/>
                            <a:ea typeface="Times"/>
                            <a:cs typeface="Times"/>
                            <a:sym typeface="Times"/>
                          </a:rPr>
                          <a:t>2</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US$6</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2 kg</a:t>
                        </a:r>
                      </a:p>
                    </a:txBody>
                    <a:tcPr marL="50800" marR="50800" marT="50800" marB="50800" anchor="ctr" horzOverflow="overflow">
                      <a:lnL w="28575">
                        <a:miter lim="400000"/>
                      </a:lnL>
                      <a:lnR w="28575">
                        <a:miter lim="400000"/>
                      </a:lnR>
                      <a:lnT w="28575">
                        <a:miter lim="400000"/>
                      </a:lnT>
                      <a:lnB w="28575">
                        <a:miter lim="400000"/>
                      </a:lnB>
                      <a:noFill/>
                    </a:tcPr>
                  </a:tc>
                  <a:extLst>
                    <a:ext uri="{0D108BD9-81ED-4DB2-BD59-A6C34878D82A}">
                      <a16:rowId xmlns:a16="http://schemas.microsoft.com/office/drawing/2014/main" val="10002"/>
                    </a:ext>
                  </a:extLst>
                </a:tr>
                <a:tr h="500201">
                  <a:tc>
                    <a:txBody>
                      <a:bodyPr/>
                      <a:lstStyle/>
                      <a:p>
                        <a:pPr marL="58702" marR="58702" defTabSz="1295400">
                          <a:buClrTx/>
                          <a:buFontTx/>
                          <a:tabLst/>
                          <a:defRPr sz="1800"/>
                        </a:pPr>
                        <a:r>
                          <a:rPr sz="2200">
                            <a:uFill>
                              <a:solidFill>
                                <a:srgbClr val="000000"/>
                              </a:solidFill>
                            </a:uFill>
                            <a:latin typeface="Times"/>
                            <a:ea typeface="Times"/>
                            <a:cs typeface="Times"/>
                            <a:sym typeface="Times"/>
                          </a:rPr>
                          <a:t>3</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US$18</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5 kg</a:t>
                        </a:r>
                      </a:p>
                    </a:txBody>
                    <a:tcPr marL="50800" marR="50800" marT="50800" marB="50800" anchor="ctr" horzOverflow="overflow">
                      <a:lnL w="28575">
                        <a:miter lim="400000"/>
                      </a:lnL>
                      <a:lnR w="28575">
                        <a:miter lim="400000"/>
                      </a:lnR>
                      <a:lnT w="28575">
                        <a:miter lim="400000"/>
                      </a:lnT>
                      <a:lnB w="28575">
                        <a:miter lim="400000"/>
                      </a:lnB>
                      <a:noFill/>
                    </a:tcPr>
                  </a:tc>
                  <a:extLst>
                    <a:ext uri="{0D108BD9-81ED-4DB2-BD59-A6C34878D82A}">
                      <a16:rowId xmlns:a16="http://schemas.microsoft.com/office/drawing/2014/main" val="10003"/>
                    </a:ext>
                  </a:extLst>
                </a:tr>
                <a:tr h="500201">
                  <a:tc>
                    <a:txBody>
                      <a:bodyPr/>
                      <a:lstStyle/>
                      <a:p>
                        <a:pPr marL="58702" marR="58702" defTabSz="1295400">
                          <a:buClrTx/>
                          <a:buFontTx/>
                          <a:tabLst/>
                          <a:defRPr sz="1800"/>
                        </a:pPr>
                        <a:r>
                          <a:rPr sz="2200">
                            <a:uFill>
                              <a:solidFill>
                                <a:srgbClr val="000000"/>
                              </a:solidFill>
                            </a:uFill>
                            <a:latin typeface="Times"/>
                            <a:ea typeface="Times"/>
                            <a:cs typeface="Times"/>
                            <a:sym typeface="Times"/>
                          </a:rPr>
                          <a:t>4</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US$22</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6 kg</a:t>
                        </a:r>
                      </a:p>
                    </a:txBody>
                    <a:tcPr marL="50800" marR="50800" marT="50800" marB="50800" anchor="ctr" horzOverflow="overflow">
                      <a:lnL w="28575">
                        <a:miter lim="400000"/>
                      </a:lnL>
                      <a:lnR w="28575">
                        <a:miter lim="400000"/>
                      </a:lnR>
                      <a:lnT w="28575">
                        <a:miter lim="400000"/>
                      </a:lnT>
                      <a:lnB w="28575">
                        <a:miter lim="400000"/>
                      </a:lnB>
                      <a:noFill/>
                    </a:tcPr>
                  </a:tc>
                  <a:extLst>
                    <a:ext uri="{0D108BD9-81ED-4DB2-BD59-A6C34878D82A}">
                      <a16:rowId xmlns:a16="http://schemas.microsoft.com/office/drawing/2014/main" val="10004"/>
                    </a:ext>
                  </a:extLst>
                </a:tr>
                <a:tr h="500201">
                  <a:tc>
                    <a:txBody>
                      <a:bodyPr/>
                      <a:lstStyle/>
                      <a:p>
                        <a:pPr marL="58702" marR="58702" defTabSz="1295400">
                          <a:buClrTx/>
                          <a:buFontTx/>
                          <a:tabLst/>
                          <a:defRPr sz="1800"/>
                        </a:pPr>
                        <a:r>
                          <a:rPr sz="2200">
                            <a:uFill>
                              <a:solidFill>
                                <a:srgbClr val="000000"/>
                              </a:solidFill>
                            </a:uFill>
                            <a:latin typeface="Times"/>
                            <a:ea typeface="Times"/>
                            <a:cs typeface="Times"/>
                            <a:sym typeface="Times"/>
                          </a:rPr>
                          <a:t>5</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US$28</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7 kg</a:t>
                        </a:r>
                      </a:p>
                    </a:txBody>
                    <a:tcPr marL="50800" marR="50800" marT="50800" marB="50800" anchor="ctr" horzOverflow="overflow">
                      <a:lnL w="28575">
                        <a:miter lim="400000"/>
                      </a:lnL>
                      <a:lnR w="28575">
                        <a:miter lim="400000"/>
                      </a:lnR>
                      <a:lnT w="28575">
                        <a:miter lim="400000"/>
                      </a:lnT>
                      <a:lnB w="28575">
                        <a:miter lim="400000"/>
                      </a:lnB>
                      <a:noFill/>
                    </a:tcPr>
                  </a:tc>
                  <a:extLst>
                    <a:ext uri="{0D108BD9-81ED-4DB2-BD59-A6C34878D82A}">
                      <a16:rowId xmlns:a16="http://schemas.microsoft.com/office/drawing/2014/main" val="10005"/>
                    </a:ext>
                  </a:extLst>
                </a:tr>
              </a:tbl>
            </a:graphicData>
          </a:graphic>
        </p:graphicFrame>
        <p:sp>
          <p:nvSpPr>
            <p:cNvPr id="664" name="knapsack instance…"/>
            <p:cNvSpPr txBox="1"/>
            <p:nvPr/>
          </p:nvSpPr>
          <p:spPr>
            <a:xfrm>
              <a:off x="487572" y="3266453"/>
              <a:ext cx="2712077" cy="5760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noAutofit/>
            </a:bodyPr>
            <a:lstStyle/>
            <a:p>
              <a:pPr>
                <a:defRPr b="1">
                  <a:solidFill>
                    <a:srgbClr val="000000"/>
                  </a:solidFill>
                  <a:latin typeface="Lucida Grande"/>
                  <a:ea typeface="Lucida Grande"/>
                  <a:cs typeface="Lucida Grande"/>
                  <a:sym typeface="Lucida Grande"/>
                </a:defRPr>
              </a:pPr>
              <a:r>
                <a:t>knapsack instance</a:t>
              </a:r>
            </a:p>
            <a:p>
              <a:pPr>
                <a:defRPr b="1">
                  <a:solidFill>
                    <a:srgbClr val="000000"/>
                  </a:solidFill>
                  <a:latin typeface="Lucida Grande"/>
                  <a:ea typeface="Lucida Grande"/>
                  <a:cs typeface="Lucida Grande"/>
                  <a:sym typeface="Lucida Grande"/>
                </a:defRPr>
              </a:pPr>
              <a:r>
                <a:t>(weight limit W = 11)</a:t>
              </a:r>
            </a:p>
          </p:txBody>
        </p:sp>
      </p:grpSp>
      <p:pic>
        <p:nvPicPr>
          <p:cNvPr id="666" name="Knapsack.pdf" descr="Knapsack.pdf"/>
          <p:cNvPicPr>
            <a:picLocks noChangeAspect="1"/>
          </p:cNvPicPr>
          <p:nvPr/>
        </p:nvPicPr>
        <p:blipFill>
          <a:blip r:embed="rId3"/>
          <a:stretch>
            <a:fillRect/>
          </a:stretch>
        </p:blipFill>
        <p:spPr>
          <a:xfrm>
            <a:off x="2055032" y="5791213"/>
            <a:ext cx="3881951" cy="3118390"/>
          </a:xfrm>
          <a:prstGeom prst="rect">
            <a:avLst/>
          </a:prstGeom>
          <a:ln w="12700">
            <a:miter lim="400000"/>
          </a:ln>
        </p:spPr>
      </p:pic>
      <p:sp>
        <p:nvSpPr>
          <p:cNvPr id="667" name="Creative Commons Attribution-Share Alike 2.5…"/>
          <p:cNvSpPr txBox="1"/>
          <p:nvPr/>
        </p:nvSpPr>
        <p:spPr>
          <a:xfrm>
            <a:off x="2647029" y="9105087"/>
            <a:ext cx="2697958" cy="4521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1000">
                <a:solidFill>
                  <a:srgbClr val="606060"/>
                </a:solidFill>
              </a:defRPr>
            </a:pPr>
            <a:r>
              <a:rPr>
                <a:hlinkClick r:id="rId4"/>
              </a:rPr>
              <a:t>Creative Commons Attribution-Share Alike 2.5</a:t>
            </a:r>
          </a:p>
          <a:p>
            <a:pPr>
              <a:defRPr sz="1000">
                <a:solidFill>
                  <a:srgbClr val="606060"/>
                </a:solidFill>
              </a:defRPr>
            </a:pPr>
            <a:r>
              <a:t>by Dake</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 name="Which algorithm solves knapsack problem?…"/>
          <p:cNvSpPr txBox="1">
            <a:spLocks noGrp="1"/>
          </p:cNvSpPr>
          <p:nvPr>
            <p:ph type="body" idx="1"/>
          </p:nvPr>
        </p:nvSpPr>
        <p:spPr>
          <a:xfrm>
            <a:off x="812800" y="1270000"/>
            <a:ext cx="11584525" cy="8128000"/>
          </a:xfrm>
          <a:prstGeom prst="rect">
            <a:avLst/>
          </a:prstGeom>
        </p:spPr>
        <p:txBody>
          <a:bodyPr/>
          <a:lstStyle/>
          <a:p>
            <a:pPr>
              <a:defRPr b="1">
                <a:latin typeface="Lucida Grande"/>
                <a:ea typeface="Lucida Grande"/>
                <a:cs typeface="Lucida Grande"/>
                <a:sym typeface="Lucida Grande"/>
              </a:defRPr>
            </a:pPr>
            <a:r>
              <a:t>Which algorithm solves knapsack problem?</a:t>
            </a:r>
          </a:p>
          <a:p>
            <a:pPr>
              <a:defRPr b="1">
                <a:latin typeface="Lucida Grande"/>
                <a:ea typeface="Lucida Grande"/>
                <a:cs typeface="Lucida Grande"/>
                <a:sym typeface="Lucida Grande"/>
              </a:defRPr>
            </a:pPr>
            <a:endParaRPr/>
          </a:p>
          <a:p>
            <a:pPr lvl="1">
              <a:lnSpc>
                <a:spcPts val="3800"/>
              </a:lnSpc>
            </a:pPr>
            <a:r>
              <a:rPr b="0">
                <a:solidFill>
                  <a:srgbClr val="000000"/>
                </a:solidFill>
              </a:rPr>
              <a:t>Greedy by value: repeatedly add item with maximum </a:t>
            </a:r>
            <a:r>
              <a:rPr b="0" i="1">
                <a:solidFill>
                  <a:srgbClr val="000000"/>
                </a:solidFill>
                <a:latin typeface="Times"/>
                <a:ea typeface="Times"/>
                <a:cs typeface="Times"/>
                <a:sym typeface="Times"/>
              </a:rPr>
              <a:t>v</a:t>
            </a:r>
            <a:r>
              <a:rPr b="0" i="1" baseline="-5999">
                <a:solidFill>
                  <a:srgbClr val="000000"/>
                </a:solidFill>
                <a:latin typeface="Times"/>
                <a:ea typeface="Times"/>
                <a:cs typeface="Times"/>
                <a:sym typeface="Times"/>
              </a:rPr>
              <a:t>i</a:t>
            </a:r>
            <a:r>
              <a:rPr b="0">
                <a:solidFill>
                  <a:srgbClr val="000000"/>
                </a:solidFill>
              </a:rPr>
              <a:t>.</a:t>
            </a:r>
          </a:p>
          <a:p>
            <a:pPr lvl="1">
              <a:lnSpc>
                <a:spcPts val="3800"/>
              </a:lnSpc>
            </a:pPr>
            <a:r>
              <a:rPr b="0">
                <a:solidFill>
                  <a:srgbClr val="000000"/>
                </a:solidFill>
              </a:rPr>
              <a:t>Greedy by weight: repeatedly add item with minimum </a:t>
            </a:r>
            <a:r>
              <a:rPr b="0" i="1">
                <a:solidFill>
                  <a:srgbClr val="000000"/>
                </a:solidFill>
                <a:latin typeface="Times"/>
                <a:ea typeface="Times"/>
                <a:cs typeface="Times"/>
                <a:sym typeface="Times"/>
              </a:rPr>
              <a:t>w</a:t>
            </a:r>
            <a:r>
              <a:rPr b="0" i="1" baseline="-5999">
                <a:solidFill>
                  <a:srgbClr val="000000"/>
                </a:solidFill>
                <a:latin typeface="Times"/>
                <a:ea typeface="Times"/>
                <a:cs typeface="Times"/>
                <a:sym typeface="Times"/>
              </a:rPr>
              <a:t>i</a:t>
            </a:r>
            <a:r>
              <a:rPr b="0">
                <a:solidFill>
                  <a:srgbClr val="000000"/>
                </a:solidFill>
              </a:rPr>
              <a:t>.</a:t>
            </a:r>
          </a:p>
          <a:p>
            <a:pPr lvl="1">
              <a:lnSpc>
                <a:spcPts val="3800"/>
              </a:lnSpc>
            </a:pPr>
            <a:r>
              <a:rPr b="0">
                <a:solidFill>
                  <a:srgbClr val="000000"/>
                </a:solidFill>
              </a:rPr>
              <a:t>Greedy by ratio: repeatedly add item with maximum ratio </a:t>
            </a:r>
            <a:r>
              <a:rPr b="0" i="1">
                <a:solidFill>
                  <a:srgbClr val="000000"/>
                </a:solidFill>
                <a:latin typeface="Times"/>
                <a:ea typeface="Times"/>
                <a:cs typeface="Times"/>
                <a:sym typeface="Times"/>
              </a:rPr>
              <a:t>v</a:t>
            </a:r>
            <a:r>
              <a:rPr b="0" i="1" baseline="-5999">
                <a:solidFill>
                  <a:srgbClr val="000000"/>
                </a:solidFill>
                <a:latin typeface="Times"/>
                <a:ea typeface="Times"/>
                <a:cs typeface="Times"/>
                <a:sym typeface="Times"/>
              </a:rPr>
              <a:t>i</a:t>
            </a:r>
            <a:r>
              <a:rPr b="0">
                <a:solidFill>
                  <a:srgbClr val="000000"/>
                </a:solidFill>
                <a:latin typeface="Times"/>
                <a:ea typeface="Times"/>
                <a:cs typeface="Times"/>
                <a:sym typeface="Times"/>
              </a:rPr>
              <a:t> / </a:t>
            </a:r>
            <a:r>
              <a:rPr b="0" i="1">
                <a:solidFill>
                  <a:srgbClr val="000000"/>
                </a:solidFill>
                <a:latin typeface="Times"/>
                <a:ea typeface="Times"/>
                <a:cs typeface="Times"/>
                <a:sym typeface="Times"/>
              </a:rPr>
              <a:t>w</a:t>
            </a:r>
            <a:r>
              <a:rPr b="0" i="1" baseline="-5999">
                <a:solidFill>
                  <a:srgbClr val="000000"/>
                </a:solidFill>
                <a:latin typeface="Times"/>
                <a:ea typeface="Times"/>
                <a:cs typeface="Times"/>
                <a:sym typeface="Times"/>
              </a:rPr>
              <a:t>i</a:t>
            </a:r>
            <a:r>
              <a:rPr b="0">
                <a:solidFill>
                  <a:srgbClr val="000000"/>
                </a:solidFill>
              </a:rPr>
              <a:t>.</a:t>
            </a:r>
          </a:p>
          <a:p>
            <a:pPr lvl="1">
              <a:lnSpc>
                <a:spcPts val="3800"/>
              </a:lnSpc>
            </a:pPr>
            <a:r>
              <a:rPr b="0">
                <a:solidFill>
                  <a:srgbClr val="000000"/>
                </a:solidFill>
              </a:rPr>
              <a:t>Dynamic programming.</a:t>
            </a:r>
          </a:p>
        </p:txBody>
      </p:sp>
      <p:sp>
        <p:nvSpPr>
          <p:cNvPr id="672" name="幻灯片编号"/>
          <p:cNvSpPr txBox="1">
            <a:spLocks noGrp="1"/>
          </p:cNvSpPr>
          <p:nvPr>
            <p:ph type="sldNum" sz="quarter" idx="2"/>
          </p:nvPr>
        </p:nvSpPr>
        <p:spPr>
          <a:xfrm>
            <a:off x="12618178" y="9382590"/>
            <a:ext cx="307239" cy="27940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40</a:t>
            </a:fld>
            <a:endParaRPr/>
          </a:p>
        </p:txBody>
      </p:sp>
      <p:sp>
        <p:nvSpPr>
          <p:cNvPr id="673" name="Dynamic programming:  quiz 2"/>
          <p:cNvSpPr txBox="1">
            <a:spLocks noGrp="1"/>
          </p:cNvSpPr>
          <p:nvPr>
            <p:ph type="title"/>
          </p:nvPr>
        </p:nvSpPr>
        <p:spPr>
          <a:prstGeom prst="rect">
            <a:avLst/>
          </a:prstGeom>
        </p:spPr>
        <p:txBody>
          <a:bodyPr/>
          <a:lstStyle/>
          <a:p>
            <a:r>
              <a:t>Dynamic programming:  quiz 2</a:t>
            </a:r>
          </a:p>
        </p:txBody>
      </p:sp>
      <p:sp>
        <p:nvSpPr>
          <p:cNvPr id="674" name="圆角矩形"/>
          <p:cNvSpPr/>
          <p:nvPr/>
        </p:nvSpPr>
        <p:spPr>
          <a:xfrm>
            <a:off x="1054100" y="4343400"/>
            <a:ext cx="609600" cy="609600"/>
          </a:xfrm>
          <a:prstGeom prst="roundRect">
            <a:avLst>
              <a:gd name="adj" fmla="val 31250"/>
            </a:avLst>
          </a:prstGeom>
          <a:ln w="50800">
            <a:solidFill>
              <a:srgbClr val="8D3124"/>
            </a:solidFill>
          </a:ln>
        </p:spPr>
        <p:txBody>
          <a:bodyPr lIns="203200" tIns="203200" rIns="203200" bIns="203200"/>
          <a:lstStyle/>
          <a:p>
            <a:pPr marL="7224" marR="7224" algn="l" defTabSz="1295400">
              <a:lnSpc>
                <a:spcPct val="120000"/>
              </a:lnSpc>
              <a:buClrTx/>
              <a:buFontTx/>
              <a:tabLst/>
              <a:defRPr sz="2200">
                <a:solidFill>
                  <a:srgbClr val="005493"/>
                </a:solidFill>
                <a:uFill>
                  <a:solidFill>
                    <a:srgbClr val="0048AA"/>
                  </a:solidFill>
                </a:uFill>
              </a:defRPr>
            </a:pPr>
            <a:endParaRPr/>
          </a:p>
        </p:txBody>
      </p:sp>
      <p:sp>
        <p:nvSpPr>
          <p:cNvPr id="675" name="圆角矩形"/>
          <p:cNvSpPr/>
          <p:nvPr/>
        </p:nvSpPr>
        <p:spPr>
          <a:xfrm>
            <a:off x="1054100" y="4343400"/>
            <a:ext cx="609600" cy="609600"/>
          </a:xfrm>
          <a:prstGeom prst="roundRect">
            <a:avLst>
              <a:gd name="adj" fmla="val 31250"/>
            </a:avLst>
          </a:prstGeom>
          <a:ln w="76200">
            <a:solidFill>
              <a:srgbClr val="FBE8E5"/>
            </a:solidFill>
          </a:ln>
        </p:spPr>
        <p:txBody>
          <a:bodyPr lIns="203200" tIns="203200" rIns="203200" bIns="203200"/>
          <a:lstStyle/>
          <a:p>
            <a:pPr marL="7224" marR="7224" algn="l" defTabSz="1295400">
              <a:lnSpc>
                <a:spcPct val="120000"/>
              </a:lnSpc>
              <a:buClrTx/>
              <a:buFontTx/>
              <a:tabLst/>
              <a:defRPr sz="2200">
                <a:solidFill>
                  <a:srgbClr val="005493"/>
                </a:solidFill>
                <a:uFill>
                  <a:solidFill>
                    <a:srgbClr val="0048AA"/>
                  </a:solidFill>
                </a:uFill>
              </a:defRPr>
            </a:pPr>
            <a:endParaRPr/>
          </a:p>
        </p:txBody>
      </p:sp>
      <p:pic>
        <p:nvPicPr>
          <p:cNvPr id="676" name="Knapsack.pdf" descr="Knapsack.pdf"/>
          <p:cNvPicPr>
            <a:picLocks noChangeAspect="1"/>
          </p:cNvPicPr>
          <p:nvPr/>
        </p:nvPicPr>
        <p:blipFill>
          <a:blip r:embed="rId3"/>
          <a:stretch>
            <a:fillRect/>
          </a:stretch>
        </p:blipFill>
        <p:spPr>
          <a:xfrm>
            <a:off x="2055032" y="5791213"/>
            <a:ext cx="3881951" cy="3118390"/>
          </a:xfrm>
          <a:prstGeom prst="rect">
            <a:avLst/>
          </a:prstGeom>
          <a:ln w="12700">
            <a:miter lim="400000"/>
          </a:ln>
        </p:spPr>
      </p:pic>
      <p:sp>
        <p:nvSpPr>
          <p:cNvPr id="677" name="Creative Commons Attribution-Share Alike 2.5…"/>
          <p:cNvSpPr txBox="1"/>
          <p:nvPr/>
        </p:nvSpPr>
        <p:spPr>
          <a:xfrm>
            <a:off x="2647029" y="9105087"/>
            <a:ext cx="2697958" cy="4521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a:defRPr sz="1000">
                <a:solidFill>
                  <a:srgbClr val="606060"/>
                </a:solidFill>
              </a:defRPr>
            </a:pPr>
            <a:r>
              <a:t>Creative Commons Attribution-Share Alike 2.5</a:t>
            </a:r>
          </a:p>
          <a:p>
            <a:pPr>
              <a:defRPr sz="1000">
                <a:solidFill>
                  <a:srgbClr val="606060"/>
                </a:solidFill>
              </a:defRPr>
            </a:pPr>
            <a:r>
              <a:t>by Dake</a:t>
            </a:r>
          </a:p>
        </p:txBody>
      </p:sp>
      <p:grpSp>
        <p:nvGrpSpPr>
          <p:cNvPr id="680" name="成组"/>
          <p:cNvGrpSpPr/>
          <p:nvPr/>
        </p:nvGrpSpPr>
        <p:grpSpPr>
          <a:xfrm>
            <a:off x="7628184" y="5598632"/>
            <a:ext cx="3227382" cy="3842549"/>
            <a:chOff x="0" y="0"/>
            <a:chExt cx="3227381" cy="3842548"/>
          </a:xfrm>
        </p:grpSpPr>
        <p:graphicFrame>
          <p:nvGraphicFramePr>
            <p:cNvPr id="678" name="表格"/>
            <p:cNvGraphicFramePr/>
            <p:nvPr/>
          </p:nvGraphicFramePr>
          <p:xfrm>
            <a:off x="0" y="0"/>
            <a:ext cx="3227381" cy="3001205"/>
          </p:xfrm>
          <a:graphic>
            <a:graphicData uri="http://schemas.openxmlformats.org/drawingml/2006/table">
              <a:tbl>
                <a:tblPr firstRow="1">
                  <a:tableStyleId>{8F44A2F1-9E1F-4B54-A3A2-5F16C0AD49E2}</a:tableStyleId>
                </a:tblPr>
                <a:tblGrid>
                  <a:gridCol w="1075794">
                    <a:extLst>
                      <a:ext uri="{9D8B030D-6E8A-4147-A177-3AD203B41FA5}">
                        <a16:colId xmlns:a16="http://schemas.microsoft.com/office/drawing/2014/main" val="20000"/>
                      </a:ext>
                    </a:extLst>
                  </a:gridCol>
                  <a:gridCol w="1075794">
                    <a:extLst>
                      <a:ext uri="{9D8B030D-6E8A-4147-A177-3AD203B41FA5}">
                        <a16:colId xmlns:a16="http://schemas.microsoft.com/office/drawing/2014/main" val="20001"/>
                      </a:ext>
                    </a:extLst>
                  </a:gridCol>
                  <a:gridCol w="1075794">
                    <a:extLst>
                      <a:ext uri="{9D8B030D-6E8A-4147-A177-3AD203B41FA5}">
                        <a16:colId xmlns:a16="http://schemas.microsoft.com/office/drawing/2014/main" val="20002"/>
                      </a:ext>
                    </a:extLst>
                  </a:gridCol>
                </a:tblGrid>
                <a:tr h="500201">
                  <a:tc>
                    <a:txBody>
                      <a:bodyPr/>
                      <a:lstStyle/>
                      <a:p>
                        <a:pPr marL="58702" marR="58702" defTabSz="1295400">
                          <a:buClrTx/>
                          <a:buFontTx/>
                          <a:tabLst/>
                          <a:defRPr sz="1800">
                            <a:solidFill>
                              <a:srgbClr val="000000"/>
                            </a:solidFill>
                          </a:defRPr>
                        </a:pPr>
                        <a:r>
                          <a:rPr sz="2200" i="1">
                            <a:uFill>
                              <a:solidFill>
                                <a:srgbClr val="000000"/>
                              </a:solidFill>
                            </a:uFill>
                            <a:latin typeface="Times"/>
                            <a:ea typeface="Times"/>
                            <a:cs typeface="Times"/>
                            <a:sym typeface="Times"/>
                          </a:rPr>
                          <a:t>i</a:t>
                        </a:r>
                      </a:p>
                    </a:txBody>
                    <a:tcPr marL="50800" marR="50800" marT="50800" marB="50800" anchor="ctr" horzOverflow="overflow">
                      <a:lnL w="28575">
                        <a:miter lim="400000"/>
                      </a:lnL>
                      <a:lnR w="28575">
                        <a:miter lim="400000"/>
                      </a:lnR>
                      <a:lnB w="12700">
                        <a:solidFill>
                          <a:srgbClr val="000000"/>
                        </a:solidFill>
                        <a:miter lim="400000"/>
                      </a:lnB>
                      <a:noFill/>
                    </a:tcPr>
                  </a:tc>
                  <a:tc>
                    <a:txBody>
                      <a:bodyPr/>
                      <a:lstStyle/>
                      <a:p>
                        <a:pPr marL="58702" marR="58702" defTabSz="1295400">
                          <a:buClrTx/>
                          <a:buFontTx/>
                          <a:tabLst/>
                          <a:defRPr sz="2200" i="1">
                            <a:solidFill>
                              <a:srgbClr val="000000"/>
                            </a:solidFill>
                            <a:uFill>
                              <a:solidFill>
                                <a:srgbClr val="000000"/>
                              </a:solidFill>
                            </a:uFill>
                            <a:latin typeface="Times"/>
                            <a:ea typeface="Times"/>
                            <a:cs typeface="Times"/>
                            <a:sym typeface="Times"/>
                          </a:defRPr>
                        </a:pPr>
                        <a:r>
                          <a:t>v</a:t>
                        </a:r>
                        <a:r>
                          <a:rPr baseline="-5999"/>
                          <a:t>i</a:t>
                        </a:r>
                      </a:p>
                    </a:txBody>
                    <a:tcPr marL="50800" marR="50800" marT="50800" marB="50800" anchor="ctr" horzOverflow="overflow">
                      <a:lnL w="28575">
                        <a:miter lim="400000"/>
                      </a:lnL>
                      <a:lnR w="28575">
                        <a:miter lim="400000"/>
                      </a:lnR>
                      <a:lnB w="12700">
                        <a:solidFill>
                          <a:srgbClr val="000000"/>
                        </a:solidFill>
                        <a:miter lim="400000"/>
                      </a:lnB>
                      <a:noFill/>
                    </a:tcPr>
                  </a:tc>
                  <a:tc>
                    <a:txBody>
                      <a:bodyPr/>
                      <a:lstStyle/>
                      <a:p>
                        <a:pPr marL="58702" marR="58702" defTabSz="1295400">
                          <a:buClrTx/>
                          <a:buFontTx/>
                          <a:tabLst/>
                          <a:defRPr sz="2200" i="1">
                            <a:solidFill>
                              <a:srgbClr val="000000"/>
                            </a:solidFill>
                            <a:uFill>
                              <a:solidFill>
                                <a:srgbClr val="000000"/>
                              </a:solidFill>
                            </a:uFill>
                            <a:latin typeface="Times"/>
                            <a:ea typeface="Times"/>
                            <a:cs typeface="Times"/>
                            <a:sym typeface="Times"/>
                          </a:defRPr>
                        </a:pPr>
                        <a:r>
                          <a:t>w</a:t>
                        </a:r>
                        <a:r>
                          <a:rPr baseline="-5999"/>
                          <a:t>i</a:t>
                        </a:r>
                      </a:p>
                    </a:txBody>
                    <a:tcPr marL="50800" marR="50800" marT="50800" marB="50800" anchor="ctr" horzOverflow="overflow">
                      <a:lnL w="28575">
                        <a:miter lim="400000"/>
                      </a:lnL>
                      <a:lnR w="28575">
                        <a:miter lim="400000"/>
                      </a:lnR>
                      <a:lnB w="12700">
                        <a:solidFill>
                          <a:srgbClr val="000000"/>
                        </a:solidFill>
                        <a:miter lim="400000"/>
                      </a:lnB>
                      <a:noFill/>
                    </a:tcPr>
                  </a:tc>
                  <a:extLst>
                    <a:ext uri="{0D108BD9-81ED-4DB2-BD59-A6C34878D82A}">
                      <a16:rowId xmlns:a16="http://schemas.microsoft.com/office/drawing/2014/main" val="10000"/>
                    </a:ext>
                  </a:extLst>
                </a:tr>
                <a:tr h="500201">
                  <a:tc>
                    <a:txBody>
                      <a:bodyPr/>
                      <a:lstStyle/>
                      <a:p>
                        <a:pPr marL="58702" marR="58702" defTabSz="1295400">
                          <a:buClrTx/>
                          <a:buFontTx/>
                          <a:tabLst/>
                          <a:defRPr sz="1800"/>
                        </a:pPr>
                        <a:r>
                          <a:rPr sz="2200">
                            <a:uFill>
                              <a:solidFill>
                                <a:srgbClr val="000000"/>
                              </a:solidFill>
                            </a:uFill>
                            <a:latin typeface="Times"/>
                            <a:ea typeface="Times"/>
                            <a:cs typeface="Times"/>
                            <a:sym typeface="Times"/>
                          </a:rPr>
                          <a:t>1</a:t>
                        </a:r>
                      </a:p>
                    </a:txBody>
                    <a:tcPr marL="50800" marR="50800" marT="50800" marB="50800" anchor="ctr" horzOverflow="overflow">
                      <a:lnL w="28575">
                        <a:miter lim="400000"/>
                      </a:lnL>
                      <a:lnR w="28575">
                        <a:miter lim="400000"/>
                      </a:lnR>
                      <a:lnT w="12700">
                        <a:solidFill>
                          <a:srgbClr val="000000"/>
                        </a:solidFill>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US$1</a:t>
                        </a:r>
                      </a:p>
                    </a:txBody>
                    <a:tcPr marL="50800" marR="50800" marT="50800" marB="50800" anchor="ctr" horzOverflow="overflow">
                      <a:lnL w="28575">
                        <a:miter lim="400000"/>
                      </a:lnL>
                      <a:lnR w="28575">
                        <a:miter lim="400000"/>
                      </a:lnR>
                      <a:lnT w="12700">
                        <a:solidFill>
                          <a:srgbClr val="000000"/>
                        </a:solidFill>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1 kg</a:t>
                        </a:r>
                      </a:p>
                    </a:txBody>
                    <a:tcPr marL="50800" marR="50800" marT="50800" marB="50800" anchor="ctr" horzOverflow="overflow">
                      <a:lnL w="28575">
                        <a:miter lim="400000"/>
                      </a:lnL>
                      <a:lnR w="28575">
                        <a:miter lim="400000"/>
                      </a:lnR>
                      <a:lnT w="12700">
                        <a:solidFill>
                          <a:srgbClr val="000000"/>
                        </a:solidFill>
                        <a:miter lim="400000"/>
                      </a:lnT>
                      <a:lnB w="28575">
                        <a:miter lim="400000"/>
                      </a:lnB>
                      <a:noFill/>
                    </a:tcPr>
                  </a:tc>
                  <a:extLst>
                    <a:ext uri="{0D108BD9-81ED-4DB2-BD59-A6C34878D82A}">
                      <a16:rowId xmlns:a16="http://schemas.microsoft.com/office/drawing/2014/main" val="10001"/>
                    </a:ext>
                  </a:extLst>
                </a:tr>
                <a:tr h="500201">
                  <a:tc>
                    <a:txBody>
                      <a:bodyPr/>
                      <a:lstStyle/>
                      <a:p>
                        <a:pPr marL="58702" marR="58702" defTabSz="1295400">
                          <a:buClrTx/>
                          <a:buFontTx/>
                          <a:tabLst/>
                          <a:defRPr sz="1800"/>
                        </a:pPr>
                        <a:r>
                          <a:rPr sz="2200">
                            <a:uFill>
                              <a:solidFill>
                                <a:srgbClr val="000000"/>
                              </a:solidFill>
                            </a:uFill>
                            <a:latin typeface="Times"/>
                            <a:ea typeface="Times"/>
                            <a:cs typeface="Times"/>
                            <a:sym typeface="Times"/>
                          </a:rPr>
                          <a:t>2</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US$6</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2 kg</a:t>
                        </a:r>
                      </a:p>
                    </a:txBody>
                    <a:tcPr marL="50800" marR="50800" marT="50800" marB="50800" anchor="ctr" horzOverflow="overflow">
                      <a:lnL w="28575">
                        <a:miter lim="400000"/>
                      </a:lnL>
                      <a:lnR w="28575">
                        <a:miter lim="400000"/>
                      </a:lnR>
                      <a:lnT w="28575">
                        <a:miter lim="400000"/>
                      </a:lnT>
                      <a:lnB w="28575">
                        <a:miter lim="400000"/>
                      </a:lnB>
                      <a:noFill/>
                    </a:tcPr>
                  </a:tc>
                  <a:extLst>
                    <a:ext uri="{0D108BD9-81ED-4DB2-BD59-A6C34878D82A}">
                      <a16:rowId xmlns:a16="http://schemas.microsoft.com/office/drawing/2014/main" val="10002"/>
                    </a:ext>
                  </a:extLst>
                </a:tr>
                <a:tr h="500201">
                  <a:tc>
                    <a:txBody>
                      <a:bodyPr/>
                      <a:lstStyle/>
                      <a:p>
                        <a:pPr marL="58702" marR="58702" defTabSz="1295400">
                          <a:buClrTx/>
                          <a:buFontTx/>
                          <a:tabLst/>
                          <a:defRPr sz="1800"/>
                        </a:pPr>
                        <a:r>
                          <a:rPr sz="2200">
                            <a:uFill>
                              <a:solidFill>
                                <a:srgbClr val="000000"/>
                              </a:solidFill>
                            </a:uFill>
                            <a:latin typeface="Times"/>
                            <a:ea typeface="Times"/>
                            <a:cs typeface="Times"/>
                            <a:sym typeface="Times"/>
                          </a:rPr>
                          <a:t>3</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US$18</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5 kg</a:t>
                        </a:r>
                      </a:p>
                    </a:txBody>
                    <a:tcPr marL="50800" marR="50800" marT="50800" marB="50800" anchor="ctr" horzOverflow="overflow">
                      <a:lnL w="28575">
                        <a:miter lim="400000"/>
                      </a:lnL>
                      <a:lnR w="28575">
                        <a:miter lim="400000"/>
                      </a:lnR>
                      <a:lnT w="28575">
                        <a:miter lim="400000"/>
                      </a:lnT>
                      <a:lnB w="28575">
                        <a:miter lim="400000"/>
                      </a:lnB>
                      <a:noFill/>
                    </a:tcPr>
                  </a:tc>
                  <a:extLst>
                    <a:ext uri="{0D108BD9-81ED-4DB2-BD59-A6C34878D82A}">
                      <a16:rowId xmlns:a16="http://schemas.microsoft.com/office/drawing/2014/main" val="10003"/>
                    </a:ext>
                  </a:extLst>
                </a:tr>
                <a:tr h="500201">
                  <a:tc>
                    <a:txBody>
                      <a:bodyPr/>
                      <a:lstStyle/>
                      <a:p>
                        <a:pPr marL="58702" marR="58702" defTabSz="1295400">
                          <a:buClrTx/>
                          <a:buFontTx/>
                          <a:tabLst/>
                          <a:defRPr sz="1800"/>
                        </a:pPr>
                        <a:r>
                          <a:rPr sz="2200">
                            <a:uFill>
                              <a:solidFill>
                                <a:srgbClr val="000000"/>
                              </a:solidFill>
                            </a:uFill>
                            <a:latin typeface="Times"/>
                            <a:ea typeface="Times"/>
                            <a:cs typeface="Times"/>
                            <a:sym typeface="Times"/>
                          </a:rPr>
                          <a:t>4</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US$22</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6 kg</a:t>
                        </a:r>
                      </a:p>
                    </a:txBody>
                    <a:tcPr marL="50800" marR="50800" marT="50800" marB="50800" anchor="ctr" horzOverflow="overflow">
                      <a:lnL w="28575">
                        <a:miter lim="400000"/>
                      </a:lnL>
                      <a:lnR w="28575">
                        <a:miter lim="400000"/>
                      </a:lnR>
                      <a:lnT w="28575">
                        <a:miter lim="400000"/>
                      </a:lnT>
                      <a:lnB w="28575">
                        <a:miter lim="400000"/>
                      </a:lnB>
                      <a:noFill/>
                    </a:tcPr>
                  </a:tc>
                  <a:extLst>
                    <a:ext uri="{0D108BD9-81ED-4DB2-BD59-A6C34878D82A}">
                      <a16:rowId xmlns:a16="http://schemas.microsoft.com/office/drawing/2014/main" val="10004"/>
                    </a:ext>
                  </a:extLst>
                </a:tr>
                <a:tr h="500201">
                  <a:tc>
                    <a:txBody>
                      <a:bodyPr/>
                      <a:lstStyle/>
                      <a:p>
                        <a:pPr marL="58702" marR="58702" defTabSz="1295400">
                          <a:buClrTx/>
                          <a:buFontTx/>
                          <a:tabLst/>
                          <a:defRPr sz="1800"/>
                        </a:pPr>
                        <a:r>
                          <a:rPr sz="2200">
                            <a:uFill>
                              <a:solidFill>
                                <a:srgbClr val="000000"/>
                              </a:solidFill>
                            </a:uFill>
                            <a:latin typeface="Times"/>
                            <a:ea typeface="Times"/>
                            <a:cs typeface="Times"/>
                            <a:sym typeface="Times"/>
                          </a:rPr>
                          <a:t>5</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US$28</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buClrTx/>
                          <a:buFontTx/>
                          <a:tabLst/>
                          <a:defRPr sz="1800"/>
                        </a:pPr>
                        <a:r>
                          <a:rPr sz="2200">
                            <a:uFill>
                              <a:solidFill>
                                <a:srgbClr val="000000"/>
                              </a:solidFill>
                            </a:uFill>
                            <a:latin typeface="Times"/>
                            <a:ea typeface="Times"/>
                            <a:cs typeface="Times"/>
                            <a:sym typeface="Times"/>
                          </a:rPr>
                          <a:t>7 kg</a:t>
                        </a:r>
                      </a:p>
                    </a:txBody>
                    <a:tcPr marL="50800" marR="50800" marT="50800" marB="50800" anchor="ctr" horzOverflow="overflow">
                      <a:lnL w="28575">
                        <a:miter lim="400000"/>
                      </a:lnL>
                      <a:lnR w="28575">
                        <a:miter lim="400000"/>
                      </a:lnR>
                      <a:lnT w="28575">
                        <a:miter lim="400000"/>
                      </a:lnT>
                      <a:lnB w="28575">
                        <a:miter lim="400000"/>
                      </a:lnB>
                      <a:noFill/>
                    </a:tcPr>
                  </a:tc>
                  <a:extLst>
                    <a:ext uri="{0D108BD9-81ED-4DB2-BD59-A6C34878D82A}">
                      <a16:rowId xmlns:a16="http://schemas.microsoft.com/office/drawing/2014/main" val="10005"/>
                    </a:ext>
                  </a:extLst>
                </a:tr>
              </a:tbl>
            </a:graphicData>
          </a:graphic>
        </p:graphicFrame>
        <p:sp>
          <p:nvSpPr>
            <p:cNvPr id="679" name="knapsack instance…"/>
            <p:cNvSpPr txBox="1"/>
            <p:nvPr/>
          </p:nvSpPr>
          <p:spPr>
            <a:xfrm>
              <a:off x="487572" y="3266453"/>
              <a:ext cx="2712077" cy="576095"/>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noAutofit/>
            </a:bodyPr>
            <a:lstStyle/>
            <a:p>
              <a:pPr>
                <a:defRPr b="1">
                  <a:solidFill>
                    <a:srgbClr val="000000"/>
                  </a:solidFill>
                  <a:latin typeface="Lucida Grande"/>
                  <a:ea typeface="Lucida Grande"/>
                  <a:cs typeface="Lucida Grande"/>
                  <a:sym typeface="Lucida Grande"/>
                </a:defRPr>
              </a:pPr>
              <a:r>
                <a:t>knapsack instance</a:t>
              </a:r>
            </a:p>
            <a:p>
              <a:pPr>
                <a:defRPr b="1">
                  <a:solidFill>
                    <a:srgbClr val="000000"/>
                  </a:solidFill>
                  <a:latin typeface="Lucida Grande"/>
                  <a:ea typeface="Lucida Grande"/>
                  <a:cs typeface="Lucida Grande"/>
                  <a:sym typeface="Lucida Grande"/>
                </a:defRPr>
              </a:pPr>
              <a:r>
                <a:t>(weight limit W = 11)</a:t>
              </a:r>
            </a:p>
          </p:txBody>
        </p:sp>
      </p:gr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iterate>
                                    <p:tmAbs val="0"/>
                                  </p:iterate>
                                  <p:childTnLst>
                                    <p:set>
                                      <p:cBhvr>
                                        <p:cTn id="6" fill="hold">
                                          <p:stCondLst>
                                            <p:cond delay="0"/>
                                          </p:stCondLst>
                                        </p:cTn>
                                        <p:tgtEl>
                                          <p:spTgt spid="6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 grpId="1" animBg="1" advAuto="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Which subproblems?…"/>
          <p:cNvSpPr txBox="1">
            <a:spLocks noGrp="1"/>
          </p:cNvSpPr>
          <p:nvPr>
            <p:ph type="body" idx="1"/>
          </p:nvPr>
        </p:nvSpPr>
        <p:spPr>
          <a:xfrm>
            <a:off x="812800" y="1270000"/>
            <a:ext cx="11584525" cy="8128000"/>
          </a:xfrm>
          <a:prstGeom prst="rect">
            <a:avLst/>
          </a:prstGeom>
        </p:spPr>
        <p:txBody>
          <a:bodyPr/>
          <a:lstStyle/>
          <a:p>
            <a:pPr>
              <a:defRPr b="1">
                <a:latin typeface="Lucida Grande"/>
                <a:ea typeface="Lucida Grande"/>
                <a:cs typeface="Lucida Grande"/>
                <a:sym typeface="Lucida Grande"/>
              </a:defRPr>
            </a:pPr>
            <a:r>
              <a:t>Which subproblems?</a:t>
            </a:r>
            <a:br/>
            <a:endParaRPr/>
          </a:p>
          <a:p>
            <a:pPr lvl="1">
              <a:lnSpc>
                <a:spcPts val="3800"/>
              </a:lnSpc>
            </a:pPr>
            <a:r>
              <a:rPr b="0" i="1">
                <a:solidFill>
                  <a:srgbClr val="000000"/>
                </a:solidFill>
                <a:latin typeface="Times"/>
                <a:ea typeface="Times"/>
                <a:cs typeface="Times"/>
                <a:sym typeface="Times"/>
              </a:rPr>
              <a:t>OPT</a:t>
            </a:r>
            <a:r>
              <a:rPr b="0">
                <a:solidFill>
                  <a:srgbClr val="000000"/>
                </a:solidFill>
                <a:latin typeface="Times"/>
                <a:ea typeface="Times"/>
                <a:cs typeface="Times"/>
                <a:sym typeface="Times"/>
              </a:rPr>
              <a:t>(</a:t>
            </a:r>
            <a:r>
              <a:rPr b="0" i="1">
                <a:solidFill>
                  <a:srgbClr val="000000"/>
                </a:solidFill>
                <a:latin typeface="Times"/>
                <a:ea typeface="Times"/>
                <a:cs typeface="Times"/>
                <a:sym typeface="Times"/>
              </a:rPr>
              <a:t>w</a:t>
            </a:r>
            <a:r>
              <a:rPr b="0">
                <a:solidFill>
                  <a:srgbClr val="000000"/>
                </a:solidFill>
                <a:latin typeface="Times"/>
                <a:ea typeface="Times"/>
                <a:cs typeface="Times"/>
                <a:sym typeface="Times"/>
              </a:rPr>
              <a:t>) =</a:t>
            </a:r>
            <a:r>
              <a:rPr b="0">
                <a:solidFill>
                  <a:srgbClr val="000000"/>
                </a:solidFill>
              </a:rPr>
              <a:t> max-profit with weight limit </a:t>
            </a:r>
            <a:r>
              <a:rPr b="0" i="1">
                <a:solidFill>
                  <a:srgbClr val="000000"/>
                </a:solidFill>
                <a:latin typeface="Times"/>
                <a:ea typeface="Times"/>
                <a:cs typeface="Times"/>
                <a:sym typeface="Times"/>
              </a:rPr>
              <a:t>w</a:t>
            </a:r>
            <a:r>
              <a:rPr b="0">
                <a:solidFill>
                  <a:srgbClr val="000000"/>
                </a:solidFill>
              </a:rPr>
              <a:t>.</a:t>
            </a:r>
            <a:endParaRPr b="0">
              <a:solidFill>
                <a:srgbClr val="000000"/>
              </a:solidFill>
              <a:uFill>
                <a:solidFill>
                  <a:srgbClr val="000000"/>
                </a:solidFill>
              </a:uFill>
              <a:latin typeface="Times"/>
              <a:ea typeface="Times"/>
              <a:cs typeface="Times"/>
              <a:sym typeface="Times"/>
            </a:endParaRPr>
          </a:p>
          <a:p>
            <a:pPr lvl="1">
              <a:lnSpc>
                <a:spcPts val="3800"/>
              </a:lnSpc>
            </a:pPr>
            <a:r>
              <a:rPr b="0" i="1">
                <a:solidFill>
                  <a:srgbClr val="000000"/>
                </a:solidFill>
                <a:latin typeface="Times"/>
                <a:ea typeface="Times"/>
                <a:cs typeface="Times"/>
                <a:sym typeface="Times"/>
              </a:rPr>
              <a:t>OPT</a:t>
            </a:r>
            <a:r>
              <a:rPr b="0">
                <a:solidFill>
                  <a:srgbClr val="000000"/>
                </a:solidFill>
                <a:latin typeface="Times"/>
                <a:ea typeface="Times"/>
                <a:cs typeface="Times"/>
                <a:sym typeface="Times"/>
              </a:rPr>
              <a:t>(</a:t>
            </a:r>
            <a:r>
              <a:rPr b="0" i="1">
                <a:solidFill>
                  <a:srgbClr val="000000"/>
                </a:solidFill>
                <a:latin typeface="Times"/>
                <a:ea typeface="Times"/>
                <a:cs typeface="Times"/>
                <a:sym typeface="Times"/>
              </a:rPr>
              <a:t>i</a:t>
            </a:r>
            <a:r>
              <a:rPr b="0">
                <a:solidFill>
                  <a:srgbClr val="000000"/>
                </a:solidFill>
                <a:latin typeface="Times"/>
                <a:ea typeface="Times"/>
                <a:cs typeface="Times"/>
                <a:sym typeface="Times"/>
              </a:rPr>
              <a:t>) =</a:t>
            </a:r>
            <a:r>
              <a:rPr b="0">
                <a:solidFill>
                  <a:srgbClr val="000000"/>
                </a:solidFill>
              </a:rPr>
              <a:t> max-profit subset of items </a:t>
            </a:r>
            <a:r>
              <a:rPr b="0">
                <a:solidFill>
                  <a:srgbClr val="000000"/>
                </a:solidFill>
                <a:latin typeface="Times"/>
                <a:ea typeface="Times"/>
                <a:cs typeface="Times"/>
                <a:sym typeface="Times"/>
              </a:rPr>
              <a:t>1, …, </a:t>
            </a:r>
            <a:r>
              <a:rPr b="0" i="1">
                <a:solidFill>
                  <a:srgbClr val="000000"/>
                </a:solidFill>
                <a:latin typeface="Times"/>
                <a:ea typeface="Times"/>
                <a:cs typeface="Times"/>
                <a:sym typeface="Times"/>
              </a:rPr>
              <a:t>i</a:t>
            </a:r>
            <a:r>
              <a:rPr b="0">
                <a:solidFill>
                  <a:srgbClr val="000000"/>
                </a:solidFill>
              </a:rPr>
              <a:t>.</a:t>
            </a:r>
            <a:endParaRPr b="0">
              <a:solidFill>
                <a:srgbClr val="000000"/>
              </a:solidFill>
              <a:uFill>
                <a:solidFill>
                  <a:srgbClr val="000000"/>
                </a:solidFill>
              </a:uFill>
              <a:latin typeface="Times"/>
              <a:ea typeface="Times"/>
              <a:cs typeface="Times"/>
              <a:sym typeface="Times"/>
            </a:endParaRPr>
          </a:p>
          <a:p>
            <a:pPr lvl="1">
              <a:lnSpc>
                <a:spcPts val="3800"/>
              </a:lnSpc>
            </a:pPr>
            <a:r>
              <a:rPr b="0" i="1">
                <a:solidFill>
                  <a:srgbClr val="000000"/>
                </a:solidFill>
                <a:latin typeface="Times"/>
                <a:ea typeface="Times"/>
                <a:cs typeface="Times"/>
                <a:sym typeface="Times"/>
              </a:rPr>
              <a:t>OPT</a:t>
            </a:r>
            <a:r>
              <a:rPr b="0">
                <a:solidFill>
                  <a:srgbClr val="000000"/>
                </a:solidFill>
                <a:latin typeface="Times"/>
                <a:ea typeface="Times"/>
                <a:cs typeface="Times"/>
                <a:sym typeface="Times"/>
              </a:rPr>
              <a:t>(</a:t>
            </a:r>
            <a:r>
              <a:rPr b="0" i="1">
                <a:solidFill>
                  <a:srgbClr val="000000"/>
                </a:solidFill>
                <a:latin typeface="Times"/>
                <a:ea typeface="Times"/>
                <a:cs typeface="Times"/>
                <a:sym typeface="Times"/>
              </a:rPr>
              <a:t>i</a:t>
            </a:r>
            <a:r>
              <a:rPr b="0">
                <a:solidFill>
                  <a:srgbClr val="000000"/>
                </a:solidFill>
                <a:latin typeface="Times"/>
                <a:ea typeface="Times"/>
                <a:cs typeface="Times"/>
                <a:sym typeface="Times"/>
              </a:rPr>
              <a:t>,</a:t>
            </a:r>
            <a:r>
              <a:rPr b="0" i="1">
                <a:solidFill>
                  <a:srgbClr val="000000"/>
                </a:solidFill>
                <a:latin typeface="Times"/>
                <a:ea typeface="Times"/>
                <a:cs typeface="Times"/>
                <a:sym typeface="Times"/>
              </a:rPr>
              <a:t> w</a:t>
            </a:r>
            <a:r>
              <a:rPr b="0">
                <a:solidFill>
                  <a:srgbClr val="000000"/>
                </a:solidFill>
                <a:latin typeface="Times"/>
                <a:ea typeface="Times"/>
                <a:cs typeface="Times"/>
                <a:sym typeface="Times"/>
              </a:rPr>
              <a:t>) =</a:t>
            </a:r>
            <a:r>
              <a:rPr b="0">
                <a:solidFill>
                  <a:srgbClr val="000000"/>
                </a:solidFill>
              </a:rPr>
              <a:t> max-profit subset of items </a:t>
            </a:r>
            <a:r>
              <a:rPr b="0">
                <a:solidFill>
                  <a:srgbClr val="000000"/>
                </a:solidFill>
                <a:latin typeface="Times"/>
                <a:ea typeface="Times"/>
                <a:cs typeface="Times"/>
                <a:sym typeface="Times"/>
              </a:rPr>
              <a:t>1, …, </a:t>
            </a:r>
            <a:r>
              <a:rPr b="0" i="1">
                <a:solidFill>
                  <a:srgbClr val="000000"/>
                </a:solidFill>
                <a:latin typeface="Times"/>
                <a:ea typeface="Times"/>
                <a:cs typeface="Times"/>
                <a:sym typeface="Times"/>
              </a:rPr>
              <a:t>i</a:t>
            </a:r>
            <a:r>
              <a:rPr b="0">
                <a:solidFill>
                  <a:srgbClr val="000000"/>
                </a:solidFill>
              </a:rPr>
              <a:t> with weight limit </a:t>
            </a:r>
            <a:r>
              <a:rPr b="0" i="1">
                <a:solidFill>
                  <a:srgbClr val="000000"/>
                </a:solidFill>
                <a:latin typeface="Times"/>
                <a:ea typeface="Times"/>
                <a:cs typeface="Times"/>
                <a:sym typeface="Times"/>
              </a:rPr>
              <a:t>w.</a:t>
            </a:r>
          </a:p>
          <a:p>
            <a:pPr lvl="1">
              <a:lnSpc>
                <a:spcPts val="3800"/>
              </a:lnSpc>
            </a:pPr>
            <a:r>
              <a:rPr b="0">
                <a:solidFill>
                  <a:srgbClr val="000000"/>
                </a:solidFill>
              </a:rPr>
              <a:t>Any of the above.</a:t>
            </a:r>
          </a:p>
        </p:txBody>
      </p:sp>
      <p:sp>
        <p:nvSpPr>
          <p:cNvPr id="685" name="幻灯片编号"/>
          <p:cNvSpPr txBox="1">
            <a:spLocks noGrp="1"/>
          </p:cNvSpPr>
          <p:nvPr>
            <p:ph type="sldNum" sz="quarter" idx="2"/>
          </p:nvPr>
        </p:nvSpPr>
        <p:spPr>
          <a:xfrm>
            <a:off x="12618178" y="9382590"/>
            <a:ext cx="307239" cy="27940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41</a:t>
            </a:fld>
            <a:endParaRPr/>
          </a:p>
        </p:txBody>
      </p:sp>
      <p:sp>
        <p:nvSpPr>
          <p:cNvPr id="686" name="Dynamic programming:  quiz 3"/>
          <p:cNvSpPr txBox="1">
            <a:spLocks noGrp="1"/>
          </p:cNvSpPr>
          <p:nvPr>
            <p:ph type="title"/>
          </p:nvPr>
        </p:nvSpPr>
        <p:spPr>
          <a:prstGeom prst="rect">
            <a:avLst/>
          </a:prstGeom>
        </p:spPr>
        <p:txBody>
          <a:bodyPr/>
          <a:lstStyle/>
          <a:p>
            <a:r>
              <a:t>Dynamic programming:  quiz 3</a:t>
            </a:r>
          </a:p>
        </p:txBody>
      </p:sp>
      <p:sp>
        <p:nvSpPr>
          <p:cNvPr id="687" name="圆角矩形"/>
          <p:cNvSpPr/>
          <p:nvPr/>
        </p:nvSpPr>
        <p:spPr>
          <a:xfrm>
            <a:off x="1054100" y="3708400"/>
            <a:ext cx="609600" cy="609600"/>
          </a:xfrm>
          <a:prstGeom prst="roundRect">
            <a:avLst>
              <a:gd name="adj" fmla="val 31250"/>
            </a:avLst>
          </a:prstGeom>
          <a:ln w="50800">
            <a:solidFill>
              <a:srgbClr val="8D3124"/>
            </a:solidFill>
          </a:ln>
        </p:spPr>
        <p:txBody>
          <a:bodyPr lIns="203200" tIns="203200" rIns="203200" bIns="203200"/>
          <a:lstStyle/>
          <a:p>
            <a:pPr marL="7224" marR="7224" algn="l" defTabSz="1295400">
              <a:lnSpc>
                <a:spcPct val="120000"/>
              </a:lnSpc>
              <a:buClrTx/>
              <a:buFontTx/>
              <a:tabLst/>
              <a:defRPr sz="2200">
                <a:solidFill>
                  <a:srgbClr val="005493"/>
                </a:solidFill>
                <a:uFill>
                  <a:solidFill>
                    <a:srgbClr val="0048AA"/>
                  </a:solidFill>
                </a:uFill>
              </a:defRPr>
            </a:pPr>
            <a:endParaRPr/>
          </a:p>
        </p:txBody>
      </p:sp>
      <p:sp>
        <p:nvSpPr>
          <p:cNvPr id="688" name="圆角矩形"/>
          <p:cNvSpPr/>
          <p:nvPr/>
        </p:nvSpPr>
        <p:spPr>
          <a:xfrm>
            <a:off x="1054100" y="3708400"/>
            <a:ext cx="609600" cy="609600"/>
          </a:xfrm>
          <a:prstGeom prst="roundRect">
            <a:avLst>
              <a:gd name="adj" fmla="val 31250"/>
            </a:avLst>
          </a:prstGeom>
          <a:ln w="76200">
            <a:solidFill>
              <a:srgbClr val="FBE8E5"/>
            </a:solidFill>
          </a:ln>
        </p:spPr>
        <p:txBody>
          <a:bodyPr lIns="203200" tIns="203200" rIns="203200" bIns="203200"/>
          <a:lstStyle/>
          <a:p>
            <a:pPr marL="7224" marR="7224" algn="l" defTabSz="1295400">
              <a:lnSpc>
                <a:spcPct val="120000"/>
              </a:lnSpc>
              <a:buClrTx/>
              <a:buFontTx/>
              <a:tabLst/>
              <a:defRPr sz="2200">
                <a:solidFill>
                  <a:srgbClr val="005493"/>
                </a:solidFill>
                <a:uFill>
                  <a:solidFill>
                    <a:srgbClr val="0048AA"/>
                  </a:solidFill>
                </a:uFill>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iterate>
                                    <p:tmAbs val="0"/>
                                  </p:iterate>
                                  <p:childTnLst>
                                    <p:set>
                                      <p:cBhvr>
                                        <p:cTn id="6" fill="hold">
                                          <p:stCondLst>
                                            <p:cond delay="0"/>
                                          </p:stCondLst>
                                        </p:cTn>
                                        <p:tgtEl>
                                          <p:spTgt spid="6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8" grpId="1" animBg="1" advAuto="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693" name="Dynamic programming:  false start"/>
          <p:cNvSpPr txBox="1">
            <a:spLocks noGrp="1"/>
          </p:cNvSpPr>
          <p:nvPr>
            <p:ph type="title"/>
          </p:nvPr>
        </p:nvSpPr>
        <p:spPr>
          <a:prstGeom prst="rect">
            <a:avLst/>
          </a:prstGeom>
        </p:spPr>
        <p:txBody>
          <a:bodyPr/>
          <a:lstStyle/>
          <a:p>
            <a:r>
              <a:t>Dynamic programming:  false start</a:t>
            </a:r>
          </a:p>
        </p:txBody>
      </p:sp>
      <p:sp>
        <p:nvSpPr>
          <p:cNvPr id="694" name="Def.  OPT(i) = max-profit subset of items 1, …, i.…"/>
          <p:cNvSpPr txBox="1">
            <a:spLocks noGrp="1"/>
          </p:cNvSpPr>
          <p:nvPr>
            <p:ph type="body" idx="1"/>
          </p:nvPr>
        </p:nvSpPr>
        <p:spPr>
          <a:prstGeom prst="rect">
            <a:avLst/>
          </a:prstGeom>
        </p:spPr>
        <p:txBody>
          <a:bodyPr/>
          <a:lstStyle/>
          <a:p>
            <a:r>
              <a:t>Def.  </a:t>
            </a:r>
            <a:r>
              <a:rPr i="1">
                <a:solidFill>
                  <a:srgbClr val="000000"/>
                </a:solidFill>
                <a:latin typeface="Times"/>
                <a:ea typeface="Times"/>
                <a:cs typeface="Times"/>
                <a:sym typeface="Times"/>
              </a:rPr>
              <a:t>OPT</a:t>
            </a:r>
            <a:r>
              <a:rPr>
                <a:solidFill>
                  <a:srgbClr val="000000"/>
                </a:solidFill>
                <a:latin typeface="Times"/>
                <a:ea typeface="Times"/>
                <a:cs typeface="Times"/>
                <a:sym typeface="Times"/>
              </a:rPr>
              <a:t>(</a:t>
            </a:r>
            <a:r>
              <a:rPr i="1">
                <a:solidFill>
                  <a:srgbClr val="000000"/>
                </a:solidFill>
                <a:latin typeface="Times"/>
                <a:ea typeface="Times"/>
                <a:cs typeface="Times"/>
                <a:sym typeface="Times"/>
              </a:rPr>
              <a:t>i</a:t>
            </a:r>
            <a:r>
              <a:rPr>
                <a:solidFill>
                  <a:srgbClr val="000000"/>
                </a:solidFill>
                <a:latin typeface="Times"/>
                <a:ea typeface="Times"/>
                <a:cs typeface="Times"/>
                <a:sym typeface="Times"/>
              </a:rPr>
              <a:t>) =</a:t>
            </a:r>
            <a:r>
              <a:rPr>
                <a:solidFill>
                  <a:srgbClr val="000000"/>
                </a:solidFill>
              </a:rPr>
              <a:t> max-profit subset of items </a:t>
            </a:r>
            <a:r>
              <a:rPr>
                <a:solidFill>
                  <a:srgbClr val="000000"/>
                </a:solidFill>
                <a:latin typeface="Times"/>
                <a:ea typeface="Times"/>
                <a:cs typeface="Times"/>
                <a:sym typeface="Times"/>
              </a:rPr>
              <a:t>1, …, </a:t>
            </a:r>
            <a:r>
              <a:rPr i="1">
                <a:solidFill>
                  <a:srgbClr val="000000"/>
                </a:solidFill>
                <a:latin typeface="Times"/>
                <a:ea typeface="Times"/>
                <a:cs typeface="Times"/>
                <a:sym typeface="Times"/>
              </a:rPr>
              <a:t>i</a:t>
            </a:r>
            <a:r>
              <a:rPr>
                <a:solidFill>
                  <a:srgbClr val="000000"/>
                </a:solidFill>
              </a:rPr>
              <a:t>.</a:t>
            </a:r>
          </a:p>
          <a:p>
            <a:r>
              <a:t>Goal.  </a:t>
            </a:r>
            <a:r>
              <a:rPr i="1">
                <a:solidFill>
                  <a:srgbClr val="000000"/>
                </a:solidFill>
                <a:latin typeface="Times"/>
                <a:ea typeface="Times"/>
                <a:cs typeface="Times"/>
                <a:sym typeface="Times"/>
              </a:rPr>
              <a:t>OPT</a:t>
            </a:r>
            <a:r>
              <a:rPr>
                <a:solidFill>
                  <a:srgbClr val="000000"/>
                </a:solidFill>
                <a:latin typeface="Times"/>
                <a:ea typeface="Times"/>
                <a:cs typeface="Times"/>
                <a:sym typeface="Times"/>
              </a:rPr>
              <a:t>(</a:t>
            </a:r>
            <a:r>
              <a:rPr i="1">
                <a:solidFill>
                  <a:srgbClr val="000000"/>
                </a:solidFill>
                <a:latin typeface="Times"/>
                <a:ea typeface="Times"/>
                <a:cs typeface="Times"/>
                <a:sym typeface="Times"/>
              </a:rPr>
              <a:t>n</a:t>
            </a:r>
            <a:r>
              <a:rPr>
                <a:solidFill>
                  <a:srgbClr val="000000"/>
                </a:solidFill>
                <a:latin typeface="Times"/>
                <a:ea typeface="Times"/>
                <a:cs typeface="Times"/>
                <a:sym typeface="Times"/>
              </a:rPr>
              <a:t>)</a:t>
            </a:r>
            <a:r>
              <a:rPr>
                <a:solidFill>
                  <a:srgbClr val="000000"/>
                </a:solidFill>
              </a:rPr>
              <a:t>.</a:t>
            </a:r>
          </a:p>
          <a:p>
            <a:br>
              <a:rPr>
                <a:solidFill>
                  <a:srgbClr val="000000"/>
                </a:solidFill>
              </a:rPr>
            </a:br>
            <a:r>
              <a:t>Case 1.</a:t>
            </a:r>
            <a:r>
              <a:rPr>
                <a:solidFill>
                  <a:srgbClr val="000000"/>
                </a:solidFill>
              </a:rPr>
              <a:t>  </a:t>
            </a:r>
            <a:r>
              <a:rPr i="1">
                <a:solidFill>
                  <a:srgbClr val="000000"/>
                </a:solidFill>
                <a:latin typeface="Times"/>
                <a:ea typeface="Times"/>
                <a:cs typeface="Times"/>
                <a:sym typeface="Times"/>
              </a:rPr>
              <a:t>OPT</a:t>
            </a:r>
            <a:r>
              <a:rPr>
                <a:solidFill>
                  <a:srgbClr val="000000"/>
                </a:solidFill>
                <a:latin typeface="Times"/>
                <a:ea typeface="Times"/>
                <a:cs typeface="Times"/>
                <a:sym typeface="Times"/>
              </a:rPr>
              <a:t>(</a:t>
            </a:r>
            <a:r>
              <a:rPr i="1">
                <a:solidFill>
                  <a:srgbClr val="000000"/>
                </a:solidFill>
                <a:latin typeface="Times"/>
                <a:ea typeface="Times"/>
                <a:cs typeface="Times"/>
                <a:sym typeface="Times"/>
              </a:rPr>
              <a:t>i</a:t>
            </a:r>
            <a:r>
              <a:rPr>
                <a:solidFill>
                  <a:srgbClr val="000000"/>
                </a:solidFill>
                <a:latin typeface="Times"/>
                <a:ea typeface="Times"/>
                <a:cs typeface="Times"/>
                <a:sym typeface="Times"/>
              </a:rPr>
              <a:t>)</a:t>
            </a:r>
            <a:r>
              <a:rPr>
                <a:solidFill>
                  <a:srgbClr val="000000"/>
                </a:solidFill>
              </a:rPr>
              <a:t> does not select item </a:t>
            </a:r>
            <a:r>
              <a:rPr i="1">
                <a:solidFill>
                  <a:srgbClr val="000000"/>
                </a:solidFill>
                <a:latin typeface="Times"/>
                <a:ea typeface="Times"/>
                <a:cs typeface="Times"/>
                <a:sym typeface="Times"/>
              </a:rPr>
              <a:t>i</a:t>
            </a:r>
            <a:r>
              <a:rPr>
                <a:solidFill>
                  <a:srgbClr val="000000"/>
                </a:solidFill>
              </a:rPr>
              <a:t>.</a:t>
            </a:r>
          </a:p>
          <a:p>
            <a:pPr lvl="1"/>
            <a:r>
              <a:rPr i="1">
                <a:latin typeface="Times"/>
                <a:ea typeface="Times"/>
                <a:cs typeface="Times"/>
                <a:sym typeface="Times"/>
              </a:rPr>
              <a:t>OPT</a:t>
            </a:r>
            <a:r>
              <a:t> selects best of </a:t>
            </a:r>
            <a:r>
              <a:rPr>
                <a:latin typeface="Times"/>
                <a:ea typeface="Times"/>
                <a:cs typeface="Times"/>
                <a:sym typeface="Times"/>
              </a:rPr>
              <a:t>{ 1, 2, …, </a:t>
            </a:r>
            <a:r>
              <a:rPr i="1">
                <a:latin typeface="Times"/>
                <a:ea typeface="Times"/>
                <a:cs typeface="Times"/>
                <a:sym typeface="Times"/>
              </a:rPr>
              <a:t>i </a:t>
            </a:r>
            <a:r>
              <a:rPr>
                <a:latin typeface="Times"/>
                <a:ea typeface="Times"/>
                <a:cs typeface="Times"/>
                <a:sym typeface="Times"/>
              </a:rPr>
              <a:t>– 1 }</a:t>
            </a:r>
            <a:r>
              <a:t>. </a:t>
            </a:r>
          </a:p>
          <a:p>
            <a:br/>
            <a:r>
              <a:t>Case 2.</a:t>
            </a:r>
            <a:r>
              <a:rPr>
                <a:solidFill>
                  <a:srgbClr val="000000"/>
                </a:solidFill>
              </a:rPr>
              <a:t>  </a:t>
            </a:r>
            <a:r>
              <a:rPr i="1">
                <a:solidFill>
                  <a:srgbClr val="000000"/>
                </a:solidFill>
                <a:latin typeface="Times"/>
                <a:ea typeface="Times"/>
                <a:cs typeface="Times"/>
                <a:sym typeface="Times"/>
              </a:rPr>
              <a:t>OPT</a:t>
            </a:r>
            <a:r>
              <a:rPr>
                <a:solidFill>
                  <a:srgbClr val="000000"/>
                </a:solidFill>
                <a:latin typeface="Times"/>
                <a:ea typeface="Times"/>
                <a:cs typeface="Times"/>
                <a:sym typeface="Times"/>
              </a:rPr>
              <a:t>(</a:t>
            </a:r>
            <a:r>
              <a:rPr i="1">
                <a:solidFill>
                  <a:srgbClr val="000000"/>
                </a:solidFill>
                <a:latin typeface="Times"/>
                <a:ea typeface="Times"/>
                <a:cs typeface="Times"/>
                <a:sym typeface="Times"/>
              </a:rPr>
              <a:t>i</a:t>
            </a:r>
            <a:r>
              <a:rPr>
                <a:solidFill>
                  <a:srgbClr val="000000"/>
                </a:solidFill>
                <a:latin typeface="Times"/>
                <a:ea typeface="Times"/>
                <a:cs typeface="Times"/>
                <a:sym typeface="Times"/>
              </a:rPr>
              <a:t>)</a:t>
            </a:r>
            <a:r>
              <a:rPr>
                <a:solidFill>
                  <a:srgbClr val="000000"/>
                </a:solidFill>
              </a:rPr>
              <a:t> selects item </a:t>
            </a:r>
            <a:r>
              <a:rPr i="1">
                <a:solidFill>
                  <a:srgbClr val="000000"/>
                </a:solidFill>
                <a:latin typeface="Times"/>
                <a:ea typeface="Times"/>
                <a:cs typeface="Times"/>
                <a:sym typeface="Times"/>
              </a:rPr>
              <a:t>i</a:t>
            </a:r>
            <a:r>
              <a:rPr>
                <a:solidFill>
                  <a:srgbClr val="000000"/>
                </a:solidFill>
              </a:rPr>
              <a:t>.</a:t>
            </a:r>
          </a:p>
          <a:p>
            <a:pPr lvl="1"/>
            <a:r>
              <a:t>Selecting item </a:t>
            </a:r>
            <a:r>
              <a:rPr i="1">
                <a:latin typeface="Times"/>
                <a:ea typeface="Times"/>
                <a:cs typeface="Times"/>
                <a:sym typeface="Times"/>
              </a:rPr>
              <a:t>i</a:t>
            </a:r>
            <a:r>
              <a:t> does not immediately imply that we will have</a:t>
            </a:r>
            <a:br/>
            <a:r>
              <a:t>to reject other items.</a:t>
            </a:r>
          </a:p>
          <a:p>
            <a:pPr lvl="1"/>
            <a:r>
              <a:t>Without knowing which other items were selected before </a:t>
            </a:r>
            <a:r>
              <a:rPr i="1">
                <a:latin typeface="Times"/>
                <a:ea typeface="Times"/>
                <a:cs typeface="Times"/>
                <a:sym typeface="Times"/>
              </a:rPr>
              <a:t>i</a:t>
            </a:r>
            <a:r>
              <a:t>,</a:t>
            </a:r>
            <a:br/>
            <a:r>
              <a:t>we don’t even know if we have enough room for </a:t>
            </a:r>
            <a:r>
              <a:rPr i="1">
                <a:latin typeface="Times"/>
                <a:ea typeface="Times"/>
                <a:cs typeface="Times"/>
                <a:sym typeface="Times"/>
              </a:rPr>
              <a:t>i</a:t>
            </a:r>
            <a:r>
              <a:t>.</a:t>
            </a:r>
          </a:p>
          <a:p>
            <a:br/>
            <a:br/>
            <a:r>
              <a:t>Conclusion. </a:t>
            </a:r>
            <a:r>
              <a:rPr>
                <a:solidFill>
                  <a:srgbClr val="000000"/>
                </a:solidFill>
              </a:rPr>
              <a:t> Need more subproblems!</a:t>
            </a:r>
          </a:p>
        </p:txBody>
      </p:sp>
      <p:sp>
        <p:nvSpPr>
          <p:cNvPr id="695"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42</a:t>
            </a:fld>
            <a:endParaRPr/>
          </a:p>
        </p:txBody>
      </p:sp>
      <p:grpSp>
        <p:nvGrpSpPr>
          <p:cNvPr id="698" name="成组"/>
          <p:cNvGrpSpPr/>
          <p:nvPr/>
        </p:nvGrpSpPr>
        <p:grpSpPr>
          <a:xfrm>
            <a:off x="6311900" y="3746500"/>
            <a:ext cx="3471598" cy="1479974"/>
            <a:chOff x="0" y="0"/>
            <a:chExt cx="3471597" cy="1479973"/>
          </a:xfrm>
        </p:grpSpPr>
        <p:sp>
          <p:nvSpPr>
            <p:cNvPr id="696" name="optimal substructure property…"/>
            <p:cNvSpPr/>
            <p:nvPr/>
          </p:nvSpPr>
          <p:spPr>
            <a:xfrm>
              <a:off x="2201597" y="209973"/>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lnSpc>
                  <a:spcPct val="140000"/>
                </a:lnSpc>
              </a:pPr>
              <a:r>
                <a:t>optimal substructure property</a:t>
              </a:r>
            </a:p>
            <a:p>
              <a:pPr>
                <a:lnSpc>
                  <a:spcPct val="140000"/>
                </a:lnSpc>
              </a:pPr>
              <a:r>
                <a:t>(proof via exchange argument)</a:t>
              </a:r>
            </a:p>
          </p:txBody>
        </p:sp>
        <p:sp>
          <p:nvSpPr>
            <p:cNvPr id="697" name="线条"/>
            <p:cNvSpPr/>
            <p:nvPr/>
          </p:nvSpPr>
          <p:spPr>
            <a:xfrm>
              <a:off x="0" y="0"/>
              <a:ext cx="474383" cy="332502"/>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701" name="Dynamic programming:  adding a new variable"/>
          <p:cNvSpPr txBox="1">
            <a:spLocks noGrp="1"/>
          </p:cNvSpPr>
          <p:nvPr>
            <p:ph type="title"/>
          </p:nvPr>
        </p:nvSpPr>
        <p:spPr>
          <a:prstGeom prst="rect">
            <a:avLst/>
          </a:prstGeom>
        </p:spPr>
        <p:txBody>
          <a:bodyPr/>
          <a:lstStyle/>
          <a:p>
            <a:r>
              <a:t>Dynamic programming:  adding a new variable</a:t>
            </a:r>
          </a:p>
        </p:txBody>
      </p:sp>
      <p:sp>
        <p:nvSpPr>
          <p:cNvPr id="702" name="Def.  OPT(i, w) = max-profit subset of items 1, …, i with weight limit w.…"/>
          <p:cNvSpPr txBox="1">
            <a:spLocks noGrp="1"/>
          </p:cNvSpPr>
          <p:nvPr>
            <p:ph type="body" idx="1"/>
          </p:nvPr>
        </p:nvSpPr>
        <p:spPr>
          <a:prstGeom prst="rect">
            <a:avLst/>
          </a:prstGeom>
        </p:spPr>
        <p:txBody>
          <a:bodyPr/>
          <a:lstStyle/>
          <a:p>
            <a:r>
              <a:t>Def.  </a:t>
            </a:r>
            <a:r>
              <a:rPr i="1">
                <a:solidFill>
                  <a:srgbClr val="000000"/>
                </a:solidFill>
                <a:latin typeface="Times"/>
                <a:ea typeface="Times"/>
                <a:cs typeface="Times"/>
                <a:sym typeface="Times"/>
              </a:rPr>
              <a:t>OPT</a:t>
            </a:r>
            <a:r>
              <a:rPr>
                <a:solidFill>
                  <a:srgbClr val="000000"/>
                </a:solidFill>
                <a:latin typeface="Times"/>
                <a:ea typeface="Times"/>
                <a:cs typeface="Times"/>
                <a:sym typeface="Times"/>
              </a:rPr>
              <a:t>(</a:t>
            </a:r>
            <a:r>
              <a:rPr i="1">
                <a:solidFill>
                  <a:srgbClr val="000000"/>
                </a:solidFill>
                <a:latin typeface="Times"/>
                <a:ea typeface="Times"/>
                <a:cs typeface="Times"/>
                <a:sym typeface="Times"/>
              </a:rPr>
              <a:t>i</a:t>
            </a:r>
            <a:r>
              <a:rPr>
                <a:solidFill>
                  <a:srgbClr val="000000"/>
                </a:solidFill>
                <a:latin typeface="Times"/>
                <a:ea typeface="Times"/>
                <a:cs typeface="Times"/>
                <a:sym typeface="Times"/>
              </a:rPr>
              <a:t>,</a:t>
            </a:r>
            <a:r>
              <a:rPr i="1">
                <a:solidFill>
                  <a:srgbClr val="000000"/>
                </a:solidFill>
                <a:latin typeface="Times"/>
                <a:ea typeface="Times"/>
                <a:cs typeface="Times"/>
                <a:sym typeface="Times"/>
              </a:rPr>
              <a:t> w</a:t>
            </a:r>
            <a:r>
              <a:rPr>
                <a:solidFill>
                  <a:srgbClr val="000000"/>
                </a:solidFill>
                <a:latin typeface="Times"/>
                <a:ea typeface="Times"/>
                <a:cs typeface="Times"/>
                <a:sym typeface="Times"/>
              </a:rPr>
              <a:t>) =</a:t>
            </a:r>
            <a:r>
              <a:rPr>
                <a:solidFill>
                  <a:srgbClr val="000000"/>
                </a:solidFill>
              </a:rPr>
              <a:t> max-profit subset of items </a:t>
            </a:r>
            <a:r>
              <a:rPr>
                <a:solidFill>
                  <a:srgbClr val="000000"/>
                </a:solidFill>
                <a:latin typeface="Times"/>
                <a:ea typeface="Times"/>
                <a:cs typeface="Times"/>
                <a:sym typeface="Times"/>
              </a:rPr>
              <a:t>1, …, </a:t>
            </a:r>
            <a:r>
              <a:rPr i="1">
                <a:solidFill>
                  <a:srgbClr val="000000"/>
                </a:solidFill>
                <a:latin typeface="Times"/>
                <a:ea typeface="Times"/>
                <a:cs typeface="Times"/>
                <a:sym typeface="Times"/>
              </a:rPr>
              <a:t>i</a:t>
            </a:r>
            <a:r>
              <a:rPr>
                <a:solidFill>
                  <a:srgbClr val="000000"/>
                </a:solidFill>
              </a:rPr>
              <a:t> with weight limit </a:t>
            </a:r>
            <a:r>
              <a:rPr i="1">
                <a:solidFill>
                  <a:srgbClr val="000000"/>
                </a:solidFill>
                <a:latin typeface="Times"/>
                <a:ea typeface="Times"/>
                <a:cs typeface="Times"/>
                <a:sym typeface="Times"/>
              </a:rPr>
              <a:t>w</a:t>
            </a:r>
            <a:r>
              <a:rPr>
                <a:solidFill>
                  <a:srgbClr val="000000"/>
                </a:solidFill>
              </a:rPr>
              <a:t>.</a:t>
            </a:r>
          </a:p>
          <a:p>
            <a:r>
              <a:t>Goal.  </a:t>
            </a:r>
            <a:r>
              <a:rPr i="1">
                <a:solidFill>
                  <a:srgbClr val="000000"/>
                </a:solidFill>
                <a:latin typeface="Times"/>
                <a:ea typeface="Times"/>
                <a:cs typeface="Times"/>
                <a:sym typeface="Times"/>
              </a:rPr>
              <a:t>OPT</a:t>
            </a:r>
            <a:r>
              <a:rPr>
                <a:solidFill>
                  <a:srgbClr val="000000"/>
                </a:solidFill>
                <a:latin typeface="Times"/>
                <a:ea typeface="Times"/>
                <a:cs typeface="Times"/>
                <a:sym typeface="Times"/>
              </a:rPr>
              <a:t>(</a:t>
            </a:r>
            <a:r>
              <a:rPr i="1">
                <a:solidFill>
                  <a:srgbClr val="000000"/>
                </a:solidFill>
                <a:latin typeface="Times"/>
                <a:ea typeface="Times"/>
                <a:cs typeface="Times"/>
                <a:sym typeface="Times"/>
              </a:rPr>
              <a:t>n</a:t>
            </a:r>
            <a:r>
              <a:rPr>
                <a:solidFill>
                  <a:srgbClr val="000000"/>
                </a:solidFill>
                <a:latin typeface="Times"/>
                <a:ea typeface="Times"/>
                <a:cs typeface="Times"/>
                <a:sym typeface="Times"/>
              </a:rPr>
              <a:t>,</a:t>
            </a:r>
            <a:r>
              <a:rPr i="1">
                <a:solidFill>
                  <a:srgbClr val="000000"/>
                </a:solidFill>
                <a:latin typeface="Times"/>
                <a:ea typeface="Times"/>
                <a:cs typeface="Times"/>
                <a:sym typeface="Times"/>
              </a:rPr>
              <a:t> W</a:t>
            </a:r>
            <a:r>
              <a:rPr>
                <a:solidFill>
                  <a:srgbClr val="000000"/>
                </a:solidFill>
                <a:latin typeface="Times"/>
                <a:ea typeface="Times"/>
                <a:cs typeface="Times"/>
                <a:sym typeface="Times"/>
              </a:rPr>
              <a:t>)</a:t>
            </a:r>
            <a:r>
              <a:rPr>
                <a:solidFill>
                  <a:srgbClr val="000000"/>
                </a:solidFill>
              </a:rPr>
              <a:t>.</a:t>
            </a:r>
          </a:p>
          <a:p>
            <a:br>
              <a:rPr>
                <a:solidFill>
                  <a:srgbClr val="000000"/>
                </a:solidFill>
              </a:rPr>
            </a:br>
            <a:r>
              <a:t>Case 1.</a:t>
            </a:r>
            <a:r>
              <a:rPr>
                <a:solidFill>
                  <a:srgbClr val="000000"/>
                </a:solidFill>
              </a:rPr>
              <a:t>  </a:t>
            </a:r>
            <a:r>
              <a:rPr i="1">
                <a:solidFill>
                  <a:srgbClr val="000000"/>
                </a:solidFill>
                <a:latin typeface="Times"/>
                <a:ea typeface="Times"/>
                <a:cs typeface="Times"/>
                <a:sym typeface="Times"/>
              </a:rPr>
              <a:t>OPT</a:t>
            </a:r>
            <a:r>
              <a:rPr>
                <a:solidFill>
                  <a:srgbClr val="000000"/>
                </a:solidFill>
                <a:latin typeface="Times"/>
                <a:ea typeface="Times"/>
                <a:cs typeface="Times"/>
                <a:sym typeface="Times"/>
              </a:rPr>
              <a:t>(</a:t>
            </a:r>
            <a:r>
              <a:rPr i="1">
                <a:solidFill>
                  <a:srgbClr val="000000"/>
                </a:solidFill>
                <a:latin typeface="Times"/>
                <a:ea typeface="Times"/>
                <a:cs typeface="Times"/>
                <a:sym typeface="Times"/>
              </a:rPr>
              <a:t>i</a:t>
            </a:r>
            <a:r>
              <a:rPr>
                <a:solidFill>
                  <a:srgbClr val="000000"/>
                </a:solidFill>
                <a:latin typeface="Times"/>
                <a:ea typeface="Times"/>
                <a:cs typeface="Times"/>
                <a:sym typeface="Times"/>
              </a:rPr>
              <a:t>,</a:t>
            </a:r>
            <a:r>
              <a:rPr i="1">
                <a:solidFill>
                  <a:srgbClr val="000000"/>
                </a:solidFill>
                <a:latin typeface="Times"/>
                <a:ea typeface="Times"/>
                <a:cs typeface="Times"/>
                <a:sym typeface="Times"/>
              </a:rPr>
              <a:t> w</a:t>
            </a:r>
            <a:r>
              <a:rPr>
                <a:solidFill>
                  <a:srgbClr val="000000"/>
                </a:solidFill>
                <a:latin typeface="Times"/>
                <a:ea typeface="Times"/>
                <a:cs typeface="Times"/>
                <a:sym typeface="Times"/>
              </a:rPr>
              <a:t>)</a:t>
            </a:r>
            <a:r>
              <a:rPr>
                <a:solidFill>
                  <a:srgbClr val="000000"/>
                </a:solidFill>
              </a:rPr>
              <a:t> does not select item </a:t>
            </a:r>
            <a:r>
              <a:rPr i="1">
                <a:solidFill>
                  <a:srgbClr val="000000"/>
                </a:solidFill>
                <a:latin typeface="Times"/>
                <a:ea typeface="Times"/>
                <a:cs typeface="Times"/>
                <a:sym typeface="Times"/>
              </a:rPr>
              <a:t>i</a:t>
            </a:r>
            <a:r>
              <a:rPr>
                <a:solidFill>
                  <a:srgbClr val="000000"/>
                </a:solidFill>
              </a:rPr>
              <a:t>. </a:t>
            </a:r>
          </a:p>
          <a:p>
            <a:pPr lvl="1"/>
            <a:r>
              <a:rPr i="1">
                <a:latin typeface="Times"/>
                <a:ea typeface="Times"/>
                <a:cs typeface="Times"/>
                <a:sym typeface="Times"/>
              </a:rPr>
              <a:t>OPT</a:t>
            </a:r>
            <a:r>
              <a:rPr>
                <a:latin typeface="Times"/>
                <a:ea typeface="Times"/>
                <a:cs typeface="Times"/>
                <a:sym typeface="Times"/>
              </a:rPr>
              <a:t>(</a:t>
            </a:r>
            <a:r>
              <a:rPr i="1">
                <a:latin typeface="Times"/>
                <a:ea typeface="Times"/>
                <a:cs typeface="Times"/>
                <a:sym typeface="Times"/>
              </a:rPr>
              <a:t>i</a:t>
            </a:r>
            <a:r>
              <a:rPr>
                <a:latin typeface="Times"/>
                <a:ea typeface="Times"/>
                <a:cs typeface="Times"/>
                <a:sym typeface="Times"/>
              </a:rPr>
              <a:t>,</a:t>
            </a:r>
            <a:r>
              <a:rPr i="1">
                <a:latin typeface="Times"/>
                <a:ea typeface="Times"/>
                <a:cs typeface="Times"/>
                <a:sym typeface="Times"/>
              </a:rPr>
              <a:t> w</a:t>
            </a:r>
            <a:r>
              <a:rPr>
                <a:latin typeface="Times"/>
                <a:ea typeface="Times"/>
                <a:cs typeface="Times"/>
                <a:sym typeface="Times"/>
              </a:rPr>
              <a:t>)</a:t>
            </a:r>
            <a:r>
              <a:t> selects best of </a:t>
            </a:r>
            <a:r>
              <a:rPr>
                <a:latin typeface="Times"/>
                <a:ea typeface="Times"/>
                <a:cs typeface="Times"/>
                <a:sym typeface="Times"/>
              </a:rPr>
              <a:t>{ 1, 2, …, </a:t>
            </a:r>
            <a:r>
              <a:rPr i="1">
                <a:latin typeface="Times"/>
                <a:ea typeface="Times"/>
                <a:cs typeface="Times"/>
                <a:sym typeface="Times"/>
              </a:rPr>
              <a:t>i </a:t>
            </a:r>
            <a:r>
              <a:rPr>
                <a:latin typeface="Times"/>
                <a:ea typeface="Times"/>
                <a:cs typeface="Times"/>
                <a:sym typeface="Times"/>
              </a:rPr>
              <a:t>– 1 }</a:t>
            </a:r>
            <a:r>
              <a:t> using weight limit </a:t>
            </a:r>
            <a:r>
              <a:rPr i="1">
                <a:latin typeface="Times"/>
                <a:ea typeface="Times"/>
                <a:cs typeface="Times"/>
                <a:sym typeface="Times"/>
              </a:rPr>
              <a:t>w</a:t>
            </a:r>
            <a:r>
              <a:t>. </a:t>
            </a:r>
          </a:p>
          <a:p>
            <a:br/>
            <a:r>
              <a:t>Case 2. </a:t>
            </a:r>
            <a:r>
              <a:rPr>
                <a:solidFill>
                  <a:srgbClr val="000000"/>
                </a:solidFill>
              </a:rPr>
              <a:t> </a:t>
            </a:r>
            <a:r>
              <a:rPr i="1">
                <a:solidFill>
                  <a:srgbClr val="000000"/>
                </a:solidFill>
                <a:latin typeface="Times"/>
                <a:ea typeface="Times"/>
                <a:cs typeface="Times"/>
                <a:sym typeface="Times"/>
              </a:rPr>
              <a:t>OPT</a:t>
            </a:r>
            <a:r>
              <a:rPr>
                <a:solidFill>
                  <a:srgbClr val="000000"/>
                </a:solidFill>
                <a:latin typeface="Times"/>
                <a:ea typeface="Times"/>
                <a:cs typeface="Times"/>
                <a:sym typeface="Times"/>
              </a:rPr>
              <a:t>(</a:t>
            </a:r>
            <a:r>
              <a:rPr i="1">
                <a:solidFill>
                  <a:srgbClr val="000000"/>
                </a:solidFill>
                <a:latin typeface="Times"/>
                <a:ea typeface="Times"/>
                <a:cs typeface="Times"/>
                <a:sym typeface="Times"/>
              </a:rPr>
              <a:t>i</a:t>
            </a:r>
            <a:r>
              <a:rPr>
                <a:solidFill>
                  <a:srgbClr val="000000"/>
                </a:solidFill>
                <a:latin typeface="Times"/>
                <a:ea typeface="Times"/>
                <a:cs typeface="Times"/>
                <a:sym typeface="Times"/>
              </a:rPr>
              <a:t>,</a:t>
            </a:r>
            <a:r>
              <a:rPr i="1">
                <a:solidFill>
                  <a:srgbClr val="000000"/>
                </a:solidFill>
                <a:latin typeface="Times"/>
                <a:ea typeface="Times"/>
                <a:cs typeface="Times"/>
                <a:sym typeface="Times"/>
              </a:rPr>
              <a:t> w</a:t>
            </a:r>
            <a:r>
              <a:rPr>
                <a:solidFill>
                  <a:srgbClr val="000000"/>
                </a:solidFill>
                <a:latin typeface="Times"/>
                <a:ea typeface="Times"/>
                <a:cs typeface="Times"/>
                <a:sym typeface="Times"/>
              </a:rPr>
              <a:t>)</a:t>
            </a:r>
            <a:r>
              <a:rPr>
                <a:solidFill>
                  <a:srgbClr val="000000"/>
                </a:solidFill>
              </a:rPr>
              <a:t> selects item </a:t>
            </a:r>
            <a:r>
              <a:rPr i="1">
                <a:solidFill>
                  <a:srgbClr val="000000"/>
                </a:solidFill>
                <a:latin typeface="Times"/>
                <a:ea typeface="Times"/>
                <a:cs typeface="Times"/>
                <a:sym typeface="Times"/>
              </a:rPr>
              <a:t>i</a:t>
            </a:r>
            <a:r>
              <a:rPr>
                <a:solidFill>
                  <a:srgbClr val="000000"/>
                </a:solidFill>
              </a:rPr>
              <a:t>.</a:t>
            </a:r>
          </a:p>
          <a:p>
            <a:pPr lvl="1"/>
            <a:r>
              <a:t>Collect value </a:t>
            </a:r>
            <a:r>
              <a:rPr i="1">
                <a:latin typeface="Times"/>
                <a:ea typeface="Times"/>
                <a:cs typeface="Times"/>
                <a:sym typeface="Times"/>
              </a:rPr>
              <a:t>v</a:t>
            </a:r>
            <a:r>
              <a:rPr i="1" baseline="-5999">
                <a:latin typeface="Times"/>
                <a:ea typeface="Times"/>
                <a:cs typeface="Times"/>
                <a:sym typeface="Times"/>
              </a:rPr>
              <a:t>i</a:t>
            </a:r>
            <a:r>
              <a:t>.</a:t>
            </a:r>
          </a:p>
          <a:p>
            <a:pPr lvl="1"/>
            <a:r>
              <a:t>New weight limit </a:t>
            </a:r>
            <a:r>
              <a:rPr>
                <a:latin typeface="Times"/>
                <a:ea typeface="Times"/>
                <a:cs typeface="Times"/>
                <a:sym typeface="Times"/>
              </a:rPr>
              <a:t>= </a:t>
            </a:r>
            <a:r>
              <a:rPr i="1">
                <a:latin typeface="Times"/>
                <a:ea typeface="Times"/>
                <a:cs typeface="Times"/>
                <a:sym typeface="Times"/>
              </a:rPr>
              <a:t>w</a:t>
            </a:r>
            <a:r>
              <a:rPr>
                <a:latin typeface="Times"/>
                <a:ea typeface="Times"/>
                <a:cs typeface="Times"/>
                <a:sym typeface="Times"/>
              </a:rPr>
              <a:t> – </a:t>
            </a:r>
            <a:r>
              <a:rPr i="1">
                <a:latin typeface="Times"/>
                <a:ea typeface="Times"/>
                <a:cs typeface="Times"/>
                <a:sym typeface="Times"/>
              </a:rPr>
              <a:t>w</a:t>
            </a:r>
            <a:r>
              <a:rPr i="1" baseline="-5999">
                <a:latin typeface="Times"/>
                <a:ea typeface="Times"/>
                <a:cs typeface="Times"/>
                <a:sym typeface="Times"/>
              </a:rPr>
              <a:t>i</a:t>
            </a:r>
            <a:r>
              <a:t>.</a:t>
            </a:r>
          </a:p>
          <a:p>
            <a:pPr lvl="1"/>
            <a:r>
              <a:rPr i="1">
                <a:latin typeface="Times"/>
                <a:ea typeface="Times"/>
                <a:cs typeface="Times"/>
                <a:sym typeface="Times"/>
              </a:rPr>
              <a:t>OPT</a:t>
            </a:r>
            <a:r>
              <a:rPr>
                <a:latin typeface="Times"/>
                <a:ea typeface="Times"/>
                <a:cs typeface="Times"/>
                <a:sym typeface="Times"/>
              </a:rPr>
              <a:t>(</a:t>
            </a:r>
            <a:r>
              <a:rPr i="1">
                <a:latin typeface="Times"/>
                <a:ea typeface="Times"/>
                <a:cs typeface="Times"/>
                <a:sym typeface="Times"/>
              </a:rPr>
              <a:t>i</a:t>
            </a:r>
            <a:r>
              <a:rPr>
                <a:latin typeface="Times"/>
                <a:ea typeface="Times"/>
                <a:cs typeface="Times"/>
                <a:sym typeface="Times"/>
              </a:rPr>
              <a:t>,</a:t>
            </a:r>
            <a:r>
              <a:rPr i="1">
                <a:latin typeface="Times"/>
                <a:ea typeface="Times"/>
                <a:cs typeface="Times"/>
                <a:sym typeface="Times"/>
              </a:rPr>
              <a:t> w</a:t>
            </a:r>
            <a:r>
              <a:rPr>
                <a:latin typeface="Times"/>
                <a:ea typeface="Times"/>
                <a:cs typeface="Times"/>
                <a:sym typeface="Times"/>
              </a:rPr>
              <a:t>)</a:t>
            </a:r>
            <a:r>
              <a:t> selects best of </a:t>
            </a:r>
            <a:r>
              <a:rPr>
                <a:latin typeface="Times"/>
                <a:ea typeface="Times"/>
                <a:cs typeface="Times"/>
                <a:sym typeface="Times"/>
              </a:rPr>
              <a:t>{ 1, 2, …, </a:t>
            </a:r>
            <a:r>
              <a:rPr i="1">
                <a:latin typeface="Times"/>
                <a:ea typeface="Times"/>
                <a:cs typeface="Times"/>
                <a:sym typeface="Times"/>
              </a:rPr>
              <a:t>i </a:t>
            </a:r>
            <a:r>
              <a:rPr>
                <a:latin typeface="Times"/>
                <a:ea typeface="Times"/>
                <a:cs typeface="Times"/>
                <a:sym typeface="Times"/>
              </a:rPr>
              <a:t>– 1 }</a:t>
            </a:r>
            <a:r>
              <a:t> using this new weight limit.</a:t>
            </a:r>
          </a:p>
          <a:p>
            <a:br/>
            <a:r>
              <a:t>Bellman equation.</a:t>
            </a:r>
          </a:p>
        </p:txBody>
      </p:sp>
      <p:sp>
        <p:nvSpPr>
          <p:cNvPr id="703"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43</a:t>
            </a:fld>
            <a:endParaRPr/>
          </a:p>
        </p:txBody>
      </p:sp>
      <p:grpSp>
        <p:nvGrpSpPr>
          <p:cNvPr id="706" name="成组"/>
          <p:cNvGrpSpPr/>
          <p:nvPr/>
        </p:nvGrpSpPr>
        <p:grpSpPr>
          <a:xfrm>
            <a:off x="8293100" y="4102100"/>
            <a:ext cx="3319198" cy="1479974"/>
            <a:chOff x="0" y="0"/>
            <a:chExt cx="3319197" cy="1479973"/>
          </a:xfrm>
        </p:grpSpPr>
        <p:sp>
          <p:nvSpPr>
            <p:cNvPr id="704" name="optimal substructure property…"/>
            <p:cNvSpPr/>
            <p:nvPr/>
          </p:nvSpPr>
          <p:spPr>
            <a:xfrm>
              <a:off x="2049197" y="209973"/>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lnSpc>
                  <a:spcPct val="140000"/>
                </a:lnSpc>
              </a:pPr>
              <a:r>
                <a:t>optimal substructure property</a:t>
              </a:r>
            </a:p>
            <a:p>
              <a:pPr>
                <a:lnSpc>
                  <a:spcPct val="140000"/>
                </a:lnSpc>
              </a:pPr>
              <a:r>
                <a:t>(proof via exchange argument)</a:t>
              </a:r>
            </a:p>
          </p:txBody>
        </p:sp>
        <p:sp>
          <p:nvSpPr>
            <p:cNvPr id="705" name="线条"/>
            <p:cNvSpPr/>
            <p:nvPr/>
          </p:nvSpPr>
          <p:spPr>
            <a:xfrm>
              <a:off x="0" y="0"/>
              <a:ext cx="407177" cy="374889"/>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707" name="线条"/>
          <p:cNvSpPr/>
          <p:nvPr/>
        </p:nvSpPr>
        <p:spPr>
          <a:xfrm flipV="1">
            <a:off x="8303542" y="4619598"/>
            <a:ext cx="407178" cy="374889"/>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grpSp>
        <p:nvGrpSpPr>
          <p:cNvPr id="710" name="成组"/>
          <p:cNvGrpSpPr/>
          <p:nvPr/>
        </p:nvGrpSpPr>
        <p:grpSpPr>
          <a:xfrm>
            <a:off x="6733656" y="2375997"/>
            <a:ext cx="2955349" cy="1270001"/>
            <a:chOff x="0" y="0"/>
            <a:chExt cx="2955348" cy="1270000"/>
          </a:xfrm>
        </p:grpSpPr>
        <p:sp>
          <p:nvSpPr>
            <p:cNvPr id="708" name="possibly because wi &gt; w"/>
            <p:cNvSpPr/>
            <p:nvPr/>
          </p:nvSpPr>
          <p:spPr>
            <a:xfrm>
              <a:off x="1685348" y="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lnSpc>
                  <a:spcPct val="140000"/>
                </a:lnSpc>
              </a:pPr>
              <a:r>
                <a:t>possibly because </a:t>
              </a:r>
              <a:r>
                <a:rPr sz="1800" i="1">
                  <a:latin typeface="Times"/>
                  <a:ea typeface="Times"/>
                  <a:cs typeface="Times"/>
                  <a:sym typeface="Times"/>
                </a:rPr>
                <a:t>w</a:t>
              </a:r>
              <a:r>
                <a:rPr sz="1800" i="1" baseline="-5999">
                  <a:latin typeface="Times"/>
                  <a:ea typeface="Times"/>
                  <a:cs typeface="Times"/>
                  <a:sym typeface="Times"/>
                </a:rPr>
                <a:t>i</a:t>
              </a:r>
              <a:r>
                <a:rPr sz="1800">
                  <a:latin typeface="Times"/>
                  <a:ea typeface="Times"/>
                  <a:cs typeface="Times"/>
                  <a:sym typeface="Times"/>
                </a:rPr>
                <a:t> &gt; </a:t>
              </a:r>
              <a:r>
                <a:rPr sz="1800" i="1">
                  <a:latin typeface="Times"/>
                  <a:ea typeface="Times"/>
                  <a:cs typeface="Times"/>
                  <a:sym typeface="Times"/>
                </a:rPr>
                <a:t>w</a:t>
              </a:r>
            </a:p>
          </p:txBody>
        </p:sp>
        <p:sp>
          <p:nvSpPr>
            <p:cNvPr id="709" name="线条"/>
            <p:cNvSpPr/>
            <p:nvPr/>
          </p:nvSpPr>
          <p:spPr>
            <a:xfrm flipV="1">
              <a:off x="0" y="214668"/>
              <a:ext cx="401276" cy="235076"/>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pic>
        <p:nvPicPr>
          <p:cNvPr id="711" name="图像" descr="图像"/>
          <p:cNvPicPr>
            <a:picLocks noChangeAspect="1"/>
          </p:cNvPicPr>
          <p:nvPr/>
        </p:nvPicPr>
        <p:blipFill>
          <a:blip r:embed="rId3"/>
          <a:stretch>
            <a:fillRect/>
          </a:stretch>
        </p:blipFill>
        <p:spPr>
          <a:xfrm>
            <a:off x="1154603" y="7637824"/>
            <a:ext cx="10477501" cy="1651001"/>
          </a:xfrm>
          <a:prstGeom prst="rect">
            <a:avLst/>
          </a:prstGeom>
          <a:ln w="12700">
            <a:miter lim="400000"/>
          </a:ln>
        </p:spPr>
      </p:pic>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716" name="Knapsack problem:  bottom-up dynamic programming"/>
          <p:cNvSpPr txBox="1">
            <a:spLocks noGrp="1"/>
          </p:cNvSpPr>
          <p:nvPr>
            <p:ph type="title"/>
          </p:nvPr>
        </p:nvSpPr>
        <p:spPr>
          <a:prstGeom prst="rect">
            <a:avLst/>
          </a:prstGeom>
        </p:spPr>
        <p:txBody>
          <a:bodyPr/>
          <a:lstStyle/>
          <a:p>
            <a:r>
              <a:t>Knapsack problem:  bottom-up dynamic programming</a:t>
            </a:r>
          </a:p>
        </p:txBody>
      </p:sp>
      <p:sp>
        <p:nvSpPr>
          <p:cNvPr id="717"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44</a:t>
            </a:fld>
            <a:endParaRPr/>
          </a:p>
        </p:txBody>
      </p:sp>
      <p:sp>
        <p:nvSpPr>
          <p:cNvPr id="718" name="Knapsack(n, W, w1, …, wn, v1, …, vn )…"/>
          <p:cNvSpPr txBox="1"/>
          <p:nvPr/>
        </p:nvSpPr>
        <p:spPr>
          <a:xfrm>
            <a:off x="1289050" y="1511300"/>
            <a:ext cx="10426700" cy="5715000"/>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92100" tIns="292100" rIns="292100" bIns="292100">
            <a:spAutoFit/>
          </a:bodyPr>
          <a:lstStyle/>
          <a:p>
            <a:pPr algn="l">
              <a:lnSpc>
                <a:spcPct val="100000"/>
              </a:lnSpc>
              <a:spcBef>
                <a:spcPts val="1200"/>
              </a:spcBef>
              <a:defRPr sz="2400" i="1">
                <a:solidFill>
                  <a:srgbClr val="000000"/>
                </a:solidFill>
                <a:latin typeface="Times"/>
                <a:ea typeface="Times"/>
                <a:cs typeface="Times"/>
                <a:sym typeface="Times"/>
              </a:defRPr>
            </a:pPr>
            <a:r>
              <a:rPr i="0" cap="small">
                <a:solidFill>
                  <a:srgbClr val="003F83"/>
                </a:solidFill>
              </a:rPr>
              <a:t>Knapsack</a:t>
            </a:r>
            <a:r>
              <a:rPr i="0"/>
              <a:t>(</a:t>
            </a:r>
            <a:r>
              <a:t>n</a:t>
            </a:r>
            <a:r>
              <a:rPr i="0"/>
              <a:t>, </a:t>
            </a:r>
            <a:r>
              <a:t>W</a:t>
            </a:r>
            <a:r>
              <a:rPr i="0"/>
              <a:t>, </a:t>
            </a:r>
            <a:r>
              <a:t>w</a:t>
            </a:r>
            <a:r>
              <a:rPr i="0" baseline="-5999"/>
              <a:t>1</a:t>
            </a:r>
            <a:r>
              <a:rPr i="0"/>
              <a:t>, …, </a:t>
            </a:r>
            <a:r>
              <a:t>w</a:t>
            </a:r>
            <a:r>
              <a:rPr baseline="-5999"/>
              <a:t>n</a:t>
            </a:r>
            <a:r>
              <a:rPr i="0"/>
              <a:t>, </a:t>
            </a:r>
            <a:r>
              <a:t>v</a:t>
            </a:r>
            <a:r>
              <a:rPr i="0" baseline="-5999"/>
              <a:t>1</a:t>
            </a:r>
            <a:r>
              <a:rPr i="0"/>
              <a:t>, …, </a:t>
            </a:r>
            <a:r>
              <a:t>v</a:t>
            </a:r>
            <a:r>
              <a:rPr baseline="-5999"/>
              <a:t>n</a:t>
            </a:r>
            <a:r>
              <a:t> </a:t>
            </a:r>
            <a:r>
              <a:rPr i="0"/>
              <a:t>)</a:t>
            </a:r>
            <a:r>
              <a:t>                          </a:t>
            </a:r>
            <a:endParaRPr sz="100"/>
          </a:p>
          <a:p>
            <a:pPr algn="l">
              <a:lnSpc>
                <a:spcPct val="100000"/>
              </a:lnSpc>
              <a:spcBef>
                <a:spcPts val="1200"/>
              </a:spcBef>
              <a:defRPr sz="2400">
                <a:solidFill>
                  <a:srgbClr val="000000"/>
                </a:solidFill>
                <a:latin typeface="Times"/>
                <a:ea typeface="Times"/>
                <a:cs typeface="Times"/>
                <a:sym typeface="Times"/>
              </a:defRPr>
            </a:pPr>
            <a:r>
              <a:rPr sz="10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For</a:t>
            </a:r>
            <a:r>
              <a:rPr i="1" cap="small">
                <a:solidFill>
                  <a:srgbClr val="003F83"/>
                </a:solidFill>
              </a:rPr>
              <a:t> </a:t>
            </a:r>
            <a:r>
              <a:t> </a:t>
            </a:r>
            <a:r>
              <a:rPr i="1"/>
              <a:t>w</a:t>
            </a:r>
            <a:r>
              <a:t> = 0 </a:t>
            </a:r>
            <a:r>
              <a:rPr cap="small">
                <a:solidFill>
                  <a:srgbClr val="003F83"/>
                </a:solidFill>
              </a:rPr>
              <a:t>to</a:t>
            </a:r>
            <a:r>
              <a:t> </a:t>
            </a:r>
            <a:r>
              <a:rPr i="1"/>
              <a:t>W</a:t>
            </a:r>
          </a:p>
          <a:p>
            <a:pPr lvl="1" algn="l">
              <a:lnSpc>
                <a:spcPct val="100000"/>
              </a:lnSpc>
              <a:spcBef>
                <a:spcPts val="1200"/>
              </a:spcBef>
              <a:buClrTx/>
              <a:buFontTx/>
              <a:defRPr sz="2400">
                <a:solidFill>
                  <a:srgbClr val="000000"/>
                </a:solidFill>
                <a:latin typeface="Times"/>
                <a:ea typeface="Times"/>
                <a:cs typeface="Times"/>
                <a:sym typeface="Times"/>
              </a:defRPr>
            </a:pPr>
            <a:r>
              <a:rPr i="1" spc="240"/>
              <a:t>M</a:t>
            </a:r>
            <a:r>
              <a:rPr spc="240"/>
              <a:t>[</a:t>
            </a:r>
            <a:r>
              <a:t>0, </a:t>
            </a:r>
            <a:r>
              <a:rPr i="1" spc="240"/>
              <a:t>w</a:t>
            </a:r>
            <a:r>
              <a:t>] ← 0.</a:t>
            </a:r>
            <a:br/>
            <a:endParaRP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For</a:t>
            </a:r>
            <a:r>
              <a:rPr i="1" cap="small">
                <a:solidFill>
                  <a:srgbClr val="003F83"/>
                </a:solidFill>
              </a:rPr>
              <a:t>  </a:t>
            </a:r>
            <a:r>
              <a:rPr i="1"/>
              <a:t>i</a:t>
            </a:r>
            <a:r>
              <a:t> = 1 </a:t>
            </a:r>
            <a:r>
              <a:rPr cap="small">
                <a:solidFill>
                  <a:srgbClr val="003F83"/>
                </a:solidFill>
              </a:rPr>
              <a:t>to</a:t>
            </a:r>
            <a:r>
              <a:t> </a:t>
            </a:r>
            <a:r>
              <a:rPr i="1"/>
              <a:t>n</a:t>
            </a:r>
          </a:p>
          <a:p>
            <a:pPr lvl="1"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For</a:t>
            </a:r>
            <a:r>
              <a:rPr i="1" cap="small">
                <a:solidFill>
                  <a:srgbClr val="003F83"/>
                </a:solidFill>
              </a:rPr>
              <a:t> </a:t>
            </a:r>
            <a:r>
              <a:t> </a:t>
            </a:r>
            <a:r>
              <a:rPr i="1"/>
              <a:t>w</a:t>
            </a:r>
            <a:r>
              <a:t> = 0 </a:t>
            </a:r>
            <a:r>
              <a:rPr cap="small">
                <a:solidFill>
                  <a:srgbClr val="003F83"/>
                </a:solidFill>
              </a:rPr>
              <a:t>to</a:t>
            </a:r>
            <a:r>
              <a:t> </a:t>
            </a:r>
            <a:r>
              <a:rPr i="1"/>
              <a:t>W</a:t>
            </a:r>
          </a:p>
          <a:p>
            <a:pPr lvl="2"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If</a:t>
            </a:r>
            <a:r>
              <a:rPr i="1" cap="small">
                <a:solidFill>
                  <a:srgbClr val="003F83"/>
                </a:solidFill>
              </a:rPr>
              <a:t> </a:t>
            </a:r>
            <a:r>
              <a:t> (</a:t>
            </a:r>
            <a:r>
              <a:rPr i="1"/>
              <a:t>w</a:t>
            </a:r>
            <a:r>
              <a:rPr i="1" baseline="-5999"/>
              <a:t>i</a:t>
            </a:r>
            <a:r>
              <a:t> &gt; </a:t>
            </a:r>
            <a:r>
              <a:rPr i="1"/>
              <a:t>w</a:t>
            </a:r>
            <a:r>
              <a:t>)   </a:t>
            </a:r>
            <a:r>
              <a:rPr i="1" spc="240"/>
              <a:t>M</a:t>
            </a:r>
            <a:r>
              <a:rPr spc="240"/>
              <a:t>[</a:t>
            </a:r>
            <a:r>
              <a:rPr i="1"/>
              <a:t>i</a:t>
            </a:r>
            <a:r>
              <a:t>,</a:t>
            </a:r>
            <a:r>
              <a:rPr i="1"/>
              <a:t> </a:t>
            </a:r>
            <a:r>
              <a:rPr i="1" spc="240"/>
              <a:t>w</a:t>
            </a:r>
            <a:r>
              <a:t>]  ←  </a:t>
            </a:r>
            <a:r>
              <a:rPr i="1" spc="240"/>
              <a:t>M</a:t>
            </a:r>
            <a:r>
              <a:rPr spc="240"/>
              <a:t>[</a:t>
            </a:r>
            <a:r>
              <a:rPr i="1"/>
              <a:t>i</a:t>
            </a:r>
            <a:r>
              <a:rPr i="1" baseline="31999"/>
              <a:t> </a:t>
            </a:r>
            <a:r>
              <a:t>–</a:t>
            </a:r>
            <a:r>
              <a:rPr i="1" baseline="31999"/>
              <a:t> </a:t>
            </a:r>
            <a:r>
              <a:t>1, </a:t>
            </a:r>
            <a:r>
              <a:rPr i="1" spc="240"/>
              <a:t>w</a:t>
            </a:r>
            <a:r>
              <a:t>].</a:t>
            </a:r>
          </a:p>
          <a:p>
            <a:pPr lvl="2" algn="l">
              <a:lnSpc>
                <a:spcPct val="100000"/>
              </a:lnSpc>
              <a:spcBef>
                <a:spcPts val="1200"/>
              </a:spcBef>
              <a:buClrTx/>
              <a:buFontTx/>
              <a:defRPr sz="2400">
                <a:solidFill>
                  <a:srgbClr val="000000"/>
                </a:solidFill>
                <a:latin typeface="Times"/>
                <a:ea typeface="Times"/>
                <a:cs typeface="Times"/>
                <a:sym typeface="Times"/>
              </a:defRPr>
            </a:pPr>
            <a:r>
              <a:rPr cap="small">
                <a:solidFill>
                  <a:srgbClr val="003F83"/>
                </a:solidFill>
              </a:rPr>
              <a:t>Else</a:t>
            </a:r>
            <a:r>
              <a:rPr i="1" cap="small">
                <a:solidFill>
                  <a:srgbClr val="003F83"/>
                </a:solidFill>
              </a:rPr>
              <a:t>             </a:t>
            </a:r>
            <a:r>
              <a:rPr i="1" spc="240"/>
              <a:t>M</a:t>
            </a:r>
            <a:r>
              <a:rPr spc="240"/>
              <a:t>[</a:t>
            </a:r>
            <a:r>
              <a:rPr i="1"/>
              <a:t>i</a:t>
            </a:r>
            <a:r>
              <a:t>,</a:t>
            </a:r>
            <a:r>
              <a:rPr i="1"/>
              <a:t> </a:t>
            </a:r>
            <a:r>
              <a:rPr i="1" spc="240"/>
              <a:t>w</a:t>
            </a:r>
            <a:r>
              <a:t>]  ←  max { </a:t>
            </a:r>
            <a:r>
              <a:rPr i="1" spc="240"/>
              <a:t>M</a:t>
            </a:r>
            <a:r>
              <a:rPr spc="240"/>
              <a:t>[</a:t>
            </a:r>
            <a:r>
              <a:rPr i="1"/>
              <a:t>i</a:t>
            </a:r>
            <a:r>
              <a:rPr i="1" baseline="31999"/>
              <a:t> </a:t>
            </a:r>
            <a:r>
              <a:t>–</a:t>
            </a:r>
            <a:r>
              <a:rPr i="1" baseline="31999"/>
              <a:t> </a:t>
            </a:r>
            <a:r>
              <a:t>1, </a:t>
            </a:r>
            <a:r>
              <a:rPr i="1" spc="240"/>
              <a:t>w</a:t>
            </a:r>
            <a:r>
              <a:t>],  </a:t>
            </a:r>
            <a:r>
              <a:rPr i="1"/>
              <a:t>v</a:t>
            </a:r>
            <a:r>
              <a:rPr i="1" baseline="-5999"/>
              <a:t>i</a:t>
            </a:r>
            <a:r>
              <a:rPr i="1" baseline="31999"/>
              <a:t> </a:t>
            </a:r>
            <a:r>
              <a:t> + </a:t>
            </a:r>
            <a:r>
              <a:rPr i="1" spc="240"/>
              <a:t>M</a:t>
            </a:r>
            <a:r>
              <a:rPr spc="240"/>
              <a:t>[</a:t>
            </a:r>
            <a:r>
              <a:rPr i="1"/>
              <a:t>i</a:t>
            </a:r>
            <a:r>
              <a:rPr i="1" baseline="31999"/>
              <a:t> </a:t>
            </a:r>
            <a:r>
              <a:t>–</a:t>
            </a:r>
            <a:r>
              <a:rPr i="1" baseline="31999"/>
              <a:t> </a:t>
            </a:r>
            <a:r>
              <a:t>1, </a:t>
            </a:r>
            <a:r>
              <a:rPr i="1"/>
              <a:t>w</a:t>
            </a:r>
            <a:r>
              <a:t> – </a:t>
            </a:r>
            <a:r>
              <a:rPr i="1"/>
              <a:t>w</a:t>
            </a:r>
            <a:r>
              <a:rPr i="1" baseline="-5999"/>
              <a:t>i</a:t>
            </a:r>
            <a:r>
              <a:t>] }.</a:t>
            </a:r>
            <a:br/>
            <a:endParaRPr/>
          </a:p>
          <a:p>
            <a:pPr algn="l">
              <a:lnSpc>
                <a:spcPct val="100000"/>
              </a:lnSpc>
              <a:spcBef>
                <a:spcPts val="1200"/>
              </a:spcBef>
              <a:defRPr sz="2400">
                <a:solidFill>
                  <a:srgbClr val="000000"/>
                </a:solidFill>
                <a:latin typeface="Times"/>
                <a:ea typeface="Times"/>
                <a:cs typeface="Times"/>
                <a:sym typeface="Times"/>
              </a:defRPr>
            </a:pPr>
            <a:r>
              <a:rPr cap="small">
                <a:solidFill>
                  <a:srgbClr val="003F83"/>
                </a:solidFill>
              </a:rPr>
              <a:t>Return</a:t>
            </a:r>
            <a:r>
              <a:rPr i="1" cap="small">
                <a:solidFill>
                  <a:srgbClr val="003F83"/>
                </a:solidFill>
              </a:rPr>
              <a:t> </a:t>
            </a:r>
            <a:r>
              <a:t> </a:t>
            </a:r>
            <a:r>
              <a:rPr i="1" spc="240"/>
              <a:t>M</a:t>
            </a:r>
            <a:r>
              <a:rPr spc="240"/>
              <a:t>[</a:t>
            </a:r>
            <a:r>
              <a:rPr i="1"/>
              <a:t>n</a:t>
            </a:r>
            <a:r>
              <a:t>,</a:t>
            </a:r>
            <a:r>
              <a:rPr i="1"/>
              <a:t> W</a:t>
            </a:r>
            <a:r>
              <a:t>].</a:t>
            </a:r>
          </a:p>
          <a:p>
            <a:pPr algn="l">
              <a:lnSpc>
                <a:spcPct val="100000"/>
              </a:lnSpc>
              <a:spcBef>
                <a:spcPts val="1200"/>
              </a:spcBef>
              <a:defRPr sz="2400">
                <a:solidFill>
                  <a:srgbClr val="000000"/>
                </a:solidFill>
                <a:latin typeface="Times"/>
                <a:ea typeface="Times"/>
                <a:cs typeface="Times"/>
                <a:sym typeface="Times"/>
              </a:defRPr>
            </a:pPr>
            <a:r>
              <a:rPr sz="10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p:txBody>
      </p:sp>
      <p:grpSp>
        <p:nvGrpSpPr>
          <p:cNvPr id="723" name="成组"/>
          <p:cNvGrpSpPr/>
          <p:nvPr/>
        </p:nvGrpSpPr>
        <p:grpSpPr>
          <a:xfrm>
            <a:off x="6670713" y="3830572"/>
            <a:ext cx="2529199" cy="1501251"/>
            <a:chOff x="125797" y="0"/>
            <a:chExt cx="2529197" cy="1501249"/>
          </a:xfrm>
        </p:grpSpPr>
        <p:sp>
          <p:nvSpPr>
            <p:cNvPr id="719" name="previously computed values"/>
            <p:cNvSpPr/>
            <p:nvPr/>
          </p:nvSpPr>
          <p:spPr>
            <a:xfrm>
              <a:off x="1260078" y="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lnSpc>
                  <a:spcPct val="140000"/>
                </a:lnSpc>
              </a:lvl1pPr>
            </a:lstStyle>
            <a:p>
              <a:r>
                <a:t>previously computed values</a:t>
              </a:r>
            </a:p>
          </p:txBody>
        </p:sp>
        <p:sp>
          <p:nvSpPr>
            <p:cNvPr id="720" name="线条"/>
            <p:cNvSpPr/>
            <p:nvPr/>
          </p:nvSpPr>
          <p:spPr>
            <a:xfrm flipH="1" flipV="1">
              <a:off x="1508773" y="429209"/>
              <a:ext cx="1146223" cy="1009119"/>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721" name="线条"/>
            <p:cNvSpPr/>
            <p:nvPr/>
          </p:nvSpPr>
          <p:spPr>
            <a:xfrm flipV="1">
              <a:off x="998195" y="427024"/>
              <a:ext cx="33356" cy="1074226"/>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722" name="线条"/>
            <p:cNvSpPr/>
            <p:nvPr/>
          </p:nvSpPr>
          <p:spPr>
            <a:xfrm flipV="1">
              <a:off x="125797" y="422606"/>
              <a:ext cx="557852" cy="539056"/>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pic>
        <p:nvPicPr>
          <p:cNvPr id="724" name="图像" descr="图像"/>
          <p:cNvPicPr>
            <a:picLocks noChangeAspect="1"/>
          </p:cNvPicPr>
          <p:nvPr/>
        </p:nvPicPr>
        <p:blipFill>
          <a:blip r:embed="rId2"/>
          <a:stretch>
            <a:fillRect/>
          </a:stretch>
        </p:blipFill>
        <p:spPr>
          <a:xfrm>
            <a:off x="1154603" y="7637824"/>
            <a:ext cx="10477501" cy="1651001"/>
          </a:xfrm>
          <a:prstGeom prst="rect">
            <a:avLst/>
          </a:prstGeom>
          <a:ln w="12700">
            <a:miter lim="400000"/>
          </a:ln>
        </p:spPr>
      </p:pic>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727" name="Knapsack problem:  bottom-up dynamic programming demo"/>
          <p:cNvSpPr txBox="1">
            <a:spLocks noGrp="1"/>
          </p:cNvSpPr>
          <p:nvPr>
            <p:ph type="title"/>
          </p:nvPr>
        </p:nvSpPr>
        <p:spPr>
          <a:prstGeom prst="rect">
            <a:avLst/>
          </a:prstGeom>
        </p:spPr>
        <p:txBody>
          <a:bodyPr/>
          <a:lstStyle/>
          <a:p>
            <a:r>
              <a:t>Knapsack problem:  bottom-up dynamic programming demo</a:t>
            </a:r>
          </a:p>
        </p:txBody>
      </p:sp>
      <p:sp>
        <p:nvSpPr>
          <p:cNvPr id="728"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45</a:t>
            </a:fld>
            <a:endParaRPr/>
          </a:p>
        </p:txBody>
      </p:sp>
      <p:graphicFrame>
        <p:nvGraphicFramePr>
          <p:cNvPr id="729" name="表格"/>
          <p:cNvGraphicFramePr/>
          <p:nvPr>
            <p:extLst>
              <p:ext uri="{D42A27DB-BD31-4B8C-83A1-F6EECF244321}">
                <p14:modId xmlns:p14="http://schemas.microsoft.com/office/powerpoint/2010/main" val="460732815"/>
              </p:ext>
            </p:extLst>
          </p:nvPr>
        </p:nvGraphicFramePr>
        <p:xfrm>
          <a:off x="1498600" y="4711700"/>
          <a:ext cx="10833099" cy="4203696"/>
        </p:xfrm>
        <a:graphic>
          <a:graphicData uri="http://schemas.openxmlformats.org/drawingml/2006/table">
            <a:tbl>
              <a:tblPr firstRow="1" firstCol="1">
                <a:tableStyleId>{8F44A2F1-9E1F-4B54-A3A2-5F16C0AD49E2}</a:tableStyleId>
              </a:tblPr>
              <a:tblGrid>
                <a:gridCol w="1712547">
                  <a:extLst>
                    <a:ext uri="{9D8B030D-6E8A-4147-A177-3AD203B41FA5}">
                      <a16:colId xmlns:a16="http://schemas.microsoft.com/office/drawing/2014/main" val="20000"/>
                    </a:ext>
                  </a:extLst>
                </a:gridCol>
                <a:gridCol w="760046">
                  <a:extLst>
                    <a:ext uri="{9D8B030D-6E8A-4147-A177-3AD203B41FA5}">
                      <a16:colId xmlns:a16="http://schemas.microsoft.com/office/drawing/2014/main" val="20001"/>
                    </a:ext>
                  </a:extLst>
                </a:gridCol>
                <a:gridCol w="760046">
                  <a:extLst>
                    <a:ext uri="{9D8B030D-6E8A-4147-A177-3AD203B41FA5}">
                      <a16:colId xmlns:a16="http://schemas.microsoft.com/office/drawing/2014/main" val="20002"/>
                    </a:ext>
                  </a:extLst>
                </a:gridCol>
                <a:gridCol w="760046">
                  <a:extLst>
                    <a:ext uri="{9D8B030D-6E8A-4147-A177-3AD203B41FA5}">
                      <a16:colId xmlns:a16="http://schemas.microsoft.com/office/drawing/2014/main" val="20003"/>
                    </a:ext>
                  </a:extLst>
                </a:gridCol>
                <a:gridCol w="760046">
                  <a:extLst>
                    <a:ext uri="{9D8B030D-6E8A-4147-A177-3AD203B41FA5}">
                      <a16:colId xmlns:a16="http://schemas.microsoft.com/office/drawing/2014/main" val="20004"/>
                    </a:ext>
                  </a:extLst>
                </a:gridCol>
                <a:gridCol w="760046">
                  <a:extLst>
                    <a:ext uri="{9D8B030D-6E8A-4147-A177-3AD203B41FA5}">
                      <a16:colId xmlns:a16="http://schemas.microsoft.com/office/drawing/2014/main" val="20005"/>
                    </a:ext>
                  </a:extLst>
                </a:gridCol>
                <a:gridCol w="760046">
                  <a:extLst>
                    <a:ext uri="{9D8B030D-6E8A-4147-A177-3AD203B41FA5}">
                      <a16:colId xmlns:a16="http://schemas.microsoft.com/office/drawing/2014/main" val="20006"/>
                    </a:ext>
                  </a:extLst>
                </a:gridCol>
                <a:gridCol w="760046">
                  <a:extLst>
                    <a:ext uri="{9D8B030D-6E8A-4147-A177-3AD203B41FA5}">
                      <a16:colId xmlns:a16="http://schemas.microsoft.com/office/drawing/2014/main" val="20007"/>
                    </a:ext>
                  </a:extLst>
                </a:gridCol>
                <a:gridCol w="760046">
                  <a:extLst>
                    <a:ext uri="{9D8B030D-6E8A-4147-A177-3AD203B41FA5}">
                      <a16:colId xmlns:a16="http://schemas.microsoft.com/office/drawing/2014/main" val="20008"/>
                    </a:ext>
                  </a:extLst>
                </a:gridCol>
                <a:gridCol w="760046">
                  <a:extLst>
                    <a:ext uri="{9D8B030D-6E8A-4147-A177-3AD203B41FA5}">
                      <a16:colId xmlns:a16="http://schemas.microsoft.com/office/drawing/2014/main" val="20009"/>
                    </a:ext>
                  </a:extLst>
                </a:gridCol>
                <a:gridCol w="760046">
                  <a:extLst>
                    <a:ext uri="{9D8B030D-6E8A-4147-A177-3AD203B41FA5}">
                      <a16:colId xmlns:a16="http://schemas.microsoft.com/office/drawing/2014/main" val="20010"/>
                    </a:ext>
                  </a:extLst>
                </a:gridCol>
                <a:gridCol w="760046">
                  <a:extLst>
                    <a:ext uri="{9D8B030D-6E8A-4147-A177-3AD203B41FA5}">
                      <a16:colId xmlns:a16="http://schemas.microsoft.com/office/drawing/2014/main" val="20011"/>
                    </a:ext>
                  </a:extLst>
                </a:gridCol>
                <a:gridCol w="760046">
                  <a:extLst>
                    <a:ext uri="{9D8B030D-6E8A-4147-A177-3AD203B41FA5}">
                      <a16:colId xmlns:a16="http://schemas.microsoft.com/office/drawing/2014/main" val="20012"/>
                    </a:ext>
                  </a:extLst>
                </a:gridCol>
              </a:tblGrid>
              <a:tr h="600528">
                <a:tc>
                  <a:txBody>
                    <a:bodyPr/>
                    <a:lstStyle/>
                    <a:p>
                      <a:pPr marL="58702" marR="58702" defTabSz="1295400">
                        <a:lnSpc>
                          <a:spcPct val="130000"/>
                        </a:lnSpc>
                        <a:tabLst/>
                        <a:defRPr sz="1800">
                          <a:uFill>
                            <a:solidFill>
                              <a:srgbClr val="000000"/>
                            </a:solidFill>
                          </a:uFill>
                        </a:defRPr>
                      </a:pPr>
                      <a:endParaRPr/>
                    </a:p>
                  </a:txBody>
                  <a:tcPr marL="50800" marR="50800" marT="50800" marB="50800" anchor="ctr" horzOverflow="overflow">
                    <a:lnL w="28575">
                      <a:miter lim="400000"/>
                    </a:lnL>
                    <a:noFill/>
                  </a:tcPr>
                </a:tc>
                <a:tc>
                  <a:txBody>
                    <a:bodyPr/>
                    <a:lstStyle/>
                    <a:p>
                      <a:pPr marL="58702" marR="58702" defTabSz="1295400">
                        <a:lnSpc>
                          <a:spcPct val="130000"/>
                        </a:lnSpc>
                        <a:tabLst/>
                        <a:defRPr sz="1800">
                          <a:solidFill>
                            <a:srgbClr val="000000"/>
                          </a:solidFill>
                        </a:defRPr>
                      </a:pPr>
                      <a:r>
                        <a:rPr b="1">
                          <a:solidFill>
                            <a:srgbClr val="FFFFFF"/>
                          </a:solidFill>
                          <a:uFill>
                            <a:solidFill>
                              <a:srgbClr val="000000"/>
                            </a:solidFill>
                          </a:uFill>
                          <a:latin typeface="Lucida Grande"/>
                          <a:ea typeface="Lucida Grande"/>
                          <a:cs typeface="Lucida Grande"/>
                          <a:sym typeface="Lucida Grande"/>
                        </a:rPr>
                        <a:t>0</a:t>
                      </a:r>
                    </a:p>
                  </a:txBody>
                  <a:tcPr marL="50800" marR="50800" marT="50800" marB="50800" anchor="ctr" horzOverflow="overflow"/>
                </a:tc>
                <a:tc>
                  <a:txBody>
                    <a:bodyPr/>
                    <a:lstStyle/>
                    <a:p>
                      <a:pPr marL="58702" marR="58702" defTabSz="1295400">
                        <a:lnSpc>
                          <a:spcPct val="130000"/>
                        </a:lnSpc>
                        <a:tabLst/>
                        <a:defRPr sz="1800">
                          <a:solidFill>
                            <a:srgbClr val="000000"/>
                          </a:solidFill>
                        </a:defRPr>
                      </a:pPr>
                      <a:r>
                        <a:rPr b="1">
                          <a:solidFill>
                            <a:srgbClr val="FFFFFF"/>
                          </a:solidFill>
                          <a:uFill>
                            <a:solidFill>
                              <a:srgbClr val="000000"/>
                            </a:solidFill>
                          </a:uFill>
                          <a:latin typeface="Lucida Grande"/>
                          <a:ea typeface="Lucida Grande"/>
                          <a:cs typeface="Lucida Grande"/>
                          <a:sym typeface="Lucida Grande"/>
                        </a:rPr>
                        <a:t>1</a:t>
                      </a:r>
                    </a:p>
                  </a:txBody>
                  <a:tcPr marL="50800" marR="50800" marT="50800" marB="50800" anchor="ctr" horzOverflow="overflow"/>
                </a:tc>
                <a:tc>
                  <a:txBody>
                    <a:bodyPr/>
                    <a:lstStyle/>
                    <a:p>
                      <a:pPr marL="58702" marR="58702" defTabSz="1295400">
                        <a:lnSpc>
                          <a:spcPct val="130000"/>
                        </a:lnSpc>
                        <a:tabLst/>
                        <a:defRPr sz="1800">
                          <a:solidFill>
                            <a:srgbClr val="000000"/>
                          </a:solidFill>
                        </a:defRPr>
                      </a:pPr>
                      <a:r>
                        <a:rPr b="1">
                          <a:solidFill>
                            <a:srgbClr val="FFFFFF"/>
                          </a:solidFill>
                          <a:uFill>
                            <a:solidFill>
                              <a:srgbClr val="000000"/>
                            </a:solidFill>
                          </a:uFill>
                          <a:latin typeface="Lucida Grande"/>
                          <a:ea typeface="Lucida Grande"/>
                          <a:cs typeface="Lucida Grande"/>
                          <a:sym typeface="Lucida Grande"/>
                        </a:rPr>
                        <a:t>2</a:t>
                      </a:r>
                    </a:p>
                  </a:txBody>
                  <a:tcPr marL="50800" marR="50800" marT="50800" marB="50800" anchor="ctr" horzOverflow="overflow"/>
                </a:tc>
                <a:tc>
                  <a:txBody>
                    <a:bodyPr/>
                    <a:lstStyle/>
                    <a:p>
                      <a:pPr marL="58702" marR="58702" defTabSz="1295400">
                        <a:lnSpc>
                          <a:spcPct val="130000"/>
                        </a:lnSpc>
                        <a:tabLst/>
                        <a:defRPr sz="1800">
                          <a:solidFill>
                            <a:srgbClr val="000000"/>
                          </a:solidFill>
                        </a:defRPr>
                      </a:pPr>
                      <a:r>
                        <a:rPr b="1">
                          <a:solidFill>
                            <a:srgbClr val="FFFFFF"/>
                          </a:solidFill>
                          <a:uFill>
                            <a:solidFill>
                              <a:srgbClr val="000000"/>
                            </a:solidFill>
                          </a:uFill>
                          <a:latin typeface="Lucida Grande"/>
                          <a:ea typeface="Lucida Grande"/>
                          <a:cs typeface="Lucida Grande"/>
                          <a:sym typeface="Lucida Grande"/>
                        </a:rPr>
                        <a:t>3</a:t>
                      </a:r>
                    </a:p>
                  </a:txBody>
                  <a:tcPr marL="50800" marR="50800" marT="50800" marB="50800" anchor="ctr" horzOverflow="overflow"/>
                </a:tc>
                <a:tc>
                  <a:txBody>
                    <a:bodyPr/>
                    <a:lstStyle/>
                    <a:p>
                      <a:pPr marL="58702" marR="58702" defTabSz="1295400">
                        <a:lnSpc>
                          <a:spcPct val="130000"/>
                        </a:lnSpc>
                        <a:tabLst/>
                        <a:defRPr sz="1800">
                          <a:solidFill>
                            <a:srgbClr val="000000"/>
                          </a:solidFill>
                        </a:defRPr>
                      </a:pPr>
                      <a:r>
                        <a:rPr b="1">
                          <a:solidFill>
                            <a:srgbClr val="FFFFFF"/>
                          </a:solidFill>
                          <a:uFill>
                            <a:solidFill>
                              <a:srgbClr val="000000"/>
                            </a:solidFill>
                          </a:uFill>
                          <a:latin typeface="Lucida Grande"/>
                          <a:ea typeface="Lucida Grande"/>
                          <a:cs typeface="Lucida Grande"/>
                          <a:sym typeface="Lucida Grande"/>
                        </a:rPr>
                        <a:t>4</a:t>
                      </a:r>
                    </a:p>
                  </a:txBody>
                  <a:tcPr marL="50800" marR="50800" marT="50800" marB="50800" anchor="ctr" horzOverflow="overflow"/>
                </a:tc>
                <a:tc>
                  <a:txBody>
                    <a:bodyPr/>
                    <a:lstStyle/>
                    <a:p>
                      <a:pPr marL="58702" marR="58702" defTabSz="1295400">
                        <a:lnSpc>
                          <a:spcPct val="130000"/>
                        </a:lnSpc>
                        <a:tabLst/>
                        <a:defRPr sz="1800">
                          <a:solidFill>
                            <a:srgbClr val="000000"/>
                          </a:solidFill>
                        </a:defRPr>
                      </a:pPr>
                      <a:r>
                        <a:rPr b="1">
                          <a:solidFill>
                            <a:srgbClr val="FFFFFF"/>
                          </a:solidFill>
                          <a:uFill>
                            <a:solidFill>
                              <a:srgbClr val="000000"/>
                            </a:solidFill>
                          </a:uFill>
                          <a:latin typeface="Lucida Grande"/>
                          <a:ea typeface="Lucida Grande"/>
                          <a:cs typeface="Lucida Grande"/>
                          <a:sym typeface="Lucida Grande"/>
                        </a:rPr>
                        <a:t>5</a:t>
                      </a:r>
                    </a:p>
                  </a:txBody>
                  <a:tcPr marL="50800" marR="50800" marT="50800" marB="50800" anchor="ctr" horzOverflow="overflow"/>
                </a:tc>
                <a:tc>
                  <a:txBody>
                    <a:bodyPr/>
                    <a:lstStyle/>
                    <a:p>
                      <a:pPr marL="58702" marR="58702" defTabSz="1295400">
                        <a:lnSpc>
                          <a:spcPct val="130000"/>
                        </a:lnSpc>
                        <a:tabLst/>
                        <a:defRPr sz="1800">
                          <a:solidFill>
                            <a:srgbClr val="000000"/>
                          </a:solidFill>
                        </a:defRPr>
                      </a:pPr>
                      <a:r>
                        <a:rPr b="1">
                          <a:solidFill>
                            <a:srgbClr val="FFFFFF"/>
                          </a:solidFill>
                          <a:uFill>
                            <a:solidFill>
                              <a:srgbClr val="000000"/>
                            </a:solidFill>
                          </a:uFill>
                          <a:latin typeface="Lucida Grande"/>
                          <a:ea typeface="Lucida Grande"/>
                          <a:cs typeface="Lucida Grande"/>
                          <a:sym typeface="Lucida Grande"/>
                        </a:rPr>
                        <a:t>6</a:t>
                      </a:r>
                    </a:p>
                  </a:txBody>
                  <a:tcPr marL="50800" marR="50800" marT="50800" marB="50800" anchor="ctr" horzOverflow="overflow"/>
                </a:tc>
                <a:tc>
                  <a:txBody>
                    <a:bodyPr/>
                    <a:lstStyle/>
                    <a:p>
                      <a:pPr marL="58702" marR="58702" defTabSz="1295400">
                        <a:lnSpc>
                          <a:spcPct val="130000"/>
                        </a:lnSpc>
                        <a:tabLst/>
                        <a:defRPr sz="1800">
                          <a:solidFill>
                            <a:srgbClr val="000000"/>
                          </a:solidFill>
                        </a:defRPr>
                      </a:pPr>
                      <a:r>
                        <a:rPr b="1">
                          <a:solidFill>
                            <a:srgbClr val="FFFFFF"/>
                          </a:solidFill>
                          <a:uFill>
                            <a:solidFill>
                              <a:srgbClr val="000000"/>
                            </a:solidFill>
                          </a:uFill>
                          <a:latin typeface="Lucida Grande"/>
                          <a:ea typeface="Lucida Grande"/>
                          <a:cs typeface="Lucida Grande"/>
                          <a:sym typeface="Lucida Grande"/>
                        </a:rPr>
                        <a:t>7</a:t>
                      </a:r>
                    </a:p>
                  </a:txBody>
                  <a:tcPr marL="50800" marR="50800" marT="50800" marB="50800" anchor="ctr" horzOverflow="overflow"/>
                </a:tc>
                <a:tc>
                  <a:txBody>
                    <a:bodyPr/>
                    <a:lstStyle/>
                    <a:p>
                      <a:pPr marL="58702" marR="58702" defTabSz="1295400">
                        <a:lnSpc>
                          <a:spcPct val="130000"/>
                        </a:lnSpc>
                        <a:tabLst/>
                        <a:defRPr sz="1800">
                          <a:solidFill>
                            <a:srgbClr val="000000"/>
                          </a:solidFill>
                        </a:defRPr>
                      </a:pPr>
                      <a:r>
                        <a:rPr b="1">
                          <a:solidFill>
                            <a:srgbClr val="FFFFFF"/>
                          </a:solidFill>
                          <a:uFill>
                            <a:solidFill>
                              <a:srgbClr val="000000"/>
                            </a:solidFill>
                          </a:uFill>
                          <a:latin typeface="Lucida Grande"/>
                          <a:ea typeface="Lucida Grande"/>
                          <a:cs typeface="Lucida Grande"/>
                          <a:sym typeface="Lucida Grande"/>
                        </a:rPr>
                        <a:t>8</a:t>
                      </a:r>
                    </a:p>
                  </a:txBody>
                  <a:tcPr marL="50800" marR="50800" marT="50800" marB="50800" anchor="ctr" horzOverflow="overflow"/>
                </a:tc>
                <a:tc>
                  <a:txBody>
                    <a:bodyPr/>
                    <a:lstStyle/>
                    <a:p>
                      <a:pPr marL="58702" marR="58702" defTabSz="1295400">
                        <a:lnSpc>
                          <a:spcPct val="130000"/>
                        </a:lnSpc>
                        <a:tabLst/>
                        <a:defRPr sz="1800">
                          <a:solidFill>
                            <a:srgbClr val="000000"/>
                          </a:solidFill>
                        </a:defRPr>
                      </a:pPr>
                      <a:r>
                        <a:rPr b="1">
                          <a:solidFill>
                            <a:srgbClr val="FFFFFF"/>
                          </a:solidFill>
                          <a:uFill>
                            <a:solidFill>
                              <a:srgbClr val="000000"/>
                            </a:solidFill>
                          </a:uFill>
                          <a:latin typeface="Lucida Grande"/>
                          <a:ea typeface="Lucida Grande"/>
                          <a:cs typeface="Lucida Grande"/>
                          <a:sym typeface="Lucida Grande"/>
                        </a:rPr>
                        <a:t>9</a:t>
                      </a:r>
                    </a:p>
                  </a:txBody>
                  <a:tcPr marL="50800" marR="50800" marT="50800" marB="50800" anchor="ctr" horzOverflow="overflow"/>
                </a:tc>
                <a:tc>
                  <a:txBody>
                    <a:bodyPr/>
                    <a:lstStyle/>
                    <a:p>
                      <a:pPr marL="58702" marR="58702" defTabSz="1295400">
                        <a:lnSpc>
                          <a:spcPct val="130000"/>
                        </a:lnSpc>
                        <a:tabLst/>
                        <a:defRPr sz="1800">
                          <a:solidFill>
                            <a:srgbClr val="000000"/>
                          </a:solidFill>
                        </a:defRPr>
                      </a:pPr>
                      <a:r>
                        <a:rPr b="1">
                          <a:solidFill>
                            <a:srgbClr val="FFFFFF"/>
                          </a:solidFill>
                          <a:uFill>
                            <a:solidFill>
                              <a:srgbClr val="000000"/>
                            </a:solidFill>
                          </a:uFill>
                          <a:latin typeface="Lucida Grande"/>
                          <a:ea typeface="Lucida Grande"/>
                          <a:cs typeface="Lucida Grande"/>
                          <a:sym typeface="Lucida Grande"/>
                        </a:rPr>
                        <a:t>10</a:t>
                      </a:r>
                    </a:p>
                  </a:txBody>
                  <a:tcPr marL="50800" marR="50800" marT="50800" marB="50800" anchor="ctr" horzOverflow="overflow"/>
                </a:tc>
                <a:tc>
                  <a:txBody>
                    <a:bodyPr/>
                    <a:lstStyle/>
                    <a:p>
                      <a:pPr marL="58702" marR="58702" defTabSz="1295400">
                        <a:lnSpc>
                          <a:spcPct val="130000"/>
                        </a:lnSpc>
                        <a:tabLst/>
                        <a:defRPr sz="1800">
                          <a:solidFill>
                            <a:srgbClr val="000000"/>
                          </a:solidFill>
                        </a:defRPr>
                      </a:pPr>
                      <a:r>
                        <a:rPr b="1">
                          <a:solidFill>
                            <a:srgbClr val="FFFFFF"/>
                          </a:solidFill>
                          <a:uFill>
                            <a:solidFill>
                              <a:srgbClr val="000000"/>
                            </a:solidFill>
                          </a:uFill>
                          <a:latin typeface="Lucida Grande"/>
                          <a:ea typeface="Lucida Grande"/>
                          <a:cs typeface="Lucida Grande"/>
                          <a:sym typeface="Lucida Grande"/>
                        </a:rPr>
                        <a:t>11</a:t>
                      </a:r>
                    </a:p>
                  </a:txBody>
                  <a:tcPr marL="50800" marR="50800" marT="50800" marB="50800" anchor="ctr" horzOverflow="overflow">
                    <a:lnR w="28575">
                      <a:miter lim="400000"/>
                    </a:lnR>
                  </a:tcPr>
                </a:tc>
                <a:extLst>
                  <a:ext uri="{0D108BD9-81ED-4DB2-BD59-A6C34878D82A}">
                    <a16:rowId xmlns:a16="http://schemas.microsoft.com/office/drawing/2014/main" val="10000"/>
                  </a:ext>
                </a:extLst>
              </a:tr>
              <a:tr h="600528">
                <a:tc>
                  <a:txBody>
                    <a:bodyPr/>
                    <a:lstStyle/>
                    <a:p>
                      <a:pPr marL="57799" marR="57799" defTabSz="1295400">
                        <a:lnSpc>
                          <a:spcPts val="4500"/>
                        </a:lnSpc>
                        <a:tabLst>
                          <a:tab pos="800100" algn="l"/>
                        </a:tabLst>
                        <a:defRPr sz="1800">
                          <a:solidFill>
                            <a:srgbClr val="000000"/>
                          </a:solidFill>
                        </a:defRPr>
                      </a:pPr>
                      <a:r>
                        <a:rPr sz="1600" b="1">
                          <a:solidFill>
                            <a:srgbClr val="FFFFFF"/>
                          </a:solidFill>
                          <a:uFill>
                            <a:solidFill>
                              <a:srgbClr val="0048AA"/>
                            </a:solidFill>
                          </a:uFill>
                          <a:latin typeface="Lucida Grande"/>
                          <a:ea typeface="Lucida Grande"/>
                          <a:cs typeface="Lucida Grande"/>
                          <a:sym typeface="Lucida Grande"/>
                        </a:rPr>
                        <a:t>{  }</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dirty="0">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lnR w="28575">
                      <a:miter lim="400000"/>
                    </a:lnR>
                  </a:tcPr>
                </a:tc>
                <a:extLst>
                  <a:ext uri="{0D108BD9-81ED-4DB2-BD59-A6C34878D82A}">
                    <a16:rowId xmlns:a16="http://schemas.microsoft.com/office/drawing/2014/main" val="10001"/>
                  </a:ext>
                </a:extLst>
              </a:tr>
              <a:tr h="600528">
                <a:tc>
                  <a:txBody>
                    <a:bodyPr/>
                    <a:lstStyle/>
                    <a:p>
                      <a:pPr marL="57799" marR="57799" defTabSz="1295400">
                        <a:lnSpc>
                          <a:spcPts val="4500"/>
                        </a:lnSpc>
                        <a:tabLst>
                          <a:tab pos="800100" algn="l"/>
                        </a:tabLst>
                        <a:defRPr sz="1800">
                          <a:solidFill>
                            <a:srgbClr val="000000"/>
                          </a:solidFill>
                        </a:defRPr>
                      </a:pPr>
                      <a:r>
                        <a:rPr sz="1600" b="1">
                          <a:solidFill>
                            <a:srgbClr val="FFFFFF"/>
                          </a:solidFill>
                          <a:uFill>
                            <a:solidFill>
                              <a:srgbClr val="0048AA"/>
                            </a:solidFill>
                          </a:uFill>
                          <a:latin typeface="Lucida Grande"/>
                          <a:ea typeface="Lucida Grande"/>
                          <a:cs typeface="Lucida Grande"/>
                          <a:sym typeface="Lucida Grande"/>
                        </a:rPr>
                        <a:t>{ 1 }</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dirty="0">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lnR w="28575">
                      <a:miter lim="400000"/>
                    </a:lnR>
                  </a:tcPr>
                </a:tc>
                <a:extLst>
                  <a:ext uri="{0D108BD9-81ED-4DB2-BD59-A6C34878D82A}">
                    <a16:rowId xmlns:a16="http://schemas.microsoft.com/office/drawing/2014/main" val="10002"/>
                  </a:ext>
                </a:extLst>
              </a:tr>
              <a:tr h="600528">
                <a:tc>
                  <a:txBody>
                    <a:bodyPr/>
                    <a:lstStyle/>
                    <a:p>
                      <a:pPr marL="57799" marR="57799" defTabSz="1295400">
                        <a:lnSpc>
                          <a:spcPts val="4500"/>
                        </a:lnSpc>
                        <a:tabLst>
                          <a:tab pos="800100" algn="l"/>
                        </a:tabLst>
                        <a:defRPr sz="1800">
                          <a:solidFill>
                            <a:srgbClr val="000000"/>
                          </a:solidFill>
                        </a:defRPr>
                      </a:pPr>
                      <a:r>
                        <a:rPr sz="1600" b="1">
                          <a:solidFill>
                            <a:srgbClr val="FFFFFF"/>
                          </a:solidFill>
                          <a:uFill>
                            <a:solidFill>
                              <a:srgbClr val="0048AA"/>
                            </a:solidFill>
                          </a:uFill>
                          <a:latin typeface="Lucida Grande"/>
                          <a:ea typeface="Lucida Grande"/>
                          <a:cs typeface="Lucida Grande"/>
                          <a:sym typeface="Lucida Grande"/>
                        </a:rPr>
                        <a:t>{ 1, 2 }</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6</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lnR w="28575">
                      <a:miter lim="400000"/>
                    </a:lnR>
                  </a:tcPr>
                </a:tc>
                <a:extLst>
                  <a:ext uri="{0D108BD9-81ED-4DB2-BD59-A6C34878D82A}">
                    <a16:rowId xmlns:a16="http://schemas.microsoft.com/office/drawing/2014/main" val="10003"/>
                  </a:ext>
                </a:extLst>
              </a:tr>
              <a:tr h="600528">
                <a:tc>
                  <a:txBody>
                    <a:bodyPr/>
                    <a:lstStyle/>
                    <a:p>
                      <a:pPr marL="57799" marR="57799" defTabSz="1295400">
                        <a:lnSpc>
                          <a:spcPts val="4500"/>
                        </a:lnSpc>
                        <a:tabLst>
                          <a:tab pos="800100" algn="l"/>
                        </a:tabLst>
                        <a:defRPr sz="1800">
                          <a:solidFill>
                            <a:srgbClr val="000000"/>
                          </a:solidFill>
                        </a:defRPr>
                      </a:pPr>
                      <a:r>
                        <a:rPr sz="1600" b="1">
                          <a:solidFill>
                            <a:srgbClr val="FFFFFF"/>
                          </a:solidFill>
                          <a:uFill>
                            <a:solidFill>
                              <a:srgbClr val="0048AA"/>
                            </a:solidFill>
                          </a:uFill>
                          <a:latin typeface="Lucida Grande"/>
                          <a:ea typeface="Lucida Grande"/>
                          <a:cs typeface="Lucida Grande"/>
                          <a:sym typeface="Lucida Grande"/>
                        </a:rPr>
                        <a:t>{ 1, 2, 3 }</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6</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18</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19</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24</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25</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25</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25</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25</a:t>
                      </a:r>
                    </a:p>
                  </a:txBody>
                  <a:tcPr marL="50800" marR="50800" marT="50800" marB="50800" anchor="ctr" horzOverflow="overflow">
                    <a:lnR w="28575">
                      <a:miter lim="400000"/>
                    </a:lnR>
                  </a:tcPr>
                </a:tc>
                <a:extLst>
                  <a:ext uri="{0D108BD9-81ED-4DB2-BD59-A6C34878D82A}">
                    <a16:rowId xmlns:a16="http://schemas.microsoft.com/office/drawing/2014/main" val="10004"/>
                  </a:ext>
                </a:extLst>
              </a:tr>
              <a:tr h="600528">
                <a:tc>
                  <a:txBody>
                    <a:bodyPr/>
                    <a:lstStyle/>
                    <a:p>
                      <a:pPr marL="57799" marR="57799" defTabSz="1295400">
                        <a:lnSpc>
                          <a:spcPts val="4500"/>
                        </a:lnSpc>
                        <a:tabLst>
                          <a:tab pos="800100" algn="l"/>
                        </a:tabLst>
                        <a:defRPr sz="1800">
                          <a:solidFill>
                            <a:srgbClr val="000000"/>
                          </a:solidFill>
                        </a:defRPr>
                      </a:pPr>
                      <a:r>
                        <a:rPr sz="1600" b="1">
                          <a:solidFill>
                            <a:srgbClr val="FFFFFF"/>
                          </a:solidFill>
                          <a:uFill>
                            <a:solidFill>
                              <a:srgbClr val="0048AA"/>
                            </a:solidFill>
                          </a:uFill>
                          <a:latin typeface="Lucida Grande"/>
                          <a:ea typeface="Lucida Grande"/>
                          <a:cs typeface="Lucida Grande"/>
                          <a:sym typeface="Lucida Grande"/>
                        </a:rPr>
                        <a:t>{ 1, 2, 3, 4 }</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6</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18</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22</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24</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28</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29</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29</a:t>
                      </a:r>
                    </a:p>
                  </a:txBody>
                  <a:tcPr marL="50800" marR="50800" marT="50800" marB="50800" anchor="ctr" horzOverflow="overflow"/>
                </a:tc>
                <a:tc>
                  <a:txBody>
                    <a:bodyPr/>
                    <a:lstStyle/>
                    <a:p>
                      <a:pPr marL="58702" marR="58702" defTabSz="1295400">
                        <a:lnSpc>
                          <a:spcPct val="130000"/>
                        </a:lnSpc>
                        <a:tabLst/>
                        <a:defRPr sz="1800"/>
                      </a:pPr>
                      <a:r>
                        <a:rPr>
                          <a:uFill>
                            <a:solidFill>
                              <a:srgbClr val="000000"/>
                            </a:solidFill>
                          </a:uFill>
                        </a:rPr>
                        <a:t>40</a:t>
                      </a:r>
                    </a:p>
                  </a:txBody>
                  <a:tcPr marL="50800" marR="50800" marT="50800" marB="50800" anchor="ctr" horzOverflow="overflow">
                    <a:lnR w="28575">
                      <a:miter lim="400000"/>
                    </a:lnR>
                  </a:tcPr>
                </a:tc>
                <a:extLst>
                  <a:ext uri="{0D108BD9-81ED-4DB2-BD59-A6C34878D82A}">
                    <a16:rowId xmlns:a16="http://schemas.microsoft.com/office/drawing/2014/main" val="10005"/>
                  </a:ext>
                </a:extLst>
              </a:tr>
              <a:tr h="600528">
                <a:tc>
                  <a:txBody>
                    <a:bodyPr/>
                    <a:lstStyle/>
                    <a:p>
                      <a:pPr marL="57799" marR="57799" defTabSz="1295400">
                        <a:lnSpc>
                          <a:spcPts val="4500"/>
                        </a:lnSpc>
                        <a:tabLst>
                          <a:tab pos="800100" algn="l"/>
                        </a:tabLst>
                        <a:defRPr sz="1800">
                          <a:solidFill>
                            <a:srgbClr val="000000"/>
                          </a:solidFill>
                        </a:defRPr>
                      </a:pPr>
                      <a:r>
                        <a:rPr sz="1600" b="1">
                          <a:solidFill>
                            <a:srgbClr val="FFFFFF"/>
                          </a:solidFill>
                          <a:uFill>
                            <a:solidFill>
                              <a:srgbClr val="0048AA"/>
                            </a:solidFill>
                          </a:uFill>
                          <a:latin typeface="Lucida Grande"/>
                          <a:ea typeface="Lucida Grande"/>
                          <a:cs typeface="Lucida Grande"/>
                          <a:sym typeface="Lucida Grande"/>
                        </a:rPr>
                        <a:t>{ 1, 2, 3, 4, 5 }</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a:uFill>
                            <a:solidFill>
                              <a:srgbClr val="000000"/>
                            </a:solidFill>
                          </a:uFill>
                        </a:rPr>
                        <a:t>0</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a:uFill>
                            <a:solidFill>
                              <a:srgbClr val="000000"/>
                            </a:solidFill>
                          </a:uFill>
                        </a:rPr>
                        <a:t>1</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a:uFill>
                            <a:solidFill>
                              <a:srgbClr val="000000"/>
                            </a:solidFill>
                          </a:uFill>
                        </a:rPr>
                        <a:t>6</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a:uFill>
                            <a:solidFill>
                              <a:srgbClr val="000000"/>
                            </a:solidFill>
                          </a:uFill>
                        </a:rPr>
                        <a:t>7</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a:uFill>
                            <a:solidFill>
                              <a:srgbClr val="000000"/>
                            </a:solidFill>
                          </a:uFill>
                        </a:rPr>
                        <a:t>18</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a:uFill>
                            <a:solidFill>
                              <a:srgbClr val="000000"/>
                            </a:solidFill>
                          </a:uFill>
                        </a:rPr>
                        <a:t>22</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a:uFill>
                            <a:solidFill>
                              <a:srgbClr val="000000"/>
                            </a:solidFill>
                          </a:uFill>
                        </a:rPr>
                        <a:t>28</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a:uFill>
                            <a:solidFill>
                              <a:srgbClr val="000000"/>
                            </a:solidFill>
                          </a:uFill>
                        </a:rPr>
                        <a:t>29</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a:uFill>
                            <a:solidFill>
                              <a:srgbClr val="000000"/>
                            </a:solidFill>
                          </a:uFill>
                        </a:rPr>
                        <a:t>34</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a:uFill>
                            <a:solidFill>
                              <a:srgbClr val="000000"/>
                            </a:solidFill>
                          </a:uFill>
                        </a:rPr>
                        <a:t>35</a:t>
                      </a:r>
                    </a:p>
                  </a:txBody>
                  <a:tcPr marL="50800" marR="50800" marT="50800" marB="50800" anchor="ctr" horzOverflow="overflow">
                    <a:lnB w="28575">
                      <a:miter lim="400000"/>
                    </a:lnB>
                  </a:tcPr>
                </a:tc>
                <a:tc>
                  <a:txBody>
                    <a:bodyPr/>
                    <a:lstStyle/>
                    <a:p>
                      <a:pPr marL="58702" marR="58702" defTabSz="1295400">
                        <a:lnSpc>
                          <a:spcPct val="130000"/>
                        </a:lnSpc>
                        <a:tabLst/>
                        <a:defRPr sz="1800"/>
                      </a:pPr>
                      <a:r>
                        <a:rPr dirty="0">
                          <a:uFill>
                            <a:solidFill>
                              <a:srgbClr val="000000"/>
                            </a:solidFill>
                          </a:uFill>
                        </a:rPr>
                        <a:t>40</a:t>
                      </a:r>
                    </a:p>
                  </a:txBody>
                  <a:tcPr marL="50800" marR="50800" marT="50800" marB="50800" anchor="ctr" horzOverflow="overflow">
                    <a:lnR w="28575">
                      <a:miter lim="400000"/>
                    </a:lnR>
                    <a:lnB w="28575">
                      <a:miter lim="400000"/>
                    </a:lnB>
                  </a:tcPr>
                </a:tc>
                <a:extLst>
                  <a:ext uri="{0D108BD9-81ED-4DB2-BD59-A6C34878D82A}">
                    <a16:rowId xmlns:a16="http://schemas.microsoft.com/office/drawing/2014/main" val="10006"/>
                  </a:ext>
                </a:extLst>
              </a:tr>
            </a:tbl>
          </a:graphicData>
        </a:graphic>
      </p:graphicFrame>
      <p:grpSp>
        <p:nvGrpSpPr>
          <p:cNvPr id="733" name="成组"/>
          <p:cNvGrpSpPr/>
          <p:nvPr/>
        </p:nvGrpSpPr>
        <p:grpSpPr>
          <a:xfrm>
            <a:off x="849709" y="4330700"/>
            <a:ext cx="11467704" cy="4787900"/>
            <a:chOff x="436562" y="0"/>
            <a:chExt cx="11467703" cy="4787900"/>
          </a:xfrm>
        </p:grpSpPr>
        <p:sp>
          <p:nvSpPr>
            <p:cNvPr id="730" name="weight limit w"/>
            <p:cNvSpPr/>
            <p:nvPr/>
          </p:nvSpPr>
          <p:spPr>
            <a:xfrm>
              <a:off x="7512008" y="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lvl1pPr>
                <a:defRPr b="1">
                  <a:solidFill>
                    <a:srgbClr val="000000"/>
                  </a:solidFill>
                  <a:latin typeface="Lucida Grande"/>
                  <a:ea typeface="Lucida Grande"/>
                  <a:cs typeface="Lucida Grande"/>
                  <a:sym typeface="Lucida Grande"/>
                </a:defRPr>
              </a:lvl1pPr>
            </a:lstStyle>
            <a:p>
              <a:r>
                <a:t>weight limit w</a:t>
              </a:r>
            </a:p>
          </p:txBody>
        </p:sp>
        <p:sp>
          <p:nvSpPr>
            <p:cNvPr id="731" name="subset of items…"/>
            <p:cNvSpPr/>
            <p:nvPr/>
          </p:nvSpPr>
          <p:spPr>
            <a:xfrm>
              <a:off x="436562" y="237490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defRPr b="1">
                  <a:solidFill>
                    <a:srgbClr val="000000"/>
                  </a:solidFill>
                  <a:latin typeface="Lucida Grande"/>
                  <a:ea typeface="Lucida Grande"/>
                  <a:cs typeface="Lucida Grande"/>
                  <a:sym typeface="Lucida Grande"/>
                </a:defRPr>
              </a:pPr>
              <a:r>
                <a:t>subset</a:t>
              </a:r>
              <a:br/>
              <a:r>
                <a:t>of items</a:t>
              </a:r>
            </a:p>
            <a:p>
              <a:pPr>
                <a:defRPr b="1">
                  <a:solidFill>
                    <a:srgbClr val="000000"/>
                  </a:solidFill>
                  <a:latin typeface="Lucida Grande"/>
                  <a:ea typeface="Lucida Grande"/>
                  <a:cs typeface="Lucida Grande"/>
                  <a:sym typeface="Lucida Grande"/>
                </a:defRPr>
              </a:pPr>
              <a:r>
                <a:t>1, …, i</a:t>
              </a:r>
            </a:p>
          </p:txBody>
        </p:sp>
        <p:sp>
          <p:nvSpPr>
            <p:cNvPr id="732" name="OPT(i, w) = max-profit subset of items 1, …, i with weight limit w."/>
            <p:cNvSpPr/>
            <p:nvPr/>
          </p:nvSpPr>
          <p:spPr>
            <a:xfrm>
              <a:off x="1299765" y="4787900"/>
              <a:ext cx="10604501" cy="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t">
              <a:spAutoFit/>
            </a:bodyPr>
            <a:lstStyle>
              <a:lvl1pPr>
                <a:defRPr b="1">
                  <a:solidFill>
                    <a:srgbClr val="000000"/>
                  </a:solidFill>
                  <a:latin typeface="Lucida Grande"/>
                  <a:ea typeface="Lucida Grande"/>
                  <a:cs typeface="Lucida Grande"/>
                  <a:sym typeface="Lucida Grande"/>
                </a:defRPr>
              </a:lvl1pPr>
            </a:lstStyle>
            <a:p>
              <a:r>
                <a:t>OPT(i, w) = max-profit subset of items 1, …, i with weight limit w.</a:t>
              </a:r>
            </a:p>
          </p:txBody>
        </p:sp>
      </p:grpSp>
      <p:sp>
        <p:nvSpPr>
          <p:cNvPr id="734" name="线条"/>
          <p:cNvSpPr/>
          <p:nvPr/>
        </p:nvSpPr>
        <p:spPr>
          <a:xfrm flipV="1">
            <a:off x="11950700" y="8145248"/>
            <a:ext cx="1" cy="274853"/>
          </a:xfrm>
          <a:prstGeom prst="line">
            <a:avLst/>
          </a:prstGeom>
          <a:ln w="25400">
            <a:solidFill>
              <a:srgbClr val="8D3124"/>
            </a:solidFill>
            <a:miter lim="400000"/>
            <a:tail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735" name="线条"/>
          <p:cNvSpPr/>
          <p:nvPr/>
        </p:nvSpPr>
        <p:spPr>
          <a:xfrm flipH="1" flipV="1">
            <a:off x="7619305" y="7429396"/>
            <a:ext cx="4152653" cy="536330"/>
          </a:xfrm>
          <a:prstGeom prst="line">
            <a:avLst/>
          </a:prstGeom>
          <a:ln w="25400">
            <a:solidFill>
              <a:srgbClr val="8D3124"/>
            </a:solidFill>
            <a:miter lim="400000"/>
            <a:tail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736" name="线条"/>
          <p:cNvSpPr/>
          <p:nvPr/>
        </p:nvSpPr>
        <p:spPr>
          <a:xfrm flipH="1" flipV="1">
            <a:off x="3771900" y="6781802"/>
            <a:ext cx="3403601" cy="595981"/>
          </a:xfrm>
          <a:prstGeom prst="line">
            <a:avLst/>
          </a:prstGeom>
          <a:ln w="25400">
            <a:solidFill>
              <a:srgbClr val="8D3124"/>
            </a:solidFill>
            <a:miter lim="400000"/>
            <a:tail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737" name="线条"/>
          <p:cNvSpPr/>
          <p:nvPr/>
        </p:nvSpPr>
        <p:spPr>
          <a:xfrm flipV="1">
            <a:off x="3568700" y="5778500"/>
            <a:ext cx="0" cy="274853"/>
          </a:xfrm>
          <a:prstGeom prst="line">
            <a:avLst/>
          </a:prstGeom>
          <a:ln w="25400">
            <a:solidFill>
              <a:srgbClr val="8D3124"/>
            </a:solidFill>
            <a:miter lim="400000"/>
            <a:tail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738" name="线条"/>
          <p:cNvSpPr/>
          <p:nvPr/>
        </p:nvSpPr>
        <p:spPr>
          <a:xfrm flipV="1">
            <a:off x="3568700" y="6388099"/>
            <a:ext cx="0" cy="274853"/>
          </a:xfrm>
          <a:prstGeom prst="line">
            <a:avLst/>
          </a:prstGeom>
          <a:ln w="25400">
            <a:solidFill>
              <a:srgbClr val="8D3124"/>
            </a:solidFill>
            <a:miter lim="400000"/>
            <a:tail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739" name="圆形"/>
          <p:cNvSpPr/>
          <p:nvPr/>
        </p:nvSpPr>
        <p:spPr>
          <a:xfrm>
            <a:off x="11760200" y="8432800"/>
            <a:ext cx="355600" cy="355600"/>
          </a:xfrm>
          <a:prstGeom prst="ellipse">
            <a:avLst/>
          </a:prstGeom>
          <a:ln w="25400">
            <a:solidFill>
              <a:srgbClr val="8D3124"/>
            </a:solidFill>
            <a:miter lim="400000"/>
          </a:ln>
        </p:spPr>
        <p:txBody>
          <a:bodyPr lIns="139700" tIns="139700" rIns="139700" bIns="139700" anchor="ctr"/>
          <a:lstStyle/>
          <a:p>
            <a:pPr marL="61411" marR="61411" algn="l" defTabSz="457200">
              <a:defRPr sz="2200">
                <a:solidFill>
                  <a:srgbClr val="000000"/>
                </a:solidFill>
              </a:defRPr>
            </a:pPr>
            <a:endParaRPr/>
          </a:p>
        </p:txBody>
      </p:sp>
      <p:pic>
        <p:nvPicPr>
          <p:cNvPr id="740" name="图像" descr="图像"/>
          <p:cNvPicPr>
            <a:picLocks noChangeAspect="1"/>
          </p:cNvPicPr>
          <p:nvPr/>
        </p:nvPicPr>
        <p:blipFill>
          <a:blip r:embed="rId3"/>
          <a:stretch>
            <a:fillRect/>
          </a:stretch>
        </p:blipFill>
        <p:spPr>
          <a:xfrm>
            <a:off x="3961287" y="2106642"/>
            <a:ext cx="8406305" cy="1372889"/>
          </a:xfrm>
          <a:prstGeom prst="rect">
            <a:avLst/>
          </a:prstGeom>
          <a:ln w="12700">
            <a:miter lim="400000"/>
          </a:ln>
        </p:spPr>
      </p:pic>
      <p:graphicFrame>
        <p:nvGraphicFramePr>
          <p:cNvPr id="741" name="成组"/>
          <p:cNvGraphicFramePr/>
          <p:nvPr>
            <p:extLst>
              <p:ext uri="{D42A27DB-BD31-4B8C-83A1-F6EECF244321}">
                <p14:modId xmlns:p14="http://schemas.microsoft.com/office/powerpoint/2010/main" val="4145466588"/>
              </p:ext>
            </p:extLst>
          </p:nvPr>
        </p:nvGraphicFramePr>
        <p:xfrm>
          <a:off x="272625" y="1303046"/>
          <a:ext cx="3331626" cy="3073908"/>
        </p:xfrm>
        <a:graphic>
          <a:graphicData uri="http://schemas.openxmlformats.org/drawingml/2006/table">
            <a:tbl>
              <a:tblPr firstRow="1">
                <a:tableStyleId>{8F44A2F1-9E1F-4B54-A3A2-5F16C0AD49E2}</a:tableStyleId>
              </a:tblPr>
              <a:tblGrid>
                <a:gridCol w="1110542">
                  <a:extLst>
                    <a:ext uri="{9D8B030D-6E8A-4147-A177-3AD203B41FA5}">
                      <a16:colId xmlns:a16="http://schemas.microsoft.com/office/drawing/2014/main" val="20000"/>
                    </a:ext>
                  </a:extLst>
                </a:gridCol>
                <a:gridCol w="1110542">
                  <a:extLst>
                    <a:ext uri="{9D8B030D-6E8A-4147-A177-3AD203B41FA5}">
                      <a16:colId xmlns:a16="http://schemas.microsoft.com/office/drawing/2014/main" val="20001"/>
                    </a:ext>
                  </a:extLst>
                </a:gridCol>
                <a:gridCol w="1110542">
                  <a:extLst>
                    <a:ext uri="{9D8B030D-6E8A-4147-A177-3AD203B41FA5}">
                      <a16:colId xmlns:a16="http://schemas.microsoft.com/office/drawing/2014/main" val="20002"/>
                    </a:ext>
                  </a:extLst>
                </a:gridCol>
              </a:tblGrid>
              <a:tr h="476033">
                <a:tc>
                  <a:txBody>
                    <a:bodyPr/>
                    <a:lstStyle/>
                    <a:p>
                      <a:pPr marL="58702" marR="58702" defTabSz="1295400">
                        <a:lnSpc>
                          <a:spcPct val="130000"/>
                        </a:lnSpc>
                        <a:tabLst/>
                        <a:defRPr sz="1800">
                          <a:solidFill>
                            <a:srgbClr val="000000"/>
                          </a:solidFill>
                        </a:defRPr>
                      </a:pPr>
                      <a:r>
                        <a:rPr sz="2200" i="1">
                          <a:uFill>
                            <a:solidFill>
                              <a:srgbClr val="000000"/>
                            </a:solidFill>
                          </a:uFill>
                          <a:latin typeface="Times"/>
                          <a:ea typeface="Times"/>
                          <a:cs typeface="Times"/>
                          <a:sym typeface="Times"/>
                        </a:rPr>
                        <a:t>i</a:t>
                      </a:r>
                    </a:p>
                  </a:txBody>
                  <a:tcPr marL="50800" marR="50800" marT="50800" marB="50800" anchor="ctr" horzOverflow="overflow">
                    <a:lnL w="28575">
                      <a:miter lim="400000"/>
                    </a:lnL>
                    <a:lnR w="28575">
                      <a:miter lim="400000"/>
                    </a:lnR>
                    <a:lnB w="12700">
                      <a:solidFill>
                        <a:srgbClr val="000000"/>
                      </a:solidFill>
                      <a:miter lim="400000"/>
                    </a:lnB>
                    <a:noFill/>
                  </a:tcPr>
                </a:tc>
                <a:tc>
                  <a:txBody>
                    <a:bodyPr/>
                    <a:lstStyle/>
                    <a:p>
                      <a:pPr marL="58702" marR="58702" defTabSz="1295400">
                        <a:lnSpc>
                          <a:spcPct val="130000"/>
                        </a:lnSpc>
                        <a:tabLst/>
                        <a:defRPr sz="2200" i="1">
                          <a:solidFill>
                            <a:srgbClr val="000000"/>
                          </a:solidFill>
                          <a:uFill>
                            <a:solidFill>
                              <a:srgbClr val="000000"/>
                            </a:solidFill>
                          </a:uFill>
                          <a:latin typeface="Times"/>
                          <a:ea typeface="Times"/>
                          <a:cs typeface="Times"/>
                          <a:sym typeface="Times"/>
                        </a:defRPr>
                      </a:pPr>
                      <a:r>
                        <a:t>v</a:t>
                      </a:r>
                      <a:r>
                        <a:rPr baseline="-5999"/>
                        <a:t>i</a:t>
                      </a:r>
                    </a:p>
                  </a:txBody>
                  <a:tcPr marL="50800" marR="50800" marT="50800" marB="50800" anchor="ctr" horzOverflow="overflow">
                    <a:lnL w="28575">
                      <a:miter lim="400000"/>
                    </a:lnL>
                    <a:lnR w="28575">
                      <a:miter lim="400000"/>
                    </a:lnR>
                    <a:lnB w="12700">
                      <a:solidFill>
                        <a:srgbClr val="000000"/>
                      </a:solidFill>
                      <a:miter lim="400000"/>
                    </a:lnB>
                    <a:noFill/>
                  </a:tcPr>
                </a:tc>
                <a:tc>
                  <a:txBody>
                    <a:bodyPr/>
                    <a:lstStyle/>
                    <a:p>
                      <a:pPr marL="58702" marR="58702" defTabSz="1295400">
                        <a:lnSpc>
                          <a:spcPct val="130000"/>
                        </a:lnSpc>
                        <a:tabLst/>
                        <a:defRPr sz="2200" i="1">
                          <a:solidFill>
                            <a:srgbClr val="000000"/>
                          </a:solidFill>
                          <a:uFill>
                            <a:solidFill>
                              <a:srgbClr val="000000"/>
                            </a:solidFill>
                          </a:uFill>
                          <a:latin typeface="Times"/>
                          <a:ea typeface="Times"/>
                          <a:cs typeface="Times"/>
                          <a:sym typeface="Times"/>
                        </a:defRPr>
                      </a:pPr>
                      <a:r>
                        <a:t>w</a:t>
                      </a:r>
                      <a:r>
                        <a:rPr baseline="-5999"/>
                        <a:t>i</a:t>
                      </a:r>
                    </a:p>
                  </a:txBody>
                  <a:tcPr marL="50800" marR="50800" marT="50800" marB="50800" anchor="ctr" horzOverflow="overflow">
                    <a:lnL w="28575">
                      <a:miter lim="400000"/>
                    </a:lnL>
                    <a:lnR w="28575">
                      <a:miter lim="400000"/>
                    </a:lnR>
                    <a:lnB w="12700">
                      <a:solidFill>
                        <a:srgbClr val="000000"/>
                      </a:solidFill>
                      <a:miter lim="400000"/>
                    </a:lnB>
                    <a:noFill/>
                  </a:tcPr>
                </a:tc>
                <a:extLst>
                  <a:ext uri="{0D108BD9-81ED-4DB2-BD59-A6C34878D82A}">
                    <a16:rowId xmlns:a16="http://schemas.microsoft.com/office/drawing/2014/main" val="10000"/>
                  </a:ext>
                </a:extLst>
              </a:tr>
              <a:tr h="476033">
                <a:tc>
                  <a:txBody>
                    <a:bodyPr/>
                    <a:lstStyle/>
                    <a:p>
                      <a:pPr marL="58702" marR="58702" defTabSz="1295400">
                        <a:lnSpc>
                          <a:spcPct val="130000"/>
                        </a:lnSpc>
                        <a:tabLst/>
                        <a:defRPr sz="1800"/>
                      </a:pPr>
                      <a:r>
                        <a:rPr sz="2200">
                          <a:uFill>
                            <a:solidFill>
                              <a:srgbClr val="000000"/>
                            </a:solidFill>
                          </a:uFill>
                          <a:latin typeface="Times"/>
                          <a:ea typeface="Times"/>
                          <a:cs typeface="Times"/>
                          <a:sym typeface="Times"/>
                        </a:rPr>
                        <a:t>1</a:t>
                      </a:r>
                    </a:p>
                  </a:txBody>
                  <a:tcPr marL="50800" marR="50800" marT="50800" marB="50800" anchor="ctr" horzOverflow="overflow">
                    <a:lnL w="28575">
                      <a:miter lim="400000"/>
                    </a:lnL>
                    <a:lnR w="28575">
                      <a:miter lim="400000"/>
                    </a:lnR>
                    <a:lnT w="12700">
                      <a:solidFill>
                        <a:srgbClr val="000000"/>
                      </a:solidFill>
                      <a:miter lim="400000"/>
                    </a:lnT>
                    <a:lnB w="28575">
                      <a:miter lim="400000"/>
                    </a:lnB>
                    <a:noFill/>
                  </a:tcPr>
                </a:tc>
                <a:tc>
                  <a:txBody>
                    <a:bodyPr/>
                    <a:lstStyle/>
                    <a:p>
                      <a:pPr marL="58702" marR="58702" defTabSz="1295400">
                        <a:lnSpc>
                          <a:spcPct val="130000"/>
                        </a:lnSpc>
                        <a:tabLst/>
                        <a:defRPr sz="1800"/>
                      </a:pPr>
                      <a:r>
                        <a:rPr sz="2200" dirty="0">
                          <a:uFill>
                            <a:solidFill>
                              <a:srgbClr val="000000"/>
                            </a:solidFill>
                          </a:uFill>
                          <a:latin typeface="Times"/>
                          <a:ea typeface="Times"/>
                          <a:cs typeface="Times"/>
                          <a:sym typeface="Times"/>
                        </a:rPr>
                        <a:t>US$1</a:t>
                      </a:r>
                    </a:p>
                  </a:txBody>
                  <a:tcPr marL="50800" marR="50800" marT="50800" marB="50800" anchor="ctr" horzOverflow="overflow">
                    <a:lnL w="28575">
                      <a:miter lim="400000"/>
                    </a:lnL>
                    <a:lnR w="28575">
                      <a:miter lim="400000"/>
                    </a:lnR>
                    <a:lnT w="12700">
                      <a:solidFill>
                        <a:srgbClr val="000000"/>
                      </a:solidFill>
                      <a:miter lim="400000"/>
                    </a:lnT>
                    <a:lnB w="28575">
                      <a:miter lim="400000"/>
                    </a:lnB>
                    <a:noFill/>
                  </a:tcPr>
                </a:tc>
                <a:tc>
                  <a:txBody>
                    <a:bodyPr/>
                    <a:lstStyle/>
                    <a:p>
                      <a:pPr marL="58702" marR="58702" defTabSz="1295400">
                        <a:lnSpc>
                          <a:spcPct val="130000"/>
                        </a:lnSpc>
                        <a:tabLst/>
                        <a:defRPr sz="1800"/>
                      </a:pPr>
                      <a:r>
                        <a:rPr sz="2200">
                          <a:uFill>
                            <a:solidFill>
                              <a:srgbClr val="000000"/>
                            </a:solidFill>
                          </a:uFill>
                          <a:latin typeface="Times"/>
                          <a:ea typeface="Times"/>
                          <a:cs typeface="Times"/>
                          <a:sym typeface="Times"/>
                        </a:rPr>
                        <a:t>1 kg</a:t>
                      </a:r>
                    </a:p>
                  </a:txBody>
                  <a:tcPr marL="50800" marR="50800" marT="50800" marB="50800" anchor="ctr" horzOverflow="overflow">
                    <a:lnL w="28575">
                      <a:miter lim="400000"/>
                    </a:lnL>
                    <a:lnR w="28575">
                      <a:miter lim="400000"/>
                    </a:lnR>
                    <a:lnT w="12700">
                      <a:solidFill>
                        <a:srgbClr val="000000"/>
                      </a:solidFill>
                      <a:miter lim="400000"/>
                    </a:lnT>
                    <a:lnB w="28575">
                      <a:miter lim="400000"/>
                    </a:lnB>
                    <a:noFill/>
                  </a:tcPr>
                </a:tc>
                <a:extLst>
                  <a:ext uri="{0D108BD9-81ED-4DB2-BD59-A6C34878D82A}">
                    <a16:rowId xmlns:a16="http://schemas.microsoft.com/office/drawing/2014/main" val="10001"/>
                  </a:ext>
                </a:extLst>
              </a:tr>
              <a:tr h="476033">
                <a:tc>
                  <a:txBody>
                    <a:bodyPr/>
                    <a:lstStyle/>
                    <a:p>
                      <a:pPr marL="58702" marR="58702" defTabSz="1295400">
                        <a:lnSpc>
                          <a:spcPct val="130000"/>
                        </a:lnSpc>
                        <a:tabLst/>
                        <a:defRPr sz="1800"/>
                      </a:pPr>
                      <a:r>
                        <a:rPr sz="2200">
                          <a:uFill>
                            <a:solidFill>
                              <a:srgbClr val="000000"/>
                            </a:solidFill>
                          </a:uFill>
                          <a:latin typeface="Times"/>
                          <a:ea typeface="Times"/>
                          <a:cs typeface="Times"/>
                          <a:sym typeface="Times"/>
                        </a:rPr>
                        <a:t>2</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lnSpc>
                          <a:spcPct val="130000"/>
                        </a:lnSpc>
                        <a:tabLst/>
                        <a:defRPr sz="1800"/>
                      </a:pPr>
                      <a:r>
                        <a:rPr sz="2200" dirty="0">
                          <a:uFill>
                            <a:solidFill>
                              <a:srgbClr val="000000"/>
                            </a:solidFill>
                          </a:uFill>
                          <a:latin typeface="Times"/>
                          <a:ea typeface="Times"/>
                          <a:cs typeface="Times"/>
                          <a:sym typeface="Times"/>
                        </a:rPr>
                        <a:t>US$6</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lnSpc>
                          <a:spcPct val="130000"/>
                        </a:lnSpc>
                        <a:tabLst/>
                        <a:defRPr sz="1800"/>
                      </a:pPr>
                      <a:r>
                        <a:rPr sz="2200">
                          <a:uFill>
                            <a:solidFill>
                              <a:srgbClr val="000000"/>
                            </a:solidFill>
                          </a:uFill>
                          <a:latin typeface="Times"/>
                          <a:ea typeface="Times"/>
                          <a:cs typeface="Times"/>
                          <a:sym typeface="Times"/>
                        </a:rPr>
                        <a:t>2 kg</a:t>
                      </a:r>
                    </a:p>
                  </a:txBody>
                  <a:tcPr marL="50800" marR="50800" marT="50800" marB="50800" anchor="ctr" horzOverflow="overflow">
                    <a:lnL w="28575">
                      <a:miter lim="400000"/>
                    </a:lnL>
                    <a:lnR w="28575">
                      <a:miter lim="400000"/>
                    </a:lnR>
                    <a:lnT w="28575">
                      <a:miter lim="400000"/>
                    </a:lnT>
                    <a:lnB w="28575">
                      <a:miter lim="400000"/>
                    </a:lnB>
                    <a:noFill/>
                  </a:tcPr>
                </a:tc>
                <a:extLst>
                  <a:ext uri="{0D108BD9-81ED-4DB2-BD59-A6C34878D82A}">
                    <a16:rowId xmlns:a16="http://schemas.microsoft.com/office/drawing/2014/main" val="10002"/>
                  </a:ext>
                </a:extLst>
              </a:tr>
              <a:tr h="476033">
                <a:tc>
                  <a:txBody>
                    <a:bodyPr/>
                    <a:lstStyle/>
                    <a:p>
                      <a:pPr marL="58702" marR="58702" defTabSz="1295400">
                        <a:lnSpc>
                          <a:spcPct val="130000"/>
                        </a:lnSpc>
                        <a:tabLst/>
                        <a:defRPr sz="1800"/>
                      </a:pPr>
                      <a:r>
                        <a:rPr sz="2200">
                          <a:uFill>
                            <a:solidFill>
                              <a:srgbClr val="000000"/>
                            </a:solidFill>
                          </a:uFill>
                          <a:latin typeface="Times"/>
                          <a:ea typeface="Times"/>
                          <a:cs typeface="Times"/>
                          <a:sym typeface="Times"/>
                        </a:rPr>
                        <a:t>3</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lnSpc>
                          <a:spcPct val="130000"/>
                        </a:lnSpc>
                        <a:tabLst/>
                        <a:defRPr sz="1800"/>
                      </a:pPr>
                      <a:r>
                        <a:rPr sz="2200">
                          <a:uFill>
                            <a:solidFill>
                              <a:srgbClr val="000000"/>
                            </a:solidFill>
                          </a:uFill>
                          <a:latin typeface="Times"/>
                          <a:ea typeface="Times"/>
                          <a:cs typeface="Times"/>
                          <a:sym typeface="Times"/>
                        </a:rPr>
                        <a:t>US$18</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lnSpc>
                          <a:spcPct val="130000"/>
                        </a:lnSpc>
                        <a:tabLst/>
                        <a:defRPr sz="1800"/>
                      </a:pPr>
                      <a:r>
                        <a:rPr sz="2200">
                          <a:uFill>
                            <a:solidFill>
                              <a:srgbClr val="000000"/>
                            </a:solidFill>
                          </a:uFill>
                          <a:latin typeface="Times"/>
                          <a:ea typeface="Times"/>
                          <a:cs typeface="Times"/>
                          <a:sym typeface="Times"/>
                        </a:rPr>
                        <a:t>5 kg</a:t>
                      </a:r>
                    </a:p>
                  </a:txBody>
                  <a:tcPr marL="50800" marR="50800" marT="50800" marB="50800" anchor="ctr" horzOverflow="overflow">
                    <a:lnL w="28575">
                      <a:miter lim="400000"/>
                    </a:lnL>
                    <a:lnR w="28575">
                      <a:miter lim="400000"/>
                    </a:lnR>
                    <a:lnT w="28575">
                      <a:miter lim="400000"/>
                    </a:lnT>
                    <a:lnB w="28575">
                      <a:miter lim="400000"/>
                    </a:lnB>
                    <a:noFill/>
                  </a:tcPr>
                </a:tc>
                <a:extLst>
                  <a:ext uri="{0D108BD9-81ED-4DB2-BD59-A6C34878D82A}">
                    <a16:rowId xmlns:a16="http://schemas.microsoft.com/office/drawing/2014/main" val="10003"/>
                  </a:ext>
                </a:extLst>
              </a:tr>
              <a:tr h="476033">
                <a:tc>
                  <a:txBody>
                    <a:bodyPr/>
                    <a:lstStyle/>
                    <a:p>
                      <a:pPr marL="58702" marR="58702" defTabSz="1295400">
                        <a:lnSpc>
                          <a:spcPct val="130000"/>
                        </a:lnSpc>
                        <a:tabLst/>
                        <a:defRPr sz="1800"/>
                      </a:pPr>
                      <a:r>
                        <a:rPr sz="2200">
                          <a:uFill>
                            <a:solidFill>
                              <a:srgbClr val="000000"/>
                            </a:solidFill>
                          </a:uFill>
                          <a:latin typeface="Times"/>
                          <a:ea typeface="Times"/>
                          <a:cs typeface="Times"/>
                          <a:sym typeface="Times"/>
                        </a:rPr>
                        <a:t>4</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lnSpc>
                          <a:spcPct val="130000"/>
                        </a:lnSpc>
                        <a:tabLst/>
                        <a:defRPr sz="1800"/>
                      </a:pPr>
                      <a:r>
                        <a:rPr sz="2200">
                          <a:uFill>
                            <a:solidFill>
                              <a:srgbClr val="000000"/>
                            </a:solidFill>
                          </a:uFill>
                          <a:latin typeface="Times"/>
                          <a:ea typeface="Times"/>
                          <a:cs typeface="Times"/>
                          <a:sym typeface="Times"/>
                        </a:rPr>
                        <a:t>US$22</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lnSpc>
                          <a:spcPct val="130000"/>
                        </a:lnSpc>
                        <a:tabLst/>
                        <a:defRPr sz="1800"/>
                      </a:pPr>
                      <a:r>
                        <a:rPr sz="2200">
                          <a:uFill>
                            <a:solidFill>
                              <a:srgbClr val="000000"/>
                            </a:solidFill>
                          </a:uFill>
                          <a:latin typeface="Times"/>
                          <a:ea typeface="Times"/>
                          <a:cs typeface="Times"/>
                          <a:sym typeface="Times"/>
                        </a:rPr>
                        <a:t>6 kg</a:t>
                      </a:r>
                    </a:p>
                  </a:txBody>
                  <a:tcPr marL="50800" marR="50800" marT="50800" marB="50800" anchor="ctr" horzOverflow="overflow">
                    <a:lnL w="28575">
                      <a:miter lim="400000"/>
                    </a:lnL>
                    <a:lnR w="28575">
                      <a:miter lim="400000"/>
                    </a:lnR>
                    <a:lnT w="28575">
                      <a:miter lim="400000"/>
                    </a:lnT>
                    <a:lnB w="28575">
                      <a:miter lim="400000"/>
                    </a:lnB>
                    <a:noFill/>
                  </a:tcPr>
                </a:tc>
                <a:extLst>
                  <a:ext uri="{0D108BD9-81ED-4DB2-BD59-A6C34878D82A}">
                    <a16:rowId xmlns:a16="http://schemas.microsoft.com/office/drawing/2014/main" val="10004"/>
                  </a:ext>
                </a:extLst>
              </a:tr>
              <a:tr h="476033">
                <a:tc>
                  <a:txBody>
                    <a:bodyPr/>
                    <a:lstStyle/>
                    <a:p>
                      <a:pPr marL="58702" marR="58702" defTabSz="1295400">
                        <a:lnSpc>
                          <a:spcPct val="130000"/>
                        </a:lnSpc>
                        <a:tabLst/>
                        <a:defRPr sz="1800"/>
                      </a:pPr>
                      <a:r>
                        <a:rPr sz="2200">
                          <a:uFill>
                            <a:solidFill>
                              <a:srgbClr val="000000"/>
                            </a:solidFill>
                          </a:uFill>
                          <a:latin typeface="Times"/>
                          <a:ea typeface="Times"/>
                          <a:cs typeface="Times"/>
                          <a:sym typeface="Times"/>
                        </a:rPr>
                        <a:t>5</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lnSpc>
                          <a:spcPct val="130000"/>
                        </a:lnSpc>
                        <a:tabLst/>
                        <a:defRPr sz="1800"/>
                      </a:pPr>
                      <a:r>
                        <a:rPr sz="2200">
                          <a:uFill>
                            <a:solidFill>
                              <a:srgbClr val="000000"/>
                            </a:solidFill>
                          </a:uFill>
                          <a:latin typeface="Times"/>
                          <a:ea typeface="Times"/>
                          <a:cs typeface="Times"/>
                          <a:sym typeface="Times"/>
                        </a:rPr>
                        <a:t>US$28</a:t>
                      </a:r>
                    </a:p>
                  </a:txBody>
                  <a:tcPr marL="50800" marR="50800" marT="50800" marB="50800" anchor="ctr" horzOverflow="overflow">
                    <a:lnL w="28575">
                      <a:miter lim="400000"/>
                    </a:lnL>
                    <a:lnR w="28575">
                      <a:miter lim="400000"/>
                    </a:lnR>
                    <a:lnT w="28575">
                      <a:miter lim="400000"/>
                    </a:lnT>
                    <a:lnB w="28575">
                      <a:miter lim="400000"/>
                    </a:lnB>
                    <a:noFill/>
                  </a:tcPr>
                </a:tc>
                <a:tc>
                  <a:txBody>
                    <a:bodyPr/>
                    <a:lstStyle/>
                    <a:p>
                      <a:pPr marL="58702" marR="58702" defTabSz="1295400">
                        <a:lnSpc>
                          <a:spcPct val="130000"/>
                        </a:lnSpc>
                        <a:tabLst/>
                        <a:defRPr sz="1800"/>
                      </a:pPr>
                      <a:r>
                        <a:rPr sz="2200" dirty="0">
                          <a:uFill>
                            <a:solidFill>
                              <a:srgbClr val="000000"/>
                            </a:solidFill>
                          </a:uFill>
                          <a:latin typeface="Times"/>
                          <a:ea typeface="Times"/>
                          <a:cs typeface="Times"/>
                          <a:sym typeface="Times"/>
                        </a:rPr>
                        <a:t>7 kg</a:t>
                      </a:r>
                    </a:p>
                  </a:txBody>
                  <a:tcPr marL="50800" marR="50800" marT="50800" marB="50800" anchor="ctr" horzOverflow="overflow">
                    <a:lnL w="28575">
                      <a:miter lim="400000"/>
                    </a:lnL>
                    <a:lnR w="28575">
                      <a:miter lim="400000"/>
                    </a:lnR>
                    <a:lnT w="28575">
                      <a:miter lim="400000"/>
                    </a:lnT>
                    <a:lnB w="28575">
                      <a:miter lim="400000"/>
                    </a:lnB>
                    <a:noFill/>
                  </a:tcPr>
                </a:tc>
                <a:extLst>
                  <a:ext uri="{0D108BD9-81ED-4DB2-BD59-A6C34878D82A}">
                    <a16:rowId xmlns:a16="http://schemas.microsoft.com/office/drawing/2014/main" val="10005"/>
                  </a:ext>
                </a:extLst>
              </a:tr>
            </a:tbl>
          </a:graphicData>
        </a:graphic>
      </p:graphicFrame>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72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2" nodeType="afterEffect">
                                  <p:stCondLst>
                                    <p:cond delay="0"/>
                                  </p:stCondLst>
                                  <p:iterate>
                                    <p:tmAbs val="0"/>
                                  </p:iterate>
                                  <p:childTnLst>
                                    <p:set>
                                      <p:cBhvr>
                                        <p:cTn id="9" fill="hold"/>
                                        <p:tgtEl>
                                          <p:spTgt spid="73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3" nodeType="clickEffect">
                                  <p:stCondLst>
                                    <p:cond delay="0"/>
                                  </p:stCondLst>
                                  <p:iterate>
                                    <p:tmAbs val="0"/>
                                  </p:iterate>
                                  <p:childTnLst>
                                    <p:set>
                                      <p:cBhvr>
                                        <p:cTn id="13" fill="hold"/>
                                        <p:tgtEl>
                                          <p:spTgt spid="73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4" nodeType="clickEffect">
                                  <p:stCondLst>
                                    <p:cond delay="0"/>
                                  </p:stCondLst>
                                  <p:iterate>
                                    <p:tmAbs val="0"/>
                                  </p:iterate>
                                  <p:childTnLst>
                                    <p:set>
                                      <p:cBhvr>
                                        <p:cTn id="17" fill="hold"/>
                                        <p:tgtEl>
                                          <p:spTgt spid="73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5" nodeType="clickEffect">
                                  <p:stCondLst>
                                    <p:cond delay="0"/>
                                  </p:stCondLst>
                                  <p:iterate>
                                    <p:tmAbs val="0"/>
                                  </p:iterate>
                                  <p:childTnLst>
                                    <p:set>
                                      <p:cBhvr>
                                        <p:cTn id="21" fill="hold"/>
                                        <p:tgtEl>
                                          <p:spTgt spid="73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6" nodeType="clickEffect">
                                  <p:stCondLst>
                                    <p:cond delay="0"/>
                                  </p:stCondLst>
                                  <p:iterate>
                                    <p:tmAbs val="0"/>
                                  </p:iterate>
                                  <p:childTnLst>
                                    <p:set>
                                      <p:cBhvr>
                                        <p:cTn id="25" fill="hold"/>
                                        <p:tgtEl>
                                          <p:spTgt spid="73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7" nodeType="clickEffect">
                                  <p:stCondLst>
                                    <p:cond delay="0"/>
                                  </p:stCondLst>
                                  <p:iterate>
                                    <p:tmAbs val="0"/>
                                  </p:iterate>
                                  <p:childTnLst>
                                    <p:set>
                                      <p:cBhvr>
                                        <p:cTn id="29" fill="hold"/>
                                        <p:tgtEl>
                                          <p:spTgt spid="73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8" nodeType="clickEffect">
                                  <p:stCondLst>
                                    <p:cond delay="0"/>
                                  </p:stCondLst>
                                  <p:iterate>
                                    <p:tmAbs val="0"/>
                                  </p:iterate>
                                  <p:childTnLst>
                                    <p:set>
                                      <p:cBhvr>
                                        <p:cTn id="33" fill="hold"/>
                                        <p:tgtEl>
                                          <p:spTgt spid="7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9" grpId="1" animBg="1" advAuto="0"/>
      <p:bldP spid="733" grpId="2" animBg="1" advAuto="0"/>
      <p:bldP spid="734" grpId="4" animBg="1" advAuto="0"/>
      <p:bldP spid="735" grpId="5" animBg="1" advAuto="0"/>
      <p:bldP spid="736" grpId="6" animBg="1" advAuto="0"/>
      <p:bldP spid="737" grpId="8" animBg="1" advAuto="0"/>
      <p:bldP spid="738" grpId="7" animBg="1" advAuto="0"/>
      <p:bldP spid="739" grpId="3" animBg="1" advAuto="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746" name="Knapsack problem:  running time"/>
          <p:cNvSpPr txBox="1">
            <a:spLocks noGrp="1"/>
          </p:cNvSpPr>
          <p:nvPr>
            <p:ph type="title"/>
          </p:nvPr>
        </p:nvSpPr>
        <p:spPr>
          <a:prstGeom prst="rect">
            <a:avLst/>
          </a:prstGeom>
        </p:spPr>
        <p:txBody>
          <a:bodyPr/>
          <a:lstStyle/>
          <a:p>
            <a:r>
              <a:t>Knapsack problem:  running time</a:t>
            </a:r>
          </a:p>
        </p:txBody>
      </p:sp>
      <p:sp>
        <p:nvSpPr>
          <p:cNvPr id="747" name="Theorem.  The DP algorithm solves the knapsack problem with n items and maximum weight W in Θ(n W) time and Θ(n W) space.…"/>
          <p:cNvSpPr txBox="1">
            <a:spLocks noGrp="1"/>
          </p:cNvSpPr>
          <p:nvPr>
            <p:ph type="body" idx="1"/>
          </p:nvPr>
        </p:nvSpPr>
        <p:spPr>
          <a:prstGeom prst="rect">
            <a:avLst/>
          </a:prstGeom>
        </p:spPr>
        <p:txBody>
          <a:bodyPr/>
          <a:lstStyle/>
          <a:p>
            <a:r>
              <a:t>Theorem.  </a:t>
            </a:r>
            <a:r>
              <a:rPr>
                <a:solidFill>
                  <a:srgbClr val="000000"/>
                </a:solidFill>
              </a:rPr>
              <a:t>The DP algorithm solves the knapsack problem with </a:t>
            </a:r>
            <a:r>
              <a:rPr i="1">
                <a:solidFill>
                  <a:srgbClr val="000000"/>
                </a:solidFill>
                <a:latin typeface="Times"/>
                <a:ea typeface="Times"/>
                <a:cs typeface="Times"/>
                <a:sym typeface="Times"/>
              </a:rPr>
              <a:t>n</a:t>
            </a:r>
            <a:r>
              <a:rPr>
                <a:solidFill>
                  <a:srgbClr val="000000"/>
                </a:solidFill>
              </a:rPr>
              <a:t> items</a:t>
            </a:r>
            <a:br>
              <a:rPr>
                <a:solidFill>
                  <a:srgbClr val="000000"/>
                </a:solidFill>
              </a:rPr>
            </a:br>
            <a:r>
              <a:rPr>
                <a:solidFill>
                  <a:srgbClr val="000000"/>
                </a:solidFill>
              </a:rPr>
              <a:t>and maximum weight </a:t>
            </a:r>
            <a:r>
              <a:rPr i="1">
                <a:solidFill>
                  <a:srgbClr val="000000"/>
                </a:solidFill>
                <a:latin typeface="Times"/>
                <a:ea typeface="Times"/>
                <a:cs typeface="Times"/>
                <a:sym typeface="Times"/>
              </a:rPr>
              <a:t>W</a:t>
            </a:r>
            <a:r>
              <a:rPr>
                <a:solidFill>
                  <a:srgbClr val="000000"/>
                </a:solidFill>
              </a:rPr>
              <a:t> in </a:t>
            </a:r>
            <a:r>
              <a:rPr>
                <a:solidFill>
                  <a:srgbClr val="000000"/>
                </a:solidFill>
                <a:latin typeface="Times"/>
                <a:ea typeface="Times"/>
                <a:cs typeface="Times"/>
                <a:sym typeface="Times"/>
              </a:rPr>
              <a:t>Θ(</a:t>
            </a:r>
            <a:r>
              <a:rPr i="1">
                <a:solidFill>
                  <a:srgbClr val="000000"/>
                </a:solidFill>
                <a:latin typeface="Times"/>
                <a:ea typeface="Times"/>
                <a:cs typeface="Times"/>
                <a:sym typeface="Times"/>
              </a:rPr>
              <a:t>n W</a:t>
            </a:r>
            <a:r>
              <a:rPr>
                <a:solidFill>
                  <a:srgbClr val="000000"/>
                </a:solidFill>
                <a:latin typeface="Times"/>
                <a:ea typeface="Times"/>
                <a:cs typeface="Times"/>
                <a:sym typeface="Times"/>
              </a:rPr>
              <a:t>) </a:t>
            </a:r>
            <a:r>
              <a:rPr>
                <a:solidFill>
                  <a:srgbClr val="000000"/>
                </a:solidFill>
              </a:rPr>
              <a:t>time and</a:t>
            </a:r>
            <a:r>
              <a:rPr>
                <a:solidFill>
                  <a:srgbClr val="000000"/>
                </a:solidFill>
                <a:latin typeface="Times"/>
                <a:ea typeface="Times"/>
                <a:cs typeface="Times"/>
                <a:sym typeface="Times"/>
              </a:rPr>
              <a:t> Θ(</a:t>
            </a:r>
            <a:r>
              <a:rPr i="1">
                <a:solidFill>
                  <a:srgbClr val="000000"/>
                </a:solidFill>
                <a:latin typeface="Times"/>
                <a:ea typeface="Times"/>
                <a:cs typeface="Times"/>
                <a:sym typeface="Times"/>
              </a:rPr>
              <a:t>n W</a:t>
            </a:r>
            <a:r>
              <a:rPr>
                <a:solidFill>
                  <a:srgbClr val="000000"/>
                </a:solidFill>
                <a:latin typeface="Times"/>
                <a:ea typeface="Times"/>
                <a:cs typeface="Times"/>
                <a:sym typeface="Times"/>
              </a:rPr>
              <a:t>)</a:t>
            </a:r>
            <a:r>
              <a:rPr>
                <a:solidFill>
                  <a:srgbClr val="000000"/>
                </a:solidFill>
              </a:rPr>
              <a:t> space.</a:t>
            </a:r>
          </a:p>
          <a:p>
            <a:r>
              <a:t>Pf.</a:t>
            </a:r>
          </a:p>
          <a:p>
            <a:pPr lvl="1"/>
            <a:r>
              <a:t>Takes </a:t>
            </a:r>
            <a:r>
              <a:rPr i="1">
                <a:latin typeface="Times"/>
                <a:ea typeface="Times"/>
                <a:cs typeface="Times"/>
                <a:sym typeface="Times"/>
              </a:rPr>
              <a:t>O</a:t>
            </a:r>
            <a:r>
              <a:rPr>
                <a:latin typeface="Times"/>
                <a:ea typeface="Times"/>
                <a:cs typeface="Times"/>
                <a:sym typeface="Times"/>
              </a:rPr>
              <a:t>(1)</a:t>
            </a:r>
            <a:r>
              <a:t> time per table entry.</a:t>
            </a:r>
          </a:p>
          <a:p>
            <a:pPr lvl="1"/>
            <a:r>
              <a:t>There are </a:t>
            </a:r>
            <a:r>
              <a:rPr>
                <a:latin typeface="Times"/>
                <a:ea typeface="Times"/>
                <a:cs typeface="Times"/>
                <a:sym typeface="Times"/>
              </a:rPr>
              <a:t>Θ(</a:t>
            </a:r>
            <a:r>
              <a:rPr i="1">
                <a:latin typeface="Times"/>
                <a:ea typeface="Times"/>
                <a:cs typeface="Times"/>
                <a:sym typeface="Times"/>
              </a:rPr>
              <a:t>n W</a:t>
            </a:r>
            <a:r>
              <a:rPr>
                <a:latin typeface="Times"/>
                <a:ea typeface="Times"/>
                <a:cs typeface="Times"/>
                <a:sym typeface="Times"/>
              </a:rPr>
              <a:t>) </a:t>
            </a:r>
            <a:r>
              <a:t>table entries.</a:t>
            </a:r>
          </a:p>
          <a:p>
            <a:pPr lvl="1"/>
            <a:r>
              <a:t>After computing optimal values, can trace back to find solution:</a:t>
            </a:r>
            <a:br/>
            <a:r>
              <a:rPr i="1">
                <a:latin typeface="Times"/>
                <a:ea typeface="Times"/>
                <a:cs typeface="Times"/>
                <a:sym typeface="Times"/>
              </a:rPr>
              <a:t>OPT</a:t>
            </a:r>
            <a:r>
              <a:rPr>
                <a:latin typeface="Times"/>
                <a:ea typeface="Times"/>
                <a:cs typeface="Times"/>
                <a:sym typeface="Times"/>
              </a:rPr>
              <a:t>(</a:t>
            </a:r>
            <a:r>
              <a:rPr i="1">
                <a:latin typeface="Times"/>
                <a:ea typeface="Times"/>
                <a:cs typeface="Times"/>
                <a:sym typeface="Times"/>
              </a:rPr>
              <a:t>i</a:t>
            </a:r>
            <a:r>
              <a:rPr>
                <a:latin typeface="Times"/>
                <a:ea typeface="Times"/>
                <a:cs typeface="Times"/>
                <a:sym typeface="Times"/>
              </a:rPr>
              <a:t>,</a:t>
            </a:r>
            <a:r>
              <a:rPr i="1">
                <a:latin typeface="Times"/>
                <a:ea typeface="Times"/>
                <a:cs typeface="Times"/>
                <a:sym typeface="Times"/>
              </a:rPr>
              <a:t> w</a:t>
            </a:r>
            <a:r>
              <a:rPr>
                <a:latin typeface="Times"/>
                <a:ea typeface="Times"/>
                <a:cs typeface="Times"/>
                <a:sym typeface="Times"/>
              </a:rPr>
              <a:t>) </a:t>
            </a:r>
            <a:r>
              <a:t>takes item </a:t>
            </a:r>
            <a:r>
              <a:rPr i="1">
                <a:latin typeface="Times"/>
                <a:ea typeface="Times"/>
                <a:cs typeface="Times"/>
                <a:sym typeface="Times"/>
              </a:rPr>
              <a:t>i</a:t>
            </a:r>
            <a:r>
              <a:t> iff </a:t>
            </a:r>
            <a:r>
              <a:rPr i="1">
                <a:latin typeface="Times"/>
                <a:ea typeface="Times"/>
                <a:cs typeface="Times"/>
                <a:sym typeface="Times"/>
              </a:rPr>
              <a:t>M</a:t>
            </a:r>
            <a:r>
              <a:rPr>
                <a:latin typeface="Times"/>
                <a:ea typeface="Times"/>
                <a:cs typeface="Times"/>
                <a:sym typeface="Times"/>
              </a:rPr>
              <a:t> [</a:t>
            </a:r>
            <a:r>
              <a:rPr i="1">
                <a:latin typeface="Times"/>
                <a:ea typeface="Times"/>
                <a:cs typeface="Times"/>
                <a:sym typeface="Times"/>
              </a:rPr>
              <a:t>i</a:t>
            </a:r>
            <a:r>
              <a:rPr>
                <a:latin typeface="Times"/>
                <a:ea typeface="Times"/>
                <a:cs typeface="Times"/>
                <a:sym typeface="Times"/>
              </a:rPr>
              <a:t>, </a:t>
            </a:r>
            <a:r>
              <a:rPr i="1">
                <a:latin typeface="Times"/>
                <a:ea typeface="Times"/>
                <a:cs typeface="Times"/>
                <a:sym typeface="Times"/>
              </a:rPr>
              <a:t>w</a:t>
            </a:r>
            <a:r>
              <a:rPr>
                <a:latin typeface="Times"/>
                <a:ea typeface="Times"/>
                <a:cs typeface="Times"/>
                <a:sym typeface="Times"/>
              </a:rPr>
              <a:t>]  &gt;  </a:t>
            </a:r>
            <a:r>
              <a:rPr i="1">
                <a:latin typeface="Times"/>
                <a:ea typeface="Times"/>
                <a:cs typeface="Times"/>
                <a:sym typeface="Times"/>
              </a:rPr>
              <a:t>M</a:t>
            </a:r>
            <a:r>
              <a:rPr>
                <a:latin typeface="Times"/>
                <a:ea typeface="Times"/>
                <a:cs typeface="Times"/>
                <a:sym typeface="Times"/>
              </a:rPr>
              <a:t> [</a:t>
            </a:r>
            <a:r>
              <a:rPr i="1">
                <a:latin typeface="Times"/>
                <a:ea typeface="Times"/>
                <a:cs typeface="Times"/>
                <a:sym typeface="Times"/>
              </a:rPr>
              <a:t>i</a:t>
            </a:r>
            <a:r>
              <a:rPr>
                <a:latin typeface="Times"/>
                <a:ea typeface="Times"/>
                <a:cs typeface="Times"/>
                <a:sym typeface="Times"/>
              </a:rPr>
              <a:t> – 1, </a:t>
            </a:r>
            <a:r>
              <a:rPr i="1">
                <a:latin typeface="Times"/>
                <a:ea typeface="Times"/>
                <a:cs typeface="Times"/>
                <a:sym typeface="Times"/>
              </a:rPr>
              <a:t>w</a:t>
            </a:r>
            <a:r>
              <a:rPr>
                <a:latin typeface="Times"/>
                <a:ea typeface="Times"/>
                <a:cs typeface="Times"/>
                <a:sym typeface="Times"/>
              </a:rPr>
              <a:t>]</a:t>
            </a:r>
            <a:r>
              <a:t>.   ▪</a:t>
            </a:r>
          </a:p>
        </p:txBody>
      </p:sp>
      <p:sp>
        <p:nvSpPr>
          <p:cNvPr id="748"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46</a:t>
            </a:fld>
            <a:endParaRPr/>
          </a:p>
        </p:txBody>
      </p:sp>
      <p:grpSp>
        <p:nvGrpSpPr>
          <p:cNvPr id="751" name="成组"/>
          <p:cNvGrpSpPr/>
          <p:nvPr/>
        </p:nvGrpSpPr>
        <p:grpSpPr>
          <a:xfrm>
            <a:off x="8013700" y="2273300"/>
            <a:ext cx="2819756" cy="1485900"/>
            <a:chOff x="0" y="0"/>
            <a:chExt cx="2819755" cy="1485900"/>
          </a:xfrm>
        </p:grpSpPr>
        <p:sp>
          <p:nvSpPr>
            <p:cNvPr id="749" name="weights are integers…"/>
            <p:cNvSpPr/>
            <p:nvPr/>
          </p:nvSpPr>
          <p:spPr>
            <a:xfrm>
              <a:off x="1549755" y="21590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lnSpc>
                  <a:spcPts val="2000"/>
                </a:lnSpc>
              </a:pPr>
              <a:r>
                <a:t>weights are integers</a:t>
              </a:r>
            </a:p>
            <a:p>
              <a:pPr>
                <a:lnSpc>
                  <a:spcPts val="2000"/>
                </a:lnSpc>
              </a:pPr>
              <a:r>
                <a:t>between </a:t>
              </a:r>
              <a:r>
                <a:rPr sz="1800">
                  <a:latin typeface="Times"/>
                  <a:ea typeface="Times"/>
                  <a:cs typeface="Times"/>
                  <a:sym typeface="Times"/>
                </a:rPr>
                <a:t>1</a:t>
              </a:r>
              <a:r>
                <a:t> and </a:t>
              </a:r>
              <a:r>
                <a:rPr sz="1800" i="1">
                  <a:latin typeface="Times"/>
                  <a:ea typeface="Times"/>
                  <a:cs typeface="Times"/>
                  <a:sym typeface="Times"/>
                </a:rPr>
                <a:t>W</a:t>
              </a:r>
            </a:p>
          </p:txBody>
        </p:sp>
        <p:sp>
          <p:nvSpPr>
            <p:cNvPr id="750" name="线条"/>
            <p:cNvSpPr/>
            <p:nvPr/>
          </p:nvSpPr>
          <p:spPr>
            <a:xfrm>
              <a:off x="0" y="0"/>
              <a:ext cx="414431" cy="255895"/>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3" name="Does there exist a poly-time algorithm for the knapsack problem?…"/>
          <p:cNvSpPr txBox="1">
            <a:spLocks noGrp="1"/>
          </p:cNvSpPr>
          <p:nvPr>
            <p:ph type="body" idx="1"/>
          </p:nvPr>
        </p:nvSpPr>
        <p:spPr>
          <a:xfrm>
            <a:off x="812800" y="1270000"/>
            <a:ext cx="11584525" cy="8128000"/>
          </a:xfrm>
          <a:prstGeom prst="rect">
            <a:avLst/>
          </a:prstGeom>
        </p:spPr>
        <p:txBody>
          <a:bodyPr/>
          <a:lstStyle/>
          <a:p>
            <a:pPr>
              <a:defRPr b="1">
                <a:latin typeface="Lucida Grande"/>
                <a:ea typeface="Lucida Grande"/>
                <a:cs typeface="Lucida Grande"/>
                <a:sym typeface="Lucida Grande"/>
              </a:defRPr>
            </a:pPr>
            <a:r>
              <a:t>Does there exist a poly-time algorithm for the knapsack problem?</a:t>
            </a:r>
            <a:br/>
            <a:endParaRPr/>
          </a:p>
          <a:p>
            <a:pPr lvl="1">
              <a:lnSpc>
                <a:spcPts val="3800"/>
              </a:lnSpc>
            </a:pPr>
            <a:r>
              <a:rPr b="0">
                <a:solidFill>
                  <a:srgbClr val="000000"/>
                </a:solidFill>
              </a:rPr>
              <a:t>Yes, because the DP algorithm takes </a:t>
            </a:r>
            <a:r>
              <a:rPr b="0">
                <a:solidFill>
                  <a:srgbClr val="000000"/>
                </a:solidFill>
                <a:latin typeface="Times"/>
                <a:ea typeface="Times"/>
                <a:cs typeface="Times"/>
                <a:sym typeface="Times"/>
              </a:rPr>
              <a:t>Θ(</a:t>
            </a:r>
            <a:r>
              <a:rPr b="0" i="1">
                <a:solidFill>
                  <a:srgbClr val="000000"/>
                </a:solidFill>
                <a:latin typeface="Times"/>
                <a:ea typeface="Times"/>
                <a:cs typeface="Times"/>
                <a:sym typeface="Times"/>
              </a:rPr>
              <a:t>n W</a:t>
            </a:r>
            <a:r>
              <a:rPr b="0">
                <a:solidFill>
                  <a:srgbClr val="000000"/>
                </a:solidFill>
                <a:latin typeface="Times"/>
                <a:ea typeface="Times"/>
                <a:cs typeface="Times"/>
                <a:sym typeface="Times"/>
              </a:rPr>
              <a:t>)</a:t>
            </a:r>
            <a:r>
              <a:rPr b="0">
                <a:solidFill>
                  <a:srgbClr val="000000"/>
                </a:solidFill>
              </a:rPr>
              <a:t> time.</a:t>
            </a:r>
            <a:endParaRPr b="0">
              <a:solidFill>
                <a:srgbClr val="000000"/>
              </a:solidFill>
              <a:uFill>
                <a:solidFill>
                  <a:srgbClr val="000000"/>
                </a:solidFill>
              </a:uFill>
              <a:latin typeface="Times"/>
              <a:ea typeface="Times"/>
              <a:cs typeface="Times"/>
              <a:sym typeface="Times"/>
            </a:endParaRPr>
          </a:p>
          <a:p>
            <a:pPr lvl="1">
              <a:lnSpc>
                <a:spcPts val="3800"/>
              </a:lnSpc>
            </a:pPr>
            <a:r>
              <a:rPr b="0">
                <a:solidFill>
                  <a:srgbClr val="000000"/>
                </a:solidFill>
              </a:rPr>
              <a:t>No, because </a:t>
            </a:r>
            <a:r>
              <a:rPr b="0">
                <a:solidFill>
                  <a:srgbClr val="000000"/>
                </a:solidFill>
                <a:latin typeface="Times"/>
                <a:ea typeface="Times"/>
                <a:cs typeface="Times"/>
                <a:sym typeface="Times"/>
              </a:rPr>
              <a:t>Θ(</a:t>
            </a:r>
            <a:r>
              <a:rPr b="0" i="1">
                <a:solidFill>
                  <a:srgbClr val="000000"/>
                </a:solidFill>
                <a:latin typeface="Times"/>
                <a:ea typeface="Times"/>
                <a:cs typeface="Times"/>
                <a:sym typeface="Times"/>
              </a:rPr>
              <a:t>n W</a:t>
            </a:r>
            <a:r>
              <a:rPr b="0">
                <a:solidFill>
                  <a:srgbClr val="000000"/>
                </a:solidFill>
                <a:latin typeface="Times"/>
                <a:ea typeface="Times"/>
                <a:cs typeface="Times"/>
                <a:sym typeface="Times"/>
              </a:rPr>
              <a:t>)</a:t>
            </a:r>
            <a:r>
              <a:rPr b="0">
                <a:solidFill>
                  <a:srgbClr val="000000"/>
                </a:solidFill>
              </a:rPr>
              <a:t> is not a polynomial function of the input size.</a:t>
            </a:r>
            <a:endParaRPr b="0">
              <a:solidFill>
                <a:srgbClr val="000000"/>
              </a:solidFill>
              <a:uFill>
                <a:solidFill>
                  <a:srgbClr val="000000"/>
                </a:solidFill>
              </a:uFill>
              <a:latin typeface="Times"/>
              <a:ea typeface="Times"/>
              <a:cs typeface="Times"/>
              <a:sym typeface="Times"/>
            </a:endParaRPr>
          </a:p>
          <a:p>
            <a:pPr lvl="1">
              <a:lnSpc>
                <a:spcPts val="3800"/>
              </a:lnSpc>
            </a:pPr>
            <a:r>
              <a:rPr b="0">
                <a:solidFill>
                  <a:srgbClr val="000000"/>
                </a:solidFill>
              </a:rPr>
              <a:t>No, because the problem is </a:t>
            </a:r>
            <a:r>
              <a:rPr>
                <a:solidFill>
                  <a:srgbClr val="000000"/>
                </a:solidFill>
              </a:rPr>
              <a:t>NP</a:t>
            </a:r>
            <a:r>
              <a:rPr b="0">
                <a:solidFill>
                  <a:srgbClr val="000000"/>
                </a:solidFill>
              </a:rPr>
              <a:t>-hard.</a:t>
            </a:r>
            <a:endParaRPr b="0">
              <a:solidFill>
                <a:srgbClr val="000000"/>
              </a:solidFill>
              <a:uFill>
                <a:solidFill>
                  <a:srgbClr val="000000"/>
                </a:solidFill>
              </a:uFill>
              <a:latin typeface="Times"/>
              <a:ea typeface="Times"/>
              <a:cs typeface="Times"/>
              <a:sym typeface="Times"/>
            </a:endParaRPr>
          </a:p>
          <a:p>
            <a:pPr lvl="1">
              <a:lnSpc>
                <a:spcPts val="3800"/>
              </a:lnSpc>
            </a:pPr>
            <a:r>
              <a:rPr b="0">
                <a:solidFill>
                  <a:srgbClr val="000000"/>
                </a:solidFill>
              </a:rPr>
              <a:t>Unknown.</a:t>
            </a:r>
          </a:p>
        </p:txBody>
      </p:sp>
      <p:sp>
        <p:nvSpPr>
          <p:cNvPr id="754" name="幻灯片编号"/>
          <p:cNvSpPr txBox="1">
            <a:spLocks noGrp="1"/>
          </p:cNvSpPr>
          <p:nvPr>
            <p:ph type="sldNum" sz="quarter" idx="2"/>
          </p:nvPr>
        </p:nvSpPr>
        <p:spPr>
          <a:xfrm>
            <a:off x="12618178" y="9382590"/>
            <a:ext cx="307239" cy="27940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47</a:t>
            </a:fld>
            <a:endParaRPr/>
          </a:p>
        </p:txBody>
      </p:sp>
      <p:sp>
        <p:nvSpPr>
          <p:cNvPr id="755" name="Dynamic programming:  quiz 4"/>
          <p:cNvSpPr txBox="1">
            <a:spLocks noGrp="1"/>
          </p:cNvSpPr>
          <p:nvPr>
            <p:ph type="title"/>
          </p:nvPr>
        </p:nvSpPr>
        <p:spPr>
          <a:prstGeom prst="rect">
            <a:avLst/>
          </a:prstGeom>
        </p:spPr>
        <p:txBody>
          <a:bodyPr/>
          <a:lstStyle/>
          <a:p>
            <a:r>
              <a:t>Dynamic programming:  quiz 4</a:t>
            </a:r>
          </a:p>
        </p:txBody>
      </p:sp>
      <p:sp>
        <p:nvSpPr>
          <p:cNvPr id="756" name="圆角矩形"/>
          <p:cNvSpPr/>
          <p:nvPr/>
        </p:nvSpPr>
        <p:spPr>
          <a:xfrm>
            <a:off x="1054100" y="4343400"/>
            <a:ext cx="609600" cy="609600"/>
          </a:xfrm>
          <a:prstGeom prst="roundRect">
            <a:avLst>
              <a:gd name="adj" fmla="val 31250"/>
            </a:avLst>
          </a:prstGeom>
          <a:ln w="50800">
            <a:solidFill>
              <a:srgbClr val="8D3124"/>
            </a:solidFill>
          </a:ln>
        </p:spPr>
        <p:txBody>
          <a:bodyPr lIns="203200" tIns="203200" rIns="203200" bIns="203200"/>
          <a:lstStyle/>
          <a:p>
            <a:pPr marL="7224" marR="7224" algn="l" defTabSz="1295400">
              <a:lnSpc>
                <a:spcPct val="120000"/>
              </a:lnSpc>
              <a:buClrTx/>
              <a:buFontTx/>
              <a:tabLst/>
              <a:defRPr sz="2200">
                <a:solidFill>
                  <a:srgbClr val="005493"/>
                </a:solidFill>
                <a:uFill>
                  <a:solidFill>
                    <a:srgbClr val="0048AA"/>
                  </a:solidFill>
                </a:uFill>
              </a:defRPr>
            </a:pPr>
            <a:endParaRPr/>
          </a:p>
        </p:txBody>
      </p:sp>
      <p:sp>
        <p:nvSpPr>
          <p:cNvPr id="757" name="圆角矩形"/>
          <p:cNvSpPr/>
          <p:nvPr/>
        </p:nvSpPr>
        <p:spPr>
          <a:xfrm>
            <a:off x="1054100" y="4343400"/>
            <a:ext cx="609600" cy="609600"/>
          </a:xfrm>
          <a:prstGeom prst="roundRect">
            <a:avLst>
              <a:gd name="adj" fmla="val 31250"/>
            </a:avLst>
          </a:prstGeom>
          <a:ln w="76200">
            <a:solidFill>
              <a:srgbClr val="FBE8E5"/>
            </a:solidFill>
          </a:ln>
        </p:spPr>
        <p:txBody>
          <a:bodyPr lIns="203200" tIns="203200" rIns="203200" bIns="203200"/>
          <a:lstStyle/>
          <a:p>
            <a:pPr marL="7224" marR="7224" algn="l" defTabSz="1295400">
              <a:lnSpc>
                <a:spcPct val="120000"/>
              </a:lnSpc>
              <a:buClrTx/>
              <a:buFontTx/>
              <a:tabLst/>
              <a:defRPr sz="2200">
                <a:solidFill>
                  <a:srgbClr val="005493"/>
                </a:solidFill>
                <a:uFill>
                  <a:solidFill>
                    <a:srgbClr val="0048AA"/>
                  </a:solidFill>
                </a:uFill>
              </a:defRPr>
            </a:pPr>
            <a:endParaRPr/>
          </a:p>
        </p:txBody>
      </p:sp>
      <p:grpSp>
        <p:nvGrpSpPr>
          <p:cNvPr id="760" name="成组"/>
          <p:cNvGrpSpPr/>
          <p:nvPr/>
        </p:nvGrpSpPr>
        <p:grpSpPr>
          <a:xfrm>
            <a:off x="9372598" y="2590800"/>
            <a:ext cx="3042363" cy="1270000"/>
            <a:chOff x="0" y="0"/>
            <a:chExt cx="3042361" cy="1270000"/>
          </a:xfrm>
        </p:grpSpPr>
        <p:sp>
          <p:nvSpPr>
            <p:cNvPr id="758" name="“pseudo-polynomial”"/>
            <p:cNvSpPr/>
            <p:nvPr/>
          </p:nvSpPr>
          <p:spPr>
            <a:xfrm>
              <a:off x="1772361" y="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r>
                <a:t>“pseudo-polynomial”</a:t>
              </a:r>
            </a:p>
          </p:txBody>
        </p:sp>
        <p:sp>
          <p:nvSpPr>
            <p:cNvPr id="759" name="线条"/>
            <p:cNvSpPr/>
            <p:nvPr/>
          </p:nvSpPr>
          <p:spPr>
            <a:xfrm>
              <a:off x="0" y="103494"/>
              <a:ext cx="541433" cy="1"/>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761" name="矩形"/>
          <p:cNvSpPr/>
          <p:nvPr/>
        </p:nvSpPr>
        <p:spPr>
          <a:xfrm>
            <a:off x="9189380" y="2366494"/>
            <a:ext cx="3044489" cy="634946"/>
          </a:xfrm>
          <a:prstGeom prst="rect">
            <a:avLst/>
          </a:prstGeom>
          <a:solidFill>
            <a:srgbClr val="FBE8E5"/>
          </a:solidFill>
          <a:ln w="12700">
            <a:miter lim="400000"/>
          </a:ln>
        </p:spPr>
        <p:txBody>
          <a:bodyPr lIns="50800" tIns="50800" rIns="50800" bIns="50800" anchor="ctr"/>
          <a:lstStyle/>
          <a:p>
            <a:pPr marL="61411" marR="61411" algn="l" defTabSz="457200">
              <a:defRPr sz="2200">
                <a:solidFill>
                  <a:srgbClr val="000000"/>
                </a:solidFill>
              </a:defRPr>
            </a:pPr>
            <a:endParaRPr/>
          </a:p>
        </p:txBody>
      </p:sp>
      <p:grpSp>
        <p:nvGrpSpPr>
          <p:cNvPr id="764" name="成组"/>
          <p:cNvGrpSpPr/>
          <p:nvPr/>
        </p:nvGrpSpPr>
        <p:grpSpPr>
          <a:xfrm>
            <a:off x="2920998" y="4929494"/>
            <a:ext cx="3362376" cy="1674756"/>
            <a:chOff x="0" y="0"/>
            <a:chExt cx="3362375" cy="1674755"/>
          </a:xfrm>
        </p:grpSpPr>
        <p:sp>
          <p:nvSpPr>
            <p:cNvPr id="762" name="equivalent to P ≠ NP conjecture…"/>
            <p:cNvSpPr/>
            <p:nvPr/>
          </p:nvSpPr>
          <p:spPr>
            <a:xfrm>
              <a:off x="2092375" y="404755"/>
              <a:ext cx="1270001" cy="1270001"/>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lnSpc>
                  <a:spcPts val="2000"/>
                </a:lnSpc>
              </a:pPr>
              <a:r>
                <a:t>equivalent to </a:t>
              </a:r>
              <a:r>
                <a:rPr b="1">
                  <a:latin typeface="Lucida Grande"/>
                  <a:ea typeface="Lucida Grande"/>
                  <a:cs typeface="Lucida Grande"/>
                  <a:sym typeface="Lucida Grande"/>
                </a:rPr>
                <a:t>P</a:t>
              </a:r>
              <a:r>
                <a:t> </a:t>
              </a:r>
              <a:r>
                <a:rPr>
                  <a:latin typeface="Times"/>
                  <a:ea typeface="Times"/>
                  <a:cs typeface="Times"/>
                  <a:sym typeface="Times"/>
                </a:rPr>
                <a:t>≠</a:t>
              </a:r>
              <a:r>
                <a:t> </a:t>
              </a:r>
              <a:r>
                <a:rPr b="1">
                  <a:latin typeface="Lucida Grande"/>
                  <a:ea typeface="Lucida Grande"/>
                  <a:cs typeface="Lucida Grande"/>
                  <a:sym typeface="Lucida Grande"/>
                </a:rPr>
                <a:t>NP</a:t>
              </a:r>
              <a:r>
                <a:t> conjecture</a:t>
              </a:r>
            </a:p>
            <a:p>
              <a:pPr>
                <a:lnSpc>
                  <a:spcPts val="2000"/>
                </a:lnSpc>
              </a:pPr>
              <a:r>
                <a:t>because knapsack problem is </a:t>
              </a:r>
              <a:r>
                <a:rPr b="1">
                  <a:latin typeface="Lucida Grande"/>
                  <a:ea typeface="Lucida Grande"/>
                  <a:cs typeface="Lucida Grande"/>
                  <a:sym typeface="Lucida Grande"/>
                </a:rPr>
                <a:t>NP</a:t>
              </a:r>
              <a:r>
                <a:t>-hard</a:t>
              </a:r>
            </a:p>
          </p:txBody>
        </p:sp>
        <p:sp>
          <p:nvSpPr>
            <p:cNvPr id="763" name="线条"/>
            <p:cNvSpPr/>
            <p:nvPr/>
          </p:nvSpPr>
          <p:spPr>
            <a:xfrm>
              <a:off x="-1" y="-1"/>
              <a:ext cx="395777" cy="395777"/>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765" name="矩形"/>
          <p:cNvSpPr/>
          <p:nvPr/>
        </p:nvSpPr>
        <p:spPr>
          <a:xfrm>
            <a:off x="2540868" y="4876800"/>
            <a:ext cx="5030933" cy="1145747"/>
          </a:xfrm>
          <a:prstGeom prst="rect">
            <a:avLst/>
          </a:prstGeom>
          <a:solidFill>
            <a:srgbClr val="FBE8E5"/>
          </a:solidFill>
          <a:ln w="12700">
            <a:miter lim="400000"/>
          </a:ln>
        </p:spPr>
        <p:txBody>
          <a:bodyPr lIns="50800" tIns="50800" rIns="50800" bIns="50800" anchor="ctr"/>
          <a:lstStyle/>
          <a:p>
            <a:pPr marL="61411" marR="61411" algn="l" defTabSz="457200">
              <a:defRPr sz="2200">
                <a:solidFill>
                  <a:srgbClr val="000000"/>
                </a:solidFill>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iterate>
                                    <p:tmAbs val="0"/>
                                  </p:iterate>
                                  <p:childTnLst>
                                    <p:set>
                                      <p:cBhvr>
                                        <p:cTn id="6" fill="hold">
                                          <p:stCondLst>
                                            <p:cond delay="0"/>
                                          </p:stCondLst>
                                        </p:cTn>
                                        <p:tgtEl>
                                          <p:spTgt spid="76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2" nodeType="clickEffect">
                                  <p:stCondLst>
                                    <p:cond delay="0"/>
                                  </p:stCondLst>
                                  <p:iterate>
                                    <p:tmAbs val="0"/>
                                  </p:iterate>
                                  <p:childTnLst>
                                    <p:set>
                                      <p:cBhvr>
                                        <p:cTn id="10" fill="hold">
                                          <p:stCondLst>
                                            <p:cond delay="0"/>
                                          </p:stCondLst>
                                        </p:cTn>
                                        <p:tgtEl>
                                          <p:spTgt spid="757"/>
                                        </p:tgtEl>
                                        <p:attrNameLst>
                                          <p:attrName>style.visibility</p:attrName>
                                        </p:attrNameLst>
                                      </p:cBhvr>
                                      <p:to>
                                        <p:strVal val="hidden"/>
                                      </p:to>
                                    </p:set>
                                  </p:childTnLst>
                                </p:cTn>
                              </p:par>
                            </p:childTnLst>
                          </p:cTn>
                        </p:par>
                        <p:par>
                          <p:cTn id="11" fill="hold">
                            <p:stCondLst>
                              <p:cond delay="0"/>
                            </p:stCondLst>
                            <p:childTnLst>
                              <p:par>
                                <p:cTn id="12" presetID="1" presetClass="exit" presetSubtype="0" fill="hold" grpId="3" nodeType="afterEffect">
                                  <p:stCondLst>
                                    <p:cond delay="0"/>
                                  </p:stCondLst>
                                  <p:iterate>
                                    <p:tmAbs val="0"/>
                                  </p:iterate>
                                  <p:childTnLst>
                                    <p:set>
                                      <p:cBhvr>
                                        <p:cTn id="13" fill="hold">
                                          <p:stCondLst>
                                            <p:cond delay="0"/>
                                          </p:stCondLst>
                                        </p:cTn>
                                        <p:tgtEl>
                                          <p:spTgt spid="7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 grpId="2" animBg="1" advAuto="0"/>
      <p:bldP spid="761" grpId="1" animBg="1" advAuto="0"/>
      <p:bldP spid="765" grpId="3" animBg="1" advAuto="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 name="线条"/>
          <p:cNvSpPr/>
          <p:nvPr/>
        </p:nvSpPr>
        <p:spPr>
          <a:xfrm flipV="1">
            <a:off x="825500" y="990492"/>
            <a:ext cx="11366500" cy="108"/>
          </a:xfrm>
          <a:prstGeom prst="line">
            <a:avLst/>
          </a:prstGeom>
          <a:ln w="12700">
            <a:solidFill>
              <a:srgbClr val="000000"/>
            </a:solidFill>
          </a:ln>
        </p:spPr>
        <p:txBody>
          <a:bodyPr lIns="0" tIns="0" rIns="0" bIns="0"/>
          <a:lstStyle/>
          <a:p>
            <a:pPr algn="l" defTabSz="457200">
              <a:lnSpc>
                <a:spcPct val="100000"/>
              </a:lnSpc>
              <a:buClrTx/>
              <a:buFontTx/>
              <a:tabLst/>
              <a:defRPr sz="1200">
                <a:solidFill>
                  <a:srgbClr val="000000"/>
                </a:solidFill>
              </a:defRPr>
            </a:pPr>
            <a:endParaRPr/>
          </a:p>
        </p:txBody>
      </p:sp>
      <p:sp>
        <p:nvSpPr>
          <p:cNvPr id="770" name="Coin changing"/>
          <p:cNvSpPr txBox="1">
            <a:spLocks noGrp="1"/>
          </p:cNvSpPr>
          <p:nvPr>
            <p:ph type="title"/>
          </p:nvPr>
        </p:nvSpPr>
        <p:spPr>
          <a:prstGeom prst="rect">
            <a:avLst/>
          </a:prstGeom>
        </p:spPr>
        <p:txBody>
          <a:bodyPr/>
          <a:lstStyle/>
          <a:p>
            <a:r>
              <a:t>Coin changing</a:t>
            </a:r>
          </a:p>
        </p:txBody>
      </p:sp>
      <p:sp>
        <p:nvSpPr>
          <p:cNvPr id="771" name="Problem.  Given n coin denominations { c1, c2, …, cn }  and a target value V, find the fewest coins needed to make change for V (or report impossible).…"/>
          <p:cNvSpPr txBox="1">
            <a:spLocks noGrp="1"/>
          </p:cNvSpPr>
          <p:nvPr>
            <p:ph type="body" idx="1"/>
          </p:nvPr>
        </p:nvSpPr>
        <p:spPr>
          <a:prstGeom prst="rect">
            <a:avLst/>
          </a:prstGeom>
        </p:spPr>
        <p:txBody>
          <a:bodyPr/>
          <a:lstStyle/>
          <a:p>
            <a:r>
              <a:t>Problem. </a:t>
            </a:r>
            <a:r>
              <a:rPr>
                <a:solidFill>
                  <a:srgbClr val="000000"/>
                </a:solidFill>
                <a:uFill>
                  <a:solidFill>
                    <a:srgbClr val="000000"/>
                  </a:solidFill>
                </a:uFill>
              </a:rPr>
              <a:t> Given </a:t>
            </a:r>
            <a:r>
              <a:rPr i="1">
                <a:solidFill>
                  <a:srgbClr val="000000"/>
                </a:solidFill>
                <a:latin typeface="Times"/>
                <a:ea typeface="Times"/>
                <a:cs typeface="Times"/>
                <a:sym typeface="Times"/>
              </a:rPr>
              <a:t>n </a:t>
            </a:r>
            <a:r>
              <a:rPr>
                <a:solidFill>
                  <a:srgbClr val="000000"/>
                </a:solidFill>
                <a:uFill>
                  <a:solidFill>
                    <a:srgbClr val="000000"/>
                  </a:solidFill>
                </a:uFill>
              </a:rPr>
              <a:t>coin denominations </a:t>
            </a:r>
            <a:r>
              <a:rPr>
                <a:solidFill>
                  <a:srgbClr val="000000"/>
                </a:solidFill>
                <a:latin typeface="Times"/>
                <a:ea typeface="Times"/>
                <a:cs typeface="Times"/>
                <a:sym typeface="Times"/>
              </a:rPr>
              <a:t>{ </a:t>
            </a:r>
            <a:r>
              <a:rPr i="1">
                <a:solidFill>
                  <a:srgbClr val="000000"/>
                </a:solidFill>
                <a:latin typeface="Times"/>
                <a:ea typeface="Times"/>
                <a:cs typeface="Times"/>
                <a:sym typeface="Times"/>
              </a:rPr>
              <a:t>c</a:t>
            </a:r>
            <a:r>
              <a:rPr baseline="-5999">
                <a:solidFill>
                  <a:srgbClr val="000000"/>
                </a:solidFill>
                <a:latin typeface="Times"/>
                <a:ea typeface="Times"/>
                <a:cs typeface="Times"/>
                <a:sym typeface="Times"/>
              </a:rPr>
              <a:t>1</a:t>
            </a:r>
            <a:r>
              <a:rPr>
                <a:solidFill>
                  <a:srgbClr val="000000"/>
                </a:solidFill>
                <a:latin typeface="Times"/>
                <a:ea typeface="Times"/>
                <a:cs typeface="Times"/>
                <a:sym typeface="Times"/>
              </a:rPr>
              <a:t>, </a:t>
            </a:r>
            <a:r>
              <a:rPr i="1">
                <a:solidFill>
                  <a:srgbClr val="000000"/>
                </a:solidFill>
                <a:latin typeface="Times"/>
                <a:ea typeface="Times"/>
                <a:cs typeface="Times"/>
                <a:sym typeface="Times"/>
              </a:rPr>
              <a:t>c</a:t>
            </a:r>
            <a:r>
              <a:rPr baseline="-5999">
                <a:solidFill>
                  <a:srgbClr val="000000"/>
                </a:solidFill>
                <a:latin typeface="Times"/>
                <a:ea typeface="Times"/>
                <a:cs typeface="Times"/>
                <a:sym typeface="Times"/>
              </a:rPr>
              <a:t>2</a:t>
            </a:r>
            <a:r>
              <a:rPr>
                <a:solidFill>
                  <a:srgbClr val="000000"/>
                </a:solidFill>
                <a:latin typeface="Times"/>
                <a:ea typeface="Times"/>
                <a:cs typeface="Times"/>
                <a:sym typeface="Times"/>
              </a:rPr>
              <a:t>, …, </a:t>
            </a:r>
            <a:r>
              <a:rPr i="1">
                <a:solidFill>
                  <a:srgbClr val="000000"/>
                </a:solidFill>
                <a:latin typeface="Times"/>
                <a:ea typeface="Times"/>
                <a:cs typeface="Times"/>
                <a:sym typeface="Times"/>
              </a:rPr>
              <a:t>c</a:t>
            </a:r>
            <a:r>
              <a:rPr i="1" baseline="-5999">
                <a:solidFill>
                  <a:srgbClr val="000000"/>
                </a:solidFill>
                <a:latin typeface="Times"/>
                <a:ea typeface="Times"/>
                <a:cs typeface="Times"/>
                <a:sym typeface="Times"/>
              </a:rPr>
              <a:t>n</a:t>
            </a:r>
            <a:r>
              <a:rPr>
                <a:solidFill>
                  <a:srgbClr val="000000"/>
                </a:solidFill>
                <a:latin typeface="Times"/>
                <a:ea typeface="Times"/>
                <a:cs typeface="Times"/>
                <a:sym typeface="Times"/>
              </a:rPr>
              <a:t> }</a:t>
            </a:r>
            <a:r>
              <a:rPr>
                <a:solidFill>
                  <a:srgbClr val="000000"/>
                </a:solidFill>
                <a:uFill>
                  <a:solidFill>
                    <a:srgbClr val="000000"/>
                  </a:solidFill>
                </a:uFill>
              </a:rPr>
              <a:t>  and a target value </a:t>
            </a:r>
            <a:r>
              <a:rPr i="1">
                <a:solidFill>
                  <a:srgbClr val="000000"/>
                </a:solidFill>
                <a:latin typeface="Times"/>
                <a:ea typeface="Times"/>
                <a:cs typeface="Times"/>
                <a:sym typeface="Times"/>
              </a:rPr>
              <a:t>V</a:t>
            </a:r>
            <a:r>
              <a:rPr>
                <a:solidFill>
                  <a:srgbClr val="000000"/>
                </a:solidFill>
                <a:uFill>
                  <a:solidFill>
                    <a:srgbClr val="000000"/>
                  </a:solidFill>
                </a:uFill>
              </a:rPr>
              <a:t>, find the fewest coins needed to make change for </a:t>
            </a:r>
            <a:r>
              <a:rPr i="1">
                <a:solidFill>
                  <a:srgbClr val="000000"/>
                </a:solidFill>
                <a:latin typeface="Times"/>
                <a:ea typeface="Times"/>
                <a:cs typeface="Times"/>
                <a:sym typeface="Times"/>
              </a:rPr>
              <a:t>V</a:t>
            </a:r>
            <a:r>
              <a:rPr>
                <a:solidFill>
                  <a:srgbClr val="000000"/>
                </a:solidFill>
                <a:uFill>
                  <a:solidFill>
                    <a:srgbClr val="000000"/>
                  </a:solidFill>
                </a:uFill>
              </a:rPr>
              <a:t> (or report impossible).</a:t>
            </a:r>
          </a:p>
          <a:p>
            <a:br>
              <a:rPr>
                <a:solidFill>
                  <a:srgbClr val="000000"/>
                </a:solidFill>
                <a:uFill>
                  <a:solidFill>
                    <a:srgbClr val="000000"/>
                  </a:solidFill>
                </a:uFill>
              </a:rPr>
            </a:br>
            <a:r>
              <a:t>Recall. </a:t>
            </a:r>
            <a:r>
              <a:rPr>
                <a:solidFill>
                  <a:srgbClr val="000000"/>
                </a:solidFill>
                <a:uFill>
                  <a:solidFill>
                    <a:srgbClr val="000000"/>
                  </a:solidFill>
                </a:uFill>
              </a:rPr>
              <a:t> Greedy cashier’s algorithm is optimal for U.S. coin denominations,</a:t>
            </a:r>
            <a:br>
              <a:rPr>
                <a:solidFill>
                  <a:srgbClr val="000000"/>
                </a:solidFill>
                <a:uFill>
                  <a:solidFill>
                    <a:srgbClr val="000000"/>
                  </a:solidFill>
                </a:uFill>
              </a:rPr>
            </a:br>
            <a:r>
              <a:rPr>
                <a:solidFill>
                  <a:srgbClr val="000000"/>
                </a:solidFill>
                <a:uFill>
                  <a:solidFill>
                    <a:srgbClr val="000000"/>
                  </a:solidFill>
                </a:uFill>
              </a:rPr>
              <a:t>but not for arbitrary coin denominations.</a:t>
            </a:r>
          </a:p>
          <a:p>
            <a:br>
              <a:rPr>
                <a:solidFill>
                  <a:srgbClr val="000000"/>
                </a:solidFill>
                <a:uFill>
                  <a:solidFill>
                    <a:srgbClr val="000000"/>
                  </a:solidFill>
                </a:uFill>
              </a:rPr>
            </a:br>
            <a:r>
              <a:t>Ex.  </a:t>
            </a:r>
            <a:r>
              <a:rPr>
                <a:solidFill>
                  <a:srgbClr val="000000"/>
                </a:solidFill>
              </a:rPr>
              <a:t>{ 1, 10, 21, 34, 70, 100, 350, 1295, 1500 }.</a:t>
            </a:r>
          </a:p>
          <a:p>
            <a:r>
              <a:t>Optimal.  </a:t>
            </a:r>
            <a:r>
              <a:rPr>
                <a:solidFill>
                  <a:srgbClr val="000000"/>
                </a:solidFill>
                <a:uFill>
                  <a:solidFill>
                    <a:srgbClr val="000000"/>
                  </a:solidFill>
                </a:uFill>
              </a:rPr>
              <a:t>140¢ = </a:t>
            </a:r>
            <a:r>
              <a:rPr>
                <a:solidFill>
                  <a:srgbClr val="000000"/>
                </a:solidFill>
              </a:rPr>
              <a:t>70 + 70.</a:t>
            </a:r>
          </a:p>
        </p:txBody>
      </p:sp>
      <p:sp>
        <p:nvSpPr>
          <p:cNvPr id="772"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48</a:t>
            </a:fld>
            <a:endParaRPr/>
          </a:p>
        </p:txBody>
      </p:sp>
      <p:pic>
        <p:nvPicPr>
          <p:cNvPr id="773" name="interview-white.pdf" descr="interview-white.pdf"/>
          <p:cNvPicPr>
            <a:picLocks noChangeAspect="1"/>
          </p:cNvPicPr>
          <p:nvPr/>
        </p:nvPicPr>
        <p:blipFill>
          <a:blip r:embed="rId2"/>
          <a:stretch>
            <a:fillRect/>
          </a:stretch>
        </p:blipFill>
        <p:spPr>
          <a:xfrm>
            <a:off x="11493500" y="382872"/>
            <a:ext cx="687389" cy="468505"/>
          </a:xfrm>
          <a:prstGeom prst="rect">
            <a:avLst/>
          </a:prstGeom>
          <a:ln w="12700">
            <a:miter lim="400000"/>
          </a:ln>
        </p:spPr>
      </p:pic>
      <p:grpSp>
        <p:nvGrpSpPr>
          <p:cNvPr id="783" name="成组"/>
          <p:cNvGrpSpPr/>
          <p:nvPr/>
        </p:nvGrpSpPr>
        <p:grpSpPr>
          <a:xfrm>
            <a:off x="3353516" y="6680995"/>
            <a:ext cx="6780909" cy="2841297"/>
            <a:chOff x="0" y="0"/>
            <a:chExt cx="6780908" cy="2841295"/>
          </a:xfrm>
        </p:grpSpPr>
        <p:pic>
          <p:nvPicPr>
            <p:cNvPr id="774" name="image.png" descr="image.png"/>
            <p:cNvPicPr>
              <a:picLocks noChangeAspect="1"/>
            </p:cNvPicPr>
            <p:nvPr/>
          </p:nvPicPr>
          <p:blipFill>
            <a:blip r:embed="rId3"/>
            <a:srcRect b="35516"/>
            <a:stretch>
              <a:fillRect/>
            </a:stretch>
          </p:blipFill>
          <p:spPr>
            <a:xfrm>
              <a:off x="2639159" y="0"/>
              <a:ext cx="1053538" cy="1157675"/>
            </a:xfrm>
            <a:prstGeom prst="rect">
              <a:avLst/>
            </a:prstGeom>
            <a:ln w="12700" cap="flat">
              <a:noFill/>
              <a:miter lim="400000"/>
            </a:ln>
            <a:effectLst/>
          </p:spPr>
        </p:pic>
        <p:pic>
          <p:nvPicPr>
            <p:cNvPr id="775" name="image.png" descr="image.png"/>
            <p:cNvPicPr>
              <a:picLocks noChangeAspect="1"/>
            </p:cNvPicPr>
            <p:nvPr/>
          </p:nvPicPr>
          <p:blipFill>
            <a:blip r:embed="rId4"/>
            <a:stretch>
              <a:fillRect/>
            </a:stretch>
          </p:blipFill>
          <p:spPr>
            <a:xfrm>
              <a:off x="3072308" y="1343554"/>
              <a:ext cx="898753" cy="1092556"/>
            </a:xfrm>
            <a:prstGeom prst="rect">
              <a:avLst/>
            </a:prstGeom>
            <a:ln w="12700" cap="flat">
              <a:noFill/>
              <a:miter lim="400000"/>
            </a:ln>
            <a:effectLst/>
          </p:spPr>
        </p:pic>
        <p:pic>
          <p:nvPicPr>
            <p:cNvPr id="776" name="image.png" descr="image.png"/>
            <p:cNvPicPr>
              <a:picLocks noChangeAspect="1"/>
            </p:cNvPicPr>
            <p:nvPr/>
          </p:nvPicPr>
          <p:blipFill>
            <a:blip r:embed="rId5"/>
            <a:stretch>
              <a:fillRect/>
            </a:stretch>
          </p:blipFill>
          <p:spPr>
            <a:xfrm>
              <a:off x="2053722" y="1350789"/>
              <a:ext cx="898753" cy="1092557"/>
            </a:xfrm>
            <a:prstGeom prst="rect">
              <a:avLst/>
            </a:prstGeom>
            <a:ln w="12700" cap="flat">
              <a:noFill/>
              <a:miter lim="400000"/>
            </a:ln>
            <a:effectLst/>
          </p:spPr>
        </p:pic>
        <p:pic>
          <p:nvPicPr>
            <p:cNvPr id="777" name="image.png" descr="image.png"/>
            <p:cNvPicPr>
              <a:picLocks noChangeAspect="1"/>
            </p:cNvPicPr>
            <p:nvPr/>
          </p:nvPicPr>
          <p:blipFill>
            <a:blip r:embed="rId6"/>
            <a:stretch>
              <a:fillRect/>
            </a:stretch>
          </p:blipFill>
          <p:spPr>
            <a:xfrm>
              <a:off x="3901490" y="0"/>
              <a:ext cx="973649" cy="1186617"/>
            </a:xfrm>
            <a:prstGeom prst="rect">
              <a:avLst/>
            </a:prstGeom>
            <a:ln w="12700" cap="flat">
              <a:noFill/>
              <a:miter lim="400000"/>
            </a:ln>
            <a:effectLst/>
          </p:spPr>
        </p:pic>
        <p:pic>
          <p:nvPicPr>
            <p:cNvPr id="778" name="image.png" descr="image.png"/>
            <p:cNvPicPr>
              <a:picLocks noChangeAspect="1"/>
            </p:cNvPicPr>
            <p:nvPr/>
          </p:nvPicPr>
          <p:blipFill>
            <a:blip r:embed="rId7"/>
            <a:stretch>
              <a:fillRect/>
            </a:stretch>
          </p:blipFill>
          <p:spPr>
            <a:xfrm>
              <a:off x="4150810" y="1350789"/>
              <a:ext cx="1385578" cy="969554"/>
            </a:xfrm>
            <a:prstGeom prst="rect">
              <a:avLst/>
            </a:prstGeom>
            <a:ln w="12700" cap="flat">
              <a:noFill/>
              <a:miter lim="400000"/>
            </a:ln>
            <a:effectLst/>
          </p:spPr>
        </p:pic>
        <p:pic>
          <p:nvPicPr>
            <p:cNvPr id="779" name="image.png" descr="image.png"/>
            <p:cNvPicPr>
              <a:picLocks noChangeAspect="1"/>
            </p:cNvPicPr>
            <p:nvPr/>
          </p:nvPicPr>
          <p:blipFill>
            <a:blip r:embed="rId8"/>
            <a:stretch>
              <a:fillRect/>
            </a:stretch>
          </p:blipFill>
          <p:spPr>
            <a:xfrm>
              <a:off x="781738" y="1336319"/>
              <a:ext cx="1092234" cy="1504977"/>
            </a:xfrm>
            <a:prstGeom prst="rect">
              <a:avLst/>
            </a:prstGeom>
            <a:ln w="12700" cap="flat">
              <a:noFill/>
              <a:miter lim="400000"/>
            </a:ln>
            <a:effectLst/>
          </p:spPr>
        </p:pic>
        <p:pic>
          <p:nvPicPr>
            <p:cNvPr id="780" name="image.png" descr="image.png"/>
            <p:cNvPicPr>
              <a:picLocks noChangeAspect="1"/>
            </p:cNvPicPr>
            <p:nvPr/>
          </p:nvPicPr>
          <p:blipFill>
            <a:blip r:embed="rId9"/>
            <a:stretch>
              <a:fillRect/>
            </a:stretch>
          </p:blipFill>
          <p:spPr>
            <a:xfrm>
              <a:off x="1320989" y="62877"/>
              <a:ext cx="1022332" cy="1121498"/>
            </a:xfrm>
            <a:prstGeom prst="rect">
              <a:avLst/>
            </a:prstGeom>
            <a:ln w="12700" cap="flat">
              <a:noFill/>
              <a:miter lim="400000"/>
            </a:ln>
            <a:effectLst/>
          </p:spPr>
        </p:pic>
        <p:pic>
          <p:nvPicPr>
            <p:cNvPr id="781" name="image.png" descr="image.png"/>
            <p:cNvPicPr>
              <a:picLocks noChangeAspect="1"/>
            </p:cNvPicPr>
            <p:nvPr/>
          </p:nvPicPr>
          <p:blipFill>
            <a:blip r:embed="rId10"/>
            <a:srcRect l="24723" t="18127" r="22195" b="30876"/>
            <a:stretch>
              <a:fillRect/>
            </a:stretch>
          </p:blipFill>
          <p:spPr>
            <a:xfrm>
              <a:off x="0" y="62877"/>
              <a:ext cx="996118" cy="1099792"/>
            </a:xfrm>
            <a:prstGeom prst="rect">
              <a:avLst/>
            </a:prstGeom>
            <a:ln w="12700" cap="flat">
              <a:noFill/>
              <a:miter lim="400000"/>
            </a:ln>
            <a:effectLst/>
          </p:spPr>
        </p:pic>
        <p:pic>
          <p:nvPicPr>
            <p:cNvPr id="782" name="image.png" descr="image.png"/>
            <p:cNvPicPr>
              <a:picLocks noChangeAspect="1"/>
            </p:cNvPicPr>
            <p:nvPr/>
          </p:nvPicPr>
          <p:blipFill>
            <a:blip r:embed="rId3"/>
            <a:srcRect t="62467"/>
            <a:stretch>
              <a:fillRect/>
            </a:stretch>
          </p:blipFill>
          <p:spPr>
            <a:xfrm>
              <a:off x="5095748" y="0"/>
              <a:ext cx="1685161" cy="1078085"/>
            </a:xfrm>
            <a:prstGeom prst="rect">
              <a:avLst/>
            </a:prstGeom>
            <a:ln w="12700" cap="flat">
              <a:noFill/>
              <a:miter lim="400000"/>
            </a:ln>
            <a:effectLst/>
          </p:spPr>
        </p:pic>
      </p:gr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5" name="Def.  OPT(v) = min number of coins to make change for v.…"/>
          <p:cNvSpPr txBox="1">
            <a:spLocks noGrp="1"/>
          </p:cNvSpPr>
          <p:nvPr>
            <p:ph type="body" idx="1"/>
          </p:nvPr>
        </p:nvSpPr>
        <p:spPr>
          <a:prstGeom prst="rect">
            <a:avLst/>
          </a:prstGeom>
        </p:spPr>
        <p:txBody>
          <a:bodyPr/>
          <a:lstStyle/>
          <a:p>
            <a:pPr marL="0" marR="0" defTabSz="457200">
              <a:lnSpc>
                <a:spcPts val="3800"/>
              </a:lnSpc>
              <a:buClrTx/>
              <a:buFontTx/>
              <a:tabLst>
                <a:tab pos="1244600" algn="l"/>
              </a:tabLst>
              <a:defRPr>
                <a:solidFill>
                  <a:srgbClr val="0048AA"/>
                </a:solidFill>
                <a:uFillTx/>
              </a:defRPr>
            </a:pPr>
            <a:r>
              <a:t>Def.  </a:t>
            </a:r>
            <a:r>
              <a:rPr i="1">
                <a:solidFill>
                  <a:srgbClr val="000000"/>
                </a:solidFill>
                <a:latin typeface="Times"/>
                <a:ea typeface="Times"/>
                <a:cs typeface="Times"/>
                <a:sym typeface="Times"/>
              </a:rPr>
              <a:t>OPT</a:t>
            </a:r>
            <a:r>
              <a:rPr>
                <a:solidFill>
                  <a:srgbClr val="000000"/>
                </a:solidFill>
                <a:latin typeface="Times"/>
                <a:ea typeface="Times"/>
                <a:cs typeface="Times"/>
                <a:sym typeface="Times"/>
              </a:rPr>
              <a:t>(</a:t>
            </a:r>
            <a:r>
              <a:rPr i="1">
                <a:solidFill>
                  <a:srgbClr val="000000"/>
                </a:solidFill>
                <a:latin typeface="Times"/>
                <a:ea typeface="Times"/>
                <a:cs typeface="Times"/>
                <a:sym typeface="Times"/>
              </a:rPr>
              <a:t>v</a:t>
            </a:r>
            <a:r>
              <a:rPr>
                <a:solidFill>
                  <a:srgbClr val="000000"/>
                </a:solidFill>
                <a:latin typeface="Times"/>
                <a:ea typeface="Times"/>
                <a:cs typeface="Times"/>
                <a:sym typeface="Times"/>
              </a:rPr>
              <a:t>) =</a:t>
            </a:r>
            <a:r>
              <a:rPr>
                <a:solidFill>
                  <a:srgbClr val="000000"/>
                </a:solidFill>
              </a:rPr>
              <a:t> min number of coins to make change for </a:t>
            </a:r>
            <a:r>
              <a:rPr i="1">
                <a:solidFill>
                  <a:srgbClr val="000000"/>
                </a:solidFill>
                <a:latin typeface="Times"/>
                <a:ea typeface="Times"/>
                <a:cs typeface="Times"/>
                <a:sym typeface="Times"/>
              </a:rPr>
              <a:t>v</a:t>
            </a:r>
            <a:r>
              <a:rPr>
                <a:solidFill>
                  <a:srgbClr val="000000"/>
                </a:solidFill>
              </a:rPr>
              <a:t>.</a:t>
            </a:r>
          </a:p>
          <a:p>
            <a:pPr marL="0" marR="0" defTabSz="457200">
              <a:lnSpc>
                <a:spcPts val="3800"/>
              </a:lnSpc>
              <a:buClrTx/>
              <a:buFontTx/>
              <a:tabLst>
                <a:tab pos="1244600" algn="l"/>
              </a:tabLst>
              <a:defRPr>
                <a:solidFill>
                  <a:srgbClr val="0048AA"/>
                </a:solidFill>
                <a:uFillTx/>
              </a:defRPr>
            </a:pPr>
            <a:br>
              <a:rPr>
                <a:solidFill>
                  <a:srgbClr val="000000"/>
                </a:solidFill>
              </a:rPr>
            </a:br>
            <a:r>
              <a:t>Goal.  </a:t>
            </a:r>
            <a:r>
              <a:rPr i="1">
                <a:solidFill>
                  <a:srgbClr val="000000"/>
                </a:solidFill>
                <a:latin typeface="Times"/>
                <a:ea typeface="Times"/>
                <a:cs typeface="Times"/>
                <a:sym typeface="Times"/>
              </a:rPr>
              <a:t>OPT</a:t>
            </a:r>
            <a:r>
              <a:rPr>
                <a:solidFill>
                  <a:srgbClr val="000000"/>
                </a:solidFill>
                <a:latin typeface="Times"/>
                <a:ea typeface="Times"/>
                <a:cs typeface="Times"/>
                <a:sym typeface="Times"/>
              </a:rPr>
              <a:t>(</a:t>
            </a:r>
            <a:r>
              <a:rPr i="1">
                <a:solidFill>
                  <a:srgbClr val="000000"/>
                </a:solidFill>
                <a:latin typeface="Times"/>
                <a:ea typeface="Times"/>
                <a:cs typeface="Times"/>
                <a:sym typeface="Times"/>
              </a:rPr>
              <a:t>V</a:t>
            </a:r>
            <a:r>
              <a:rPr>
                <a:solidFill>
                  <a:srgbClr val="000000"/>
                </a:solidFill>
                <a:latin typeface="Times"/>
                <a:ea typeface="Times"/>
                <a:cs typeface="Times"/>
                <a:sym typeface="Times"/>
              </a:rPr>
              <a:t>)</a:t>
            </a:r>
            <a:r>
              <a:rPr>
                <a:solidFill>
                  <a:srgbClr val="000000"/>
                </a:solidFill>
              </a:rPr>
              <a:t>.</a:t>
            </a:r>
          </a:p>
          <a:p>
            <a:pPr marL="0" marR="0" defTabSz="457200">
              <a:lnSpc>
                <a:spcPts val="3800"/>
              </a:lnSpc>
              <a:buClrTx/>
              <a:buFontTx/>
              <a:tabLst>
                <a:tab pos="1244600" algn="l"/>
              </a:tabLst>
              <a:defRPr>
                <a:solidFill>
                  <a:srgbClr val="0048AA"/>
                </a:solidFill>
                <a:uFillTx/>
              </a:defRPr>
            </a:pPr>
            <a:br>
              <a:rPr>
                <a:solidFill>
                  <a:srgbClr val="000000"/>
                </a:solidFill>
              </a:rPr>
            </a:br>
            <a:r>
              <a:t>Multiway choice. </a:t>
            </a:r>
            <a:r>
              <a:rPr>
                <a:solidFill>
                  <a:srgbClr val="000000"/>
                </a:solidFill>
              </a:rPr>
              <a:t>To compute </a:t>
            </a:r>
            <a:r>
              <a:rPr i="1">
                <a:solidFill>
                  <a:srgbClr val="000000"/>
                </a:solidFill>
                <a:latin typeface="Times"/>
                <a:ea typeface="Times"/>
                <a:cs typeface="Times"/>
                <a:sym typeface="Times"/>
              </a:rPr>
              <a:t>OPT</a:t>
            </a:r>
            <a:r>
              <a:rPr>
                <a:solidFill>
                  <a:srgbClr val="000000"/>
                </a:solidFill>
                <a:latin typeface="Times"/>
                <a:ea typeface="Times"/>
                <a:cs typeface="Times"/>
                <a:sym typeface="Times"/>
              </a:rPr>
              <a:t>(</a:t>
            </a:r>
            <a:r>
              <a:rPr i="1">
                <a:solidFill>
                  <a:srgbClr val="000000"/>
                </a:solidFill>
                <a:latin typeface="Times"/>
                <a:ea typeface="Times"/>
                <a:cs typeface="Times"/>
                <a:sym typeface="Times"/>
              </a:rPr>
              <a:t>v</a:t>
            </a:r>
            <a:r>
              <a:rPr>
                <a:solidFill>
                  <a:srgbClr val="000000"/>
                </a:solidFill>
                <a:latin typeface="Times"/>
                <a:ea typeface="Times"/>
                <a:cs typeface="Times"/>
                <a:sym typeface="Times"/>
              </a:rPr>
              <a:t>),</a:t>
            </a:r>
          </a:p>
          <a:p>
            <a:pPr marL="584200" marR="0" lvl="1" indent="-457200" defTabSz="457200">
              <a:lnSpc>
                <a:spcPts val="3800"/>
              </a:lnSpc>
              <a:buSzPct val="160000"/>
              <a:tabLst>
                <a:tab pos="1244600" algn="l"/>
              </a:tabLst>
              <a:defRPr>
                <a:uFillTx/>
              </a:defRPr>
            </a:pPr>
            <a:r>
              <a:t>Select a coin of denomination </a:t>
            </a:r>
            <a:r>
              <a:rPr i="1">
                <a:latin typeface="Times"/>
                <a:ea typeface="Times"/>
                <a:cs typeface="Times"/>
                <a:sym typeface="Times"/>
              </a:rPr>
              <a:t>c</a:t>
            </a:r>
            <a:r>
              <a:rPr i="1" baseline="-5999">
                <a:latin typeface="Times"/>
                <a:ea typeface="Times"/>
                <a:cs typeface="Times"/>
                <a:sym typeface="Times"/>
              </a:rPr>
              <a:t>i</a:t>
            </a:r>
            <a:r>
              <a:t> for some </a:t>
            </a:r>
            <a:r>
              <a:rPr i="1">
                <a:latin typeface="Times"/>
                <a:ea typeface="Times"/>
                <a:cs typeface="Times"/>
                <a:sym typeface="Times"/>
              </a:rPr>
              <a:t>i</a:t>
            </a:r>
            <a:r>
              <a:t>.</a:t>
            </a:r>
          </a:p>
          <a:p>
            <a:pPr marL="584200" marR="0" lvl="1" indent="-457200" defTabSz="457200">
              <a:lnSpc>
                <a:spcPts val="3800"/>
              </a:lnSpc>
              <a:buSzPct val="160000"/>
              <a:tabLst>
                <a:tab pos="1244600" algn="l"/>
              </a:tabLst>
              <a:defRPr>
                <a:uFillTx/>
              </a:defRPr>
            </a:pPr>
            <a:r>
              <a:t>Select fewest coins to make change for </a:t>
            </a:r>
            <a:r>
              <a:rPr i="1">
                <a:latin typeface="Times"/>
                <a:ea typeface="Times"/>
                <a:cs typeface="Times"/>
                <a:sym typeface="Times"/>
              </a:rPr>
              <a:t>v</a:t>
            </a:r>
            <a:r>
              <a:rPr>
                <a:latin typeface="Times"/>
                <a:ea typeface="Times"/>
                <a:cs typeface="Times"/>
                <a:sym typeface="Times"/>
              </a:rPr>
              <a:t> – </a:t>
            </a:r>
            <a:r>
              <a:rPr i="1">
                <a:latin typeface="Times"/>
                <a:ea typeface="Times"/>
                <a:cs typeface="Times"/>
                <a:sym typeface="Times"/>
              </a:rPr>
              <a:t>c</a:t>
            </a:r>
            <a:r>
              <a:rPr i="1" baseline="-5999">
                <a:latin typeface="Times"/>
                <a:ea typeface="Times"/>
                <a:cs typeface="Times"/>
                <a:sym typeface="Times"/>
              </a:rPr>
              <a:t>i</a:t>
            </a:r>
            <a:r>
              <a:t>.</a:t>
            </a:r>
          </a:p>
          <a:p>
            <a:pPr marL="0" marR="0" defTabSz="457200">
              <a:lnSpc>
                <a:spcPts val="3800"/>
              </a:lnSpc>
              <a:buClrTx/>
              <a:buFontTx/>
              <a:tabLst>
                <a:tab pos="1244600" algn="l"/>
              </a:tabLst>
              <a:defRPr>
                <a:solidFill>
                  <a:srgbClr val="0048AA"/>
                </a:solidFill>
                <a:uFillTx/>
              </a:defRPr>
            </a:pPr>
            <a:br/>
            <a:r>
              <a:t>Bellman equation.</a:t>
            </a:r>
          </a:p>
          <a:p>
            <a:pPr marL="0" marR="0" defTabSz="457200">
              <a:lnSpc>
                <a:spcPts val="3800"/>
              </a:lnSpc>
              <a:buClrTx/>
              <a:buFontTx/>
              <a:tabLst>
                <a:tab pos="1244600" algn="l"/>
              </a:tabLst>
              <a:defRPr>
                <a:solidFill>
                  <a:srgbClr val="0048AA"/>
                </a:solidFill>
                <a:uFillTx/>
              </a:defRPr>
            </a:pPr>
            <a:br/>
            <a:br/>
            <a:br/>
            <a:br/>
            <a:br/>
            <a:r>
              <a:t>Running time.  </a:t>
            </a:r>
            <a:r>
              <a:rPr i="1">
                <a:solidFill>
                  <a:srgbClr val="000000"/>
                </a:solidFill>
                <a:latin typeface="Times"/>
                <a:ea typeface="Times"/>
                <a:cs typeface="Times"/>
                <a:sym typeface="Times"/>
              </a:rPr>
              <a:t>O</a:t>
            </a:r>
            <a:r>
              <a:rPr>
                <a:solidFill>
                  <a:srgbClr val="000000"/>
                </a:solidFill>
                <a:latin typeface="Times"/>
                <a:ea typeface="Times"/>
                <a:cs typeface="Times"/>
                <a:sym typeface="Times"/>
              </a:rPr>
              <a:t>(</a:t>
            </a:r>
            <a:r>
              <a:rPr i="1">
                <a:solidFill>
                  <a:srgbClr val="000000"/>
                </a:solidFill>
                <a:latin typeface="Times"/>
                <a:ea typeface="Times"/>
                <a:cs typeface="Times"/>
                <a:sym typeface="Times"/>
              </a:rPr>
              <a:t>n V</a:t>
            </a:r>
            <a:r>
              <a:rPr>
                <a:solidFill>
                  <a:srgbClr val="000000"/>
                </a:solidFill>
                <a:latin typeface="Times"/>
                <a:ea typeface="Times"/>
                <a:cs typeface="Times"/>
                <a:sym typeface="Times"/>
              </a:rPr>
              <a:t>)</a:t>
            </a:r>
            <a:r>
              <a:rPr>
                <a:solidFill>
                  <a:srgbClr val="000000"/>
                </a:solidFill>
              </a:rPr>
              <a:t>.</a:t>
            </a:r>
          </a:p>
        </p:txBody>
      </p:sp>
      <p:pic>
        <p:nvPicPr>
          <p:cNvPr id="786" name="图像" descr="图像"/>
          <p:cNvPicPr>
            <a:picLocks noChangeAspect="1"/>
          </p:cNvPicPr>
          <p:nvPr/>
        </p:nvPicPr>
        <p:blipFill>
          <a:blip r:embed="rId3"/>
          <a:stretch>
            <a:fillRect/>
          </a:stretch>
        </p:blipFill>
        <p:spPr>
          <a:xfrm>
            <a:off x="2557284" y="6147511"/>
            <a:ext cx="7137401" cy="1841501"/>
          </a:xfrm>
          <a:prstGeom prst="rect">
            <a:avLst/>
          </a:prstGeom>
          <a:ln w="12700">
            <a:miter lim="400000"/>
          </a:ln>
        </p:spPr>
      </p:pic>
      <p:sp>
        <p:nvSpPr>
          <p:cNvPr id="787" name="线条"/>
          <p:cNvSpPr/>
          <p:nvPr/>
        </p:nvSpPr>
        <p:spPr>
          <a:xfrm flipV="1">
            <a:off x="825500" y="990492"/>
            <a:ext cx="11366500" cy="108"/>
          </a:xfrm>
          <a:prstGeom prst="line">
            <a:avLst/>
          </a:prstGeom>
          <a:ln w="12700">
            <a:solidFill>
              <a:srgbClr val="000000"/>
            </a:solidFill>
          </a:ln>
        </p:spPr>
        <p:txBody>
          <a:bodyPr lIns="0" tIns="0" rIns="0" bIns="0"/>
          <a:lstStyle/>
          <a:p>
            <a:pPr algn="l" defTabSz="457200">
              <a:lnSpc>
                <a:spcPct val="100000"/>
              </a:lnSpc>
              <a:buClrTx/>
              <a:buFontTx/>
              <a:tabLst/>
              <a:defRPr sz="1200">
                <a:solidFill>
                  <a:srgbClr val="000000"/>
                </a:solidFill>
              </a:defRPr>
            </a:pPr>
            <a:endParaRPr/>
          </a:p>
        </p:txBody>
      </p:sp>
      <p:sp>
        <p:nvSpPr>
          <p:cNvPr id="788" name="Coin changing"/>
          <p:cNvSpPr txBox="1">
            <a:spLocks noGrp="1"/>
          </p:cNvSpPr>
          <p:nvPr>
            <p:ph type="title"/>
          </p:nvPr>
        </p:nvSpPr>
        <p:spPr>
          <a:prstGeom prst="rect">
            <a:avLst/>
          </a:prstGeom>
        </p:spPr>
        <p:txBody>
          <a:bodyPr/>
          <a:lstStyle/>
          <a:p>
            <a:r>
              <a:t>Coin changing</a:t>
            </a:r>
          </a:p>
        </p:txBody>
      </p:sp>
      <p:sp>
        <p:nvSpPr>
          <p:cNvPr id="789"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49</a:t>
            </a:fld>
            <a:endParaRPr/>
          </a:p>
        </p:txBody>
      </p:sp>
      <p:pic>
        <p:nvPicPr>
          <p:cNvPr id="790" name="interview-white.pdf" descr="interview-white.pdf"/>
          <p:cNvPicPr>
            <a:picLocks noChangeAspect="1"/>
          </p:cNvPicPr>
          <p:nvPr/>
        </p:nvPicPr>
        <p:blipFill>
          <a:blip r:embed="rId4"/>
          <a:stretch>
            <a:fillRect/>
          </a:stretch>
        </p:blipFill>
        <p:spPr>
          <a:xfrm>
            <a:off x="11493500" y="382872"/>
            <a:ext cx="687389" cy="468505"/>
          </a:xfrm>
          <a:prstGeom prst="rect">
            <a:avLst/>
          </a:prstGeom>
          <a:ln w="12700">
            <a:miter lim="400000"/>
          </a:ln>
        </p:spPr>
      </p:pic>
      <p:grpSp>
        <p:nvGrpSpPr>
          <p:cNvPr id="793" name="成组"/>
          <p:cNvGrpSpPr/>
          <p:nvPr/>
        </p:nvGrpSpPr>
        <p:grpSpPr>
          <a:xfrm>
            <a:off x="8132723" y="4118354"/>
            <a:ext cx="3388102" cy="1270001"/>
            <a:chOff x="0" y="0"/>
            <a:chExt cx="3388100" cy="1270000"/>
          </a:xfrm>
        </p:grpSpPr>
        <p:sp>
          <p:nvSpPr>
            <p:cNvPr id="791" name="optimal substructure property…"/>
            <p:cNvSpPr/>
            <p:nvPr/>
          </p:nvSpPr>
          <p:spPr>
            <a:xfrm>
              <a:off x="2118100" y="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lnSpc>
                  <a:spcPct val="140000"/>
                </a:lnSpc>
              </a:pPr>
              <a:r>
                <a:t>optimal substructure property</a:t>
              </a:r>
            </a:p>
            <a:p>
              <a:pPr>
                <a:lnSpc>
                  <a:spcPct val="140000"/>
                </a:lnSpc>
              </a:pPr>
              <a:r>
                <a:t>(proof via exchange argument)</a:t>
              </a:r>
            </a:p>
          </p:txBody>
        </p:sp>
        <p:sp>
          <p:nvSpPr>
            <p:cNvPr id="792" name="线条"/>
            <p:cNvSpPr/>
            <p:nvPr/>
          </p:nvSpPr>
          <p:spPr>
            <a:xfrm flipV="1">
              <a:off x="0" y="520515"/>
              <a:ext cx="526881" cy="288711"/>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线条"/>
          <p:cNvSpPr/>
          <p:nvPr/>
        </p:nvSpPr>
        <p:spPr>
          <a:xfrm flipV="1">
            <a:off x="825500" y="990572"/>
            <a:ext cx="11366500" cy="28"/>
          </a:xfrm>
          <a:prstGeom prst="line">
            <a:avLst/>
          </a:prstGeom>
          <a:ln w="12700">
            <a:solidFill>
              <a:srgbClr val="000000"/>
            </a:solidFill>
            <a:miter lim="400000"/>
          </a:ln>
        </p:spPr>
        <p:txBody>
          <a:bodyPr lIns="0" tIns="0" rIns="0" bIns="0"/>
          <a:lstStyle/>
          <a:p>
            <a:pPr algn="l" defTabSz="457200">
              <a:lnSpc>
                <a:spcPct val="100000"/>
              </a:lnSpc>
              <a:buClrTx/>
              <a:buFontTx/>
              <a:tabLst/>
              <a:defRPr sz="1200">
                <a:solidFill>
                  <a:srgbClr val="000000"/>
                </a:solidFill>
              </a:defRPr>
            </a:pPr>
            <a:endParaRPr/>
          </a:p>
        </p:txBody>
      </p:sp>
      <p:sp>
        <p:nvSpPr>
          <p:cNvPr id="798" name="Dynamic programming summary"/>
          <p:cNvSpPr txBox="1">
            <a:spLocks noGrp="1"/>
          </p:cNvSpPr>
          <p:nvPr>
            <p:ph type="title"/>
          </p:nvPr>
        </p:nvSpPr>
        <p:spPr>
          <a:prstGeom prst="rect">
            <a:avLst/>
          </a:prstGeom>
        </p:spPr>
        <p:txBody>
          <a:bodyPr/>
          <a:lstStyle/>
          <a:p>
            <a:r>
              <a:t>Dynamic programming summary</a:t>
            </a:r>
          </a:p>
        </p:txBody>
      </p:sp>
      <p:sp>
        <p:nvSpPr>
          <p:cNvPr id="799" name="Outline.…"/>
          <p:cNvSpPr txBox="1">
            <a:spLocks noGrp="1"/>
          </p:cNvSpPr>
          <p:nvPr>
            <p:ph type="body" idx="1"/>
          </p:nvPr>
        </p:nvSpPr>
        <p:spPr>
          <a:prstGeom prst="rect">
            <a:avLst/>
          </a:prstGeom>
        </p:spPr>
        <p:txBody>
          <a:bodyPr/>
          <a:lstStyle/>
          <a:p>
            <a:r>
              <a:rPr dirty="0"/>
              <a:t>Outline.</a:t>
            </a:r>
          </a:p>
          <a:p>
            <a:pPr lvl="1"/>
            <a:r>
              <a:rPr dirty="0"/>
              <a:t>Define a collection of subproblems.</a:t>
            </a:r>
          </a:p>
          <a:p>
            <a:pPr lvl="1"/>
            <a:r>
              <a:rPr dirty="0"/>
              <a:t>Solution to original problem can be computed from subproblems.</a:t>
            </a:r>
          </a:p>
          <a:p>
            <a:pPr lvl="1"/>
            <a:r>
              <a:rPr dirty="0"/>
              <a:t>Natural ordering of subproblems from “smallest” to “largest” that enables determining a solution to a subproblem from solutions to smaller subproblems.</a:t>
            </a:r>
          </a:p>
          <a:p>
            <a:br>
              <a:rPr dirty="0"/>
            </a:br>
            <a:r>
              <a:rPr dirty="0"/>
              <a:t>Techniques.</a:t>
            </a:r>
          </a:p>
          <a:p>
            <a:pPr lvl="1"/>
            <a:r>
              <a:rPr dirty="0"/>
              <a:t>Binary choice:  weighted interval scheduling.</a:t>
            </a:r>
          </a:p>
          <a:p>
            <a:pPr lvl="1"/>
            <a:r>
              <a:rPr dirty="0"/>
              <a:t>Multiway choice:  segmented least squares.</a:t>
            </a:r>
          </a:p>
          <a:p>
            <a:pPr lvl="1"/>
            <a:r>
              <a:rPr dirty="0"/>
              <a:t>Adding a new variable:  knapsack problem.</a:t>
            </a:r>
          </a:p>
          <a:p>
            <a:br>
              <a:rPr dirty="0"/>
            </a:br>
            <a:br>
              <a:rPr dirty="0"/>
            </a:br>
            <a:r>
              <a:rPr dirty="0"/>
              <a:t>Top-down vs. bottom-up dynamic programming.  </a:t>
            </a:r>
            <a:r>
              <a:rPr dirty="0">
                <a:solidFill>
                  <a:srgbClr val="000000"/>
                </a:solidFill>
              </a:rPr>
              <a:t>Opinions differ.</a:t>
            </a:r>
          </a:p>
        </p:txBody>
      </p:sp>
      <p:sp>
        <p:nvSpPr>
          <p:cNvPr id="800" name="幻灯片编号"/>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50</a:t>
            </a:fld>
            <a:endParaRPr/>
          </a:p>
        </p:txBody>
      </p:sp>
      <p:grpSp>
        <p:nvGrpSpPr>
          <p:cNvPr id="803" name="成组"/>
          <p:cNvGrpSpPr/>
          <p:nvPr/>
        </p:nvGrpSpPr>
        <p:grpSpPr>
          <a:xfrm>
            <a:off x="6350141" y="1308100"/>
            <a:ext cx="3175623" cy="1270000"/>
            <a:chOff x="1" y="0"/>
            <a:chExt cx="3175621" cy="1270000"/>
          </a:xfrm>
        </p:grpSpPr>
        <p:sp>
          <p:nvSpPr>
            <p:cNvPr id="801" name="typically, only a polynomial…"/>
            <p:cNvSpPr/>
            <p:nvPr/>
          </p:nvSpPr>
          <p:spPr>
            <a:xfrm>
              <a:off x="1905622" y="0"/>
              <a:ext cx="1270001" cy="1270000"/>
            </a:xfrm>
            <a:prstGeom prst="line">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numCol="1" anchor="t">
              <a:spAutoFit/>
            </a:bodyPr>
            <a:lstStyle/>
            <a:p>
              <a:pPr>
                <a:lnSpc>
                  <a:spcPts val="2000"/>
                </a:lnSpc>
              </a:pPr>
              <a:r>
                <a:t>typically, only a polynomial</a:t>
              </a:r>
            </a:p>
            <a:p>
              <a:pPr>
                <a:lnSpc>
                  <a:spcPts val="2000"/>
                </a:lnSpc>
              </a:pPr>
              <a:r>
                <a:t>number of subproblems</a:t>
              </a:r>
            </a:p>
          </p:txBody>
        </p:sp>
        <p:sp>
          <p:nvSpPr>
            <p:cNvPr id="802" name="线条"/>
            <p:cNvSpPr/>
            <p:nvPr/>
          </p:nvSpPr>
          <p:spPr>
            <a:xfrm flipH="1">
              <a:off x="1" y="299866"/>
              <a:ext cx="436135" cy="218295"/>
            </a:xfrm>
            <a:prstGeom prst="line">
              <a:avLst/>
            </a:prstGeom>
            <a:noFill/>
            <a:ln w="25400" cap="flat">
              <a:solidFill>
                <a:srgbClr val="8D3124"/>
              </a:solidFill>
              <a:prstDash val="solid"/>
              <a:miter lim="400000"/>
              <a:tail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5493">
          <a:alpha val="5000"/>
        </a:srgbClr>
      </a:dk1>
      <a:lt1>
        <a:srgbClr val="8D3124"/>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Futura"/>
        <a:ea typeface="Futura"/>
        <a:cs typeface="Futura"/>
      </a:majorFont>
      <a:minorFont>
        <a:latin typeface="Lucida Sans"/>
        <a:ea typeface="Lucida Sans"/>
        <a:cs typeface="Lucida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61411" marR="61411" indent="0" algn="l" defTabSz="457200" rtl="0" fontAlgn="auto" latinLnBrk="0" hangingPunct="0">
          <a:lnSpc>
            <a:spcPct val="130000"/>
          </a:lnSpc>
          <a:spcBef>
            <a:spcPts val="0"/>
          </a:spcBef>
          <a:spcAft>
            <a:spcPts val="0"/>
          </a:spcAft>
          <a:buClr>
            <a:srgbClr val="000000"/>
          </a:buClr>
          <a:buSzTx/>
          <a:buFont typeface="Lucida Sans"/>
          <a:buNone/>
          <a:tabLst>
            <a:tab pos="1066800" algn="l"/>
          </a:tabLst>
          <a:defRPr kumimoji="0" sz="2200" b="0" i="0" u="none" strike="noStrike" cap="none" spc="0" normalizeH="0" baseline="0">
            <a:ln>
              <a:noFill/>
            </a:ln>
            <a:solidFill>
              <a:srgbClr val="000000"/>
            </a:solidFill>
            <a:effectLst/>
            <a:uFillTx/>
            <a:latin typeface="+mn-lt"/>
            <a:ea typeface="+mn-ea"/>
            <a:cs typeface="+mn-cs"/>
            <a:sym typeface="Lucida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8D312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449492" rtl="0" fontAlgn="auto" latinLnBrk="0" hangingPunct="0">
          <a:lnSpc>
            <a:spcPct val="130000"/>
          </a:lnSpc>
          <a:spcBef>
            <a:spcPts val="0"/>
          </a:spcBef>
          <a:spcAft>
            <a:spcPts val="0"/>
          </a:spcAft>
          <a:buClr>
            <a:srgbClr val="000000"/>
          </a:buClr>
          <a:buSzTx/>
          <a:buFont typeface="Lucida Sans"/>
          <a:buNone/>
          <a:tabLst>
            <a:tab pos="1066800" algn="l"/>
          </a:tabLst>
          <a:defRPr kumimoji="0" sz="1600" b="0" i="0" u="none" strike="noStrike" cap="none" spc="0" normalizeH="0" baseline="0">
            <a:ln>
              <a:noFill/>
            </a:ln>
            <a:solidFill>
              <a:srgbClr val="8D3124"/>
            </a:solidFill>
            <a:effectLst/>
            <a:uFillTx/>
            <a:latin typeface="+mn-lt"/>
            <a:ea typeface="+mn-ea"/>
            <a:cs typeface="+mn-cs"/>
            <a:sym typeface="Lucida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Futura"/>
        <a:ea typeface="Futura"/>
        <a:cs typeface="Futura"/>
      </a:majorFont>
      <a:minorFont>
        <a:latin typeface="Lucida Sans"/>
        <a:ea typeface="Lucida Sans"/>
        <a:cs typeface="Lucida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61411" marR="61411" indent="0" algn="l" defTabSz="457200" rtl="0" fontAlgn="auto" latinLnBrk="0" hangingPunct="0">
          <a:lnSpc>
            <a:spcPct val="130000"/>
          </a:lnSpc>
          <a:spcBef>
            <a:spcPts val="0"/>
          </a:spcBef>
          <a:spcAft>
            <a:spcPts val="0"/>
          </a:spcAft>
          <a:buClr>
            <a:srgbClr val="000000"/>
          </a:buClr>
          <a:buSzTx/>
          <a:buFont typeface="Lucida Sans"/>
          <a:buNone/>
          <a:tabLst>
            <a:tab pos="1066800" algn="l"/>
          </a:tabLst>
          <a:defRPr kumimoji="0" sz="2200" b="0" i="0" u="none" strike="noStrike" cap="none" spc="0" normalizeH="0" baseline="0">
            <a:ln>
              <a:noFill/>
            </a:ln>
            <a:solidFill>
              <a:srgbClr val="000000"/>
            </a:solidFill>
            <a:effectLst/>
            <a:uFillTx/>
            <a:latin typeface="+mn-lt"/>
            <a:ea typeface="+mn-ea"/>
            <a:cs typeface="+mn-cs"/>
            <a:sym typeface="Lucida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8D312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449492" rtl="0" fontAlgn="auto" latinLnBrk="0" hangingPunct="0">
          <a:lnSpc>
            <a:spcPct val="130000"/>
          </a:lnSpc>
          <a:spcBef>
            <a:spcPts val="0"/>
          </a:spcBef>
          <a:spcAft>
            <a:spcPts val="0"/>
          </a:spcAft>
          <a:buClr>
            <a:srgbClr val="000000"/>
          </a:buClr>
          <a:buSzTx/>
          <a:buFont typeface="Lucida Sans"/>
          <a:buNone/>
          <a:tabLst>
            <a:tab pos="1066800" algn="l"/>
          </a:tabLst>
          <a:defRPr kumimoji="0" sz="1600" b="0" i="0" u="none" strike="noStrike" cap="none" spc="0" normalizeH="0" baseline="0">
            <a:ln>
              <a:noFill/>
            </a:ln>
            <a:solidFill>
              <a:srgbClr val="8D3124"/>
            </a:solidFill>
            <a:effectLst/>
            <a:uFillTx/>
            <a:latin typeface="+mn-lt"/>
            <a:ea typeface="+mn-ea"/>
            <a:cs typeface="+mn-cs"/>
            <a:sym typeface="Lucida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338</TotalTime>
  <Words>5381</Words>
  <Application>Microsoft Macintosh PowerPoint</Application>
  <PresentationFormat>自定义</PresentationFormat>
  <Paragraphs>822</Paragraphs>
  <Slides>50</Slides>
  <Notes>34</Notes>
  <HiddenSlides>4</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61" baseType="lpstr">
      <vt:lpstr>Arial</vt:lpstr>
      <vt:lpstr>Consolas</vt:lpstr>
      <vt:lpstr>Futura</vt:lpstr>
      <vt:lpstr>Helvetica</vt:lpstr>
      <vt:lpstr>Lucida Grande</vt:lpstr>
      <vt:lpstr>Lucida Sans</vt:lpstr>
      <vt:lpstr>Symbol</vt:lpstr>
      <vt:lpstr>Times</vt:lpstr>
      <vt:lpstr>Times New Roman</vt:lpstr>
      <vt:lpstr>White</vt:lpstr>
      <vt:lpstr>Equation</vt:lpstr>
      <vt:lpstr>PowerPoint 演示文稿</vt:lpstr>
      <vt:lpstr>Fibonacci numbers</vt:lpstr>
      <vt:lpstr>Fibonacci numbers</vt:lpstr>
      <vt:lpstr>Fibonacci numbers</vt:lpstr>
      <vt:lpstr>Fibonacci numbers</vt:lpstr>
      <vt:lpstr>Connected</vt:lpstr>
      <vt:lpstr>Dynamic programming</vt:lpstr>
      <vt:lpstr>Dynamic programming</vt:lpstr>
      <vt:lpstr>Algorithmic paradigms</vt:lpstr>
      <vt:lpstr>Dynamic programming history</vt:lpstr>
      <vt:lpstr>Dynamic programming applications</vt:lpstr>
      <vt:lpstr>Dynamic programming books</vt:lpstr>
      <vt:lpstr>Dynamic Programming</vt:lpstr>
      <vt:lpstr>Weighted interval scheduling</vt:lpstr>
      <vt:lpstr>Earliest-finish-time first algorithm</vt:lpstr>
      <vt:lpstr>Weighted interval scheduling</vt:lpstr>
      <vt:lpstr>Dynamic programming:  binary choice</vt:lpstr>
      <vt:lpstr>Weighted interval scheduling:  brute force</vt:lpstr>
      <vt:lpstr>Dynamic programming:  quiz 1</vt:lpstr>
      <vt:lpstr>Weighted interval scheduling:  brute force</vt:lpstr>
      <vt:lpstr>Weighted interval scheduling:  memoization</vt:lpstr>
      <vt:lpstr>Weighted interval scheduling:  running time</vt:lpstr>
      <vt:lpstr>Weighted interval scheduling:  finding a solution</vt:lpstr>
      <vt:lpstr>Weighted interval scheduling:  bottom-up dynamic programming</vt:lpstr>
      <vt:lpstr>House coloring problem</vt:lpstr>
      <vt:lpstr>House coloring problem</vt:lpstr>
      <vt:lpstr>Maximum subarray problem</vt:lpstr>
      <vt:lpstr>Kadane’s algorithm</vt:lpstr>
      <vt:lpstr>Maximum rectangle problem</vt:lpstr>
      <vt:lpstr>Bentley’s algorithm</vt:lpstr>
      <vt:lpstr>Dynamic Programming</vt:lpstr>
      <vt:lpstr>Least squares</vt:lpstr>
      <vt:lpstr>Segmented least squares</vt:lpstr>
      <vt:lpstr>Segmented least squares</vt:lpstr>
      <vt:lpstr>Dynamic programming:  multiway choice</vt:lpstr>
      <vt:lpstr>Segmented least squares algorithm</vt:lpstr>
      <vt:lpstr>Segmented least squares analysis</vt:lpstr>
      <vt:lpstr>Dynamic Programming</vt:lpstr>
      <vt:lpstr>Knapsack problem</vt:lpstr>
      <vt:lpstr>Dynamic programming:  quiz 2</vt:lpstr>
      <vt:lpstr>Dynamic programming:  quiz 3</vt:lpstr>
      <vt:lpstr>Dynamic programming:  false start</vt:lpstr>
      <vt:lpstr>Dynamic programming:  adding a new variable</vt:lpstr>
      <vt:lpstr>Knapsack problem:  bottom-up dynamic programming</vt:lpstr>
      <vt:lpstr>Knapsack problem:  bottom-up dynamic programming demo</vt:lpstr>
      <vt:lpstr>Knapsack problem:  running time</vt:lpstr>
      <vt:lpstr>Dynamic programming:  quiz 4</vt:lpstr>
      <vt:lpstr>Coin changing</vt:lpstr>
      <vt:lpstr>Coin changing</vt:lpstr>
      <vt:lpstr>Dynamic programming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Programming I</dc:title>
  <cp:lastModifiedBy>GENG, Hao</cp:lastModifiedBy>
  <cp:revision>24</cp:revision>
  <dcterms:modified xsi:type="dcterms:W3CDTF">2023-12-26T12:23:52Z</dcterms:modified>
</cp:coreProperties>
</file>